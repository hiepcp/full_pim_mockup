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4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856B"/>
          </a:solidFill>
          <a:ln w="12700">
            <a:solidFill>
              <a:srgbClr val="C18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1856B"/>
                </a:solidFill>
              </a:rPr>
              <a:t>PRODUCT INFORMATION MANAGEMENT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One place for all</a:t>
            </a:r>
            <a:endParaRPr lang="en-US" sz="3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your product content.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ADA4"/>
                </a:solidFill>
              </a:rPr>
              <a:t>PIM + Social Campaign Module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6ADA4"/>
                </a:solidFill>
              </a:rPr>
              <a:t>ASP.NET Core  ·  React  ·  Python 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303520" cy="1371600"/>
          </a:xfrm>
          <a:prstGeom prst="rect">
            <a:avLst/>
          </a:prstGeom>
          <a:solidFill>
            <a:srgbClr val="2C3E2D"/>
          </a:solidFill>
          <a:ln w="19050">
            <a:solidFill>
              <a:srgbClr val="C185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3520440"/>
            <a:ext cx="5084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C8BD"/>
                </a:solidFill>
              </a:rPr>
              <a:t>Today, a single product has 6+ document types stored in 6+ different places: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3858768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5E4"/>
                </a:solidFill>
              </a:rPr>
              <a:t>📄 PI Sheet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411480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5E4"/>
                </a:solidFill>
              </a:rPr>
              <a:t>📐 Line Drawing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437083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5E4"/>
                </a:solidFill>
              </a:rPr>
              <a:t>📦 OBJ / 3D 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72968" y="3858768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5E4"/>
                </a:solidFill>
              </a:rPr>
              <a:t>🧪 Product Test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72968" y="411480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5E4"/>
                </a:solidFill>
              </a:rPr>
              <a:t>📸 Product Image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72968" y="437083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5E4"/>
                </a:solidFill>
              </a:rPr>
              <a:t>🎨 Swatch / Material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4645152"/>
            <a:ext cx="5084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1856B"/>
                </a:solidFill>
              </a:rPr>
              <a:t>→ No version control · No single owner · Hours wasted searching</a:t>
            </a:r>
            <a:endParaRPr lang="en-US" sz="10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0"/>
            <a:ext cx="3337560" cy="51435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484632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ADA4"/>
                </a:solidFill>
              </a:rPr>
              <a:t>Product Manager · Business Analyst · Technical Manager  |  May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4E4C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</a:rPr>
              <a:t>Documents scattered across 3+ systems — no link to product in D365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4E4C"/>
                </a:solidFill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</a:rPr>
              <a:t>PIM = one place for everything · push to every channel automatically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4E4C"/>
                </a:solidFill>
              </a:rPr>
              <a:t>What content lives in PIM?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</a:rPr>
              <a:t>Every asset linked to Range / Master Number / Variant — structured like D365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1168" y="1042416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C8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0896" y="1188720"/>
            <a:ext cx="402336" cy="402336"/>
          </a:xfrm>
          <a:prstGeom prst="ellipse">
            <a:avLst/>
          </a:prstGeom>
          <a:solidFill>
            <a:srgbClr val="586A68"/>
          </a:solidFill>
          <a:ln w="12700">
            <a:solidFill>
              <a:srgbClr val="586A6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4358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17043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Packshots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" y="1463040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Hero · pack · lifestyle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all angles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395728" y="1042416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C8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05456" y="1188720"/>
            <a:ext cx="402336" cy="402336"/>
          </a:xfrm>
          <a:prstGeom prst="ellipse">
            <a:avLst/>
          </a:prstGeom>
          <a:solidFill>
            <a:srgbClr val="C1856B"/>
          </a:solidFill>
          <a:ln w="12700">
            <a:solidFill>
              <a:srgbClr val="C185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24358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99232" y="117043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Videos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999232" y="1463040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Product · lifestyle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Reels · tutorials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90288" y="1042416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C8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00016" y="1188720"/>
            <a:ext cx="402336" cy="402336"/>
          </a:xfrm>
          <a:prstGeom prst="ellipse">
            <a:avLst/>
          </a:prstGeom>
          <a:solidFill>
            <a:srgbClr val="959B94"/>
          </a:solidFill>
          <a:ln w="12700">
            <a:solidFill>
              <a:srgbClr val="959B9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4358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93792" y="117043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Swatches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93792" y="1463040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Material · color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fabric samples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784848" y="1042416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C8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94576" y="1188720"/>
            <a:ext cx="402336" cy="402336"/>
          </a:xfrm>
          <a:prstGeom prst="ellipse">
            <a:avLst/>
          </a:prstGeom>
          <a:solidFill>
            <a:srgbClr val="3D4E4C"/>
          </a:solidFill>
          <a:ln w="12700">
            <a:solidFill>
              <a:srgbClr val="3D4E4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24358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88352" y="117043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CAD / 3D Files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388352" y="1463040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STEP · OBJ · FBX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source for AI render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01168" y="2395728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C8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0896" y="2542032"/>
            <a:ext cx="402336" cy="402336"/>
          </a:xfrm>
          <a:prstGeom prst="ellipse">
            <a:avLst/>
          </a:prstGeom>
          <a:solidFill>
            <a:srgbClr val="B6ADA4"/>
          </a:solidFill>
          <a:ln w="12700">
            <a:solidFill>
              <a:srgbClr val="B6ADA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59689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" y="2523744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Line Drawings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804672" y="281635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Technical illustrations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for catalogue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2395728" y="2395728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C8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505456" y="2542032"/>
            <a:ext cx="402336" cy="402336"/>
          </a:xfrm>
          <a:prstGeom prst="ellipse">
            <a:avLst/>
          </a:prstGeom>
          <a:solidFill>
            <a:srgbClr val="586A68"/>
          </a:solidFill>
          <a:ln w="12700">
            <a:solidFill>
              <a:srgbClr val="586A6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259689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999232" y="2523744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PI Documents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2999232" y="281635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Product info sheets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spec sheets · PDFs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590288" y="2395728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C8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700016" y="2542032"/>
            <a:ext cx="402336" cy="402336"/>
          </a:xfrm>
          <a:prstGeom prst="ellipse">
            <a:avLst/>
          </a:prstGeom>
          <a:solidFill>
            <a:srgbClr val="C1856B"/>
          </a:solidFill>
          <a:ln w="12700">
            <a:solidFill>
              <a:srgbClr val="C1856B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596896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193792" y="2523744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AI Renders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5193792" y="281635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Auto-generated from CAD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all material variants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784848" y="2395728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C8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894576" y="2542032"/>
            <a:ext cx="402336" cy="402336"/>
          </a:xfrm>
          <a:prstGeom prst="ellipse">
            <a:avLst/>
          </a:prstGeom>
          <a:solidFill>
            <a:srgbClr val="959B94"/>
          </a:solidFill>
          <a:ln w="12700">
            <a:solidFill>
              <a:srgbClr val="959B94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2596896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388352" y="2523744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SM Assets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7388352" y="281635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Social-ready formats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FB · IG · LI · TT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201168" y="3749040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C8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310896" y="3895344"/>
            <a:ext cx="402336" cy="402336"/>
          </a:xfrm>
          <a:prstGeom prst="ellipse">
            <a:avLst/>
          </a:prstGeom>
          <a:solidFill>
            <a:srgbClr val="753438"/>
          </a:solidFill>
          <a:ln w="12700">
            <a:solidFill>
              <a:srgbClr val="753438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3950208"/>
            <a:ext cx="292608" cy="29260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04672" y="387705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Text Content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804672" y="4169664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Descriptions · USPs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Care guides (AI-drafted)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2395728" y="3749040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C8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2505456" y="3895344"/>
            <a:ext cx="402336" cy="402336"/>
          </a:xfrm>
          <a:prstGeom prst="ellipse">
            <a:avLst/>
          </a:prstGeom>
          <a:solidFill>
            <a:srgbClr val="3D4E4C"/>
          </a:solidFill>
          <a:ln w="12700">
            <a:solidFill>
              <a:srgbClr val="3D4E4C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0320" y="3950208"/>
            <a:ext cx="292608" cy="29260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2999232" y="387705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Price Data</a:t>
            </a:r>
            <a:endParaRPr lang="en-US" sz="1100" dirty="0"/>
          </a:p>
        </p:txBody>
      </p:sp>
      <p:sp>
        <p:nvSpPr>
          <p:cNvPr id="53" name="Text 41"/>
          <p:cNvSpPr/>
          <p:nvPr/>
        </p:nvSpPr>
        <p:spPr>
          <a:xfrm>
            <a:off x="2999232" y="4169664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From D365 · auto-sync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always current</a:t>
            </a:r>
            <a:endParaRPr lang="en-US" sz="1000" dirty="0"/>
          </a:p>
        </p:txBody>
      </p:sp>
      <p:sp>
        <p:nvSpPr>
          <p:cNvPr id="54" name="Shape 42"/>
          <p:cNvSpPr/>
          <p:nvPr/>
        </p:nvSpPr>
        <p:spPr>
          <a:xfrm>
            <a:off x="4590288" y="3749040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C8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43"/>
          <p:cNvSpPr/>
          <p:nvPr/>
        </p:nvSpPr>
        <p:spPr>
          <a:xfrm>
            <a:off x="4700016" y="3895344"/>
            <a:ext cx="402336" cy="402336"/>
          </a:xfrm>
          <a:prstGeom prst="ellipse">
            <a:avLst/>
          </a:prstGeom>
          <a:solidFill>
            <a:srgbClr val="B6ADA4"/>
          </a:solidFill>
          <a:ln w="12700">
            <a:solidFill>
              <a:srgbClr val="B6ADA4"/>
            </a:solidFill>
            <a:prstDash val="solid"/>
          </a:ln>
        </p:spPr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3950208"/>
            <a:ext cx="292608" cy="292608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5193792" y="387705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Lifestyle Scenes</a:t>
            </a:r>
            <a:endParaRPr lang="en-US" sz="1100" dirty="0"/>
          </a:p>
        </p:txBody>
      </p:sp>
      <p:sp>
        <p:nvSpPr>
          <p:cNvPr id="58" name="Text 45"/>
          <p:cNvSpPr/>
          <p:nvPr/>
        </p:nvSpPr>
        <p:spPr>
          <a:xfrm>
            <a:off x="5193792" y="4169664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Room shots · mood boards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lifestyle contexts</a:t>
            </a:r>
            <a:endParaRPr lang="en-US" sz="1000" dirty="0"/>
          </a:p>
        </p:txBody>
      </p:sp>
      <p:sp>
        <p:nvSpPr>
          <p:cNvPr id="59" name="Shape 46"/>
          <p:cNvSpPr/>
          <p:nvPr/>
        </p:nvSpPr>
        <p:spPr>
          <a:xfrm>
            <a:off x="6784848" y="3749040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C8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Shape 47"/>
          <p:cNvSpPr/>
          <p:nvPr/>
        </p:nvSpPr>
        <p:spPr>
          <a:xfrm>
            <a:off x="6894576" y="3895344"/>
            <a:ext cx="402336" cy="402336"/>
          </a:xfrm>
          <a:prstGeom prst="ellipse">
            <a:avLst/>
          </a:prstGeom>
          <a:solidFill>
            <a:srgbClr val="586A68"/>
          </a:solidFill>
          <a:ln w="12700">
            <a:solidFill>
              <a:srgbClr val="586A68"/>
            </a:solidFill>
            <a:prstDash val="solid"/>
          </a:ln>
        </p:spPr>
      </p:sp>
      <p:pic>
        <p:nvPicPr>
          <p:cNvPr id="6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0" y="3950208"/>
            <a:ext cx="292608" cy="292608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7388352" y="387705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360° Spin Sets</a:t>
            </a:r>
            <a:endParaRPr lang="en-US" sz="1100" dirty="0"/>
          </a:p>
        </p:txBody>
      </p:sp>
      <p:sp>
        <p:nvSpPr>
          <p:cNvPr id="63" name="Text 49"/>
          <p:cNvSpPr/>
          <p:nvPr/>
        </p:nvSpPr>
        <p:spPr>
          <a:xfrm>
            <a:off x="7388352" y="4169664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Interactive views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for webshop (Phase 3)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4E4C"/>
                </a:solidFill>
              </a:rPr>
              <a:t>Image Engine — Upload once, get every size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</a:rPr>
              <a:t>No more manual resizing · Auto-generate all formats for web, print and social in &lt; 30 seconds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D4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it works — 7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ADA4"/>
                </a:solidFill>
              </a:rPr>
              <a:t>From D365 to published — automated, traceable, fast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2011680" cy="1508760"/>
          </a:xfrm>
          <a:prstGeom prst="rect">
            <a:avLst/>
          </a:prstGeom>
          <a:solidFill>
            <a:srgbClr val="586A68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22529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25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6A68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24358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D365 Syncs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8BD"/>
                </a:solidFill>
              </a:rPr>
              <a:t>Product data every 15 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32304" y="1115568"/>
            <a:ext cx="2011680" cy="1508760"/>
          </a:xfrm>
          <a:prstGeom prst="rect">
            <a:avLst/>
          </a:prstGeom>
          <a:solidFill>
            <a:srgbClr val="C1856B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23744" y="122529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1225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856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90672" y="124358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Upload Assets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42032" y="18470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8BD"/>
                </a:solidFill>
              </a:rPr>
              <a:t>Images, video, CAD to DAM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115568"/>
            <a:ext cx="2011680" cy="1508760"/>
          </a:xfrm>
          <a:prstGeom prst="rect">
            <a:avLst/>
          </a:prstGeom>
          <a:solidFill>
            <a:srgbClr val="959B94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122529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225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9B94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66944" y="124358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Image Engine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8304" y="18470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8BD"/>
                </a:solidFill>
              </a:rPr>
              <a:t>Auto-resize for all channels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84848" y="1115568"/>
            <a:ext cx="2011680" cy="1508760"/>
          </a:xfrm>
          <a:prstGeom prst="rect">
            <a:avLst/>
          </a:prstGeom>
          <a:solidFill>
            <a:srgbClr val="753438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76288" y="122529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1225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53438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43216" y="124358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Writes 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94576" y="18470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8BD"/>
                </a:solidFill>
              </a:rPr>
              <a:t>Descriptions, USPs, care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44168" y="2944368"/>
            <a:ext cx="2011680" cy="1508760"/>
          </a:xfrm>
          <a:prstGeom prst="rect">
            <a:avLst/>
          </a:prstGeom>
          <a:solidFill>
            <a:srgbClr val="586A68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435608" y="305409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35608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6A68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002536" y="307238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 &amp; Approve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53896" y="36758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8BD"/>
                </a:solidFill>
              </a:rPr>
              <a:t>Human always reviews first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20440" y="2944368"/>
            <a:ext cx="2011680" cy="1508760"/>
          </a:xfrm>
          <a:prstGeom prst="rect">
            <a:avLst/>
          </a:prstGeom>
          <a:solidFill>
            <a:srgbClr val="C1856B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11880" y="305409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856B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78808" y="307238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Completeness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30168" y="36758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8BD"/>
                </a:solidFill>
              </a:rPr>
              <a:t>Score check before publish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96712" y="2944368"/>
            <a:ext cx="2011680" cy="1508760"/>
          </a:xfrm>
          <a:prstGeom prst="rect">
            <a:avLst/>
          </a:prstGeom>
          <a:solidFill>
            <a:srgbClr val="B6ADA4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788152" y="305409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88152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6ADA4"/>
                </a:solidFill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55080" y="307238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Publish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06440" y="36758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8BD"/>
                </a:solidFill>
              </a:rPr>
              <a:t>iPaper · Social · Pricelist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4E4C"/>
                </a:solidFill>
              </a:rPr>
              <a:t>Social Campaign Builder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</a:rPr>
              <a:t>Pick PIM assets · AI writes captions · Schedule and publish to all platforms in one flow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4E4C"/>
                </a:solidFill>
              </a:rPr>
              <a:t>Asset Link Map — Know exactly where every asset 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</a:rPr>
              <a:t>See which campaigns, platforms, and channels use each asset — with live performance data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4E4C"/>
                </a:solidFill>
              </a:rPr>
              <a:t>AI does the heavy lifting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</a:rPr>
              <a:t>Content team focuses on review + approval — not typing from scratch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4E4C"/>
                </a:solidFill>
              </a:rPr>
              <a:t>AI Rendering — Future Vision Under Research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</a:rPr>
              <a:t>Conceptually promising · feasibility study required before committing to implementation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4E4C"/>
                </a:solidFill>
              </a:rPr>
              <a:t>Tech Stack — built to scale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</a:rPr>
              <a:t>Three independent services · each deploys and scales on its own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3794760"/>
          </a:xfrm>
          <a:prstGeom prst="rect">
            <a:avLst/>
          </a:prstGeom>
          <a:solidFill>
            <a:srgbClr val="FFFFFF"/>
          </a:solidFill>
          <a:ln w="25400">
            <a:solidFill>
              <a:srgbClr val="586A6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88920" cy="822960"/>
          </a:xfrm>
          <a:prstGeom prst="rect">
            <a:avLst/>
          </a:prstGeom>
          <a:solidFill>
            <a:srgbClr val="586A68"/>
          </a:solidFill>
          <a:ln w="12700">
            <a:solidFill>
              <a:srgbClr val="586A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ASP.NET Core 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8BD"/>
                </a:solidFill>
              </a:rPr>
              <a:t>Backend API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›  REST endpoints + Hangfire jobs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5328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›  D365 sync · Platform publish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09981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›  Publish to iPaper / Pricelist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66674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›  PostgreSQL + Redis + Typesense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788920" cy="3794760"/>
          </a:xfrm>
          <a:prstGeom prst="rect">
            <a:avLst/>
          </a:prstGeom>
          <a:solidFill>
            <a:srgbClr val="FFFFFF"/>
          </a:solidFill>
          <a:ln w="25400">
            <a:solidFill>
              <a:srgbClr val="C185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05840"/>
            <a:ext cx="2788920" cy="822960"/>
          </a:xfrm>
          <a:prstGeom prst="rect">
            <a:avLst/>
          </a:prstGeom>
          <a:solidFill>
            <a:srgbClr val="C1856B"/>
          </a:solidFill>
          <a:ln w="12700">
            <a:solidFill>
              <a:srgbClr val="C185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05156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 18 + TypeScript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44475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8BD"/>
                </a:solidFill>
              </a:rPr>
              <a:t>Frontend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965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›  Admin UI · Media Hub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5328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›  Campaign Builder (drag-drop)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09981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›  Asset Link Map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66674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›  Analytics with Recharts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2788920" cy="3794760"/>
          </a:xfrm>
          <a:prstGeom prst="rect">
            <a:avLst/>
          </a:prstGeom>
          <a:solidFill>
            <a:srgbClr val="FFFFFF"/>
          </a:solidFill>
          <a:ln w="25400">
            <a:solidFill>
              <a:srgbClr val="75343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05840"/>
            <a:ext cx="2788920" cy="822960"/>
          </a:xfrm>
          <a:prstGeom prst="rect">
            <a:avLst/>
          </a:prstGeom>
          <a:solidFill>
            <a:srgbClr val="753438"/>
          </a:solidFill>
          <a:ln w="12700">
            <a:solidFill>
              <a:srgbClr val="7534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05156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 FastAPI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144475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8BD"/>
                </a:solidFill>
              </a:rPr>
              <a:t>AI Service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1965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›  Claude API (Anthropic)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5328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›  Text · Caption · Quality check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09981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›  Image tagging · Embeddings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366674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›  ML + Render pipeline (Phase 3)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solidFill>
            <a:srgbClr val="3D4E4C"/>
          </a:solidFill>
          <a:ln w="12700">
            <a:solidFill>
              <a:srgbClr val="3D4E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6908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Shared: Azure Blob + CDN · RabbitMQ · TimescaleDB · Redis · Docker / Kubernetes · GitHub Actions CI/CD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4E4C"/>
                </a:solidFill>
              </a:rPr>
              <a:t>3-Phase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</a:rPr>
              <a:t>Start small, deliver value fast, grow over time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4E4C"/>
                </a:solidFill>
              </a:rPr>
              <a:t>Why build this now?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C8B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" y="1115568"/>
            <a:ext cx="475488" cy="475488"/>
          </a:xfrm>
          <a:prstGeom prst="ellipse">
            <a:avLst/>
          </a:prstGeom>
          <a:solidFill>
            <a:srgbClr val="C1856B"/>
          </a:solidFill>
          <a:ln w="12700">
            <a:solidFill>
              <a:srgbClr val="C185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7043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11155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</a:rPr>
              <a:t>Time wasted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6002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</a:rPr>
              <a:t>Content team spends 8+ hours/week searching for the right file version. Every hour saved = direct cost reduction.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41148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C8B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64608" y="1115568"/>
            <a:ext cx="475488" cy="475488"/>
          </a:xfrm>
          <a:prstGeom prst="ellipse">
            <a:avLst/>
          </a:prstGeom>
          <a:solidFill>
            <a:srgbClr val="959B94"/>
          </a:solidFill>
          <a:ln w="12700">
            <a:solidFill>
              <a:srgbClr val="959B9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1704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68112" y="11155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</a:rPr>
              <a:t>Wrong content live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92040" y="16002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</a:rPr>
              <a:t>Outdated PI sheet, wrong drawing version, incorrect image go live. PIM enforces completeness score before publish.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2926080"/>
            <a:ext cx="41148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C8B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84048" y="3035808"/>
            <a:ext cx="475488" cy="475488"/>
          </a:xfrm>
          <a:prstGeom prst="ellipse">
            <a:avLst/>
          </a:prstGeom>
          <a:solidFill>
            <a:srgbClr val="586A68"/>
          </a:solidFill>
          <a:ln w="12700">
            <a:solidFill>
              <a:srgbClr val="586A6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09067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552" y="30358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</a:rPr>
              <a:t>AI is ready now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11480" y="35204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</a:rPr>
              <a:t>Claude API generates production-quality product descriptions and captions today. Starting early = competitive advantage.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C8B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64608" y="3035808"/>
            <a:ext cx="475488" cy="475488"/>
          </a:xfrm>
          <a:prstGeom prst="ellipse">
            <a:avLst/>
          </a:prstGeom>
          <a:solidFill>
            <a:srgbClr val="753438"/>
          </a:solidFill>
          <a:ln w="12700">
            <a:solidFill>
              <a:srgbClr val="75343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09067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68112" y="30358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</a:rPr>
              <a:t>Social = growth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892040" y="35204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</a:rPr>
              <a:t>100% of campaign assets from PIM. No local copies. Asset Link Map shows what's working in real-time.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4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856B"/>
          </a:solidFill>
          <a:ln w="12700">
            <a:solidFill>
              <a:srgbClr val="C18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402336" cy="402336"/>
          </a:xfrm>
          <a:prstGeom prst="ellipse">
            <a:avLst/>
          </a:prstGeom>
          <a:solidFill>
            <a:srgbClr val="C1856B"/>
          </a:solidFill>
          <a:ln w="12700">
            <a:solidFill>
              <a:srgbClr val="C185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87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9692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Stakeholder sign-off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243584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ADA4"/>
                </a:solidFill>
              </a:rPr>
              <a:t>Review this deck · Confirm scope · Approve Phase 1 budget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737360"/>
            <a:ext cx="402336" cy="402336"/>
          </a:xfrm>
          <a:prstGeom prst="ellipse">
            <a:avLst/>
          </a:prstGeom>
          <a:solidFill>
            <a:srgbClr val="C1856B"/>
          </a:solidFill>
          <a:ln w="12700">
            <a:solidFill>
              <a:srgbClr val="C185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719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Technical spikes (Week 1–2)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99339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ADA4"/>
                </a:solidFill>
              </a:rPr>
              <a:t>Validate D365 API access · Validate Meta API sandbox with test ad account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487168"/>
            <a:ext cx="402336" cy="402336"/>
          </a:xfrm>
          <a:prstGeom prst="ellipse">
            <a:avLst/>
          </a:prstGeom>
          <a:solidFill>
            <a:srgbClr val="C1856B"/>
          </a:solidFill>
          <a:ln w="12700">
            <a:solidFill>
              <a:srgbClr val="C185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Environment setup (Week 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74320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ADA4"/>
                </a:solidFill>
              </a:rPr>
              <a:t>Docker Compose: ASP.NET Core + React + Python + PostgreSQL + Redis + RabbitMQ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236976"/>
            <a:ext cx="402336" cy="402336"/>
          </a:xfrm>
          <a:prstGeom prst="ellipse">
            <a:avLst/>
          </a:prstGeom>
          <a:solidFill>
            <a:srgbClr val="C1856B"/>
          </a:solidFill>
          <a:ln w="12700">
            <a:solidFill>
              <a:srgbClr val="C185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3218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Sprint 1 kick-off (Week 3)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3493008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ADA4"/>
                </a:solidFill>
              </a:rPr>
              <a:t>Repo · CI/CD pipeline · DB schema migrations · API scaffold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986784"/>
            <a:ext cx="402336" cy="402336"/>
          </a:xfrm>
          <a:prstGeom prst="ellipse">
            <a:avLst/>
          </a:prstGeom>
          <a:solidFill>
            <a:srgbClr val="C1856B"/>
          </a:solidFill>
          <a:ln w="12700">
            <a:solidFill>
              <a:srgbClr val="C185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39684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 launch (Month 3–4)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4242816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ADA4"/>
                </a:solidFill>
              </a:rPr>
              <a:t>Content team live · Zero shared drives · iPaper pulls from PIM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4617720"/>
            <a:ext cx="8449056" cy="310896"/>
          </a:xfrm>
          <a:prstGeom prst="rect">
            <a:avLst/>
          </a:prstGeom>
          <a:solidFill>
            <a:srgbClr val="C1856B"/>
          </a:solidFill>
          <a:ln w="12700">
            <a:solidFill>
              <a:srgbClr val="C185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Questions? Let's discuss →  Product Manager / Business Analyst / Technical Manager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AD2A1135A74646B46BFBA37F974AD2" ma:contentTypeVersion="13" ma:contentTypeDescription="Create a new document." ma:contentTypeScope="" ma:versionID="a3831cfc9077fcd28286dfef3dcdcc31">
  <xsd:schema xmlns:xsd="http://www.w3.org/2001/XMLSchema" xmlns:xs="http://www.w3.org/2001/XMLSchema" xmlns:p="http://schemas.microsoft.com/office/2006/metadata/properties" xmlns:ns2="a24c43b6-3851-42ae-a873-f7165c1824d9" xmlns:ns3="d6dabced-f658-4946-a86a-4fdcdc264f2c" targetNamespace="http://schemas.microsoft.com/office/2006/metadata/properties" ma:root="true" ma:fieldsID="1a473672182ee79e551d528f6ad6b87f" ns2:_="" ns3:_="">
    <xsd:import namespace="a24c43b6-3851-42ae-a873-f7165c1824d9"/>
    <xsd:import namespace="d6dabced-f658-4946-a86a-4fdcdc264f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4c43b6-3851-42ae-a873-f7165c1824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883e127b-0c24-4f06-ab68-326cea09e5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abced-f658-4946-a86a-4fdcdc264f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164b070-70b3-4b6e-b188-10deaef71793}" ma:internalName="TaxCatchAll" ma:showField="CatchAllData" ma:web="d6dabced-f658-4946-a86a-4fdcdc264f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24c43b6-3851-42ae-a873-f7165c1824d9">
      <Terms xmlns="http://schemas.microsoft.com/office/infopath/2007/PartnerControls"/>
    </lcf76f155ced4ddcb4097134ff3c332f>
    <TaxCatchAll xmlns="d6dabced-f658-4946-a86a-4fdcdc264f2c" xsi:nil="true"/>
  </documentManagement>
</p:properties>
</file>

<file path=customXml/itemProps1.xml><?xml version="1.0" encoding="utf-8"?>
<ds:datastoreItem xmlns:ds="http://schemas.openxmlformats.org/officeDocument/2006/customXml" ds:itemID="{F12C73E4-4244-4A5A-AFC8-A6DF463B3A05}"/>
</file>

<file path=customXml/itemProps2.xml><?xml version="1.0" encoding="utf-8"?>
<ds:datastoreItem xmlns:ds="http://schemas.openxmlformats.org/officeDocument/2006/customXml" ds:itemID="{C2F652FD-E5A1-4589-9410-9A743173A065}"/>
</file>

<file path=customXml/itemProps3.xml><?xml version="1.0" encoding="utf-8"?>
<ds:datastoreItem xmlns:ds="http://schemas.openxmlformats.org/officeDocument/2006/customXml" ds:itemID="{433DC28A-85C5-4A6B-8AC1-14E9E143BC2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2026-05-13T08:08:43Z</dcterms:created>
  <dcterms:modified xsi:type="dcterms:W3CDTF">2026-05-13T08:08:43Z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0x01010091AD2A1135A74646B46BFBA37F974AD2</vt:lpwstr>
  </property>
</Properties>
</file>