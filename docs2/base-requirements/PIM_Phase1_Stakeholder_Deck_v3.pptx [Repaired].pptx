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29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640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856B"/>
                </a:solidFill>
                <a:latin typeface="Calibri"/>
              </a:rPr>
              <a:t>PHASE 1 — SIGN-OFF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Core PIM + Social Campaign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B6ADA4"/>
                </a:solidFill>
                <a:latin typeface="Calibri"/>
              </a:rPr>
              <a:t>Scope chốt với Stakeholder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59B94"/>
                </a:solidFill>
                <a:latin typeface="Calibri"/>
              </a:rPr>
              <a:t>9 modules Must Have  ·  5-level product hierarchy  ·  D365 read-only  ·  AI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0968A"/>
                </a:solidFill>
                <a:latin typeface="Calibri"/>
              </a:rPr>
              <a:t>ASP.NET Core 8   ·   React 18 + TypeScript   ·   Python FastAPI + Claude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7A6E"/>
                </a:solidFill>
                <a:latin typeface="Calibri"/>
              </a:rPr>
              <a:t>Product Manager  ·  Business Analyst  ·  Technical Manager  ·  Stakeholder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NỘI 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Agenda hôm 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54533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36192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Mục tiêu 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46504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Định nghĩa 'Done' — kết quả kỳ vọng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54533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36192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Product Hierarchy 5 cấp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746504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Range → Item → Mother → Daughter → SO Variant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93392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1993392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202996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020824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9 Modules In-Scope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231136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Must Have — thứ tự logic phụ thuộc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993392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1993392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202996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020824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D365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231136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Nguyên tắc đã chốt — one-way read-only · 15 phút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478024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478024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" y="251460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2505456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Asset &amp; Document 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2715768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DAM + Document Mgmt gộp · approval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478024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2478024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9944" y="251460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505456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Image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715768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Upload 1 lần → auto-gen tất cả size/format &lt; 30s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2962656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2962656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" y="2999232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2990088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Basic Publish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3200400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Completeness score → iPaper + REST API · CDN dynamic alias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962656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2962656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9944" y="2999232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990088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Social Campaign Module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200400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Asset PIM → AI caption → FB + IG end-to-end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44728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8640" y="3447288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4944" y="3483864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3474720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3 Modules mới (P2→P1)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3685032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Material Lifecycle · Customer Sales · Product 360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44728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263640" y="3447288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9944" y="3483864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3474720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Out-of-Scope / Phase 2+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3685032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Ranh giới rõ ràng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93192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3931920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94944" y="396849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3959352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Timeline 16 tuần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4169664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6 sprints · sign-off → launch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393192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263640" y="3931920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9944" y="396849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3959352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12 Quyết định cần chốt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4169664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Open items trước khi khóa scope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416552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48640" y="4416552"/>
            <a:ext cx="54864" cy="40233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94944" y="445312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88720" y="4443984"/>
            <a:ext cx="4663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Tiêu chí nghiệm thu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8720" y="4654296"/>
            <a:ext cx="4663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12 success criteria Phase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Phase 1 — Định nghĩa "Done"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11064240" cy="128016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118872" cy="128016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10607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D4E4C"/>
                </a:solidFill>
                <a:latin typeface="Calibri"/>
              </a:rPr>
              <a:t>PIM trở thành Single Source of Truth cho product content, đồng thời là nơi tạo &amp; đăng campaign social — 100% asset campaign lấy từ PIM, không còn bản copy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27248"/>
            <a:ext cx="109728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2C2C2A"/>
                </a:solidFill>
                <a:latin typeface="Calibri"/>
              </a:rPr>
              <a:t>Content team </a:t>
            </a:r>
            <a:r>
              <a:rPr sz="1300" b="0" dirty="0" err="1">
                <a:solidFill>
                  <a:srgbClr val="2C2C2A"/>
                </a:solidFill>
                <a:latin typeface="Calibri"/>
              </a:rPr>
              <a:t>làm</a:t>
            </a:r>
            <a:r>
              <a:rPr sz="1300" b="0" dirty="0">
                <a:solidFill>
                  <a:srgbClr val="2C2C2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C2C2A"/>
                </a:solidFill>
                <a:latin typeface="Calibri"/>
              </a:rPr>
              <a:t>việc</a:t>
            </a:r>
            <a:r>
              <a:rPr sz="1300" b="0" dirty="0">
                <a:solidFill>
                  <a:srgbClr val="2C2C2A"/>
                </a:solidFill>
                <a:latin typeface="Calibri"/>
              </a:rPr>
              <a:t> 100% </a:t>
            </a:r>
            <a:r>
              <a:rPr sz="1300" b="0" dirty="0" err="1">
                <a:solidFill>
                  <a:srgbClr val="2C2C2A"/>
                </a:solidFill>
                <a:latin typeface="Calibri"/>
              </a:rPr>
              <a:t>trên</a:t>
            </a:r>
            <a:r>
              <a:rPr sz="1300" b="0" dirty="0">
                <a:solidFill>
                  <a:srgbClr val="2C2C2A"/>
                </a:solidFill>
                <a:latin typeface="Calibri"/>
              </a:rPr>
              <a:t> PIM — </a:t>
            </a:r>
            <a:r>
              <a:rPr sz="1300" b="0" dirty="0" err="1">
                <a:solidFill>
                  <a:srgbClr val="2C2C2A"/>
                </a:solidFill>
                <a:latin typeface="Calibri"/>
              </a:rPr>
              <a:t>không</a:t>
            </a:r>
            <a:r>
              <a:rPr sz="1300" b="0" dirty="0">
                <a:solidFill>
                  <a:srgbClr val="2C2C2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C2C2A"/>
                </a:solidFill>
                <a:latin typeface="Calibri"/>
              </a:rPr>
              <a:t>còn</a:t>
            </a:r>
            <a:r>
              <a:rPr sz="1300" b="0" dirty="0">
                <a:solidFill>
                  <a:srgbClr val="2C2C2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C2C2A"/>
                </a:solidFill>
                <a:latin typeface="Calibri"/>
              </a:rPr>
              <a:t>tìm</a:t>
            </a:r>
            <a:r>
              <a:rPr sz="1300" b="0" dirty="0">
                <a:solidFill>
                  <a:srgbClr val="2C2C2A"/>
                </a:solidFill>
                <a:latin typeface="Calibri"/>
              </a:rPr>
              <a:t> file </a:t>
            </a:r>
            <a:r>
              <a:rPr sz="1300" b="0" dirty="0" err="1">
                <a:solidFill>
                  <a:srgbClr val="2C2C2A"/>
                </a:solidFill>
                <a:latin typeface="Calibri"/>
              </a:rPr>
              <a:t>rải</a:t>
            </a:r>
            <a:r>
              <a:rPr sz="1300" b="0" dirty="0">
                <a:solidFill>
                  <a:srgbClr val="2C2C2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C2C2A"/>
                </a:solidFill>
                <a:latin typeface="Calibri"/>
              </a:rPr>
              <a:t>rác</a:t>
            </a:r>
            <a:r>
              <a:rPr sz="1300" b="0" dirty="0">
                <a:solidFill>
                  <a:srgbClr val="2C2C2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C2C2A"/>
                </a:solidFill>
                <a:latin typeface="Calibri"/>
              </a:rPr>
              <a:t>trên</a:t>
            </a:r>
            <a:r>
              <a:rPr sz="1300" b="0" dirty="0">
                <a:solidFill>
                  <a:srgbClr val="2C2C2A"/>
                </a:solidFill>
                <a:latin typeface="Calibri"/>
              </a:rPr>
              <a:t> shared drives / SharePoint.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547872"/>
            <a:ext cx="109728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419856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Mọi asset gắn cấu trúc Range → Item → Variant, đồng bộ từ D365.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968496"/>
            <a:ext cx="109728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iPaper kéo dữ liệu trực tiếp từ PIM — luôn lấy asset phiên bản mới nhất đã được duyệt.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389120"/>
            <a:ext cx="109728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61104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Tạo &amp; đăng được campaign social end-to-end ngay trong PIM.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809744"/>
            <a:ext cx="109728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681728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Mỗi Item có dashboard 360° tổng hợp asset, document, AI content và publish status.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230368"/>
            <a:ext cx="109728" cy="16459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102352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PI / Assembly Instruction / Shipping Mark được quản lý tập trung, có approval tracking.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650992"/>
            <a:ext cx="109728" cy="16459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Cảnh báo ngay khi material bị discontinued — tránh dùng vật liệu lỗi thời.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071616"/>
            <a:ext cx="109728" cy="16459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943600"/>
            <a:ext cx="10652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Xem được sản phẩm đã bán cho khách nào, số lượng bao nhiêu — trực tiếp trong PIM.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IN-SCOPE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9 Modules Must Have — thứ tự logic phụ thuộc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73152" cy="71323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664208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45336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1856B"/>
                </a:solidFill>
                <a:latin typeface="Calibri"/>
              </a:rPr>
              <a:t>Product Master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65376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5-cấp hierarchy · D365 mapping · Material 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81328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5352" y="1481328"/>
            <a:ext cx="73152" cy="71323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9944" y="1664208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66420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1545336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1856B"/>
                </a:solidFill>
                <a:latin typeface="Calibri"/>
              </a:rPr>
              <a:t>D365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1865376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One-way read-only · 15 phút · Dimensions/Price/Sales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40864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2340864"/>
            <a:ext cx="73152" cy="71323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2523744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252374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40487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1856B"/>
                </a:solidFill>
                <a:latin typeface="Calibri"/>
              </a:rPr>
              <a:t>Asset &amp; Document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724912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DAM + Document Mgmt gộp · media→CDN · document→approval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2340864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45352" y="2340864"/>
            <a:ext cx="73152" cy="71323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9944" y="2523744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252374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240487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1856B"/>
                </a:solidFill>
                <a:latin typeface="Calibri"/>
              </a:rPr>
              <a:t>Image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2724912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Upload 1 lần → auto-gen Web·Print·Social &lt; 30s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00400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200400"/>
            <a:ext cx="73152" cy="71323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3232" y="3383280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3383280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326440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1856B"/>
                </a:solidFill>
                <a:latin typeface="Calibri"/>
              </a:rPr>
              <a:t>Basic Publish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3584448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Completeness score → iPaper + REST API · CDN dynamic alias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3200400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45352" y="3200400"/>
            <a:ext cx="73152" cy="71323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9944" y="3383280"/>
            <a:ext cx="329184" cy="329184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9944" y="3383280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326440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586A68"/>
                </a:solidFill>
                <a:latin typeface="Calibri"/>
              </a:rPr>
              <a:t>Social Campaign  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85432" y="3584448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Asset PIM → AI caption → FB + IG end-to-end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059936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4059936"/>
            <a:ext cx="73152" cy="71323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" y="4242816"/>
            <a:ext cx="329184" cy="329184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4242816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123944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586A68"/>
                </a:solidFill>
                <a:latin typeface="Calibri"/>
              </a:rPr>
              <a:t>Material Lifecycle  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443984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Active / Phasing Out / Discontinued · auto-flag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45352" y="4059936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45352" y="4059936"/>
            <a:ext cx="73152" cy="71323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9944" y="4242816"/>
            <a:ext cx="329184" cy="329184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9944" y="4242816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5432" y="4123944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586A68"/>
                </a:solidFill>
                <a:latin typeface="Calibri"/>
              </a:rPr>
              <a:t>Customer Sales History  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5432" y="4443984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Per Item/Variant: khách đã mua · số lượng · date range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919472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48640" y="4919472"/>
            <a:ext cx="73152" cy="71323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13232" y="5102352"/>
            <a:ext cx="329184" cy="329184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3232" y="510235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" y="498348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586A68"/>
                </a:solidFill>
                <a:latin typeface="Calibri"/>
              </a:rPr>
              <a:t>Product 360 Dashboard  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5303520"/>
            <a:ext cx="4599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View tổng hợp per Item: assets · docs · AI · publish · sales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45352" y="4919472"/>
            <a:ext cx="5440680" cy="7132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245352" y="4919472"/>
            <a:ext cx="73152" cy="713232"/>
          </a:xfrm>
          <a:prstGeom prst="rect">
            <a:avLst/>
          </a:prstGeom>
          <a:solidFill>
            <a:srgbClr val="959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46520" y="5102352"/>
            <a:ext cx="50749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Terracotta = Core PIM (1-5)   Sage = Extended P2→P1 (6-9)
Thứ tự slide: cấu trúc → data → content → publish → marketing → insight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Product Hierarchy — 5 cấp (xác nhận từ D365 data thực tế)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2286000" cy="74980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73152" cy="7498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591056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1856B"/>
                </a:solidFill>
                <a:latin typeface="Calibri"/>
              </a:rPr>
              <a:t>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Alaska · Greenwood · Calia · X-Ray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53619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58767" y="1572768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D365: </a:t>
            </a:r>
            <a:r>
              <a:rPr sz="1000" b="0">
                <a:solidFill>
                  <a:srgbClr val="C1856B"/>
                </a:solidFill>
                <a:latin typeface="Calibri"/>
              </a:rPr>
              <a:t>productRange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7" y="186537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Range catalog images, branding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35331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 type &amp; Asset ownership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" y="2286000"/>
            <a:ext cx="36576" cy="274320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" y="2752344"/>
            <a:ext cx="182880" cy="36576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8" y="2450592"/>
            <a:ext cx="2286000" cy="74980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8" y="2450592"/>
            <a:ext cx="73152" cy="749808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2505456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productCode: 30317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45059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58767" y="2487168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D365: </a:t>
            </a:r>
            <a:r>
              <a:rPr sz="1000" b="0">
                <a:solidFill>
                  <a:srgbClr val="C1856B"/>
                </a:solidFill>
                <a:latin typeface="Calibri"/>
              </a:rPr>
              <a:t>"productCode"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7" y="277977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Line Drawing · OBJ/3D · Swatch · Rendering · Test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3200400"/>
            <a:ext cx="36576" cy="274320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" y="3666744"/>
            <a:ext cx="182880" cy="36576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42416" y="3364992"/>
            <a:ext cx="2286000" cy="74980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42416" y="3364992"/>
            <a:ext cx="73152" cy="749808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07008" y="3419856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86A68"/>
                </a:solidFill>
                <a:latin typeface="Calibri"/>
              </a:rPr>
              <a:t>MOTHER VARIANT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3749040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configId: 987/988/997/998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336499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58767" y="3401568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D365: </a:t>
            </a:r>
            <a:r>
              <a:rPr sz="1000" b="0">
                <a:solidFill>
                  <a:srgbClr val="C1856B"/>
                </a:solidFill>
                <a:latin typeface="Calibri"/>
              </a:rPr>
              <a:t>"Master"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7" y="369417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BOM · Material specs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4114800"/>
            <a:ext cx="36576" cy="274320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43000" y="4581144"/>
            <a:ext cx="182880" cy="36576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289304" y="4279392"/>
            <a:ext cx="2286000" cy="74980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89304" y="4279392"/>
            <a:ext cx="73152" cy="749808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53896" y="4334256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A7A4F"/>
                </a:solidFill>
                <a:latin typeface="Calibri"/>
              </a:rPr>
              <a:t>DAUGHTER VARIANT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53896" y="4663440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configId: 9xx (965–977)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427939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58767" y="4315968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D365: </a:t>
            </a:r>
            <a:r>
              <a:rPr sz="1000" b="0">
                <a:solidFill>
                  <a:srgbClr val="C1856B"/>
                </a:solidFill>
                <a:latin typeface="Calibri"/>
              </a:rPr>
              <a:t>"Child"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7" y="460857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PI (per Variant + Packing attribute)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89888" y="5029200"/>
            <a:ext cx="36576" cy="274320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389888" y="5495544"/>
            <a:ext cx="182880" cy="36576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536192" y="5193792"/>
            <a:ext cx="2286000" cy="74980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536192" y="5193792"/>
            <a:ext cx="73152" cy="749808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700784" y="5248656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53438"/>
                </a:solidFill>
                <a:latin typeface="Calibri"/>
              </a:rPr>
              <a:t>SO VARIANT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00784" y="5577840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configId: 001, 002, … 116+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39" y="5193792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8767" y="5230368"/>
            <a:ext cx="3474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D365: </a:t>
            </a:r>
            <a:r>
              <a:rPr sz="1000" b="0">
                <a:solidFill>
                  <a:srgbClr val="C1856B"/>
                </a:solidFill>
                <a:latin typeface="Calibri"/>
              </a:rPr>
              <a:t>"Variant"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58767" y="552297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Packshot · Assembly Instruction × Customer · Shipping Mark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1536192"/>
            <a:ext cx="4434840" cy="3749039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589520" y="1536192"/>
            <a:ext cx="73152" cy="3749039"/>
          </a:xfrm>
          <a:prstGeom prst="rect">
            <a:avLst/>
          </a:prstGeom>
          <a:solidFill>
            <a:srgbClr val="2C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18120" y="16276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3E2D"/>
                </a:solidFill>
                <a:latin typeface="Calibri"/>
              </a:rPr>
              <a:t>D365 → PIM Mapping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2029968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productCode: 30317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202996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Item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2404872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productVariant: 30317-001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240487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SO Variant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2779776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productVariantType: "Master"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277977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Mother Variant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20" y="3154680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productVariantType: "Child"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315468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Daughter Variant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3529584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productVariantType: "Variant"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3529584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SO Variant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18120" y="3904488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externalItemId: 836 00201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390448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Customer item ref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4279392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86A68"/>
                </a:solidFill>
                <a:latin typeface="Calibri"/>
              </a:rPr>
              <a:t>productRange: Greenwood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60" y="427939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A7A4F"/>
                </a:solidFill>
                <a:latin typeface="Calibri"/>
              </a:rPr>
              <a:t>→ Range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9520" y="5358384"/>
            <a:ext cx="4434840" cy="621792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72400" y="5413248"/>
            <a:ext cx="4114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D4E4C"/>
                </a:solidFill>
                <a:latin typeface="Calibri"/>
              </a:rPr>
              <a:t>✅ DB: 1 bảng product_variants · type ENUM('mother','daughter','so_variant'). SO Variant fields (external_item_id, customer_id) → nullable.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Asset &amp; Document Hub — DAM + Document Mgmt gộp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7/16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5394960" cy="96012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91440" cy="96012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1856B"/>
                </a:solidFill>
                <a:latin typeface="Calibri"/>
              </a:rPr>
              <a:t>asset_category = "media"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&gt; Image Engine → resize/format → Azure Blob → CDN → Publish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36192"/>
            <a:ext cx="5394960" cy="96012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36192"/>
            <a:ext cx="91440" cy="960120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9344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86A68"/>
                </a:solidFill>
                <a:latin typeface="Calibri"/>
              </a:rPr>
              <a:t>asset_category = "document"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&gt; Azure Blob → Approval Workflow → Download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1783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6B6560"/>
                </a:solidFill>
                <a:latin typeface="Calibri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084831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9748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Document Approval 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99232"/>
            <a:ext cx="2286000" cy="274320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99232"/>
            <a:ext cx="2176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Doc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999232"/>
            <a:ext cx="2926080" cy="274320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2999232"/>
            <a:ext cx="2816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Gắn theo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999232"/>
            <a:ext cx="5760720" cy="274320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2999232"/>
            <a:ext cx="5650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Approval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73552"/>
            <a:ext cx="228600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80360" y="3273552"/>
            <a:ext cx="292608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3273552"/>
            <a:ext cx="576072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273552"/>
            <a:ext cx="64008" cy="41148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" y="327355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PI Sheet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27355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Daughter Variant + Packing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27355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Không cần approve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85032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880360" y="3685032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52160" y="3685032"/>
            <a:ext cx="5760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3685032"/>
            <a:ext cx="64008" cy="411480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" y="368503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Assembly Instruction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368503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Daughter Variant × Customer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68503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Draft → Pending Internal → Pending Customer → Approved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96512"/>
            <a:ext cx="228600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880360" y="4096512"/>
            <a:ext cx="292608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852160" y="4096512"/>
            <a:ext cx="576072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8640" y="4096512"/>
            <a:ext cx="64008" cy="411480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6656" y="409651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Shipping Mark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409651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Daughter Variant × 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09651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Draft → Pending Customer → Approved  (flag no-approval)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507992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80360" y="4507992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852160" y="4507992"/>
            <a:ext cx="5760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8640" y="4507992"/>
            <a:ext cx="64008" cy="41148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6656" y="450799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BOM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450799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Mother Variant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450799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Không cần approve (D365 owns) — upload để tham chiếu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919472"/>
            <a:ext cx="228600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880360" y="4919472"/>
            <a:ext cx="292608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852160" y="4919472"/>
            <a:ext cx="5760720" cy="411480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8640" y="4919472"/>
            <a:ext cx="64008" cy="41148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6656" y="491947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Test Report / Cert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491947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Item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491947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Không cần approve  ·  Cert có expiry_date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330952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880360" y="5330952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852160" y="5330952"/>
            <a:ext cx="5760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48640" y="5330952"/>
            <a:ext cx="64008" cy="41148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76656" y="533095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Compliance (EU/US)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533095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Item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330952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Không cần approve  ·  Tag standard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5800" y="6437376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Tiết kiệm ~1.5–2 sprints so với tách DAM + Document riêng  ·  1 bảng assets · 1 upload flow · 1 Typesense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Image Engine — Upload 1 lần, tự động sinh đủ size/format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8/16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520440" cy="475488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475488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856B"/>
                </a:solidFill>
                <a:latin typeface="Calibri"/>
              </a:rPr>
              <a:t>Input — Format hỗ trợ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JPG / 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920240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Chuẩn chính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68296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276856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276856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Hỗ trợ transparency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724912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633472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633472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Upload thẳng định dạng web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081528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2990088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TIFF / 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990088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Single &amp; multi-page (Line Drawing)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438144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346704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346704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Line Drawing — convert trang đầu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794760"/>
            <a:ext cx="73152" cy="12801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703320"/>
            <a:ext cx="1188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C2C2A"/>
                </a:solidFill>
                <a:latin typeface="Calibri"/>
              </a:rPr>
              <a:t>BMP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703320"/>
            <a:ext cx="17190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Hỗ trợ, tự convert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6052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D4E4C"/>
                </a:solidFill>
                <a:latin typeface="Calibri"/>
              </a:rPr>
              <a:t>Validation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348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Max 500 MB  ·  Min 500×500 px  ·  Max 20k×20k 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274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MIME validation bắt buộc  ·  Corrupted file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508760"/>
            <a:ext cx="4526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0" y="1572768"/>
            <a:ext cx="4251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Output Variants — sinh tự động sau upload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1901952"/>
            <a:ext cx="1371600" cy="256032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06824" y="1901952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Variant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1901952"/>
            <a:ext cx="777240" cy="256032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24144" y="1901952"/>
            <a:ext cx="777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Kích thước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1901952"/>
            <a:ext cx="731520" cy="256032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47104" y="1901952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1901952"/>
            <a:ext cx="1481328" cy="256032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24344" y="1901952"/>
            <a:ext cx="1481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Dùng cho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2157984"/>
            <a:ext cx="137160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69280" y="2157984"/>
            <a:ext cx="77724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92240" y="2157984"/>
            <a:ext cx="73152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269480" y="2157984"/>
            <a:ext cx="1481328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97680" y="2157984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86A68"/>
                </a:solidFill>
                <a:latin typeface="Calibri"/>
              </a:rPr>
              <a:t>original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2157984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Gốc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2157984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như upload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2157984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Lưu trữ · download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254203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669280" y="2542032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92240" y="2542032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269480" y="2542032"/>
            <a:ext cx="14813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97680" y="2542032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86A68"/>
                </a:solidFill>
                <a:latin typeface="Calibri"/>
              </a:rPr>
              <a:t>thumbnail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2542032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300×300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2542032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WEBP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2542032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Grid/gallery trong PIM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51960" y="2926080"/>
            <a:ext cx="137160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669280" y="2926080"/>
            <a:ext cx="77724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92240" y="2926080"/>
            <a:ext cx="73152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69480" y="2926080"/>
            <a:ext cx="1481328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97680" y="292608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86A68"/>
                </a:solidFill>
                <a:latin typeface="Calibri"/>
              </a:rPr>
              <a:t>preview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0" y="2926080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Max 2000px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2926080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JPG/WEBP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2926080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Xem chi tiết asset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0" y="331012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669280" y="3310128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492240" y="3310128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269480" y="3310128"/>
            <a:ext cx="14813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97680" y="3310128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86A68"/>
                </a:solidFill>
                <a:latin typeface="Calibri"/>
              </a:rPr>
              <a:t>web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15000" y="3310128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Max 1200px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3310128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JPG/WEBP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3310128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Website REST API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51960" y="3694176"/>
            <a:ext cx="137160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669280" y="3694176"/>
            <a:ext cx="77724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92240" y="3694176"/>
            <a:ext cx="73152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269480" y="3694176"/>
            <a:ext cx="1481328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97680" y="3694176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856B"/>
                </a:solidFill>
                <a:latin typeface="Calibri"/>
              </a:rPr>
              <a:t>facebook_feed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15000" y="3694176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1200×630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60" y="3694176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JPG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3694176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Social → Facebook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51960" y="4078224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669280" y="4078224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492240" y="4078224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269480" y="4078224"/>
            <a:ext cx="14813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297680" y="4078224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856B"/>
                </a:solidFill>
                <a:latin typeface="Calibri"/>
              </a:rPr>
              <a:t>instagram_square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15000" y="4078224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1080×1080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37960" y="4078224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JPG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78224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Social → IG post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51960" y="4462272"/>
            <a:ext cx="137160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669280" y="4462272"/>
            <a:ext cx="77724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492240" y="4462272"/>
            <a:ext cx="731520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269480" y="4462272"/>
            <a:ext cx="1481328" cy="384048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297680" y="4462272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1856B"/>
                </a:solidFill>
                <a:latin typeface="Calibri"/>
              </a:rPr>
              <a:t>instagram_portrait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15000" y="4462272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1080×1350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37960" y="4462272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JPG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462272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Social → IG portrait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51960" y="48463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5669280" y="484632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492240" y="4846320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269480" y="4846320"/>
            <a:ext cx="14813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297680" y="484632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86A68"/>
                </a:solidFill>
                <a:latin typeface="Calibri"/>
              </a:rPr>
              <a:t>print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715000" y="4846320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300 DPI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37960" y="4846320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TIFF/JPG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15200" y="4846320"/>
            <a:ext cx="1417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iPaper / catalogue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15400" y="1508760"/>
            <a:ext cx="3017520" cy="475488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915400" y="1508760"/>
            <a:ext cx="73152" cy="4754880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144000" y="159105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86A68"/>
                </a:solidFill>
                <a:latin typeface="Calibri"/>
              </a:rPr>
              <a:t>Processing Pipeline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0" y="192024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Validate (format · size · MIME)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0" y="221284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Store original → Azure Blob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0" y="2505456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Create ImageProcessingJob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0" y="2798064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1856B"/>
                </a:solidFill>
                <a:latin typeface="Calibri"/>
              </a:rPr>
              <a:t>API returns: { assetId, status: pending }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0" y="309067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1856B"/>
                </a:solidFill>
                <a:latin typeface="Calibri"/>
              </a:rPr>
              <a:t>[Hangfire Worker]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0" y="338328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  Extract metadata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44000" y="3675888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  Generate all variants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0" y="3968496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  TIFF multi-page → /pages/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0" y="4261104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  Apply watermark (optional)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0" y="455371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Update Asset status → ready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44000" y="484632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CDN invalidate cache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85800" y="6428232"/>
            <a:ext cx="10881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D4E4C"/>
                </a:solidFill>
                <a:latin typeface="Calibri"/>
              </a:rPr>
              <a:t>Status: pending → processing → ready | failed → retry (max 3 lần · 1min→5min→15min)  ·  Tổng thời gian xử lý &lt; 30s  ·  Capacity ≥ 1M assets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D365 Integration — 3 nguyên tắc đã chốt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11430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" cy="114300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4592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D4E4C"/>
                </a:solidFill>
                <a:latin typeface="Calibri"/>
              </a:rPr>
              <a:t>✅ 1  Một chiều — Read-Only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48256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PIM chỉ đọc từ D365.  Không bao giờ push ngược về D365.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16352"/>
            <a:ext cx="11064240" cy="11430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816352"/>
            <a:ext cx="91440" cy="114300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90779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D4E4C"/>
                </a:solidFill>
                <a:latin typeface="Calibri"/>
              </a:rPr>
              <a:t>✅ 2  D365 ⊆ PIM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310128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Mọi trường product info trong D365 bắt buộc mirror sang PIM.
PIM có thêm trường riêng (assets, AI content, lifecycle status…)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78224"/>
            <a:ext cx="11064240" cy="11430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078224"/>
            <a:ext cx="91440" cy="114300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169664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D4E4C"/>
                </a:solidFill>
                <a:latin typeface="Calibri"/>
              </a:rPr>
              <a:t>✅ 3  Source of Truth phân tách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57200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C2A"/>
                </a:solidFill>
                <a:latin typeface="Calibri"/>
              </a:rPr>
              <a:t>Trường từ D365 → D365 làm chủ.  Trường riêng PIM → PIM làm chủ.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Dữ liệu đồng bộ mỗi 15 phút (Hangfire background jobs):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04688"/>
            <a:ext cx="91440" cy="9144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Dimensions (product attributes)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1488" y="5504688"/>
            <a:ext cx="91440" cy="9144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44368" y="53949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Designer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4336" y="5504688"/>
            <a:ext cx="91440" cy="9144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57216" y="53949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Price 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5504688"/>
            <a:ext cx="91440" cy="9144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70064" y="53949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Sales data (incl. customer order data)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0032" y="5504688"/>
            <a:ext cx="91440" cy="9144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82912" y="53949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Materials / BOM (Mother Variant)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D8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60807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Tech: Hangfire jobs (ASP.NET Core 8)  ·  Delta sync via D365 modifiedDateTime filter  ·  Dead letter queue → Redis alert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Basic Publish Flow — Completeness check → iPaper +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9/16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011680" cy="14173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011680" cy="640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53312" y="1709928"/>
            <a:ext cx="384048" cy="38404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53312" y="1709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Content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Review &amp; hoàn thiện thông tin sản phẩm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167128"/>
            <a:ext cx="164592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24912" y="1508760"/>
            <a:ext cx="2011680" cy="14173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24912" y="1508760"/>
            <a:ext cx="2011680" cy="64008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29584" y="1709928"/>
            <a:ext cx="384048" cy="384048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9584" y="1709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19456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Completeness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251460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Check trường bắt buộc → score ≥ threshold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6592" y="2167128"/>
            <a:ext cx="164592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01184" y="1508760"/>
            <a:ext cx="2011680" cy="14173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01184" y="1508760"/>
            <a:ext cx="2011680" cy="64008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05856" y="1709928"/>
            <a:ext cx="384048" cy="384048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05856" y="1709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219456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Publish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251460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Content team trigger publish thủ công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12864" y="2167128"/>
            <a:ext cx="164592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77456" y="1508760"/>
            <a:ext cx="2011680" cy="14173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77456" y="1508760"/>
            <a:ext cx="2011680" cy="64008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82128" y="1709928"/>
            <a:ext cx="384048" cy="384048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82128" y="1709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219456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iPaper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896" y="251460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Catalogue pull latest-approved asset qua CDN alias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89136" y="2167128"/>
            <a:ext cx="164592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53728" y="1508760"/>
            <a:ext cx="2011680" cy="14173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53728" y="1508760"/>
            <a:ext cx="2011680" cy="64008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058400" y="1709928"/>
            <a:ext cx="384048" cy="384048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0" y="1709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19456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REST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251460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560"/>
                </a:solidFill>
                <a:latin typeface="Calibri"/>
              </a:rPr>
              <a:t>Website kéo media · text · metadata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154680"/>
            <a:ext cx="11064240" cy="1417320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3154680"/>
            <a:ext cx="109728" cy="141732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324612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1856B"/>
                </a:solidFill>
                <a:latin typeface="Calibri"/>
              </a:rPr>
              <a:t>CDN Dynamic Alias — catalogue/iPaper luôn lấy latest-approved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56616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asset/{assetId}/{variantType}/latest-approved</a:t>
            </a:r>
            <a:r>
              <a:rPr sz="1300" b="0">
                <a:solidFill>
                  <a:srgbClr val="2C2C2A"/>
                </a:solidFill>
                <a:latin typeface="Calibri"/>
              </a:rPr>
              <a:t>  →  Asset Resolver Service  →  CDN URL thực tế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391363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Upload version mới KHÔNG làm vỡ catalogue · iPaper không lưu URL vật lý · alias tự resolve sang phiên bản mới nhất đã approve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754880"/>
            <a:ext cx="5394960" cy="16459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8640" y="4754880"/>
            <a:ext cx="73152" cy="1645920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" y="484632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86A68"/>
                </a:solidFill>
                <a:latin typeface="Calibri"/>
              </a:rPr>
              <a:t>Completeness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166360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Threshold bắt buộc trước khi publish.  Trường cần chốt:
→ Quyết định #6 — Ai định nghĩa completeness score?
→ Cần danh sách trường bắt buộc per cấp hierarchy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754880"/>
            <a:ext cx="5440680" cy="16459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72200" y="4754880"/>
            <a:ext cx="73152" cy="164592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484632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856B"/>
                </a:solidFill>
                <a:latin typeface="Calibri"/>
              </a:rPr>
              <a:t>Public vs Private Asset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193792"/>
            <a:ext cx="914400" cy="347472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0" y="5193792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public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5193792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Product images đã publish · website · social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5193792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CDN URL trực tiếp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5614416"/>
            <a:ext cx="914400" cy="347472"/>
          </a:xfrm>
          <a:prstGeom prst="rect">
            <a:avLst/>
          </a:prstGeom>
          <a:solidFill>
            <a:srgbClr val="6B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0" y="5614416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private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5614416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Draft · internal marketing · supplier images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5614416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Signed URL (TTL configurable)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solidFill>
            <a:srgbClr val="D8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85800" y="6464808"/>
            <a:ext cx="10881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P1: publish thủ công, không require approve cho content  ·  Approval chỉ cho Documents (PI / AI / SM)  ·  Quyết định #3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86A68"/>
                </a:solidFill>
                <a:latin typeface="Calibri"/>
              </a:rP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Social Campaign Module — end-to-end trong PIM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10/16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737360" cy="5486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07008" y="1719072"/>
            <a:ext cx="329184" cy="32918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Tạo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Tên · date range · mục tiêu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231136"/>
            <a:ext cx="13716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7744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77440" y="1536192"/>
            <a:ext cx="1737360" cy="54864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81528" y="1719072"/>
            <a:ext cx="329184" cy="329184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8152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Chọn Asset từ PIM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Drag-drop ảnh sản phẩm hoặc non-product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231136"/>
            <a:ext cx="13716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6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1536192"/>
            <a:ext cx="1737360" cy="54864"/>
          </a:xfrm>
          <a:prstGeom prst="rect">
            <a:avLst/>
          </a:prstGeom>
          <a:solidFill>
            <a:srgbClr val="959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56048" y="1719072"/>
            <a:ext cx="329184" cy="329184"/>
          </a:xfrm>
          <a:prstGeom prst="rect">
            <a:avLst/>
          </a:prstGeom>
          <a:solidFill>
            <a:srgbClr val="959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5604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AI Generate Caption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Claude API → dựa trên product info + image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231136"/>
            <a:ext cx="13716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2648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26480" y="1536192"/>
            <a:ext cx="1737360" cy="54864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30568" y="1719072"/>
            <a:ext cx="329184" cy="329184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3056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Marketing chỉnh caption nếu cần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2231136"/>
            <a:ext cx="13716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0100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01000" y="1536192"/>
            <a:ext cx="1737360" cy="54864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05088" y="1719072"/>
            <a:ext cx="329184" cy="329184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0508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Approve &amp; Schedule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Submit → Pending Review → Approved → Scheduled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38360" y="2231136"/>
            <a:ext cx="13716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875520" y="1536192"/>
            <a:ext cx="1737360" cy="150876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875520" y="1536192"/>
            <a:ext cx="1737360" cy="54864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579608" y="1719072"/>
            <a:ext cx="329184" cy="329184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79608" y="1719072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213055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D4E4C"/>
                </a:solidFill>
                <a:latin typeface="Calibri"/>
              </a:rPr>
              <a:t>Publish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2560320"/>
            <a:ext cx="1554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PIM đăng lên FB / IG · lưu post_id → tracking P2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2461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Caption Approval Flow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566160"/>
            <a:ext cx="1691640" cy="438912"/>
          </a:xfrm>
          <a:prstGeom prst="rect">
            <a:avLst/>
          </a:prstGeom>
          <a:solidFill>
            <a:srgbClr val="6B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0280" y="3749040"/>
            <a:ext cx="18288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423160" y="3566160"/>
            <a:ext cx="1691640" cy="438912"/>
          </a:xfrm>
          <a:prstGeom prst="rect">
            <a:avLst/>
          </a:prstGeom>
          <a:solidFill>
            <a:srgbClr val="DCE5E4"/>
          </a:solidFill>
          <a:ln w="12700">
            <a:solidFill>
              <a:srgbClr val="75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2316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53438"/>
                </a:solidFill>
                <a:latin typeface="Calibri"/>
              </a:rPr>
              <a:t>Pending Review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3749040"/>
            <a:ext cx="18288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297680" y="3566160"/>
            <a:ext cx="1691640" cy="438912"/>
          </a:xfrm>
          <a:prstGeom prst="rect">
            <a:avLst/>
          </a:prstGeom>
          <a:solidFill>
            <a:srgbClr val="DCE5E4"/>
          </a:solidFill>
          <a:ln w="12700">
            <a:solidFill>
              <a:srgbClr val="4A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9768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Approved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3749040"/>
            <a:ext cx="18288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566160"/>
            <a:ext cx="1691640" cy="438912"/>
          </a:xfrm>
          <a:prstGeom prst="rect">
            <a:avLst/>
          </a:prstGeom>
          <a:solidFill>
            <a:srgbClr val="DCE5E4"/>
          </a:solidFill>
          <a:ln w="12700">
            <a:solidFill>
              <a:srgbClr val="586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7220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86A68"/>
                </a:solidFill>
                <a:latin typeface="Calibri"/>
              </a:rPr>
              <a:t>Scheduled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3749040"/>
            <a:ext cx="18288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46720" y="3566160"/>
            <a:ext cx="1691640" cy="438912"/>
          </a:xfrm>
          <a:prstGeom prst="rect">
            <a:avLst/>
          </a:prstGeom>
          <a:solidFill>
            <a:srgbClr val="DCE5E4"/>
          </a:solidFill>
          <a:ln w="12700">
            <a:solidFill>
              <a:srgbClr val="4A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4672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Published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38360" y="3749040"/>
            <a:ext cx="182880" cy="54864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921240" y="3566160"/>
            <a:ext cx="1691640" cy="438912"/>
          </a:xfrm>
          <a:prstGeom prst="rect">
            <a:avLst/>
          </a:prstGeom>
          <a:solidFill>
            <a:srgbClr val="DCE5E4"/>
          </a:solidFill>
          <a:ln w="12700">
            <a:solidFill>
              <a:srgbClr val="75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921240" y="3566160"/>
            <a:ext cx="1691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53438"/>
                </a:solidFill>
                <a:latin typeface="Calibri"/>
              </a:rPr>
              <a:t>Failed → retry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206240"/>
            <a:ext cx="5303520" cy="2084831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48640" y="4206240"/>
            <a:ext cx="91440" cy="2084831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7240" y="4297680"/>
            <a:ext cx="4937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Platform Phase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4645152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✅ Facebook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7520" y="4645152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Meta Business API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4974336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✅ Instagram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17520" y="497433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Cùng Meta App — review 3–6 tuần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5303520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❌ LinkedIn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17520" y="5303520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5632704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❌ TikTok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17520" y="5632704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5943600"/>
            <a:ext cx="4937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Format P1: Single image + Carousel  |  Video/Reels → Phase 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4206240"/>
            <a:ext cx="5577840" cy="2084831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035040" y="4206240"/>
            <a:ext cx="91440" cy="2084831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63640" y="429768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53438"/>
                </a:solidFill>
                <a:latin typeface="Calibri"/>
              </a:rPr>
              <a:t>⚠️ Rủi ro cần Stakeholder biết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466344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C2C2A"/>
                </a:solidFill>
                <a:latin typeface="Calibri"/>
              </a:rPr>
              <a:t>Meta App Review mất 3–6 tuần ngoài tầm kiểm soát của team.
Plan B: launch toàn bộ PIM core trước, bật Social Module sau khi Meta approve.
→ Cần nộp Meta App Review ngay từ Tuần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86A68"/>
                </a:solidFill>
                <a:latin typeface="Calibri"/>
              </a:rPr>
              <a:t>MODULES MỚI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3 Modules kéo từ Phase 2 vào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11/16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3566160" cy="48006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91440" cy="4800600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53438"/>
                </a:solidFill>
                <a:latin typeface="Calibri"/>
              </a:rPr>
              <a:t>08  Material Lifecycle Mgmt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48256"/>
            <a:ext cx="1371600" cy="420624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48256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5798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Đang sử dụng bình thường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596896"/>
            <a:ext cx="1371600" cy="420624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596896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Phasing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70662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Sắp ngưng — cảnh báo nhẹ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145536"/>
            <a:ext cx="1371600" cy="420624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145536"/>
            <a:ext cx="1371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Discontinued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5526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Ngưng hoàn toàn → auto-flag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7A4F"/>
                </a:solidFill>
                <a:latin typeface="Calibri"/>
              </a:rPr>
              <a:t>✅ 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703320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lifecycle_status field trên 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41648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7A4F"/>
                </a:solidFill>
                <a:latin typeface="Calibri"/>
              </a:rPr>
              <a:t>✅ 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4041648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Auto-flag assets dùng material Discontinued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79976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7A4F"/>
                </a:solidFill>
                <a:latin typeface="Calibri"/>
              </a:rPr>
              <a:t>✅ 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4379976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Warning trên Product 360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18304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A7A4F"/>
                </a:solidFill>
                <a:latin typeface="Calibri"/>
              </a:rPr>
              <a:t>✅ P1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718304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Manual replacement pointer (replaced_by)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56632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59B94"/>
                </a:solidFill>
                <a:latin typeface="Calibri"/>
              </a:rPr>
              <a:t>❌ 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5056632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Auto-replacement workflow + email → P2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7132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59B94"/>
                </a:solidFill>
                <a:latin typeface="Calibri"/>
              </a:rPr>
              <a:t>❌ P2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5394960"/>
            <a:ext cx="2450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C2C2A"/>
                </a:solidFill>
                <a:latin typeface="Calibri"/>
              </a:rPr>
              <a:t>Expiry date advance warning 30/60/90d → P2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760720"/>
            <a:ext cx="3337560" cy="2560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7790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Estimate: +1–1.5 sprints  |  Sprint 3–4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1536192"/>
            <a:ext cx="3566160" cy="48006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97680" y="1536192"/>
            <a:ext cx="91440" cy="480060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80" y="162763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A7A4F"/>
                </a:solidFill>
                <a:latin typeface="Calibri"/>
              </a:rPr>
              <a:t>09  Customer Sales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2048256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Nguồn: D365 Sales data (đã có trong sync pipeline)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487168"/>
            <a:ext cx="73152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0" y="23957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Customer 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199" y="23957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Tên công ty khách hàng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889504"/>
            <a:ext cx="73152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0" y="279806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Order quantity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279806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Số lượng đã bán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291840"/>
            <a:ext cx="73152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0" y="32004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Order date range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199" y="32004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Khoảng thời gian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694176"/>
            <a:ext cx="73152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54880" y="36027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Item Number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199" y="36027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C2C2A"/>
                </a:solidFill>
                <a:latin typeface="Calibri"/>
              </a:rPr>
              <a:t>Mã sản phẩm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0560" y="4160520"/>
            <a:ext cx="3246120" cy="713232"/>
          </a:xfrm>
          <a:prstGeom prst="rect">
            <a:avLst/>
          </a:prstGeom>
          <a:solidFill>
            <a:srgbClr val="D8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17720" y="4224528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Tab "Sales" trong Product 360 Dashboard
Read-only  ·  Không show giá
Không CRM notes / contact history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029200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A7A4F"/>
                </a:solidFill>
                <a:latin typeface="Calibri"/>
              </a:rPr>
              <a:t>Read-only 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5349240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A7A4F"/>
                </a:solidFill>
                <a:latin typeface="Calibri"/>
              </a:rPr>
              <a:t>Không cần integration mới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5669280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59B94"/>
                </a:solidFill>
                <a:latin typeface="Calibri"/>
              </a:rPr>
              <a:t>Giá, CRM notes → P2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5989320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59B94"/>
                </a:solidFill>
                <a:latin typeface="Calibri"/>
              </a:rPr>
              <a:t>CRM contact history → P2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34840" y="5760720"/>
            <a:ext cx="3337560" cy="2560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26280" y="57790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Estimate: +0.5 sprint  |  Sprint 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1536192"/>
            <a:ext cx="3566160" cy="480060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046720" y="1536192"/>
            <a:ext cx="91440" cy="480060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75320" y="1627632"/>
            <a:ext cx="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1856B"/>
                </a:solidFill>
                <a:latin typeface="Calibri"/>
              </a:rPr>
              <a:t>07  Product 360 Dashboard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2048256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View tổng hợp per Item — tất cả trong 1 màn: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248716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03920" y="239572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Media assets (images, 3D, swatch)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285292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03920" y="276148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Documents (PI, AI, SM, certs)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321868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503920" y="31272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AI content (description, caption)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1040" y="358444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03920" y="349300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Publication status (iPaper, web)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395020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503920" y="385876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Sales history (tab từ Module 9)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21040" y="4315968"/>
            <a:ext cx="73152" cy="146304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503920" y="422452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Material discontinued warning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83880" y="4617720"/>
            <a:ext cx="3337560" cy="658368"/>
          </a:xfrm>
          <a:prstGeom prst="rect">
            <a:avLst/>
          </a:prstGeom>
          <a:solidFill>
            <a:srgbClr val="E2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02752" y="4663440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Phụ thuộc: DAM + D365 + Image Engine + AI Service
Sprint: Sprint 5–6 (cuối)
Estimate: +1–2 sprints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83880" y="5358384"/>
            <a:ext cx="3337560" cy="502920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02752" y="5394960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753438"/>
                </a:solidFill>
                <a:latin typeface="Calibri"/>
              </a:rPr>
              <a:t>⚠️ Warning banner: X materials
Discontinued — hiển thị ngay trên Dashboard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83880" y="5760720"/>
            <a:ext cx="3337560" cy="256032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75320" y="577900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Estimate: +1–2 sprints  |  Sprint cuối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6560"/>
                </a:solidFill>
                <a:latin typeface="Calibri"/>
              </a:rPr>
              <a:t>OUT-OF-SCOPE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Dời sang Phase 2 / 3 — ranh giới rõ ràng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5943600" cy="329184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5943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Tính năng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536192"/>
            <a:ext cx="1463040" cy="329184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536192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Giai đoạn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536192"/>
            <a:ext cx="3657600" cy="329184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536192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Ghi chú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65376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865376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865376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Asset Link Map đầy đủ + live performance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65376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865376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chỉ publish log cơ bản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94560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37960" y="2194560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2194560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2194560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AI text nâng cao (USP, Care, Daily Care đa biến thể)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19456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94560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P1: AI chỉ làm Description + Caption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523744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37960" y="2523744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2523744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" y="2523744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Analytics dashboard (performance, Recharts)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523744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23744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Gắn với Asset Link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852928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37960" y="2852928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20" y="2852928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2852928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Quotation &amp; Pricelist tự động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852928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852928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chỉ expose ảnh qua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82112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37960" y="3182112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3182112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6656" y="3182112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Website 2-chiều / realtime đầy đủ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182112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182112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chỉ read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511296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37960" y="3511296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46720" y="3511296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" y="3511296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Product Card &amp; QR (Christian)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511296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3511296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Cần align interface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840480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537960" y="3840480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46720" y="3840480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6656" y="3840480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B2B/VIP Customer Portal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384048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53438"/>
                </a:solidFill>
                <a:latin typeface="Calibri"/>
              </a:rPr>
              <a:t>Phase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3840480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Portal riêng: giá riêng, catalogue, invoice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169664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537960" y="4169664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046720" y="4169664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6656" y="4169664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Product lifecycle auto-propagation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4169664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169664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Discontinued → tự động remove khỏi web/catalogue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498848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537960" y="4498848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046720" y="4498848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76656" y="4498848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Full CRM integration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4498848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4498848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chỉ có basic sales quantity từ D365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828032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537960" y="4828032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046720" y="4828032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6656" y="4828032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Impact analysis — "where used"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4828032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28032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Tracking graph asset/material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5157216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537960" y="5157216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046720" y="5157216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76656" y="5157216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Material expiry auto-notification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7960" y="5157216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38160" y="5157216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chỉ hiển thị expiry_date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486400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537960" y="5486400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046720" y="5486400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76656" y="5486400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AI Rendering từ CAD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37960" y="548640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53438"/>
                </a:solidFill>
                <a:latin typeface="Calibri"/>
              </a:rPr>
              <a:t>Phase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38160" y="5486400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Còn ở giai đoạn feasibility study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5815584"/>
            <a:ext cx="5943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537960" y="5815584"/>
            <a:ext cx="146304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046720" y="5815584"/>
            <a:ext cx="3657600" cy="329184"/>
          </a:xfrm>
          <a:prstGeom prst="rect">
            <a:avLst/>
          </a:prstGeom>
          <a:solidFill>
            <a:srgbClr val="DCE5E4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76656" y="5815584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Video transcoding / streaming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37960" y="5815584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38160" y="5815584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lưu gốc + CDN direct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6144768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537960" y="6144768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046720" y="6144768"/>
            <a:ext cx="3657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76656" y="6144768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CAD viewer trong browser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37960" y="6144768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6560"/>
                </a:solidFill>
                <a:latin typeface="Calibri"/>
              </a:rPr>
              <a:t>Phase 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38160" y="6144768"/>
            <a:ext cx="3474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6560"/>
                </a:solidFill>
                <a:latin typeface="Calibri"/>
              </a:rPr>
              <a:t>P1 lưu + download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856B"/>
                </a:solidFill>
                <a:latin typeface="Calibri"/>
              </a:rPr>
              <a:t>LỘ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Timeline — 16 tuần · 6 sprints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536192"/>
            <a:ext cx="36576" cy="5074920"/>
          </a:xfrm>
          <a:prstGeom prst="rect">
            <a:avLst/>
          </a:prstGeom>
          <a:solidFill>
            <a:srgbClr val="CCD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13432" y="1696212"/>
            <a:ext cx="219456" cy="219456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856B"/>
                </a:solidFill>
                <a:latin typeface="Calibri"/>
              </a:rPr>
              <a:t>Ngay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591056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6352" y="1591056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Sign-off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591056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Chốt 9 modules · duyệt ngân sách · chốt QĐ #9/#10/#11/#13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272284"/>
            <a:ext cx="219456" cy="219456"/>
          </a:xfrm>
          <a:prstGeom prst="rect">
            <a:avLst/>
          </a:prstGeom>
          <a:solidFill>
            <a:srgbClr val="586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12264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86A68"/>
                </a:solidFill>
                <a:latin typeface="Calibri"/>
              </a:rPr>
              <a:t>Tuần 1–2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167128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16352" y="2167128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Technical Spikes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167128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D365 API access · nộp Meta App Review · CDN dynamic alias spike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3432" y="2848356"/>
            <a:ext cx="219456" cy="219456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688336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Tuần 3–4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743200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16352" y="2743200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743200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Infra · CI/CD · DB schema (5-level + Asset unified + Material lifecycle)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3432" y="3424428"/>
            <a:ext cx="219456" cy="219456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264408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Tuần 5–8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319272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16352" y="3319272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2–3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319272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Product Master Data · D365 Integration · Asset &amp; Doc Hub (media flow)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13432" y="4000500"/>
            <a:ext cx="219456" cy="219456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Tuần 7–10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895344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16352" y="3895344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3–4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895344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Asset &amp; Doc Hub (document flow: PI/AI/SM approval) · Image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13432" y="4576572"/>
            <a:ext cx="219456" cy="219456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416552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Tuần 9–12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4471416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16352" y="4471416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4–5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471416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Material Lifecycle · Customer Sales History · Basic Publish 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13432" y="5152644"/>
            <a:ext cx="219456" cy="219456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992624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53438"/>
                </a:solidFill>
                <a:latin typeface="Calibri"/>
              </a:rPr>
              <a:t>Tuần 11–14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5047488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16352" y="5047488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5–6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5047488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Social Campaign Module (chờ Meta approval) · AI 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13432" y="5728716"/>
            <a:ext cx="219456" cy="219456"/>
          </a:xfrm>
          <a:prstGeom prst="rect">
            <a:avLst/>
          </a:prstGeom>
          <a:solidFill>
            <a:srgbClr val="3D4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5568696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Tuần 13–16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5623560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16352" y="5623560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Sprint cuối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5623560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Product 360 Dashboard · Integration test · Bug fix · UAT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13432" y="6304788"/>
            <a:ext cx="219456" cy="219456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144768"/>
            <a:ext cx="187451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A7A4F"/>
                </a:solidFill>
                <a:latin typeface="Calibri"/>
              </a:rPr>
              <a:t>TBD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6199632"/>
            <a:ext cx="9235440" cy="429768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816352" y="6199632"/>
            <a:ext cx="2194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4E4C"/>
                </a:solidFill>
                <a:latin typeface="Calibri"/>
              </a:rPr>
              <a:t>Phase 1 Launch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6199632"/>
            <a:ext cx="67665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9 modules live · Content team ngừng dùng shared drives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5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53438"/>
                </a:solidFill>
                <a:latin typeface="Calibri"/>
              </a:rPr>
              <a:t>CẦN CHỐT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12 Quyết định trước khi khóa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440680" cy="621792"/>
          </a:xfrm>
          <a:prstGeom prst="rect">
            <a:avLst/>
          </a:prstGeom>
          <a:solidFill>
            <a:srgbClr val="D8EAD8"/>
          </a:solidFill>
          <a:ln w="12700">
            <a:solidFill>
              <a:srgbClr val="4A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A7A4F"/>
                </a:solidFill>
                <a:latin typeface="Calibri"/>
              </a:rPr>
              <a:t>✅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53619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D365 sync 1 chiều read-only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84708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C2C2A"/>
                </a:solidFill>
                <a:latin typeface="Calibri"/>
              </a:rPr>
              <a:t>→ PIM read-only · D365 ⊆ PIM · source of truth phân tách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481328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53619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Field mapping D365 → PIM chi tiết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84708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Lập bảng mapping · xử lý trường tranh chấp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76272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249424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231136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Content publish có cần approve?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542032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thủ công, không require approve 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2176272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249424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231136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CAD/3D: viewer hay chỉ lưu?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542032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lưu + download P1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71216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2944368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2926080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AI text P1 chỉ Description + Caption?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236976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Có — USP/Care dời 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871216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2944368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926080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Completeness score — trường bắt buộc?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236976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Cần chốt danh sách trường trước khi viết publish logic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66160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3639312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621024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Social P1: nền tảng nào?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3931920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FB + IG · LinkedIn/TikTok → P2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3566160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3639312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621024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Caption AI bắt buộc human-approve?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931920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Bắt buộc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61104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4334256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 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431596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Material entity độc lập?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4626864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Có — item_id nullable · chốt trước DB schema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4261104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4334256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31596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CDN URL: static hay dynamic alias?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626864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Dynamic alias — luôn trỏ latest-approved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956048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5029200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98448" y="50109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PIM Platform Owner + governance?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8448" y="532180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Cần chốt trước khi thiết kế permission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5352" y="4956048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55080" y="5029200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0109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Shipping Mark: no-approval list ở đâu?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321808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Đề xuất: PIM flag per customer · sync từ CRM (P2)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50992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8" y="5724144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53438"/>
                </a:solidFill>
                <a:latin typeface="Calibri"/>
              </a:rPr>
              <a:t>#13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98448" y="5705856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4E4C"/>
                </a:solidFill>
                <a:latin typeface="Calibri"/>
              </a:rPr>
              <a:t>Daughter vs SO Variant — 1 hay 2 entity?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8448" y="6016752"/>
            <a:ext cx="4526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→ DB: 1 bảng · type ENUM · SO-specific fields nullable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4A7A4F"/>
                </a:solidFill>
                <a:latin typeface="Calibri"/>
              </a:rPr>
              <a:t>NGHIỆM THU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3D4E4C"/>
                </a:solidFill>
                <a:latin typeface="Calibri"/>
              </a:rPr>
              <a:t>12 Tiêu chí thành công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81328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Content team ngừng dùng shared drive / SharePoint cho asset và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48132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536192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1536192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1481328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Tìm đúng phiên bản asset hoặc document &lt; 1 phút từ 1 giao diện duy nhất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75104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029968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029968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1975104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D365 sync chạy ổn định mỗi 15 phút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975104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45352" y="2029968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52" y="2029968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1975104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iPaper pull asset trực tiếp từ PIM — catalogue luôn hiển thị phiên bản mới nhất đã duyệt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46888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2523744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523744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2468880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Image Engine xử lý media asset &lt; 30 giây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468880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45352" y="2523744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5352" y="2523744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2824" y="2468880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Tạo &amp; đăng 1 campaign social end-to-end từ PIM lên FB + IG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62656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017520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017520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962656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Mỗi Item có Product 360 Dashboard đầy đủ: assets, docs, AI content, publish status, customer sales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2962656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45352" y="3017520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45352" y="3017520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2824" y="2962656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Upload PI gắn Daughter Variant + Packing Type; cảnh báo khi PI thay đổi ảnh hưởng BOM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456432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3511296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511296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3456432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Assembly Instruction có approval flow: Draft → Pending Internal → Pending Customer → Approved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3456432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45352" y="3511296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45352" y="3511296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92824" y="3456432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Shipping Mark có approval tracking, flag "no approval required" per customer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5020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8640" y="4005072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4005072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3950208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Material discontinued → tất cả assets/products liên quan hiển thị warning flag ngay lập tức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5352" y="3950208"/>
            <a:ext cx="5440680" cy="402336"/>
          </a:xfrm>
          <a:prstGeom prst="rect">
            <a:avLst/>
          </a:prstGeom>
          <a:solidFill>
            <a:srgbClr val="DC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45352" y="4005072"/>
            <a:ext cx="256032" cy="274320"/>
          </a:xfrm>
          <a:prstGeom prst="rect">
            <a:avLst/>
          </a:prstGeom>
          <a:solidFill>
            <a:srgbClr val="4A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45352" y="4005072"/>
            <a:ext cx="2560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92824" y="3950208"/>
            <a:ext cx="49651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C2C2A"/>
                </a:solidFill>
                <a:latin typeface="Calibri"/>
              </a:rPr>
              <a:t>Xem được customer đã mua + số lượng per product từ D365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12191695" cy="640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856B"/>
                </a:solidFill>
                <a:latin typeface="Calibri"/>
              </a:rPr>
              <a:t>ĐỀ NGHỊ STAKEHOLDER KÝ DUYỆT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Chốt scope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5643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B6ADA4"/>
                </a:solidFill>
                <a:latin typeface="Calibri"/>
              </a:rPr>
              <a:t>9 Modules Must Have   ·   Duyệt ngân sách   ·   Trả lời 12 quyết định để khóa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526280"/>
            <a:ext cx="292608" cy="2926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Ký duyệt scope 9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28616"/>
            <a:ext cx="292608" cy="2926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861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496519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Duyệt ngân sách tăng thêm (Social Module + 3 modules mới)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330952"/>
            <a:ext cx="292608" cy="2926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536752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Chốt 12 quyết định — ưu tiên #9, #10, #11, #13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733288"/>
            <a:ext cx="292608" cy="292608"/>
          </a:xfrm>
          <a:prstGeom prst="rect">
            <a:avLst/>
          </a:prstGeom>
          <a:solidFill>
            <a:srgbClr val="C18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73328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5769864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Cấp quyền truy cập D365 API cho Technical Spikes tuần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A8A7E"/>
                </a:solidFill>
                <a:latin typeface="Calibri"/>
              </a:rPr>
              <a:t>Questions? Let's discuss →  PM / BA / Technical Manager  ·  thiennh@response.com.vn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AD2A1135A74646B46BFBA37F974AD2" ma:contentTypeVersion="13" ma:contentTypeDescription="Create a new document." ma:contentTypeScope="" ma:versionID="a3831cfc9077fcd28286dfef3dcdcc31">
  <xsd:schema xmlns:xsd="http://www.w3.org/2001/XMLSchema" xmlns:xs="http://www.w3.org/2001/XMLSchema" xmlns:p="http://schemas.microsoft.com/office/2006/metadata/properties" xmlns:ns2="a24c43b6-3851-42ae-a873-f7165c1824d9" xmlns:ns3="d6dabced-f658-4946-a86a-4fdcdc264f2c" targetNamespace="http://schemas.microsoft.com/office/2006/metadata/properties" ma:root="true" ma:fieldsID="1a473672182ee79e551d528f6ad6b87f" ns2:_="" ns3:_="">
    <xsd:import namespace="a24c43b6-3851-42ae-a873-f7165c1824d9"/>
    <xsd:import namespace="d6dabced-f658-4946-a86a-4fdcdc264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c43b6-3851-42ae-a873-f7165c1824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83e127b-0c24-4f06-ab68-326cea09e5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abced-f658-4946-a86a-4fdcdc264f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164b070-70b3-4b6e-b188-10deaef71793}" ma:internalName="TaxCatchAll" ma:showField="CatchAllData" ma:web="d6dabced-f658-4946-a86a-4fdcdc264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4c43b6-3851-42ae-a873-f7165c1824d9">
      <Terms xmlns="http://schemas.microsoft.com/office/infopath/2007/PartnerControls"/>
    </lcf76f155ced4ddcb4097134ff3c332f>
    <TaxCatchAll xmlns="d6dabced-f658-4946-a86a-4fdcdc264f2c" xsi:nil="true"/>
  </documentManagement>
</p:properties>
</file>

<file path=customXml/itemProps1.xml><?xml version="1.0" encoding="utf-8"?>
<ds:datastoreItem xmlns:ds="http://schemas.openxmlformats.org/officeDocument/2006/customXml" ds:itemID="{3695FF8B-9E16-4AD4-978D-B1512841FFE1}"/>
</file>

<file path=customXml/itemProps2.xml><?xml version="1.0" encoding="utf-8"?>
<ds:datastoreItem xmlns:ds="http://schemas.openxmlformats.org/officeDocument/2006/customXml" ds:itemID="{FD76A128-23E9-492D-ACC3-407FF9CD0266}"/>
</file>

<file path=customXml/itemProps3.xml><?xml version="1.0" encoding="utf-8"?>
<ds:datastoreItem xmlns:ds="http://schemas.openxmlformats.org/officeDocument/2006/customXml" ds:itemID="{F9FBB549-457D-4DC2-BFF6-C3611BC3336A}"/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2921</Words>
  <Application>Microsoft Office PowerPoint</Application>
  <PresentationFormat>Widescreen</PresentationFormat>
  <Paragraphs>528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Thien, Nguyen Hoang - IT</dc:creator>
  <cp:keywords/>
  <dc:description>generated using python-pptx</dc:description>
  <cp:lastModifiedBy>Thien, Nguyen Hoang - IT</cp:lastModifiedBy>
  <cp:revision>3</cp:revision>
  <dcterms:created xsi:type="dcterms:W3CDTF">2013-01-27T09:14:16Z</dcterms:created>
  <dcterms:modified xsi:type="dcterms:W3CDTF">2026-06-12T07:07:20Z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0x01010091AD2A1135A74646B46BFBA37F974AD2</vt:lpwstr>
  </property>
</Properties>
</file>