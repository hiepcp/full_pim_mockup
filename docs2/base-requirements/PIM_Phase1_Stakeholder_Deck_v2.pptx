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64008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9C9C"/>
                </a:solidFill>
                <a:latin typeface="Segoe UI"/>
              </a:rPr>
              <a:t>PHASE 1 — SIGN-OFF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Core PIM + Social Campaign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9D6E2"/>
                </a:solidFill>
                <a:latin typeface="Segoe UI"/>
              </a:rPr>
              <a:t>Scope chốt với 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8BCCC"/>
                </a:solidFill>
                <a:latin typeface="Segoe UI"/>
              </a:rPr>
              <a:t>9 modules Must Have  ·  5-level product hierarchy  ·  D365 integration  ·  AI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096AA"/>
                </a:solidFill>
                <a:latin typeface="Segoe UI"/>
              </a:rPr>
              <a:t>ASP.NET Core 8   ·   React 18 + TypeScript   ·   Python FastAPI + Claude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7E8E"/>
                </a:solidFill>
                <a:latin typeface="Segoe UI"/>
              </a:rPr>
              <a:t>Product Manager  ·  Business Analyst  ·  Technical Manager  ·  Stakeholder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6FB8"/>
                </a:solidFill>
                <a:latin typeface="Segoe UI"/>
              </a:rPr>
              <a:t>NỘI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0F2A43"/>
                </a:solidFill>
                <a:latin typeface="Segoe UI"/>
              </a:rPr>
              <a:t>Agenda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hôm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2/14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91056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9105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Mục tiêu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01368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 err="1">
                <a:solidFill>
                  <a:srgbClr val="5A6A78"/>
                </a:solidFill>
                <a:latin typeface="Segoe UI"/>
              </a:rPr>
              <a:t>Định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nghĩa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'Done' —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kết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quả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kỳ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vọng</a:t>
            </a:r>
            <a:endParaRPr sz="1050" b="0" dirty="0">
              <a:solidFill>
                <a:srgbClr val="5A6A78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591056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9105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Product Hierarchy 5 cấp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01368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Range → Item → Mother → Daughter → SO Variant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39696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139696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176272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1E6FB8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176272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9 Modules In-Scope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86584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Must Have — chia nhóm theo nhóm chức năng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39696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139696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2176272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76272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Asset &amp; Document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386584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Gộp DAM + Document Mgmt → 1 hub + approval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24912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724912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2761488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1E6FB8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76148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Social Campaign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971800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Tạo &amp; đăng campaign end-to-end trong PIM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724912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724912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2761488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76148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3 Modules mới (P2→P1)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971800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Product 360 Dashboard · Material Lifecycle · Customer Sales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310128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3310128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3346704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34670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Timeline &amp; Sprint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557016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16 tuần · 6 sprints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310128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3310128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3346704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34670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12 Quyết định cần chốt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557016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Open items trước khi khóa scope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895344"/>
            <a:ext cx="544068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3895344"/>
            <a:ext cx="54864" cy="47548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3931920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3931920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Segoe UI"/>
              </a:rPr>
              <a:t>Tiêu chí nghiệm thu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142232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12 success criteria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6FB8"/>
                </a:solidFill>
                <a:latin typeface="Segoe UI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Phase 1 — Định nghĩa "Done"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64240" cy="132588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28016" cy="132588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561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Segoe UI"/>
              </a:rPr>
              <a:t>PIM trở thành Single Source of Truth cho product content, đồng thời là nơi tạo &amp; đăng campaign social — 100% asset campaign lấy từ PIM, không còn bản copy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72968"/>
            <a:ext cx="128016" cy="2011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dirty="0">
                <a:solidFill>
                  <a:srgbClr val="1B2632"/>
                </a:solidFill>
                <a:latin typeface="Segoe UI"/>
              </a:rPr>
              <a:t>Content team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làm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việc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100%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trên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PIM —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không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còn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tìm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file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rải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rác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trên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shared drives / SharePoint.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02736"/>
            <a:ext cx="128016" cy="2011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493008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dirty="0" err="1">
                <a:solidFill>
                  <a:srgbClr val="1B2632"/>
                </a:solidFill>
                <a:latin typeface="Segoe UI"/>
              </a:rPr>
              <a:t>Mọi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asset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gắn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cấu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trúc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Range → Item → Variant,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đồng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bộ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từ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B2632"/>
                </a:solidFill>
                <a:latin typeface="Segoe UI"/>
              </a:rPr>
              <a:t>D365</a:t>
            </a:r>
            <a:r>
              <a:rPr sz="1350" b="0" dirty="0">
                <a:solidFill>
                  <a:srgbClr val="1B2632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032504"/>
            <a:ext cx="128016" cy="2011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922776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iPaper kéo dữ liệu trực tiếp từ PIM — luôn lấy asset phiên bản mới nhất đã được duyệt.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62272"/>
            <a:ext cx="128016" cy="201168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352544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Tạo &amp; đăng được campaign social end-to-end ngay trong PIM.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892040"/>
            <a:ext cx="128016" cy="201168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782312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Mỗi Item có dashboard 360° tổng hợp asset, document, AI content và publish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321808"/>
            <a:ext cx="128016" cy="20116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5212080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PI / Assembly Instruction / Shipping Mark được quản lý tập trung, có approval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751576"/>
            <a:ext cx="128016" cy="20116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5641848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Cảnh báo ngay khi material bị discontinued — tránh dùng vật liệu lỗi thời.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181344"/>
            <a:ext cx="128016" cy="20116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6071616"/>
            <a:ext cx="106070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632"/>
                </a:solidFill>
                <a:latin typeface="Segoe UI"/>
              </a:rPr>
              <a:t>Xem được sản phẩm đã bán cho khách nào, số lượng bao nhiêu — trực tiếp trong PIM.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IN-SCOPE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9 Modules Must Have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5/14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71323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09928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099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58191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Product Master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91109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5-cấp: Range/Item/Mother/Daughter/SO Variant · D365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508760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508760"/>
            <a:ext cx="73152" cy="71323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28232" y="1709928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7099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58191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Asset &amp; Document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91109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DAM + Document Mgmt gộp · media → CDN · document →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86584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2386584"/>
            <a:ext cx="73152" cy="71323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587752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58775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459736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Image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2788920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Upload 1 lần → auto-gen size/format Web·Print·Social (&lt; 30s)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386584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2386584"/>
            <a:ext cx="73152" cy="71323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28232" y="2587752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258775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459736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D365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788920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One-way read-only · 15 phút · Dimensions/Price/Sales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64408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264408"/>
            <a:ext cx="73152" cy="71323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3465576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46557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333756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Basic Publish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366674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Completeness score → iPaper + REST API · CDN dynamic alias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3264408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45352" y="3264408"/>
            <a:ext cx="73152" cy="71323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28232" y="3465576"/>
            <a:ext cx="310896" cy="310896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8232" y="346557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33756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Social Campaign Module 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66674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Asset PIM → AI caption → schedule → FB + 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142232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4142232"/>
            <a:ext cx="73152" cy="71323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07008" y="42153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Product 360 Dashboard 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454456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Per Item: assets, docs, AI content, publish status, sales history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5352" y="4142232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45352" y="4142232"/>
            <a:ext cx="73152" cy="71323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28232" y="4343400"/>
            <a:ext cx="310896" cy="310896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28232" y="43434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2153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Material Lifecycle Mgmt 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54456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Active/Phasing Out/Discontinued · auto-flag assets dùng material discontinued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020056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8640" y="5020056"/>
            <a:ext cx="73152" cy="71323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1520" y="5221224"/>
            <a:ext cx="310896" cy="310896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522122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07008" y="509320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Customer Sales History 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7008" y="5422392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Per Item/Variant: khách đã mua · số lượng · date range — từ D365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5020056"/>
            <a:ext cx="5440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45352" y="5020056"/>
            <a:ext cx="73152" cy="713232"/>
          </a:xfrm>
          <a:prstGeom prst="rect">
            <a:avLst/>
          </a:prstGeom>
          <a:solidFill>
            <a:srgbClr val="5A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73952" y="5157216"/>
            <a:ext cx="5074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A78"/>
                </a:solidFill>
                <a:latin typeface="Segoe UI"/>
              </a:rPr>
              <a:t>🟢 Xanh = Core PIM   🩵 Teal = Mở rộng từ Phase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1E6FB8"/>
                </a:solidFill>
                <a:latin typeface="Segoe U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0F2A43"/>
                </a:solidFill>
                <a:latin typeface="Segoe UI"/>
              </a:rPr>
              <a:t>Product Hierarchy — 5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cấp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(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xác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nhận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từ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D365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data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thực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tế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4/14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2860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73152" cy="749808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29C9C"/>
                </a:solidFill>
                <a:latin typeface="Segoe UI"/>
              </a:rPr>
              <a:t>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Alaska · Greenwood · Calia · X-Ray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54480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58767" y="1591056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D365: </a:t>
            </a:r>
            <a:r>
              <a:rPr sz="1000" b="0">
                <a:solidFill>
                  <a:srgbClr val="1E6FB8"/>
                </a:solidFill>
                <a:latin typeface="Segoe UI"/>
              </a:rPr>
              <a:t>productRange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7" y="1883664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B2632"/>
                </a:solidFill>
                <a:latin typeface="Segoe UI"/>
              </a:rPr>
              <a:t>Range catalog, 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35331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 type &amp; Asset ownership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04288"/>
            <a:ext cx="36576" cy="320040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798064"/>
            <a:ext cx="201168" cy="36576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" y="2487168"/>
            <a:ext cx="22860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" y="2487168"/>
            <a:ext cx="73152" cy="74980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254203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6FB8"/>
                </a:solidFill>
                <a:latin typeface="Segoe UI"/>
              </a:rPr>
              <a:t>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871216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productCode: 30317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487168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58767" y="2523744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D365: </a:t>
            </a:r>
            <a:r>
              <a:rPr sz="1000" b="0">
                <a:solidFill>
                  <a:srgbClr val="1E6FB8"/>
                </a:solidFill>
                <a:latin typeface="Segoe UI"/>
              </a:rPr>
              <a:t>"productCode"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7" y="2816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B2632"/>
                </a:solidFill>
                <a:latin typeface="Segoe UI"/>
              </a:rPr>
              <a:t>Line Drawing · OBJ/3D · Swatch · Rendering · Test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236976"/>
            <a:ext cx="36576" cy="320040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" y="3730752"/>
            <a:ext cx="201168" cy="36576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0704" y="3419856"/>
            <a:ext cx="22860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0704" y="3419856"/>
            <a:ext cx="73152" cy="749808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43584" y="3474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7B2FBE"/>
                </a:solidFill>
                <a:latin typeface="Segoe UI"/>
              </a:rPr>
              <a:t>MOTHER VARIANT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380390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configId: 987/988/997/998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419856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58767" y="3456432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D365: </a:t>
            </a:r>
            <a:r>
              <a:rPr sz="1000" b="0">
                <a:solidFill>
                  <a:srgbClr val="1E6FB8"/>
                </a:solidFill>
                <a:latin typeface="Segoe UI"/>
              </a:rPr>
              <a:t>"Master"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7" y="37490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B2632"/>
                </a:solidFill>
                <a:latin typeface="Segoe UI"/>
              </a:rPr>
              <a:t>BOM · Material specs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144" y="4169664"/>
            <a:ext cx="36576" cy="320040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52144" y="4663440"/>
            <a:ext cx="201168" cy="36576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316736" y="4352544"/>
            <a:ext cx="22860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16736" y="4352544"/>
            <a:ext cx="73152" cy="7498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99616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Segoe UI"/>
              </a:rPr>
              <a:t>DAUGHTER VARIANT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473659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configId: 9xx (965–977)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4352544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58767" y="43891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D365: </a:t>
            </a:r>
            <a:r>
              <a:rPr sz="1000" b="0">
                <a:solidFill>
                  <a:srgbClr val="1E6FB8"/>
                </a:solidFill>
                <a:latin typeface="Segoe UI"/>
              </a:rPr>
              <a:t>"Child"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7" y="4681728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B2632"/>
                </a:solidFill>
                <a:latin typeface="Segoe UI"/>
              </a:rPr>
              <a:t>PI (per Variant + Packing attribute)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08176" y="5102352"/>
            <a:ext cx="36576" cy="320040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08176" y="5596128"/>
            <a:ext cx="201168" cy="36576"/>
          </a:xfrm>
          <a:prstGeom prst="rect">
            <a:avLst/>
          </a:prstGeom>
          <a:solidFill>
            <a:srgbClr val="CC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572768" y="5285232"/>
            <a:ext cx="228600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572768" y="5285232"/>
            <a:ext cx="73152" cy="74980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55648" y="534009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00"/>
                </a:solidFill>
                <a:latin typeface="Segoe UI"/>
              </a:rPr>
              <a:t>SO VARIANT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5648" y="5669280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configId: 001, 002, … 116+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528523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8767" y="5321808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D365: </a:t>
            </a:r>
            <a:r>
              <a:rPr sz="1000" b="0">
                <a:solidFill>
                  <a:srgbClr val="1E6FB8"/>
                </a:solidFill>
                <a:latin typeface="Segoe UI"/>
              </a:rPr>
              <a:t>"Variant"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7" y="561441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B2632"/>
                </a:solidFill>
                <a:latin typeface="Segoe UI"/>
              </a:rPr>
              <a:t>Packshot · Assembly Instruction × Customer · Shipping Mark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1572768"/>
            <a:ext cx="4434840" cy="374903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589520" y="1572768"/>
            <a:ext cx="73152" cy="3749039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20" y="16642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Segoe UI"/>
              </a:rPr>
              <a:t>D365 → PIM Mapping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20574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productCode: 30317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057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Item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4414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productVariant: 30317-001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4414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SO Variant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28254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productVariantType: "Master"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82549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Mother 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productVariantType: "Child"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20954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Daughter Variant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59359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productVariantType: "Variant"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359359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SO Variant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3977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externalItemId: 836 00201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9776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Customer item ref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36168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6FB8"/>
                </a:solidFill>
                <a:latin typeface="Segoe UI"/>
              </a:rPr>
              <a:t>productRange: Greenwood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43616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9D55"/>
                </a:solidFill>
                <a:latin typeface="Segoe UI"/>
              </a:rPr>
              <a:t>→ Range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5394960"/>
            <a:ext cx="4434840" cy="5943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72400" y="544068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0F2A43"/>
                </a:solidFill>
                <a:latin typeface="Segoe UI"/>
              </a:rPr>
              <a:t>✅ DB: 1 bảng product_variants · type ENUM('mother','daughter','so_variant'). SO Variant fields (external_item_id, customer_id) → nullable.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6FB8"/>
                </a:solidFill>
                <a:latin typeface="Segoe U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0F2A43"/>
                </a:solidFill>
                <a:latin typeface="Segoe UI"/>
              </a:rPr>
              <a:t>Asset &amp; Document Hub — DAM + Document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Mgmt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gộp</a:t>
            </a:r>
            <a:r>
              <a:rPr sz="28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2A43"/>
                </a:solidFill>
                <a:latin typeface="Segoe UI"/>
              </a:rPr>
              <a:t>lại</a:t>
            </a:r>
            <a:endParaRPr sz="2800" b="1" dirty="0">
              <a:solidFill>
                <a:srgbClr val="0F2A43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6/14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394960" cy="100584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91440" cy="100584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asset_category = "media"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&gt; Image Engine → resize/format → Azure Blob → CDN → Publish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72768"/>
            <a:ext cx="5394960" cy="100584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72768"/>
            <a:ext cx="91440" cy="10058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asset_category = "document"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&gt; Azure Blob → Approval Workflow → Download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874519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5A6A78"/>
                </a:solidFill>
                <a:latin typeface="Segoe U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5A6A78"/>
                </a:solidFill>
                <a:latin typeface="Segoe UI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Document Approval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90672"/>
            <a:ext cx="2286000" cy="2743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Doc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090672"/>
            <a:ext cx="2926080" cy="2743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3090672"/>
            <a:ext cx="2788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Gắn theo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3090672"/>
            <a:ext cx="5760720" cy="2743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3090672"/>
            <a:ext cx="5623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Approval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64992"/>
            <a:ext cx="228600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3364992"/>
            <a:ext cx="292608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364992"/>
            <a:ext cx="576072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364992"/>
            <a:ext cx="64008" cy="4297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364992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PI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364992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Daughter Variant + Packing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364992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Không cần approve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80360" y="3794760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2160" y="3794760"/>
            <a:ext cx="5760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3794760"/>
            <a:ext cx="64008" cy="4297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794760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Assembly Instruction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794760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Daughter Variant × 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794760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Draft → Pending Internal → Pending Customer → Approved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24528"/>
            <a:ext cx="228600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880360" y="4224528"/>
            <a:ext cx="292608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52160" y="4224528"/>
            <a:ext cx="576072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4224528"/>
            <a:ext cx="64008" cy="4297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4224528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Shipping 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224528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Daughter Variant ×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224528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Draft → Pending Customer → Approved (flag no-approval)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654296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80360" y="4654296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52160" y="4654296"/>
            <a:ext cx="5760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4654296"/>
            <a:ext cx="64008" cy="4297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4654296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BOM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4654296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Mother Variant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654296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Không cần approve (D365 owns) — upload để tham chiếu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084064"/>
            <a:ext cx="228600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880360" y="5084064"/>
            <a:ext cx="292608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852160" y="5084064"/>
            <a:ext cx="5760720" cy="429768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8640" y="5084064"/>
            <a:ext cx="64008" cy="4297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084064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Test Report / Cert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5084064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Item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084064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Không cần approve · Cert có expiry_date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513832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880360" y="5513832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852160" y="5513832"/>
            <a:ext cx="5760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48640" y="5513832"/>
            <a:ext cx="64008" cy="4297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5800" y="5513832"/>
            <a:ext cx="210312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2632"/>
                </a:solidFill>
                <a:latin typeface="Segoe UI"/>
              </a:rPr>
              <a:t>Compliance (EU/US)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5513832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Item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513832"/>
            <a:ext cx="55778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Không cần approve · Tag standard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" y="646480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6FB8"/>
                </a:solidFill>
                <a:latin typeface="Segoe UI"/>
              </a:rPr>
              <a:t>Tiết kiệm ~1.5–2 sprints so với tách DAM + Document riêng. 1 bảng assets · 1 upload flow · 1 Typesense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6FB8"/>
                </a:solidFill>
                <a:latin typeface="Segoe U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D365 Integration — 3 nguyên tắc đã chốt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9/14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91440" cy="11887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F2A43"/>
                </a:solidFill>
                <a:latin typeface="Segoe UI"/>
              </a:rPr>
              <a:t>✅ 1  </a:t>
            </a:r>
            <a:r>
              <a:rPr sz="1600" b="1" dirty="0" err="1">
                <a:solidFill>
                  <a:srgbClr val="0F2A43"/>
                </a:solidFill>
                <a:latin typeface="Segoe UI"/>
              </a:rPr>
              <a:t>Một</a:t>
            </a:r>
            <a:r>
              <a:rPr sz="16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0F2A43"/>
                </a:solidFill>
                <a:latin typeface="Segoe UI"/>
              </a:rPr>
              <a:t>chiều</a:t>
            </a:r>
            <a:r>
              <a:rPr sz="1600" b="1" dirty="0">
                <a:solidFill>
                  <a:srgbClr val="0F2A43"/>
                </a:solidFill>
                <a:latin typeface="Segoe UI"/>
              </a:rPr>
              <a:t> —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PIM chỉ đọc từ D365.
Không bao giờ push ngược về D365.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106424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91440" cy="11887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35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F2A43"/>
                </a:solidFill>
                <a:latin typeface="Segoe UI"/>
              </a:rPr>
              <a:t>✅ 2  </a:t>
            </a:r>
            <a:r>
              <a:rPr sz="1600" b="1" dirty="0" err="1">
                <a:solidFill>
                  <a:srgbClr val="0F2A43"/>
                </a:solidFill>
                <a:latin typeface="Segoe UI"/>
              </a:rPr>
              <a:t>D365</a:t>
            </a:r>
            <a:r>
              <a:rPr sz="1600" b="1" dirty="0">
                <a:solidFill>
                  <a:srgbClr val="0F2A43"/>
                </a:solidFill>
                <a:latin typeface="Segoe UI"/>
              </a:rPr>
              <a:t> ⊆ PIM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1B2632"/>
                </a:solidFill>
                <a:latin typeface="Segoe UI"/>
              </a:rPr>
              <a:t>Mọi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trường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product info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trong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D365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bắt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buộc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mirror sang PIM.
PIM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có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thêm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trường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riêng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(assets, AI content, lifecycle…)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1106424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91440" cy="11887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✅ 3  Source of Truth phân tách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8231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1B2632"/>
                </a:solidFill>
                <a:latin typeface="Segoe UI"/>
              </a:rPr>
              <a:t>Trường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từ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D365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→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D365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làm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 smtClean="0">
                <a:solidFill>
                  <a:srgbClr val="1B2632"/>
                </a:solidFill>
                <a:latin typeface="Segoe UI"/>
              </a:rPr>
              <a:t>chủ</a:t>
            </a:r>
            <a:r>
              <a:rPr sz="1300" b="0" dirty="0" smtClean="0">
                <a:solidFill>
                  <a:srgbClr val="1B2632"/>
                </a:solidFill>
                <a:latin typeface="Segoe UI"/>
              </a:rPr>
              <a:t>.</a:t>
            </a:r>
            <a:r>
              <a:rPr lang="en-US" sz="1300" dirty="0">
                <a:solidFill>
                  <a:srgbClr val="1B2632"/>
                </a:solidFill>
                <a:latin typeface="Segoe UI"/>
              </a:rPr>
              <a:t> </a:t>
            </a:r>
            <a:r>
              <a:rPr lang="en-US" sz="1300" dirty="0" err="1" smtClean="0">
                <a:solidFill>
                  <a:srgbClr val="1B2632"/>
                </a:solidFill>
                <a:latin typeface="Segoe UI"/>
              </a:rPr>
              <a:t>T</a:t>
            </a:r>
            <a:r>
              <a:rPr sz="1300" b="0" dirty="0" err="1" smtClean="0">
                <a:solidFill>
                  <a:srgbClr val="1B2632"/>
                </a:solidFill>
                <a:latin typeface="Segoe UI"/>
              </a:rPr>
              <a:t>rường</a:t>
            </a:r>
            <a:r>
              <a:rPr sz="1300" b="0" dirty="0" smtClean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riêng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PIM → PIM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làm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1B2632"/>
                </a:solidFill>
                <a:latin typeface="Segoe UI"/>
              </a:rPr>
              <a:t>chủ</a:t>
            </a:r>
            <a:r>
              <a:rPr sz="1300" b="0" dirty="0">
                <a:solidFill>
                  <a:srgbClr val="1B2632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0F2A43"/>
                </a:solidFill>
                <a:latin typeface="Segoe UI"/>
              </a:rPr>
              <a:t>Dữ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liệu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đồng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bộ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(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mỗi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15 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phút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qua </a:t>
            </a:r>
            <a:r>
              <a:rPr sz="1300" b="1" dirty="0" err="1">
                <a:solidFill>
                  <a:srgbClr val="0F2A43"/>
                </a:solidFill>
                <a:latin typeface="Segoe UI"/>
              </a:rPr>
              <a:t>Hangfire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jobs):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09728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4406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Dimensions (product attributes)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5532120"/>
            <a:ext cx="109728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0088" y="54406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Designer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5532120"/>
            <a:ext cx="109728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0368" y="54406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Price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5532120"/>
            <a:ext cx="109728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0648" y="54406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Sales data (bao gồm customer order data)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5532120"/>
            <a:ext cx="109728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10928" y="54406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Materials / BOM (Mother Variant)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Tech: Hangfire background jobs (ASP.NET Core) · Delta sync via D365 modifiedDateTime filter · Dead letter queue → Redis alert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C9C"/>
                </a:solidFill>
                <a:latin typeface="Segoe UI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Social Campaign Module — end-to-end trong 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7/14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737360" cy="54864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1755648"/>
            <a:ext cx="320040" cy="3200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0F2A43"/>
                </a:solidFill>
                <a:latin typeface="Segoe UI"/>
              </a:rPr>
              <a:t>Tạo</a:t>
            </a:r>
            <a:r>
              <a:rPr sz="1300" b="1" dirty="0">
                <a:solidFill>
                  <a:srgbClr val="0F2A43"/>
                </a:solidFill>
                <a:latin typeface="Segoe UI"/>
              </a:rPr>
              <a:t>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Tên · date range · mục tiêu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258568"/>
            <a:ext cx="13716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44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" y="1572768"/>
            <a:ext cx="1737360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0" y="1755648"/>
            <a:ext cx="320040" cy="32004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Chọn Asset từ PIM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Drag-drop ảnh sản phẩm hoặc non-product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258568"/>
            <a:ext cx="13716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6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1572768"/>
            <a:ext cx="1737360" cy="54864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3480" y="1755648"/>
            <a:ext cx="320040" cy="320040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AI Generate Caption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Claude API → generate dựa trên product info +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258568"/>
            <a:ext cx="13716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1572768"/>
            <a:ext cx="1737360" cy="5486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0" y="1755648"/>
            <a:ext cx="320040" cy="3200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Marketing chỉnh caption nếu cần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58568"/>
            <a:ext cx="13716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01000" y="1572768"/>
            <a:ext cx="17373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32520" y="1755648"/>
            <a:ext cx="320040" cy="3200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3252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Approve &amp; 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Submit → Pending Review → Approved → Scheduled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60" y="2258568"/>
            <a:ext cx="13716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1572768"/>
            <a:ext cx="1737360" cy="1554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75520" y="1572768"/>
            <a:ext cx="17373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607040" y="1755648"/>
            <a:ext cx="320040" cy="3200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07040" y="1755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16712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Publish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6243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5A6A78"/>
                </a:solidFill>
                <a:latin typeface="Segoe UI"/>
              </a:rPr>
              <a:t>PIM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đăng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lên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FB / IG ·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lưu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5A6A78"/>
                </a:solidFill>
                <a:latin typeface="Segoe UI"/>
              </a:rPr>
              <a:t>post_id</a:t>
            </a:r>
            <a:r>
              <a:rPr sz="1050" b="0" dirty="0">
                <a:solidFill>
                  <a:srgbClr val="5A6A78"/>
                </a:solidFill>
                <a:latin typeface="Segoe UI"/>
              </a:rPr>
              <a:t> → tracking 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33756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Segoe UI"/>
              </a:rPr>
              <a:t>Caption Approval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657600"/>
            <a:ext cx="1691640" cy="457200"/>
          </a:xfrm>
          <a:prstGeom prst="rect">
            <a:avLst/>
          </a:prstGeom>
          <a:solidFill>
            <a:srgbClr val="5A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3840480"/>
            <a:ext cx="18288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423160" y="3657600"/>
            <a:ext cx="169164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2316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8A00"/>
                </a:solidFill>
                <a:latin typeface="Segoe UI"/>
              </a:rPr>
              <a:t>Pending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3840480"/>
            <a:ext cx="18288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97680" y="3657600"/>
            <a:ext cx="169164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9768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9D55"/>
                </a:solidFill>
                <a:latin typeface="Segoe UI"/>
              </a:rPr>
              <a:t>Approved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840480"/>
            <a:ext cx="18288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657600"/>
            <a:ext cx="169164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7220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E6FB8"/>
                </a:solidFill>
                <a:latin typeface="Segoe UI"/>
              </a:rPr>
              <a:t>Scheduled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3840480"/>
            <a:ext cx="18288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46720" y="3657600"/>
            <a:ext cx="169164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2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9D55"/>
                </a:solidFill>
                <a:latin typeface="Segoe UI"/>
              </a:rPr>
              <a:t>Published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8360" y="3840480"/>
            <a:ext cx="182880" cy="54864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21240" y="3657600"/>
            <a:ext cx="169164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21240" y="365760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Segoe UI"/>
              </a:rPr>
              <a:t>Failed → retry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343400"/>
            <a:ext cx="530352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48640" y="4343400"/>
            <a:ext cx="91440" cy="21488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" y="4434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Platform Phase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80060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✅ Facebook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480060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Meta Business API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5148072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✅ Instagram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514807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Cùng Meta App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495544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❌ LinkedIn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7520" y="5495544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Phase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843016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❌ TikTok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17520" y="58430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Phase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03504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Format P1: Single image + Carousel  |  Video/Reels → Phase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343400"/>
            <a:ext cx="5577840" cy="214884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035040" y="4343400"/>
            <a:ext cx="91440" cy="21488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63640" y="44348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00"/>
                </a:solidFill>
                <a:latin typeface="Segoe UI"/>
              </a:rPr>
              <a:t>⚠️ Rủi ro cần Stakeholder biết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80060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B2632"/>
                </a:solidFill>
                <a:latin typeface="Segoe UI"/>
              </a:rPr>
              <a:t>Meta App Review mất 3–6 tuần ngoài tầm kiểm soát của team.
Plan B: launch toàn bộ PIM core trước, bật Social Module sau khi Meta approve.
→ Cần nộp Meta App Review ngay từ Tuần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C9C"/>
                </a:solidFill>
                <a:latin typeface="Segoe UI"/>
              </a:rPr>
              <a:t>MODULES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3 Modules kéo từ Phase 2 vào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8/14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66160" cy="4754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91440" cy="475488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07  Product 360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Segoe UI"/>
              </a:rPr>
              <a:t>View per Item — tổng hợp tất cả: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73152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423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Media assets (images, 3D, swatch)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73152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80720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Documents (PI, AI, SM, certs)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82696"/>
            <a:ext cx="73152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19125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AI content (description, caption)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66744"/>
            <a:ext cx="73152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Publication status (iPaper, web)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50792"/>
            <a:ext cx="73152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39593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Sales history (tab từ Module 9)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72000"/>
            <a:ext cx="3291840" cy="64008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9C9C"/>
                </a:solidFill>
                <a:latin typeface="Segoe UI"/>
              </a:rPr>
              <a:t>Phụ thuộc: DAM + D365 + AI Service
Sprint: cuối (Sprint 5–6)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A78"/>
                </a:solidFill>
                <a:latin typeface="Segoe UI"/>
              </a:rPr>
              <a:t>Estimate: +1–2 sprints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669280"/>
            <a:ext cx="329184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08A00"/>
                </a:solidFill>
                <a:latin typeface="Segoe UI"/>
              </a:rPr>
              <a:t>⚠️ Warning: X materials Discontinued
trực tiếp trên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572768"/>
            <a:ext cx="3566160" cy="4754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1572768"/>
            <a:ext cx="91440" cy="47548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16642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8A00"/>
                </a:solidFill>
                <a:latin typeface="Segoe UI"/>
              </a:rPr>
              <a:t>08  Material Lifecycle Mgmt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103120"/>
            <a:ext cx="1280160" cy="43891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10312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Đang sử dụng bình thường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670048"/>
            <a:ext cx="1280160" cy="43891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2670048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Phasing 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614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Sắp ngưng — cảnh báo nhẹ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236976"/>
            <a:ext cx="1280160" cy="43891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3236976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Discontinued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32841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Ngưng hoàn toàn → auto-flag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749039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9D55"/>
                </a:solidFill>
                <a:latin typeface="Segoe UI"/>
              </a:rPr>
              <a:t>✅ 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749039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lifecycle_status field trên Material 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087367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9D55"/>
                </a:solidFill>
                <a:latin typeface="Segoe UI"/>
              </a:rPr>
              <a:t>✅ 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087367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Auto-flag tất cả assets dùng material discontinued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425695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9D55"/>
                </a:solidFill>
                <a:latin typeface="Segoe UI"/>
              </a:rPr>
              <a:t>✅ P1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425695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Warning trên Product 360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764023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9D55"/>
                </a:solidFill>
                <a:latin typeface="Segoe UI"/>
              </a:rPr>
              <a:t>✅ 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764023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Manual replacement pointer (replaced_by: material_id)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102351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❌ 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02351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Auto-replacement workflow + email notification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440679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A6A78"/>
                </a:solidFill>
                <a:latin typeface="Segoe UI"/>
              </a:rPr>
              <a:t>❌ P2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5440679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Expiry date + advance warning (30/60/90 ngày)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349240"/>
            <a:ext cx="3291840" cy="274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26280" y="536752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Estimate: +1–1.5 sprints  |  Sprint 3–4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1572768"/>
            <a:ext cx="3566160" cy="4754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46720" y="1572768"/>
            <a:ext cx="91440" cy="475488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75320" y="16642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9D55"/>
                </a:solidFill>
                <a:latin typeface="Segoe UI"/>
              </a:rPr>
              <a:t>09  Customer Sales History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084831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Nguồn: D365 Sales data (đã có trong sync)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2514600"/>
            <a:ext cx="7315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85632" y="24231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Customer 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24231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Tên công ty khách hàng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2926080"/>
            <a:ext cx="7315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85632" y="28346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Order quantity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2834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Số lượng đã bán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3337560"/>
            <a:ext cx="7315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85632" y="32461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Order date range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24612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Khoảng thời gian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3749040"/>
            <a:ext cx="7315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85632" y="3657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Item Number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3657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B2632"/>
                </a:solidFill>
                <a:latin typeface="Segoe UI"/>
              </a:rPr>
              <a:t>Mã sản phẩm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4160520"/>
            <a:ext cx="3200400" cy="73152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66760" y="420624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9D55"/>
                </a:solidFill>
                <a:latin typeface="Segoe UI"/>
              </a:rPr>
              <a:t>Tab "Sales" trong
Product 360 Dashboard
Read-only · Không show giá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50292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F9D55"/>
                </a:solidFill>
                <a:latin typeface="Segoe UI"/>
              </a:rPr>
              <a:t>✅ Read-only 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53675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F9D55"/>
                </a:solidFill>
                <a:latin typeface="Segoe UI"/>
              </a:rPr>
              <a:t>✅ Không cần integration mới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57058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❌ Giá, CRM notes → P2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5806440"/>
            <a:ext cx="3291840" cy="274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75320" y="582472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Estimate: +0.5 sprint  |  Sprint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A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A78"/>
                </a:solidFill>
                <a:latin typeface="Segoe UI"/>
              </a:rPr>
              <a:t>OUT-OF-SCOPE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Dời sang Phase 2 / 3 — ranh giới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10/14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943600" cy="34747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852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Tính năng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554480"/>
            <a:ext cx="1463040" cy="34747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Giai đoạn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3657600" cy="34747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566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Ghi chú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01952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901952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01952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901952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Asset Link Map đầy đủ + live performance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01952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901952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chỉ lưu publish log cơ bản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9424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2249424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249424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249424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AI text nâng cao (USP, Care, Daily Care đa biến thể)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49424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249424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P1: AI chỉ làm Description + Caption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96896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2596896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2596896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2596896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Analytics dashboard (performance, Recharts)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5968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596896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Gắn với Asset Link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44368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37960" y="2944368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29443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2944368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Quotation &amp; Pricelist tự động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94436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944368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chỉ expose ảnh qua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91840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3291840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291840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291840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Website 2-chiều / realtime đầy đủ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29184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3291840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chỉ read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639312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37960" y="363931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46720" y="3639312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3639312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Product Card &amp; QR (Christian)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639312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3639312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Cần align interface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986784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37960" y="3986784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46720" y="3986784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3986784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B2B/VIP Customer Portal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986784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Segoe UI"/>
              </a:rPr>
              <a:t>Phase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3986784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Portal riêng: giá riêng, catalogue, invoice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334256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37960" y="4334256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46720" y="4334256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5800" y="4334256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Product lifecycle auto-propagation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33425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4334256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Discontinued → tự động remove khỏi web/catalogue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681728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37960" y="4681728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46720" y="4681728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5800" y="4681728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Full CRM integration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68172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4681728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chỉ có basic sales quantity từ D365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029200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537960" y="5029200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046720" y="5029200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5800" y="5029200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Impact analysis — "where used"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502920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79" y="5029200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Tracking graph asset/material được dùng ở đâu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376672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537960" y="5376672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46720" y="5376672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5800" y="5376672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Material expiry auto-notification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5376672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83879" y="5376672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chỉ hiển thị expiry_date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724144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537960" y="5724144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046720" y="5724144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5800" y="5724144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AI Rendering từ CAD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5724144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Segoe UI"/>
              </a:rPr>
              <a:t>Phase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83879" y="5724144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Còn ở giai đoạn feasibility study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6071616"/>
            <a:ext cx="5943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37960" y="6071616"/>
            <a:ext cx="146304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046720" y="6071616"/>
            <a:ext cx="3657600" cy="347472"/>
          </a:xfrm>
          <a:prstGeom prst="rect">
            <a:avLst/>
          </a:prstGeom>
          <a:solidFill>
            <a:srgbClr val="F2F5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85800" y="6071616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Video transcoding / streaming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37960" y="607161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83879" y="6071616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lưu gốc + CDN direct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419088"/>
            <a:ext cx="5943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537960" y="6419088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046720" y="641908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5800" y="6419088"/>
            <a:ext cx="5715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CAD viewer trong browser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641908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83879" y="6419088"/>
            <a:ext cx="3474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P1 lưu + 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6FB8"/>
                </a:solidFill>
                <a:latin typeface="Segoe UI"/>
              </a:rPr>
              <a:t>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Timeline — 16 tuần · 6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11/14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572768"/>
            <a:ext cx="36576" cy="5120640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04288" y="1728216"/>
            <a:ext cx="237744" cy="237744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C9C"/>
                </a:solidFill>
                <a:latin typeface="Segoe UI"/>
              </a:rPr>
              <a:t>Ngay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63677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367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3677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Chốt 9 modules · duyệt ngân sách · chốt QĐ #9/#10/#11/#13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232257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6712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1–2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23113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23113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Technical Spikes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3113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D365 API access · nộp Meta App Review · CDN dynamic alias spike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291693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6148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3–4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282549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282549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2549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Infra · CI/CD · DB schema (5-level + Asset unified + Material lifecycle)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51129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5–8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341985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4640" y="341985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41985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Product Master Data · D365 Integration · Asset &amp; Doc Hub (media flow)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4288" y="410565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95020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7–10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401421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401421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3–4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01421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Asset &amp; Doc Hub (document flow: PI/AI/SM approval) · Image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4288" y="470001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54456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9–12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0048" y="460857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34640" y="46085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4–5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60857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Material Lifecycle · Customer Sales History · Basic Publish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4288" y="5294376"/>
            <a:ext cx="237744" cy="23774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13892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Tuần 11–14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70048" y="520293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520293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5–6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520293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Social Campaign Module (chờ Meta approval) · AI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04288" y="5888736"/>
            <a:ext cx="237744" cy="23774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73328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6FB8"/>
                </a:solidFill>
                <a:latin typeface="Segoe UI"/>
              </a:rPr>
              <a:t>Tuần 13–16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579729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34640" y="579729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Sprint cuối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579729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Product 360 Dashboard · Integration test · Bug fix · UAT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4288" y="6483096"/>
            <a:ext cx="237744" cy="2377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327648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9D55"/>
                </a:solidFill>
                <a:latin typeface="Segoe UI"/>
              </a:rPr>
              <a:t>TBD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0048" y="6391656"/>
            <a:ext cx="9235440" cy="42062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34640" y="639165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Phase 1 Launch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6391656"/>
            <a:ext cx="6675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8"/>
                </a:solidFill>
                <a:latin typeface="Segoe UI"/>
              </a:rPr>
              <a:t>9 modules live · Content team ngừng dùng shared drives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CẦN CHỐT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12 Quyết định trước khi khóa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12/14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640080"/>
          </a:xfrm>
          <a:prstGeom prst="rect">
            <a:avLst/>
          </a:prstGeom>
          <a:solidFill>
            <a:srgbClr val="EAF6EE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✅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81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D365 sync 1 chiều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92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632"/>
                </a:solidFill>
                <a:latin typeface="Segoe UI"/>
              </a:rPr>
              <a:t>→ PIM read-only · D365 ⊆ PIM · source of truth phân tách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0876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1581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Field mapping D365 → PIM chi tiết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892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Lập bảng mapping · xử lý trường tranh chấp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31343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1343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Content publish có cần approve?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2432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thủ công, không require approve 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24028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31343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31343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CAD/3D: viewer hay chỉ lưu/download?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62432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lưu + download P1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7180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04495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449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AI text P1 chỉ Description + Caption?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35584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Có — USP/Care dời 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97180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04495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0449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Completeness score — trường bắt buộc?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35584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Cần chốt danh sách trường trước khi viết publish logic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377647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7647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Social P1: nền tảng nào?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08736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FB + IG · LinkedIn/TikTok → P2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70332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377647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77647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Caption AI bắt buộc human-approve?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408736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Bắt buộc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3484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50799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5079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Material entity độc lập?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8188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Có — item_id nullable · chốt trước DB schema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43484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50799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45079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CDN URL: static hay dynamic alias?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48188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Dynamic alias — luôn trỏ latest-approved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16636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523951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2395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PIM Platform Owner + governance?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5504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Cần chốt trước khi thiết kế permission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516636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523951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6872" y="52395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Shipping Mark: customer no-approval list ở đâu?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6872" y="55504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Đề xuất: PIM flag per customer · sync từ CRM (P2)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89788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" y="597103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Segoe UI"/>
              </a:rPr>
              <a:t>#13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97103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2A43"/>
                </a:solidFill>
                <a:latin typeface="Segoe UI"/>
              </a:rPr>
              <a:t>Daughter Variant &amp; SO Variant — 1 hay 2 entity?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628192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8"/>
                </a:solidFill>
                <a:latin typeface="Segoe UI"/>
              </a:rPr>
              <a:t>→ DB: 1 bảng · type ENUM · field SO-specific nullable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NGHIỆM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Segoe UI"/>
              </a:rPr>
              <a:t>12 Tiêu chí thành công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A78"/>
                </a:solidFill>
                <a:latin typeface="Segoe UI"/>
              </a:rPr>
              <a:t>13/14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63624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508760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Content team ngừng dùng shared drive / SharePoint cho asset và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08760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63624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15636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08760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Tìm đúng phiên bản asset hoặc document &lt; 1 phút từ 1 giao diện duy nhất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02536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002536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D365 sync chạy ổn định mỗi 15 phút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002536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5352" y="2057400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2057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002536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iPaper pull asset trực tiếp từ PIM — catalogue luôn hiển thị phiên bản mới nhất đã duyệt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96312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551176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55117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496312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Image Engine xử lý media asset &lt; 30 giây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496312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45352" y="2551176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255117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496312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Tạo &amp; đăng 1 campaign social end-to-end từ PIM lên FB + IG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90088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044952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0449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990088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Mỗi Item có Product 360 Dashboard đầy đủ: assets, docs, AI content, publish status, customer sales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2990088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5352" y="3044952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5352" y="30449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990088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Upload PI gắn Daughter Variant + Packing Type; cảnh báo khi PI thay đổi ảnh hưởng BOM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483864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3538728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53872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3483864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Assembly Instruction có approval flow: Draft → Pending Internal → Pending Customer → Approved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3483864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5352" y="3538728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5352" y="353872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483864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Shipping Mark có approval tracking, flag "no approval required" per customer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77640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4032504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03250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3977640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Material discontinued → tất cả assets/products liên quan hiển thị warning flag ngay lập tức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3977640"/>
            <a:ext cx="544068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45352" y="4032504"/>
            <a:ext cx="274320" cy="274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45352" y="403250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3977640"/>
            <a:ext cx="4937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2632"/>
                </a:solidFill>
                <a:latin typeface="Segoe UI"/>
              </a:rPr>
              <a:t>Xem được customer đã mua + số lượng per product từ D365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310128"/>
            <a:ext cx="12191695" cy="64008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9C9C"/>
                </a:solidFill>
                <a:latin typeface="Segoe UI"/>
              </a:rPr>
              <a:t>ĐỀ NGHỊ STAKEHOLDER KÝ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Chốt scope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9D6E2"/>
                </a:solidFill>
                <a:latin typeface="Segoe UI"/>
              </a:rPr>
              <a:t>9 Modules Must Have   ·   Duyệt ngân sách   ·   Trả lời 12 quyết định để khóa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320040" cy="3200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5429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Ký duyệt scope 9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320040" cy="3200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6577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Duyệt ngân sách tăng thêm (Social Module + 3 modules mới)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0680"/>
            <a:ext cx="320040" cy="3200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7725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Chốt 12 quyết định — ưu tiên #9, #10, #11, #13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852160"/>
            <a:ext cx="320040" cy="32004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88873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Cấp quyền truy cập D365 API cho Technical Spikes tuần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7A90A4"/>
                </a:solidFill>
                <a:latin typeface="Segoe UI"/>
              </a:rPr>
              <a:t>Questions? Let's discuss →  PM / BA / Technical Manager  ·  </a:t>
            </a:r>
            <a:r>
              <a:rPr sz="1200" b="0" dirty="0" err="1">
                <a:solidFill>
                  <a:srgbClr val="7A90A4"/>
                </a:solidFill>
                <a:latin typeface="Segoe UI"/>
              </a:rPr>
              <a:t>thiennh@response.com.vn</a:t>
            </a:r>
            <a:endParaRPr sz="1200" b="0" dirty="0">
              <a:solidFill>
                <a:srgbClr val="7A90A4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BAAE5DAC-86F4-42D9-B7A7-DBC46D530FA5}"/>
</file>

<file path=customXml/itemProps2.xml><?xml version="1.0" encoding="utf-8"?>
<ds:datastoreItem xmlns:ds="http://schemas.openxmlformats.org/officeDocument/2006/customXml" ds:itemID="{6583F80A-5066-4C1D-AB64-8B1FD328E61E}"/>
</file>

<file path=customXml/itemProps3.xml><?xml version="1.0" encoding="utf-8"?>
<ds:datastoreItem xmlns:ds="http://schemas.openxmlformats.org/officeDocument/2006/customXml" ds:itemID="{829AB8DB-5B75-459D-8AA2-1780C6569762}"/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2385</Words>
  <Application>Microsoft Office PowerPoint</Application>
  <PresentationFormat>Widescreen</PresentationFormat>
  <Paragraphs>414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Thien, Nguyen Hoang - IT</cp:lastModifiedBy>
  <cp:revision>5</cp:revision>
  <dcterms:created xsi:type="dcterms:W3CDTF">2013-01-27T09:14:16Z</dcterms:created>
  <dcterms:modified xsi:type="dcterms:W3CDTF">2026-06-12T06:36:08Z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