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customXml" Target="../customXml/item1.xml"/><Relationship Id="rId2" Type="http://schemas.openxmlformats.org/officeDocument/2006/relationships/printerSettings" Target="printerSettings/printerSettings1.bin"/><Relationship Id="rId16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Relationship Id="rId5" Type="http://schemas.openxmlformats.org/officeDocument/2006/relationships/theme" Target="theme/theme1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customXml" Target="../customXml/item3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43400"/>
            <a:ext cx="12191695" cy="73152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29C9C"/>
                </a:solidFill>
                <a:latin typeface="Segoe UI"/>
              </a:rPr>
              <a:t>PHASE 1 — SIGN-OFF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6984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Segoe UI"/>
              </a:rPr>
              <a:t>Core PIM + Social Campaign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0">
                <a:solidFill>
                  <a:srgbClr val="C9D6E2"/>
                </a:solidFill>
                <a:latin typeface="Segoe UI"/>
              </a:rPr>
              <a:t>Scope chốt với Stakeholder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PIM (Product Information Management) + Social Campaign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834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A8BCCC"/>
                </a:solidFill>
                <a:latin typeface="Segoe UI"/>
              </a:rPr>
              <a:t>ASP.NET Core  ·  React  ·  Python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CA0B2"/>
                </a:solidFill>
                <a:latin typeface="Segoe UI"/>
              </a:rPr>
              <a:t>Product Manager · Business Analyst · Technical Manager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E6FB8"/>
                </a:solidFill>
                <a:latin typeface="Segoe UI"/>
              </a:rPr>
              <a:t>MỤC TIÊU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Segoe UI"/>
              </a:rPr>
              <a:t>Phase 1 — định nghĩa "Done"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11064240" cy="13716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09728" cy="1371600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105156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0F2A43"/>
                </a:solidFill>
                <a:latin typeface="Segoe UI"/>
              </a:rPr>
              <a:t>PIM trở thành Single Source of Truth cho product content, đồng thời là nơi tạo &amp; đăng campaign social — 100% asset campaign lấy từ PIM, không còn bản copy local.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447288"/>
            <a:ext cx="164592" cy="164592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B2632"/>
                </a:solidFill>
                <a:latin typeface="Segoe UI"/>
              </a:rPr>
              <a:t>Content team làm việc 100% trên PIM — không còn tìm file rải rác trên shared drives.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105656"/>
            <a:ext cx="164592" cy="164592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04164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B2632"/>
                </a:solidFill>
                <a:latin typeface="Segoe UI"/>
              </a:rPr>
              <a:t>Mọi asset gắn cấu trúc Range → Master → Variant, đồng bộ D365.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764024"/>
            <a:ext cx="164592" cy="164592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700016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B2632"/>
                </a:solidFill>
                <a:latin typeface="Segoe UI"/>
              </a:rPr>
              <a:t>iPaper kéo dữ liệu trực tiếp từ PIM.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422392"/>
            <a:ext cx="164592" cy="164592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358384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B2632"/>
                </a:solidFill>
                <a:latin typeface="Segoe UI"/>
              </a:rPr>
              <a:t>Tạo &amp; đăng được campaign social end-to-end ngay trong PIM.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9D55"/>
                </a:solidFill>
                <a:latin typeface="Segoe UI"/>
              </a:rPr>
              <a:t>IN-SCOPE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Segoe UI"/>
              </a:rPr>
              <a:t>6 khối phải làm (Must Have)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440680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91440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73352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6FB8"/>
                </a:solidFill>
                <a:latin typeface="Segoe UI"/>
              </a:rPr>
              <a:t>1  Product Master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057400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632"/>
                </a:solidFill>
                <a:latin typeface="Segoe UI"/>
              </a:rPr>
              <a:t>Range / Master / Variant + mapping Item Number D365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554480"/>
            <a:ext cx="5440680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554480"/>
            <a:ext cx="91440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1673352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6FB8"/>
                </a:solidFill>
                <a:latin typeface="Segoe UI"/>
              </a:rPr>
              <a:t>2  Asset Management (DAM)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057400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632"/>
                </a:solidFill>
                <a:latin typeface="Segoe UI"/>
              </a:rPr>
              <a:t>Upload &amp; quản lý mọi asset · version control · ownership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834640"/>
            <a:ext cx="5440680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834640"/>
            <a:ext cx="91440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953512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6FB8"/>
                </a:solidFill>
                <a:latin typeface="Segoe UI"/>
              </a:rPr>
              <a:t>3  Image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337560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632"/>
                </a:solidFill>
                <a:latin typeface="Segoe UI"/>
              </a:rPr>
              <a:t>Upload 1 lần → auto size/format Web · Print · Social (&lt; 30s)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834640"/>
            <a:ext cx="5440680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2834640"/>
            <a:ext cx="91440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2953512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6FB8"/>
                </a:solidFill>
                <a:latin typeface="Segoe UI"/>
              </a:rPr>
              <a:t>4  D365 Integration (read)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3337560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632"/>
                </a:solidFill>
                <a:latin typeface="Segoe UI"/>
              </a:rPr>
              <a:t>Sync 15 phút: Dimensions · Designer · Price · Sales 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114800"/>
            <a:ext cx="5440680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114800"/>
            <a:ext cx="91440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233672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6FB8"/>
                </a:solidFill>
                <a:latin typeface="Segoe UI"/>
              </a:rPr>
              <a:t>5  Basic Publish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617720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632"/>
                </a:solidFill>
                <a:latin typeface="Segoe UI"/>
              </a:rPr>
              <a:t>Completeness check → iPaper + REST API website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114800"/>
            <a:ext cx="5440680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4114800"/>
            <a:ext cx="91440" cy="1051560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9672" y="4233672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29C9C"/>
                </a:solidFill>
                <a:latin typeface="Segoe UI"/>
              </a:rPr>
              <a:t>6  Social Campaign Module  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9672" y="4617720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632"/>
                </a:solidFill>
                <a:latin typeface="Segoe UI"/>
              </a:rPr>
              <a:t>Asset từ PIM → AI caption → schedule &amp; đăng đa nền tảng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9C9C"/>
                </a:solidFill>
                <a:latin typeface="Segoe UI"/>
              </a:rPr>
              <a:t>KHỐI MỚI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Segoe UI"/>
              </a:rPr>
              <a:t>Social Campaign Module — gồm gì?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502920" cy="502920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6642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F2A43"/>
                </a:solidFill>
                <a:latin typeface="Segoe UI"/>
              </a:rPr>
              <a:t>Campaign Builder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385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5A6A78"/>
                </a:solidFill>
                <a:latin typeface="Segoe UI"/>
              </a:rPr>
              <a:t>Drag-drop chọn asset trực tiếp từ PIM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502920" cy="502920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8716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505456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F2A43"/>
                </a:solidFill>
                <a:latin typeface="Segoe UI"/>
              </a:rPr>
              <a:t>AI Caption (Claude API)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77977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5A6A78"/>
                </a:solidFill>
                <a:latin typeface="Segoe UI"/>
              </a:rPr>
              <a:t>Generate caption + người review / approve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28416"/>
            <a:ext cx="502920" cy="502920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2841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3467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F2A43"/>
                </a:solidFill>
                <a:latin typeface="Segoe UI"/>
              </a:rPr>
              <a:t>Multi-platform Publishing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62102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5A6A78"/>
                </a:solidFill>
                <a:latin typeface="Segoe UI"/>
              </a:rPr>
              <a:t>Meta: FB + IG (LinkedIn/TikTok cân nhắc — QĐ #7)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169664"/>
            <a:ext cx="502920" cy="502920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16966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18795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F2A43"/>
                </a:solidFill>
                <a:latin typeface="Segoe UI"/>
              </a:rPr>
              <a:t>Scheduling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46227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5A6A78"/>
                </a:solidFill>
                <a:latin typeface="Segoe UI"/>
              </a:rPr>
              <a:t>Lên lịch đăng tự động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010912"/>
            <a:ext cx="502920" cy="502920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01091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029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F2A43"/>
                </a:solidFill>
                <a:latin typeface="Segoe UI"/>
              </a:rPr>
              <a:t>SM Asset Formats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3035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5A6A78"/>
                </a:solidFill>
                <a:latin typeface="Segoe UI"/>
              </a:rPr>
              <a:t>Image Engine xuất sẵn định dạng cho social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035040"/>
            <a:ext cx="11064240" cy="502920"/>
          </a:xfrm>
          <a:prstGeom prst="rect">
            <a:avLst/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6053328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08A00"/>
                </a:solidFill>
                <a:latin typeface="Segoe UI"/>
              </a:rPr>
              <a:t>Ranh giới: P1 = TẠO + ĐĂNG.  Đo lường hiệu quả (Asset Link Map + analytics) vẫn ở Phase 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A6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A6A78"/>
                </a:solidFill>
                <a:latin typeface="Segoe UI"/>
              </a:rPr>
              <a:t>OUT-OF-SCOPE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Segoe UI"/>
              </a:rPr>
              <a:t>Dời sang Phase 2 /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6400800" cy="5486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95160" y="1600200"/>
            <a:ext cx="1554480" cy="5486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95360" y="1600200"/>
            <a:ext cx="3017520" cy="5486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6035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Tính năng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1600200"/>
            <a:ext cx="1554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Giai đoạn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600200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Ghi chú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48840"/>
            <a:ext cx="6400800" cy="5486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148840"/>
            <a:ext cx="1554480" cy="5486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95360" y="2148840"/>
            <a:ext cx="3017520" cy="5486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148840"/>
            <a:ext cx="6035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632"/>
                </a:solidFill>
                <a:latin typeface="Segoe UI"/>
              </a:rPr>
              <a:t>Asset Link Map đầy đủ + live 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2148840"/>
            <a:ext cx="1554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08A00"/>
                </a:solidFill>
                <a:latin typeface="Segoe UI"/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148840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A78"/>
                </a:solidFill>
                <a:latin typeface="Segoe UI"/>
              </a:rPr>
              <a:t>P1 chỉ publish log cơ bản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97480"/>
            <a:ext cx="64008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95160" y="2697480"/>
            <a:ext cx="15544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95360" y="2697480"/>
            <a:ext cx="30175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697480"/>
            <a:ext cx="6035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632"/>
                </a:solidFill>
                <a:latin typeface="Segoe UI"/>
              </a:rPr>
              <a:t>AI text nâng cao (USP, Care đa biến thể)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697480"/>
            <a:ext cx="1554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08A00"/>
                </a:solidFill>
                <a:latin typeface="Segoe UI"/>
              </a:rPr>
              <a:t>Phase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697480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A78"/>
                </a:solidFill>
                <a:latin typeface="Segoe UI"/>
              </a:rPr>
              <a:t>P1 chỉ Description + Caption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246120"/>
            <a:ext cx="6400800" cy="5486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95160" y="3246120"/>
            <a:ext cx="1554480" cy="5486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95360" y="3246120"/>
            <a:ext cx="3017520" cy="5486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246120"/>
            <a:ext cx="6035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632"/>
                </a:solidFill>
                <a:latin typeface="Segoe UI"/>
              </a:rPr>
              <a:t>Analytics dashboard (performance)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3246120"/>
            <a:ext cx="1554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08A00"/>
                </a:solidFill>
                <a:latin typeface="Segoe UI"/>
              </a:rPr>
              <a:t>Phase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246120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A78"/>
                </a:solidFill>
                <a:latin typeface="Segoe UI"/>
              </a:rPr>
              <a:t>Gắn với Asset Link Map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794760"/>
            <a:ext cx="64008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95160" y="3794760"/>
            <a:ext cx="15544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95360" y="3794760"/>
            <a:ext cx="30175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3794760"/>
            <a:ext cx="6035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632"/>
                </a:solidFill>
                <a:latin typeface="Segoe UI"/>
              </a:rPr>
              <a:t>Quotation &amp; Pricelist tự động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3794760"/>
            <a:ext cx="1554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08A00"/>
                </a:solidFill>
                <a:latin typeface="Segoe UI"/>
              </a:rPr>
              <a:t>Phase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3794760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A78"/>
                </a:solidFill>
                <a:latin typeface="Segoe UI"/>
              </a:rPr>
              <a:t>P1 chỉ expose ảnh qua API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343400"/>
            <a:ext cx="6400800" cy="5486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995160" y="4343400"/>
            <a:ext cx="1554480" cy="5486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595360" y="4343400"/>
            <a:ext cx="3017520" cy="5486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343400"/>
            <a:ext cx="6035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632"/>
                </a:solidFill>
                <a:latin typeface="Segoe UI"/>
              </a:rPr>
              <a:t>Website 2 chiều / realtime đầy đủ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4343400"/>
            <a:ext cx="1554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08A00"/>
                </a:solidFill>
                <a:latin typeface="Segoe UI"/>
              </a:rPr>
              <a:t>Phase 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4343400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A78"/>
                </a:solidFill>
                <a:latin typeface="Segoe UI"/>
              </a:rPr>
              <a:t>P1 chỉ read API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892040"/>
            <a:ext cx="64008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995160" y="4892040"/>
            <a:ext cx="15544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595360" y="4892040"/>
            <a:ext cx="30175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4892040"/>
            <a:ext cx="6035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632"/>
                </a:solidFill>
                <a:latin typeface="Segoe UI"/>
              </a:rPr>
              <a:t>Product Card &amp; QR (Christian)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4892040"/>
            <a:ext cx="1554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08A00"/>
                </a:solidFill>
                <a:latin typeface="Segoe UI"/>
              </a:rPr>
              <a:t>Phase 2+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4892040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A78"/>
                </a:solidFill>
                <a:latin typeface="Segoe UI"/>
              </a:rPr>
              <a:t>Cần align interface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440680"/>
            <a:ext cx="6400800" cy="5486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995160" y="5440680"/>
            <a:ext cx="1554480" cy="5486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595360" y="5440680"/>
            <a:ext cx="3017520" cy="5486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5440680"/>
            <a:ext cx="6035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632"/>
                </a:solidFill>
                <a:latin typeface="Segoe UI"/>
              </a:rPr>
              <a:t>AI Rendering từ CAD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95160" y="5440680"/>
            <a:ext cx="1554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C0392B"/>
                </a:solidFill>
                <a:latin typeface="Segoe UI"/>
              </a:rPr>
              <a:t>Phase 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0" y="5440680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A78"/>
                </a:solidFill>
                <a:latin typeface="Segoe UI"/>
              </a:rPr>
              <a:t>Đang feasibility study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5989320"/>
            <a:ext cx="64008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95160" y="5989320"/>
            <a:ext cx="15544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595360" y="5989320"/>
            <a:ext cx="30175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5989320"/>
            <a:ext cx="6035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632"/>
                </a:solidFill>
                <a:latin typeface="Segoe UI"/>
              </a:rPr>
              <a:t>360° Spin Sets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95160" y="5989320"/>
            <a:ext cx="1554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C0392B"/>
                </a:solidFill>
                <a:latin typeface="Segoe UI"/>
              </a:rPr>
              <a:t>Phase 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78240" y="5989320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A78"/>
                </a:solidFill>
                <a:latin typeface="Segoe UI"/>
              </a:rPr>
              <a:t>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08A00"/>
                </a:solidFill>
                <a:latin typeface="Segoe UI"/>
              </a:rPr>
              <a:t>TÁC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Segoe UI"/>
              </a:rPr>
              <a:t>Kéo Social vào Phase 1 — đánh đổi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11064240" cy="7772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109728" cy="77724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2286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2A43"/>
                </a:solidFill>
                <a:latin typeface="Segoe UI"/>
              </a:rPr>
              <a:t>Timeline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645920"/>
            <a:ext cx="4572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B2632"/>
                </a:solidFill>
                <a:latin typeface="Segoe UI"/>
              </a:rPr>
              <a:t>+3–6 tuần (Meta App Review thường lâu)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645920"/>
            <a:ext cx="374903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08A00"/>
                </a:solidFill>
                <a:latin typeface="Segoe UI"/>
              </a:rPr>
              <a:t>→ Nộp Meta App Review ngay tuần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32888"/>
            <a:ext cx="11064240" cy="7772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532888"/>
            <a:ext cx="109728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32888"/>
            <a:ext cx="2286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2A43"/>
                </a:solidFill>
                <a:latin typeface="Segoe UI"/>
              </a:rPr>
              <a:t>Rủi ro phụ thuộc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532888"/>
            <a:ext cx="4572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B2632"/>
                </a:solidFill>
                <a:latin typeface="Segoe UI"/>
              </a:rPr>
              <a:t>Meta approval ngoài tầm kiểm soát, có thể block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532888"/>
            <a:ext cx="374903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0392B"/>
                </a:solidFill>
                <a:latin typeface="Segoe UI"/>
              </a:rPr>
              <a:t>→ Plan B: launch core trước, social bật sau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19856"/>
            <a:ext cx="11064240" cy="7772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419856"/>
            <a:ext cx="109728" cy="77724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419856"/>
            <a:ext cx="2286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2A43"/>
                </a:solidFill>
                <a:latin typeface="Segoe UI"/>
              </a:rPr>
              <a:t>AI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419856"/>
            <a:ext cx="4572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B2632"/>
                </a:solidFill>
                <a:latin typeface="Segoe UI"/>
              </a:rPr>
              <a:t>Phải sẵn sàng P1 cho Description + Caption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419856"/>
            <a:ext cx="374903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9D55"/>
                </a:solidFill>
                <a:latin typeface="Segoe UI"/>
              </a:rPr>
              <a:t>→ OK — đã có trong stack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306824"/>
            <a:ext cx="11064240" cy="7772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306824"/>
            <a:ext cx="109728" cy="77724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306824"/>
            <a:ext cx="2286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2A43"/>
                </a:solidFill>
                <a:latin typeface="Segoe UI"/>
              </a:rPr>
              <a:t>Phạm vi 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306824"/>
            <a:ext cx="4572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B2632"/>
                </a:solidFill>
                <a:latin typeface="Segoe UI"/>
              </a:rPr>
              <a:t>Cần Meta sandbox + test ad account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306824"/>
            <a:ext cx="374903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9D55"/>
                </a:solidFill>
                <a:latin typeface="Segoe UI"/>
              </a:rPr>
              <a:t>→ Đã nằm trong technical spikes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193792"/>
            <a:ext cx="11064240" cy="7772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193792"/>
            <a:ext cx="109728" cy="77724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193792"/>
            <a:ext cx="2286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2A43"/>
                </a:solidFill>
                <a:latin typeface="Segoe UI"/>
              </a:rPr>
              <a:t>Ngân sách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193792"/>
            <a:ext cx="4572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B2632"/>
                </a:solidFill>
                <a:latin typeface="Segoe UI"/>
              </a:rPr>
              <a:t>Tăng do thêm module + Campaign Builder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5193792"/>
            <a:ext cx="374903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08A00"/>
                </a:solidFill>
                <a:latin typeface="Segoe UI"/>
              </a:rPr>
              <a:t>→ Cần stakeholder duyệt phần tăng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0392B"/>
                </a:solidFill>
                <a:latin typeface="Segoe UI"/>
              </a:rPr>
              <a:t>CẦN CHỐT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Segoe UI"/>
              </a:rPr>
              <a:t>8 quyết định trước khi khóa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440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074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F2A43"/>
                </a:solidFill>
                <a:latin typeface="Segoe UI"/>
              </a:rPr>
              <a:t>1  ✅ ĐÃ CHỐT — D365 sync 1 chiều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9D55"/>
                </a:solidFill>
                <a:latin typeface="Segoe UI"/>
              </a:rPr>
              <a:t>Đề xuất: </a:t>
            </a:r>
            <a:r>
              <a:rPr sz="1200" b="0">
                <a:solidFill>
                  <a:srgbClr val="1B2632"/>
                </a:solidFill>
                <a:latin typeface="Segoe UI"/>
              </a:rPr>
              <a:t>PIM read-only, không push ngược · D365 ⊆ PIM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554480"/>
            <a:ext cx="5440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5074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F2A43"/>
                </a:solidFill>
                <a:latin typeface="Segoe UI"/>
              </a:rPr>
              <a:t>2  Field mapping cụ thể D365 → PIM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57400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9D55"/>
                </a:solidFill>
                <a:latin typeface="Segoe UI"/>
              </a:rPr>
              <a:t>Đề xuất: </a:t>
            </a:r>
            <a:r>
              <a:rPr sz="1200" b="0">
                <a:solidFill>
                  <a:srgbClr val="1B2632"/>
                </a:solidFill>
                <a:latin typeface="Segoe UI"/>
              </a:rPr>
              <a:t>Lập bảng; xử lý trường tranh chấp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33472"/>
            <a:ext cx="5440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724912"/>
            <a:ext cx="5074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F2A43"/>
                </a:solidFill>
                <a:latin typeface="Segoe UI"/>
              </a:rPr>
              <a:t>3  Có Approval Workflow ở P1?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36392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9D55"/>
                </a:solidFill>
                <a:latin typeface="Segoe UI"/>
              </a:rPr>
              <a:t>Đề xuất: </a:t>
            </a:r>
            <a:r>
              <a:rPr sz="1200" b="0">
                <a:solidFill>
                  <a:srgbClr val="1B2632"/>
                </a:solidFill>
                <a:latin typeface="Segoe UI"/>
              </a:rPr>
              <a:t>Review + Publish thủ công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633472"/>
            <a:ext cx="5440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724912"/>
            <a:ext cx="5074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F2A43"/>
                </a:solidFill>
                <a:latin typeface="Segoe UI"/>
              </a:rPr>
              <a:t>4  CAD/3D cần viewer hay chỉ lưu/download?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136392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9D55"/>
                </a:solidFill>
                <a:latin typeface="Segoe UI"/>
              </a:rPr>
              <a:t>Đề xuất: </a:t>
            </a:r>
            <a:r>
              <a:rPr sz="1200" b="0">
                <a:solidFill>
                  <a:srgbClr val="1B2632"/>
                </a:solidFill>
                <a:latin typeface="Segoe UI"/>
              </a:rPr>
              <a:t>Lưu + download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12464"/>
            <a:ext cx="5440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803904"/>
            <a:ext cx="5074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F2A43"/>
                </a:solidFill>
                <a:latin typeface="Segoe UI"/>
              </a:rPr>
              <a:t>5  AI text P1 chỉ làm Description?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15384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9D55"/>
                </a:solidFill>
                <a:latin typeface="Segoe UI"/>
              </a:rPr>
              <a:t>Đề xuất: </a:t>
            </a:r>
            <a:r>
              <a:rPr sz="1200" b="0">
                <a:solidFill>
                  <a:srgbClr val="1B2632"/>
                </a:solidFill>
                <a:latin typeface="Segoe UI"/>
              </a:rPr>
              <a:t>Có (USP/Care dời P2)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712464"/>
            <a:ext cx="5440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803904"/>
            <a:ext cx="5074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F2A43"/>
                </a:solidFill>
                <a:latin typeface="Segoe UI"/>
              </a:rPr>
              <a:t>6  Ai định nghĩa completeness score?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215384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9D55"/>
                </a:solidFill>
                <a:latin typeface="Segoe UI"/>
              </a:rPr>
              <a:t>Đề xuất: </a:t>
            </a:r>
            <a:r>
              <a:rPr sz="1200" b="0">
                <a:solidFill>
                  <a:srgbClr val="1B2632"/>
                </a:solidFill>
                <a:latin typeface="Segoe UI"/>
              </a:rPr>
              <a:t>Chốt trường bắt buộc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791456"/>
            <a:ext cx="5440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882896"/>
            <a:ext cx="5074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F2A43"/>
                </a:solidFill>
                <a:latin typeface="Segoe UI"/>
              </a:rPr>
              <a:t>7  Social P1 hỗ trợ nền tảng nào?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294376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9D55"/>
                </a:solidFill>
                <a:latin typeface="Segoe UI"/>
              </a:rPr>
              <a:t>Đề xuất: </a:t>
            </a:r>
            <a:r>
              <a:rPr sz="1200" b="0">
                <a:solidFill>
                  <a:srgbClr val="1B2632"/>
                </a:solidFill>
                <a:latin typeface="Segoe UI"/>
              </a:rPr>
              <a:t>FB + IG (Meta)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791456"/>
            <a:ext cx="5440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882896"/>
            <a:ext cx="5074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F2A43"/>
                </a:solidFill>
                <a:latin typeface="Segoe UI"/>
              </a:rPr>
              <a:t>8  Caption AI bắt buộc human-approve?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294376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9D55"/>
                </a:solidFill>
                <a:latin typeface="Segoe UI"/>
              </a:rPr>
              <a:t>Đề xuất: </a:t>
            </a:r>
            <a:r>
              <a:rPr sz="1200" b="0">
                <a:solidFill>
                  <a:srgbClr val="1B2632"/>
                </a:solidFill>
                <a:latin typeface="Segoe UI"/>
              </a:rPr>
              <a:t>Bắt buộc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A6A78"/>
                </a:solidFill>
                <a:latin typeface="Segoe UI"/>
              </a:rPr>
              <a:t>→ Đề xuất 1 workshop MoSCoW ngắn để chốt 8 điểm này.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9D55"/>
                </a:solidFill>
                <a:latin typeface="Segoe UI"/>
              </a:rPr>
              <a:t>NGHIỆM THU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Segoe UI"/>
              </a:rPr>
              <a:t>Tiêu chí thành công Phase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292608" cy="29260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755648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B2632"/>
                </a:solidFill>
                <a:latin typeface="Segoe UI"/>
              </a:rPr>
              <a:t>Content team ngừng dùng shared drive (zero shared drives)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96312"/>
            <a:ext cx="292608" cy="29260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246888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50592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B2632"/>
                </a:solidFill>
                <a:latin typeface="Segoe UI"/>
              </a:rPr>
              <a:t>Tìm đúng phiên bản asset &lt; 1 phút (vs 8h/tuần hiện tại)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09544"/>
            <a:ext cx="292608" cy="29260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3182112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63824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B2632"/>
                </a:solidFill>
                <a:latin typeface="Segoe UI"/>
              </a:rPr>
              <a:t>D365 sync chạy ổn định mỗi 15 phút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922776"/>
            <a:ext cx="292608" cy="29260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3895344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877056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B2632"/>
                </a:solidFill>
                <a:latin typeface="Segoe UI"/>
              </a:rPr>
              <a:t>iPaper pull asset trực tiếp từ PIM, không còn bản copy local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636008"/>
            <a:ext cx="292608" cy="29260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4608576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590288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B2632"/>
                </a:solidFill>
                <a:latin typeface="Segoe UI"/>
              </a:rPr>
              <a:t>Image Engine xử lý &lt; 30 giây / asset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349240"/>
            <a:ext cx="292608" cy="29260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5321808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303520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B2632"/>
                </a:solidFill>
                <a:latin typeface="Segoe UI"/>
              </a:rPr>
              <a:t>Tạo &amp; đăng 1 campaign social end-to-end: asset từ PIM, caption AI, có lịch đăng (FB + IG)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E6FB8"/>
                </a:solidFill>
                <a:latin typeface="Segoe UI"/>
              </a:rPr>
              <a:t>LỘ TRÌNH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Segoe UI"/>
              </a:rPr>
              <a:t>Timeline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2331720" y="1691640"/>
            <a:ext cx="36576" cy="4297680"/>
          </a:xfrm>
          <a:prstGeom prst="rect">
            <a:avLst/>
          </a:prstGeom>
          <a:solidFill>
            <a:srgbClr val="CFD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94560" y="1856232"/>
            <a:ext cx="310896" cy="310896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29C9C"/>
                </a:solidFill>
                <a:latin typeface="Segoe UI"/>
              </a:rPr>
              <a:t>Ngay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691640"/>
            <a:ext cx="8869680" cy="71323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1764792"/>
            <a:ext cx="8503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2A43"/>
                </a:solidFill>
                <a:latin typeface="Segoe UI"/>
              </a:rPr>
              <a:t>Sign-off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075688"/>
            <a:ext cx="8503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A6A78"/>
                </a:solidFill>
                <a:latin typeface="Segoe UI"/>
              </a:rPr>
              <a:t>Chốt scope mở rộng + duyệt ngân sách Phase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2724912"/>
            <a:ext cx="310896" cy="310896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E6FB8"/>
                </a:solidFill>
                <a:latin typeface="Segoe UI"/>
              </a:rPr>
              <a:t>Tuần 1–2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2560320"/>
            <a:ext cx="8869680" cy="71323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2633472"/>
            <a:ext cx="8503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2A43"/>
                </a:solidFill>
                <a:latin typeface="Segoe UI"/>
              </a:rPr>
              <a:t>Technical spikes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944368"/>
            <a:ext cx="8503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A6A78"/>
                </a:solidFill>
                <a:latin typeface="Segoe UI"/>
              </a:rPr>
              <a:t>Validate D365 API + nộp Meta App Review (sớm!)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60" y="3593592"/>
            <a:ext cx="310896" cy="310896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2044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E6FB8"/>
                </a:solidFill>
                <a:latin typeface="Segoe UI"/>
              </a:rPr>
              <a:t>Tuần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3429000"/>
            <a:ext cx="8869680" cy="71323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800" y="3502152"/>
            <a:ext cx="8503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2A43"/>
                </a:solidFill>
                <a:latin typeface="Segoe UI"/>
              </a:rPr>
              <a:t>Environment setup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3813048"/>
            <a:ext cx="8503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A6A78"/>
                </a:solidFill>
                <a:latin typeface="Segoe UI"/>
              </a:rPr>
              <a:t>Docker Compose full stack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94560" y="4462272"/>
            <a:ext cx="310896" cy="310896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38912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E6FB8"/>
                </a:solidFill>
                <a:latin typeface="Segoe UI"/>
              </a:rPr>
              <a:t>Tuần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297680"/>
            <a:ext cx="8869680" cy="71323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71800" y="4370832"/>
            <a:ext cx="8503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2A43"/>
                </a:solidFill>
                <a:latin typeface="Segoe UI"/>
              </a:rPr>
              <a:t>Sprint 1 kick-off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4681728"/>
            <a:ext cx="8503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A6A78"/>
                </a:solidFill>
                <a:latin typeface="Segoe UI"/>
              </a:rPr>
              <a:t>Repo · CI/CD · DB schema · API scaffold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94560" y="5330952"/>
            <a:ext cx="310896" cy="310896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25780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9D55"/>
                </a:solidFill>
                <a:latin typeface="Segoe UI"/>
              </a:rPr>
              <a:t>Tháng 4–5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5166360"/>
            <a:ext cx="8869680" cy="71323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71800" y="5239512"/>
            <a:ext cx="8503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2A43"/>
                </a:solidFill>
                <a:latin typeface="Segoe UI"/>
              </a:rPr>
              <a:t>Phase 1 Launch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5550408"/>
            <a:ext cx="8503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A6A78"/>
                </a:solidFill>
                <a:latin typeface="Segoe UI"/>
              </a:rPr>
              <a:t>Content team live · Zero shared drives · iPaper + Social live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73152"/>
          </a:xfrm>
          <a:prstGeom prst="rect">
            <a:avLst/>
          </a:prstGeom>
          <a:solidFill>
            <a:srgbClr val="12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Đề nghị Stakeholder ký duyệt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C9D6E2"/>
                </a:solidFill>
                <a:latin typeface="Segoe UI"/>
              </a:rPr>
              <a:t>Chốt scope Phase 1 (Core PIM + Social) · Duyệt ngân sách · Trả lời 8 quyết định để khóa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8CA0B2"/>
                </a:solidFill>
                <a:latin typeface="Segoe UI"/>
              </a:rPr>
              <a:t>Questions? Let's discuss →  PM / BA / Technical Manager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AD2A1135A74646B46BFBA37F974AD2" ma:contentTypeVersion="13" ma:contentTypeDescription="Create a new document." ma:contentTypeScope="" ma:versionID="a3831cfc9077fcd28286dfef3dcdcc31">
  <xsd:schema xmlns:xsd="http://www.w3.org/2001/XMLSchema" xmlns:xs="http://www.w3.org/2001/XMLSchema" xmlns:p="http://schemas.microsoft.com/office/2006/metadata/properties" xmlns:ns2="a24c43b6-3851-42ae-a873-f7165c1824d9" xmlns:ns3="d6dabced-f658-4946-a86a-4fdcdc264f2c" targetNamespace="http://schemas.microsoft.com/office/2006/metadata/properties" ma:root="true" ma:fieldsID="1a473672182ee79e551d528f6ad6b87f" ns2:_="" ns3:_="">
    <xsd:import namespace="a24c43b6-3851-42ae-a873-f7165c1824d9"/>
    <xsd:import namespace="d6dabced-f658-4946-a86a-4fdcdc264f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4c43b6-3851-42ae-a873-f7165c1824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883e127b-0c24-4f06-ab68-326cea09e5e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dabced-f658-4946-a86a-4fdcdc264f2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6164b070-70b3-4b6e-b188-10deaef71793}" ma:internalName="TaxCatchAll" ma:showField="CatchAllData" ma:web="d6dabced-f658-4946-a86a-4fdcdc264f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24c43b6-3851-42ae-a873-f7165c1824d9">
      <Terms xmlns="http://schemas.microsoft.com/office/infopath/2007/PartnerControls"/>
    </lcf76f155ced4ddcb4097134ff3c332f>
    <TaxCatchAll xmlns="d6dabced-f658-4946-a86a-4fdcdc264f2c" xsi:nil="true"/>
  </documentManagement>
</p:properties>
</file>

<file path=customXml/itemProps1.xml><?xml version="1.0" encoding="utf-8"?>
<ds:datastoreItem xmlns:ds="http://schemas.openxmlformats.org/officeDocument/2006/customXml" ds:itemID="{F3C4F55D-ADE0-4F7F-A5CF-82CE44041548}"/>
</file>

<file path=customXml/itemProps2.xml><?xml version="1.0" encoding="utf-8"?>
<ds:datastoreItem xmlns:ds="http://schemas.openxmlformats.org/officeDocument/2006/customXml" ds:itemID="{8B222139-B3B2-4588-BE74-CE9DC0FAC032}"/>
</file>

<file path=customXml/itemProps3.xml><?xml version="1.0" encoding="utf-8"?>
<ds:datastoreItem xmlns:ds="http://schemas.openxmlformats.org/officeDocument/2006/customXml" ds:itemID="{E09BF839-0979-470F-89B2-83FD6B2F4815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0x01010091AD2A1135A74646B46BFBA37F974AD2</vt:lpwstr>
  </property>
</Properties>
</file>