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419" autoAdjust="0"/>
  </p:normalViewPr>
  <p:slideViewPr>
    <p:cSldViewPr snapToGrid="0" snapToObjects="1">
      <p:cViewPr varScale="1">
        <p:scale>
          <a:sx n="98" d="100"/>
          <a:sy n="98" d="100"/>
        </p:scale>
        <p:origin x="103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987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Chào mừng các bạn đến với bài trình bày tổng quan về hệ thống PIM - Product Information Management. Hôm nay chúng ta sẽ đi qua kiến trúc dữ liệu, quy trình làm việc, tích hợp hệ thống, và các quy tắc quản trị tài sản. Mục tiêu là xây dựng một nguồn thông tin duy nhất cho toàn bộ dữ liệu sản phẩm, từ D365 đến marketing content và phân phối ra các kênh.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Đây là mô hình phân cấp dữ liệu sản phẩm trong PIM. Cấu trúc gồm 3 tầng chính: Range ở trên cùng đại diện cho dòng sản phẩm, Master Product là sản phẩm gốc, và Variant là biến thể cụ thể có thể bán được. Material là entity dùng chung, một material có thể liên kết với nhiều sản phẩm và biến thể khác nhau. D365 là nguồn dữ liệu bên ngoài cung cấp item number, giá, kích thước và trạng thái vòng đời cho Master Product và Variant.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Trang này thể hiện quyền sở hữu dữ liệu giữa D365 và PIM. Bên trái là các trường do D365 làm master: item number, master number, variant number, dimensions, prices, product hierarchy, lifecycle status và designer. Bên phải là các trường do PIM làm master: descriptions, USPs, visual assets, care instructions, material data, channel mapping, SEO metadata và catalogues. Nguyên tắc đồng bộ: D365 đẩy dữ liệu sang PIM theo lịch, một chiều. PIM giao tiếp hai chiều với các kênh phân phối qua API.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Quy trình tạo sản phẩm mới gồm 10 bước. Bước 1: Product Team tạo cấu trúc Range, Master Product và Variant. Bước 2: D365 tự động đồng bộ item number, giá, kích thước. Bước 3: Marketing upload hình ảnh, video và viết mô tả. Bước 4: Technical Team upload CAD, bản vẽ kỹ thuật. Bước 5: Liên kết material với variants. Bước 6: AI tạo bản nháp descriptions và USPs. Bước 7: Người phụ trách review và approve. Nếu từ chối thì quay lại bước 6. Bước 8: Đánh dấu sản phẩm sẵn sàng xuất bản. Bước 9: Phân phối ra các kênh. Bước 10: Ghi log sử dụng. Điểm quan trọng: AI chỉ tạo bản nháp, luôn cần human approval trước khi publish.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Trang này mô tả luồng trạng thái sản phẩm và điểm hoàn thiện. Sản phẩm bắt đầu ở trạng thái Draft, có thể chuyển sang Missing Assets nếu thiếu tài sản, hoặc Pending Review nếu đủ dữ liệu. Sau khi reviewer duyệt thì chuyển sang Approved, rồi Ready for Publication khi đạt tất cả điều kiện, Published khi phân phối ra kênh, và cuối cùng Archived khi ngừng kinh doanh. Completeness Score chia thành 4 mức: 40 phần trăm cho basic data, 60 phần trăm khi có visual assets, 80 phần trăm khi đủ text và material, và 100 phần trăm khi approved và sẵn sàng publish.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PIM phân phối dữ liệu đến 5 kênh chính. Website và Webshop nhận product name, B2C description, packshots, lifestyle images, videos, dimensions, materials và care instructions qua REST API hoặc GraphQL real-time. B2B Portal nhận B2B description, USPs, price data, technical sheets, CAD files qua API và asset packages. iPaper và Digital Catalogues nhận approved text, catalogue images, product numbers qua scheduled export. Quotation và Pricelist System nhận product image, item number, price, dimensions qua data feed. Internal Use cung cấp sales data, completeness status và usage tracking qua dashboard.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Tài sản trong PIM được phân thành 4 nhóm. Product-Specific Assets gồm packshots, line drawings, CAD files, product videos và variant renderings, liên kết trực tiếp với Master Product và Variant. Marketing Assets gồm lifestyle images, campaign images, lifestyle videos và catalogue spreads, liên kết với Range và Campaign. Material Assets gồm swatches, large material images, technical sheets và care instructions, liên kết với Material Entity dùng chung. Corporate Assets gồm logos, designer portraits, factory images, liên kết với Brand. Mỗi asset phải có đầy đủ metadata bao gồm asset type, linked entity, usage rights, approval status, allowed channels, file format, resolution và usage locations.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Image Engine là thành phần xử lý và chuyển đổi hình ảnh tự động. Khi upload một asset gốc, engine có thể resize, convert format, crop theo preset, áp dụng focal point, xóa background và đặt tên theo convention. Đầu ra gồm 7 preset: Web Product Image ở WebP 1200px, Web Thumbnail ở WebP 300px, Catalogue Print ở TIFF 300dpi, Pricelist Thumbnail ở JPG 150px, Social Media Square tỉ lệ 1:1, Social Media Vertical tỉ lệ 4:5, và Sales Presentation ở PNG. Quy trình governance: Upload, Classify, Link Entity, Add Metadata, Approve, Process qua Image Engine, rồi Distribute ra các kênh.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Đây là kiến trúc tích hợp tổng thể. Data Sources gồm D365 cung cấp dữ liệu thương mại, Photography Studio và Agency cung cấp hình ảnh, Technical Team cung cấp CAD và compliance. PIM Platform bao gồm 3 database: Product DB, Asset DB và Material DB. Các engine xử lý: AI Engine, Image Engine, Workflow Engine và Search Engine. Hệ thống quản lý: Approval, Versioning, Tracking và Completeness Score. API Gateway phân phối ra 5 kênh qua REST, GraphQL, scheduled export, data feed và CDN. Website và B2B Portal dùng real-time API. iPaper dùng scheduled export. Quotation dùng data feed. Internal tools dùng on-demand dashboard.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Chi tiết tích hợp D365. D365 là master cho 10 trường: item number, master number, variant number, dimensions, designer, prices, product hierarchy, lifecycle status, sales status và availability. Sync Engine chạy theo lịch, một chiều từ D365 sang PIM. PIM nhận dữ liệu và làm giàu thêm: descriptions, visual assets, material linking, USPs, SEO metadata và channel assignments. Quy tắc xử lý conflict: D365 wins cho commercial data như giá và trạng thái. PIM wins cho content data như descriptions và assets. Sản phẩm bị xóa hoặc archived trong D365 sẽ được flag trong PIM chứ không xóa, để bảo toàn lịch sử nội dung.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Ownership và Governance xác định ai làm gì trong PIM. Product Team quản lý cấu trúc sản phẩm, range, master, variant, dimensions và material mapping. Marketing quản lý descriptions, USPs, lifestyle images, catalogues và website content. Technical Team quản lý technical sheets, compliance documents và maintenance guides. Sales và Pricing đưa ra yêu cầu về giá và sales material. IT và Data Team quản lý integrations, APIs, permissions và system configuration. Brand Management có quyền final approval cho brand-critical assets. Governance rules: AI content chỉ là draft, không bao giờ tự động publish. Customer-facing và compliance content bắt buộc human sign-off. Version history và audit log cho mọi thay đổi.</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AI hỗ trợ PIM ở nhiều lĩnh vực: tạo draft B2B và B2C descriptions, generate USPs theo range hoặc product, tạo care instructions từ material data, dịch nội dung đa ngôn ngữ, suggest missing content, tạo SEO metadata và standardize text giữa các kênh. Tuy nhiên, AI phải tuân thủ 6 controls bắt buộc: brand tone guidelines, approved terminology, grounding in verified PIM và D365 facts, human approval, version history, và audit log. Golden rule: AI-generated content chỉ là draft, không bao giờ tự động publish. Tầm nhìn dài hạn bao gồm AI-generated packshot variants, AI-assisted lifestyle renderings và automated sales packages.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Tóm lại, PIM là Single Source of Truth cho toàn bộ thông tin sản phẩm. Trước khi triển khai, cần quyết định 12 câu hỏi quan trọng: PIM có bao gồm DAM không, D365 fields nào là authoritative, PIM publish trực tiếp hay qua API, bao nhiêu ngôn ngữ cần hỗ trợ, có cần multi-step approval không, có cần built-in image engine không, AI built-in hay external, catalogue production tự động đến mức nào, product cards và QR codes dùng PIM data thế nào, ai sở hữu material database, permissions theo department hay channel, và có cần usage tracking cho mỗi asset không. Next steps: finalize key decisions, define detailed data model, select PIM platform, rồi implementation planning. Cảm ơn các bạn đã theo dõi.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Rectangle 4"/>
          <p:cNvSpPr/>
          <p:nvPr/>
        </p:nvSpPr>
        <p:spPr>
          <a:xfrm>
            <a:off x="571500" y="1714500"/>
            <a:ext cx="57150" cy="3429000"/>
          </a:xfrm>
          <a:prstGeom prst="roundRect">
            <a:avLst>
              <a:gd name="adj" fmla="val 50000"/>
            </a:avLst>
          </a:prstGeom>
          <a:solidFill>
            <a:srgbClr val="C1856B"/>
          </a:solidFill>
          <a:ln>
            <a:noFill/>
          </a:ln>
        </p:spPr>
        <p:txBody>
          <a:bodyPr/>
          <a:lstStyle/>
          <a:p>
            <a:endParaRPr lang="da-DK"/>
          </a:p>
        </p:txBody>
      </p:sp>
      <p:sp>
        <p:nvSpPr>
          <p:cNvPr id="5" name="TextBox 5"/>
          <p:cNvSpPr txBox="1"/>
          <p:nvPr/>
        </p:nvSpPr>
        <p:spPr>
          <a:xfrm>
            <a:off x="906780" y="2468880"/>
            <a:ext cx="3072613" cy="731520"/>
          </a:xfrm>
          <a:prstGeom prst="rect">
            <a:avLst/>
          </a:prstGeom>
          <a:noFill/>
          <a:ln>
            <a:noFill/>
          </a:ln>
        </p:spPr>
        <p:txBody>
          <a:bodyPr wrap="none" lIns="0" tIns="0" rIns="0" bIns="0" anchor="t" anchorCtr="0">
            <a:spAutoFit/>
          </a:bodyPr>
          <a:lstStyle/>
          <a:p>
            <a:pPr algn="l"/>
            <a:r>
              <a:rPr lang="zh-CN" sz="3600" b="1" dirty="0">
                <a:solidFill>
                  <a:srgbClr val="3C3C3B"/>
                </a:solidFill>
                <a:latin typeface="Segoe UI"/>
                <a:ea typeface="Microsoft YaHei"/>
                <a:cs typeface="Segoe UI"/>
              </a:rPr>
              <a:t>PIM System</a:t>
            </a:r>
          </a:p>
        </p:txBody>
      </p:sp>
      <p:sp>
        <p:nvSpPr>
          <p:cNvPr id="6" name="TextBox 6"/>
          <p:cNvSpPr txBox="1"/>
          <p:nvPr/>
        </p:nvSpPr>
        <p:spPr>
          <a:xfrm>
            <a:off x="906780" y="3040380"/>
            <a:ext cx="7047509" cy="731520"/>
          </a:xfrm>
          <a:prstGeom prst="rect">
            <a:avLst/>
          </a:prstGeom>
          <a:noFill/>
          <a:ln>
            <a:noFill/>
          </a:ln>
        </p:spPr>
        <p:txBody>
          <a:bodyPr wrap="none" lIns="0" tIns="0" rIns="0" bIns="0" anchor="t" anchorCtr="0">
            <a:spAutoFit/>
          </a:bodyPr>
          <a:lstStyle/>
          <a:p>
            <a:pPr algn="l"/>
            <a:r>
              <a:rPr lang="zh-CN" sz="3600" b="1" dirty="0">
                <a:solidFill>
                  <a:srgbClr val="3C3C3B"/>
                </a:solidFill>
                <a:latin typeface="Segoe UI"/>
                <a:ea typeface="Microsoft YaHei"/>
                <a:cs typeface="Segoe UI"/>
              </a:rPr>
              <a:t>Architecture &amp; Workflows</a:t>
            </a:r>
          </a:p>
        </p:txBody>
      </p:sp>
      <p:sp>
        <p:nvSpPr>
          <p:cNvPr id="7" name="TextBox 7"/>
          <p:cNvSpPr txBox="1"/>
          <p:nvPr/>
        </p:nvSpPr>
        <p:spPr>
          <a:xfrm>
            <a:off x="929640" y="3806190"/>
            <a:ext cx="6999160" cy="365760"/>
          </a:xfrm>
          <a:prstGeom prst="rect">
            <a:avLst/>
          </a:prstGeom>
          <a:noFill/>
          <a:ln>
            <a:noFill/>
          </a:ln>
        </p:spPr>
        <p:txBody>
          <a:bodyPr wrap="none" lIns="0" tIns="0" rIns="0" bIns="0" anchor="t" anchorCtr="0">
            <a:spAutoFit/>
          </a:bodyPr>
          <a:lstStyle/>
          <a:p>
            <a:pPr algn="l"/>
            <a:r>
              <a:rPr lang="zh-CN" sz="1800" dirty="0">
                <a:solidFill>
                  <a:srgbClr val="88817E"/>
                </a:solidFill>
                <a:latin typeface="Segoe UI"/>
                <a:ea typeface="Microsoft YaHei"/>
                <a:cs typeface="Segoe UI"/>
              </a:rPr>
              <a:t>Product Information Management — Diagrams Overview</a:t>
            </a:r>
          </a:p>
        </p:txBody>
      </p:sp>
      <p:sp>
        <p:nvSpPr>
          <p:cNvPr id="8" name="TextBox 8"/>
          <p:cNvSpPr txBox="1"/>
          <p:nvPr/>
        </p:nvSpPr>
        <p:spPr>
          <a:xfrm>
            <a:off x="937260" y="5394960"/>
            <a:ext cx="8329041" cy="243840"/>
          </a:xfrm>
          <a:prstGeom prst="rect">
            <a:avLst/>
          </a:prstGeom>
          <a:noFill/>
          <a:ln>
            <a:noFill/>
          </a:ln>
        </p:spPr>
        <p:txBody>
          <a:bodyPr wrap="none" lIns="0" tIns="0" rIns="0" bIns="0" anchor="t" anchorCtr="0">
            <a:spAutoFit/>
          </a:bodyPr>
          <a:lstStyle/>
          <a:p>
            <a:pPr algn="l"/>
            <a:r>
              <a:rPr lang="zh-CN" sz="1200" dirty="0">
                <a:solidFill>
                  <a:srgbClr val="B6ADA4"/>
                </a:solidFill>
                <a:latin typeface="Segoe UI"/>
                <a:ea typeface="Microsoft YaHei"/>
                <a:cs typeface="Segoe UI"/>
              </a:rPr>
              <a:t>Data Model · Workflow · Channel Mapping · Integration · Asset Classification · Product Readiness</a:t>
            </a:r>
          </a:p>
        </p:txBody>
      </p:sp>
      <p:sp>
        <p:nvSpPr>
          <p:cNvPr id="9" name="TextBox 9"/>
          <p:cNvSpPr txBox="1"/>
          <p:nvPr/>
        </p:nvSpPr>
        <p:spPr>
          <a:xfrm>
            <a:off x="939165" y="5792152"/>
            <a:ext cx="693753"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May 2026</a:t>
            </a:r>
          </a:p>
        </p:txBody>
      </p:sp>
      <p:sp>
        <p:nvSpPr>
          <p:cNvPr id="10" name="Ellipse 10"/>
          <p:cNvSpPr/>
          <p:nvPr/>
        </p:nvSpPr>
        <p:spPr>
          <a:xfrm>
            <a:off x="8858250" y="1714500"/>
            <a:ext cx="2286000" cy="2286000"/>
          </a:xfrm>
          <a:prstGeom prst="ellipse">
            <a:avLst/>
          </a:prstGeom>
          <a:solidFill>
            <a:srgbClr val="586A68">
              <a:alpha val="8000"/>
            </a:srgbClr>
          </a:solidFill>
          <a:ln>
            <a:noFill/>
          </a:ln>
        </p:spPr>
        <p:txBody>
          <a:bodyPr/>
          <a:lstStyle/>
          <a:p>
            <a:endParaRPr lang="da-DK"/>
          </a:p>
        </p:txBody>
      </p:sp>
      <p:sp>
        <p:nvSpPr>
          <p:cNvPr id="11" name="Ellipse 11"/>
          <p:cNvSpPr/>
          <p:nvPr/>
        </p:nvSpPr>
        <p:spPr>
          <a:xfrm>
            <a:off x="9239250" y="2095500"/>
            <a:ext cx="1524000" cy="1524000"/>
          </a:xfrm>
          <a:prstGeom prst="ellipse">
            <a:avLst/>
          </a:prstGeom>
          <a:solidFill>
            <a:srgbClr val="586A68">
              <a:alpha val="12000"/>
            </a:srgbClr>
          </a:solidFill>
          <a:ln>
            <a:noFill/>
          </a:ln>
        </p:spPr>
        <p:txBody>
          <a:bodyPr/>
          <a:lstStyle/>
          <a:p>
            <a:endParaRPr lang="da-DK"/>
          </a:p>
        </p:txBody>
      </p:sp>
      <p:sp>
        <p:nvSpPr>
          <p:cNvPr id="12" name="Ellipse 12"/>
          <p:cNvSpPr/>
          <p:nvPr/>
        </p:nvSpPr>
        <p:spPr>
          <a:xfrm>
            <a:off x="10287000" y="3619500"/>
            <a:ext cx="762000" cy="762000"/>
          </a:xfrm>
          <a:prstGeom prst="ellipse">
            <a:avLst/>
          </a:prstGeom>
          <a:solidFill>
            <a:srgbClr val="C1856B">
              <a:alpha val="15000"/>
            </a:srgbClr>
          </a:solidFill>
          <a:ln>
            <a:noFill/>
          </a:ln>
        </p:spPr>
        <p:txBody>
          <a:bodyPr/>
          <a:lstStyle/>
          <a:p>
            <a:endParaRPr lang="da-DK"/>
          </a:p>
        </p:txBody>
      </p:sp>
      <p:sp>
        <p:nvSpPr>
          <p:cNvPr id="13" name="Ellipse 13"/>
          <p:cNvSpPr/>
          <p:nvPr/>
        </p:nvSpPr>
        <p:spPr>
          <a:xfrm>
            <a:off x="9048750" y="1619250"/>
            <a:ext cx="571500" cy="571500"/>
          </a:xfrm>
          <a:prstGeom prst="ellipse">
            <a:avLst/>
          </a:prstGeom>
          <a:solidFill>
            <a:srgbClr val="C1856B">
              <a:alpha val="10000"/>
            </a:srgbClr>
          </a:solidFill>
          <a:ln>
            <a:noFill/>
          </a:ln>
        </p:spPr>
        <p:txBody>
          <a:bodyPr/>
          <a:lstStyle/>
          <a:p>
            <a:endParaRPr lang="da-DK"/>
          </a:p>
        </p:txBody>
      </p:sp>
      <p:sp>
        <p:nvSpPr>
          <p:cNvPr id="14" name="Ellipse 14"/>
          <p:cNvSpPr/>
          <p:nvPr/>
        </p:nvSpPr>
        <p:spPr>
          <a:xfrm>
            <a:off x="8991600" y="4705350"/>
            <a:ext cx="114300" cy="114300"/>
          </a:xfrm>
          <a:prstGeom prst="ellipse">
            <a:avLst/>
          </a:prstGeom>
          <a:solidFill>
            <a:srgbClr val="586A68">
              <a:alpha val="30000"/>
            </a:srgbClr>
          </a:solidFill>
          <a:ln>
            <a:noFill/>
          </a:ln>
        </p:spPr>
        <p:txBody>
          <a:bodyPr/>
          <a:lstStyle/>
          <a:p>
            <a:endParaRPr lang="da-DK"/>
          </a:p>
        </p:txBody>
      </p:sp>
      <p:sp>
        <p:nvSpPr>
          <p:cNvPr id="15" name="Ellipse 15"/>
          <p:cNvSpPr/>
          <p:nvPr/>
        </p:nvSpPr>
        <p:spPr>
          <a:xfrm>
            <a:off x="9486900" y="4914900"/>
            <a:ext cx="76200" cy="76200"/>
          </a:xfrm>
          <a:prstGeom prst="ellipse">
            <a:avLst/>
          </a:prstGeom>
          <a:solidFill>
            <a:srgbClr val="C1856B">
              <a:alpha val="30000"/>
            </a:srgbClr>
          </a:solidFill>
          <a:ln>
            <a:noFill/>
          </a:ln>
        </p:spPr>
        <p:txBody>
          <a:bodyPr/>
          <a:lstStyle/>
          <a:p>
            <a:endParaRPr lang="da-DK"/>
          </a:p>
        </p:txBody>
      </p:sp>
      <p:sp>
        <p:nvSpPr>
          <p:cNvPr id="16" name="Ellipse 16"/>
          <p:cNvSpPr/>
          <p:nvPr/>
        </p:nvSpPr>
        <p:spPr>
          <a:xfrm>
            <a:off x="10144125" y="5095875"/>
            <a:ext cx="95250" cy="95250"/>
          </a:xfrm>
          <a:prstGeom prst="ellipse">
            <a:avLst/>
          </a:prstGeom>
          <a:solidFill>
            <a:srgbClr val="586A68">
              <a:alpha val="20000"/>
            </a:srgbClr>
          </a:solidFill>
          <a:ln>
            <a:noFill/>
          </a:ln>
        </p:spPr>
        <p:txBody>
          <a:bodyPr/>
          <a:lstStyle/>
          <a:p>
            <a:endParaRPr lang="da-DK"/>
          </a:p>
        </p:txBody>
      </p:sp>
      <p:sp>
        <p:nvSpPr>
          <p:cNvPr id="17" name="Rectangle 17"/>
          <p:cNvSpPr/>
          <p:nvPr/>
        </p:nvSpPr>
        <p:spPr>
          <a:xfrm>
            <a:off x="571500" y="6286500"/>
            <a:ext cx="1905000" cy="19050"/>
          </a:xfrm>
          <a:prstGeom prst="rect">
            <a:avLst/>
          </a:prstGeom>
          <a:solidFill>
            <a:srgbClr val="586A68">
              <a:alpha val="30000"/>
            </a:srgbClr>
          </a:solidFill>
          <a:ln>
            <a:noFill/>
          </a:ln>
        </p:spPr>
        <p:txBody>
          <a:bodyPr/>
          <a:lstStyle/>
          <a:p>
            <a:endParaRPr lang="da-DK"/>
          </a:p>
        </p:txBody>
      </p:sp>
      <p:sp>
        <p:nvSpPr>
          <p:cNvPr id="18" name="Rectangle 18"/>
          <p:cNvSpPr/>
          <p:nvPr/>
        </p:nvSpPr>
        <p:spPr>
          <a:xfrm>
            <a:off x="2667000" y="6286500"/>
            <a:ext cx="571500" cy="19050"/>
          </a:xfrm>
          <a:prstGeom prst="rect">
            <a:avLst/>
          </a:prstGeom>
          <a:solidFill>
            <a:srgbClr val="C1856B">
              <a:alpha val="40000"/>
            </a:srgbClr>
          </a:solidFill>
          <a:ln>
            <a:noFill/>
          </a:ln>
        </p:spPr>
        <p:txBody>
          <a:bodyPr/>
          <a:lstStyle/>
          <a:p>
            <a:endParaRPr lang="da-DK"/>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46567"/>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130808"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01 / Data Model</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2903396"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Product Hierarchy</a:t>
            </a:r>
          </a:p>
        </p:txBody>
      </p:sp>
      <p:sp>
        <p:nvSpPr>
          <p:cNvPr id="7" name="Rectangle 7"/>
          <p:cNvSpPr/>
          <p:nvPr/>
        </p:nvSpPr>
        <p:spPr>
          <a:xfrm>
            <a:off x="4953000" y="1428750"/>
            <a:ext cx="2286000" cy="666750"/>
          </a:xfrm>
          <a:prstGeom prst="roundRect">
            <a:avLst>
              <a:gd name="adj" fmla="val 11429"/>
            </a:avLst>
          </a:prstGeom>
          <a:solidFill>
            <a:srgbClr val="586A68"/>
          </a:solidFill>
          <a:ln>
            <a:noFill/>
          </a:ln>
        </p:spPr>
        <p:txBody>
          <a:bodyPr/>
          <a:lstStyle/>
          <a:p>
            <a:endParaRPr lang="da-DK"/>
          </a:p>
        </p:txBody>
      </p:sp>
      <p:sp>
        <p:nvSpPr>
          <p:cNvPr id="8" name="TextBox 8"/>
          <p:cNvSpPr txBox="1"/>
          <p:nvPr/>
        </p:nvSpPr>
        <p:spPr>
          <a:xfrm>
            <a:off x="5504358" y="1664018"/>
            <a:ext cx="11832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Range Level</a:t>
            </a:r>
          </a:p>
        </p:txBody>
      </p:sp>
      <p:sp>
        <p:nvSpPr>
          <p:cNvPr id="9" name="Line 9"/>
          <p:cNvSpPr/>
          <p:nvPr/>
        </p:nvSpPr>
        <p:spPr>
          <a:xfrm>
            <a:off x="6096000" y="2095500"/>
            <a:ext cx="9525" cy="381000"/>
          </a:xfrm>
          <a:custGeom>
            <a:avLst/>
            <a:gdLst/>
            <a:ahLst/>
            <a:cxnLst/>
            <a:rect l="l" t="t" r="r" b="b"/>
            <a:pathLst>
              <a:path w="9525" h="381000">
                <a:moveTo>
                  <a:pt x="0" y="0"/>
                </a:moveTo>
                <a:lnTo>
                  <a:pt x="0" y="381000"/>
                </a:lnTo>
              </a:path>
            </a:pathLst>
          </a:custGeom>
          <a:noFill/>
          <a:ln w="19050">
            <a:solidFill>
              <a:srgbClr val="88817E"/>
            </a:solidFill>
          </a:ln>
        </p:spPr>
        <p:txBody>
          <a:bodyPr/>
          <a:lstStyle/>
          <a:p>
            <a:endParaRPr lang="da-DK"/>
          </a:p>
        </p:txBody>
      </p:sp>
      <p:sp>
        <p:nvSpPr>
          <p:cNvPr id="10" name="Polygon 10"/>
          <p:cNvSpPr/>
          <p:nvPr/>
        </p:nvSpPr>
        <p:spPr>
          <a:xfrm>
            <a:off x="6038850" y="242887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11" name="Rectangle 11"/>
          <p:cNvSpPr/>
          <p:nvPr/>
        </p:nvSpPr>
        <p:spPr>
          <a:xfrm>
            <a:off x="4953000" y="2571750"/>
            <a:ext cx="2286000" cy="666750"/>
          </a:xfrm>
          <a:prstGeom prst="roundRect">
            <a:avLst>
              <a:gd name="adj" fmla="val 11429"/>
            </a:avLst>
          </a:prstGeom>
          <a:solidFill>
            <a:srgbClr val="586A68">
              <a:alpha val="85000"/>
            </a:srgbClr>
          </a:solidFill>
          <a:ln>
            <a:noFill/>
          </a:ln>
        </p:spPr>
        <p:txBody>
          <a:bodyPr/>
          <a:lstStyle/>
          <a:p>
            <a:endParaRPr lang="da-DK"/>
          </a:p>
        </p:txBody>
      </p:sp>
      <p:sp>
        <p:nvSpPr>
          <p:cNvPr id="12" name="TextBox 12"/>
          <p:cNvSpPr txBox="1"/>
          <p:nvPr/>
        </p:nvSpPr>
        <p:spPr>
          <a:xfrm>
            <a:off x="5286981" y="2807018"/>
            <a:ext cx="161803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Master Product</a:t>
            </a:r>
          </a:p>
        </p:txBody>
      </p:sp>
      <p:sp>
        <p:nvSpPr>
          <p:cNvPr id="13" name="Line 13"/>
          <p:cNvSpPr/>
          <p:nvPr/>
        </p:nvSpPr>
        <p:spPr>
          <a:xfrm>
            <a:off x="6096000" y="3238500"/>
            <a:ext cx="9525" cy="381000"/>
          </a:xfrm>
          <a:custGeom>
            <a:avLst/>
            <a:gdLst/>
            <a:ahLst/>
            <a:cxnLst/>
            <a:rect l="l" t="t" r="r" b="b"/>
            <a:pathLst>
              <a:path w="9525" h="381000">
                <a:moveTo>
                  <a:pt x="0" y="0"/>
                </a:moveTo>
                <a:lnTo>
                  <a:pt x="0" y="381000"/>
                </a:lnTo>
              </a:path>
            </a:pathLst>
          </a:custGeom>
          <a:noFill/>
          <a:ln w="19050">
            <a:solidFill>
              <a:srgbClr val="88817E"/>
            </a:solidFill>
          </a:ln>
        </p:spPr>
        <p:txBody>
          <a:bodyPr/>
          <a:lstStyle/>
          <a:p>
            <a:endParaRPr lang="da-DK"/>
          </a:p>
        </p:txBody>
      </p:sp>
      <p:sp>
        <p:nvSpPr>
          <p:cNvPr id="14" name="Polygon 14"/>
          <p:cNvSpPr/>
          <p:nvPr/>
        </p:nvSpPr>
        <p:spPr>
          <a:xfrm>
            <a:off x="6038850" y="357187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15" name="Rectangle 15"/>
          <p:cNvSpPr/>
          <p:nvPr/>
        </p:nvSpPr>
        <p:spPr>
          <a:xfrm>
            <a:off x="4953000" y="3714750"/>
            <a:ext cx="2286000" cy="666750"/>
          </a:xfrm>
          <a:prstGeom prst="roundRect">
            <a:avLst>
              <a:gd name="adj" fmla="val 11429"/>
            </a:avLst>
          </a:prstGeom>
          <a:solidFill>
            <a:srgbClr val="586A68">
              <a:alpha val="70000"/>
            </a:srgbClr>
          </a:solidFill>
          <a:ln>
            <a:noFill/>
          </a:ln>
        </p:spPr>
        <p:txBody>
          <a:bodyPr/>
          <a:lstStyle/>
          <a:p>
            <a:endParaRPr lang="da-DK"/>
          </a:p>
        </p:txBody>
      </p:sp>
      <p:sp>
        <p:nvSpPr>
          <p:cNvPr id="16" name="TextBox 16"/>
          <p:cNvSpPr txBox="1"/>
          <p:nvPr/>
        </p:nvSpPr>
        <p:spPr>
          <a:xfrm>
            <a:off x="5364616" y="3950018"/>
            <a:ext cx="146276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Variant / Item</a:t>
            </a:r>
          </a:p>
        </p:txBody>
      </p:sp>
      <p:sp>
        <p:nvSpPr>
          <p:cNvPr id="17" name="Rectangle 17"/>
          <p:cNvSpPr/>
          <p:nvPr/>
        </p:nvSpPr>
        <p:spPr>
          <a:xfrm>
            <a:off x="8382000" y="2952750"/>
            <a:ext cx="1905000" cy="571500"/>
          </a:xfrm>
          <a:prstGeom prst="roundRect">
            <a:avLst>
              <a:gd name="adj" fmla="val 13333"/>
            </a:avLst>
          </a:prstGeom>
          <a:solidFill>
            <a:srgbClr val="C1856B"/>
          </a:solidFill>
          <a:ln>
            <a:noFill/>
          </a:ln>
        </p:spPr>
        <p:txBody>
          <a:bodyPr/>
          <a:lstStyle/>
          <a:p>
            <a:endParaRPr lang="da-DK"/>
          </a:p>
        </p:txBody>
      </p:sp>
      <p:sp>
        <p:nvSpPr>
          <p:cNvPr id="18" name="TextBox 18"/>
          <p:cNvSpPr txBox="1"/>
          <p:nvPr/>
        </p:nvSpPr>
        <p:spPr>
          <a:xfrm>
            <a:off x="8942013" y="3156585"/>
            <a:ext cx="78497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Material</a:t>
            </a:r>
          </a:p>
        </p:txBody>
      </p:sp>
      <p:sp>
        <p:nvSpPr>
          <p:cNvPr id="19" name="Line 19"/>
          <p:cNvSpPr/>
          <p:nvPr/>
        </p:nvSpPr>
        <p:spPr>
          <a:xfrm>
            <a:off x="7239000" y="3286125"/>
            <a:ext cx="1143000" cy="762000"/>
          </a:xfrm>
          <a:custGeom>
            <a:avLst/>
            <a:gdLst/>
            <a:ahLst/>
            <a:cxnLst/>
            <a:rect l="l" t="t" r="r" b="b"/>
            <a:pathLst>
              <a:path w="1143000" h="762000">
                <a:moveTo>
                  <a:pt x="0" y="762000"/>
                </a:moveTo>
                <a:lnTo>
                  <a:pt x="1143000" y="0"/>
                </a:lnTo>
              </a:path>
            </a:pathLst>
          </a:custGeom>
          <a:noFill/>
          <a:ln w="19050">
            <a:solidFill>
              <a:srgbClr val="C1856B"/>
            </a:solidFill>
            <a:custDash>
              <a:ds d="300000" sp="200000"/>
            </a:custDash>
          </a:ln>
        </p:spPr>
        <p:txBody>
          <a:bodyPr/>
          <a:lstStyle/>
          <a:p>
            <a:endParaRPr lang="da-DK"/>
          </a:p>
        </p:txBody>
      </p:sp>
      <p:sp>
        <p:nvSpPr>
          <p:cNvPr id="20" name="Line 20"/>
          <p:cNvSpPr/>
          <p:nvPr/>
        </p:nvSpPr>
        <p:spPr>
          <a:xfrm>
            <a:off x="7239000" y="2905125"/>
            <a:ext cx="1143000" cy="285750"/>
          </a:xfrm>
          <a:custGeom>
            <a:avLst/>
            <a:gdLst/>
            <a:ahLst/>
            <a:cxnLst/>
            <a:rect l="l" t="t" r="r" b="b"/>
            <a:pathLst>
              <a:path w="1143000" h="285750">
                <a:moveTo>
                  <a:pt x="0" y="0"/>
                </a:moveTo>
                <a:lnTo>
                  <a:pt x="1143000" y="285750"/>
                </a:lnTo>
              </a:path>
            </a:pathLst>
          </a:custGeom>
          <a:noFill/>
          <a:ln w="19050">
            <a:solidFill>
              <a:srgbClr val="C1856B"/>
            </a:solidFill>
            <a:custDash>
              <a:ds d="300000" sp="200000"/>
            </a:custDash>
          </a:ln>
        </p:spPr>
        <p:txBody>
          <a:bodyPr/>
          <a:lstStyle/>
          <a:p>
            <a:endParaRPr lang="da-DK"/>
          </a:p>
        </p:txBody>
      </p:sp>
      <p:sp>
        <p:nvSpPr>
          <p:cNvPr id="21" name="Rectangle 21"/>
          <p:cNvSpPr/>
          <p:nvPr/>
        </p:nvSpPr>
        <p:spPr>
          <a:xfrm>
            <a:off x="1714500" y="2762250"/>
            <a:ext cx="1905000" cy="571500"/>
          </a:xfrm>
          <a:prstGeom prst="roundRect">
            <a:avLst>
              <a:gd name="adj" fmla="val 13333"/>
            </a:avLst>
          </a:prstGeom>
          <a:solidFill>
            <a:srgbClr val="753438"/>
          </a:solidFill>
          <a:ln>
            <a:noFill/>
          </a:ln>
        </p:spPr>
        <p:txBody>
          <a:bodyPr/>
          <a:lstStyle/>
          <a:p>
            <a:endParaRPr lang="da-DK"/>
          </a:p>
        </p:txBody>
      </p:sp>
      <p:sp>
        <p:nvSpPr>
          <p:cNvPr id="22" name="TextBox 22"/>
          <p:cNvSpPr txBox="1"/>
          <p:nvPr/>
        </p:nvSpPr>
        <p:spPr>
          <a:xfrm>
            <a:off x="2168700" y="2966085"/>
            <a:ext cx="99660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D365 (ERP)</a:t>
            </a:r>
          </a:p>
        </p:txBody>
      </p:sp>
      <p:sp>
        <p:nvSpPr>
          <p:cNvPr id="23" name="Line 23"/>
          <p:cNvSpPr/>
          <p:nvPr/>
        </p:nvSpPr>
        <p:spPr>
          <a:xfrm>
            <a:off x="3619500" y="2905125"/>
            <a:ext cx="1333500" cy="47625"/>
          </a:xfrm>
          <a:custGeom>
            <a:avLst/>
            <a:gdLst/>
            <a:ahLst/>
            <a:cxnLst/>
            <a:rect l="l" t="t" r="r" b="b"/>
            <a:pathLst>
              <a:path w="1333500" h="47625">
                <a:moveTo>
                  <a:pt x="0" y="47625"/>
                </a:moveTo>
                <a:lnTo>
                  <a:pt x="1333500" y="0"/>
                </a:lnTo>
              </a:path>
            </a:pathLst>
          </a:custGeom>
          <a:noFill/>
          <a:ln w="19050">
            <a:solidFill>
              <a:srgbClr val="753438"/>
            </a:solidFill>
          </a:ln>
        </p:spPr>
        <p:txBody>
          <a:bodyPr/>
          <a:lstStyle/>
          <a:p>
            <a:endParaRPr lang="da-DK"/>
          </a:p>
        </p:txBody>
      </p:sp>
      <p:sp>
        <p:nvSpPr>
          <p:cNvPr id="24" name="Polygon 24"/>
          <p:cNvSpPr/>
          <p:nvPr/>
        </p:nvSpPr>
        <p:spPr>
          <a:xfrm>
            <a:off x="4905375" y="2847975"/>
            <a:ext cx="123825" cy="114300"/>
          </a:xfrm>
          <a:custGeom>
            <a:avLst/>
            <a:gdLst/>
            <a:ahLst/>
            <a:cxnLst/>
            <a:rect l="l" t="t" r="r" b="b"/>
            <a:pathLst>
              <a:path w="123825" h="114300">
                <a:moveTo>
                  <a:pt x="0" y="0"/>
                </a:moveTo>
                <a:lnTo>
                  <a:pt x="123825" y="57150"/>
                </a:lnTo>
                <a:lnTo>
                  <a:pt x="0" y="114300"/>
                </a:lnTo>
                <a:close/>
              </a:path>
            </a:pathLst>
          </a:custGeom>
          <a:solidFill>
            <a:srgbClr val="753438"/>
          </a:solidFill>
          <a:ln>
            <a:noFill/>
          </a:ln>
        </p:spPr>
        <p:txBody>
          <a:bodyPr/>
          <a:lstStyle/>
          <a:p>
            <a:endParaRPr lang="da-DK"/>
          </a:p>
        </p:txBody>
      </p:sp>
      <p:sp>
        <p:nvSpPr>
          <p:cNvPr id="25" name="Line 25"/>
          <p:cNvSpPr/>
          <p:nvPr/>
        </p:nvSpPr>
        <p:spPr>
          <a:xfrm>
            <a:off x="3619500" y="3143250"/>
            <a:ext cx="1333500" cy="857250"/>
          </a:xfrm>
          <a:custGeom>
            <a:avLst/>
            <a:gdLst/>
            <a:ahLst/>
            <a:cxnLst/>
            <a:rect l="l" t="t" r="r" b="b"/>
            <a:pathLst>
              <a:path w="1333500" h="857250">
                <a:moveTo>
                  <a:pt x="0" y="0"/>
                </a:moveTo>
                <a:lnTo>
                  <a:pt x="1333500" y="857250"/>
                </a:lnTo>
              </a:path>
            </a:pathLst>
          </a:custGeom>
          <a:noFill/>
          <a:ln w="19050">
            <a:solidFill>
              <a:srgbClr val="753438"/>
            </a:solidFill>
          </a:ln>
        </p:spPr>
        <p:txBody>
          <a:bodyPr/>
          <a:lstStyle/>
          <a:p>
            <a:endParaRPr lang="da-DK"/>
          </a:p>
        </p:txBody>
      </p:sp>
      <p:sp>
        <p:nvSpPr>
          <p:cNvPr id="26" name="Polygon 26"/>
          <p:cNvSpPr/>
          <p:nvPr/>
        </p:nvSpPr>
        <p:spPr>
          <a:xfrm>
            <a:off x="4905375" y="3952875"/>
            <a:ext cx="123825" cy="95250"/>
          </a:xfrm>
          <a:custGeom>
            <a:avLst/>
            <a:gdLst/>
            <a:ahLst/>
            <a:cxnLst/>
            <a:rect l="l" t="t" r="r" b="b"/>
            <a:pathLst>
              <a:path w="123825" h="95250">
                <a:moveTo>
                  <a:pt x="0" y="0"/>
                </a:moveTo>
                <a:lnTo>
                  <a:pt x="123825" y="47625"/>
                </a:lnTo>
                <a:lnTo>
                  <a:pt x="0" y="95250"/>
                </a:lnTo>
                <a:close/>
              </a:path>
            </a:pathLst>
          </a:custGeom>
          <a:solidFill>
            <a:srgbClr val="753438"/>
          </a:solidFill>
          <a:ln>
            <a:noFill/>
          </a:ln>
        </p:spPr>
        <p:txBody>
          <a:bodyPr/>
          <a:lstStyle/>
          <a:p>
            <a:endParaRPr lang="da-DK"/>
          </a:p>
        </p:txBody>
      </p:sp>
      <p:sp>
        <p:nvSpPr>
          <p:cNvPr id="27" name="Rectangle 27"/>
          <p:cNvSpPr/>
          <p:nvPr/>
        </p:nvSpPr>
        <p:spPr>
          <a:xfrm>
            <a:off x="8382000" y="4191000"/>
            <a:ext cx="1905000" cy="571500"/>
          </a:xfrm>
          <a:prstGeom prst="roundRect">
            <a:avLst>
              <a:gd name="adj" fmla="val 13333"/>
            </a:avLst>
          </a:prstGeom>
          <a:solidFill>
            <a:srgbClr val="88817E"/>
          </a:solidFill>
          <a:ln>
            <a:noFill/>
          </a:ln>
        </p:spPr>
        <p:txBody>
          <a:bodyPr/>
          <a:lstStyle/>
          <a:p>
            <a:endParaRPr lang="da-DK"/>
          </a:p>
        </p:txBody>
      </p:sp>
      <p:sp>
        <p:nvSpPr>
          <p:cNvPr id="28" name="TextBox 28"/>
          <p:cNvSpPr txBox="1"/>
          <p:nvPr/>
        </p:nvSpPr>
        <p:spPr>
          <a:xfrm>
            <a:off x="8608651" y="4315778"/>
            <a:ext cx="145169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Brand / Corporate</a:t>
            </a:r>
          </a:p>
        </p:txBody>
      </p:sp>
      <p:sp>
        <p:nvSpPr>
          <p:cNvPr id="29" name="TextBox 29"/>
          <p:cNvSpPr txBox="1"/>
          <p:nvPr/>
        </p:nvSpPr>
        <p:spPr>
          <a:xfrm>
            <a:off x="9106186" y="4522470"/>
            <a:ext cx="456628"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Segoe UI"/>
                <a:ea typeface="Microsoft YaHei"/>
                <a:cs typeface="Segoe UI"/>
              </a:rPr>
              <a:t>Assets</a:t>
            </a:r>
          </a:p>
        </p:txBody>
      </p:sp>
      <p:sp>
        <p:nvSpPr>
          <p:cNvPr id="30" name="Rectangle 30"/>
          <p:cNvSpPr/>
          <p:nvPr/>
        </p:nvSpPr>
        <p:spPr>
          <a:xfrm>
            <a:off x="571500" y="5524500"/>
            <a:ext cx="152400" cy="152400"/>
          </a:xfrm>
          <a:prstGeom prst="roundRect">
            <a:avLst>
              <a:gd name="adj" fmla="val 18750"/>
            </a:avLst>
          </a:prstGeom>
          <a:solidFill>
            <a:srgbClr val="586A68"/>
          </a:solidFill>
          <a:ln>
            <a:noFill/>
          </a:ln>
        </p:spPr>
        <p:txBody>
          <a:bodyPr/>
          <a:lstStyle/>
          <a:p>
            <a:endParaRPr lang="da-DK"/>
          </a:p>
        </p:txBody>
      </p:sp>
      <p:sp>
        <p:nvSpPr>
          <p:cNvPr id="31" name="TextBox 31"/>
          <p:cNvSpPr txBox="1"/>
          <p:nvPr/>
        </p:nvSpPr>
        <p:spPr>
          <a:xfrm>
            <a:off x="806768" y="5543074"/>
            <a:ext cx="128499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Product Hierarchy</a:t>
            </a:r>
          </a:p>
        </p:txBody>
      </p:sp>
      <p:sp>
        <p:nvSpPr>
          <p:cNvPr id="32" name="Rectangle 32"/>
          <p:cNvSpPr/>
          <p:nvPr/>
        </p:nvSpPr>
        <p:spPr>
          <a:xfrm>
            <a:off x="2095500" y="5524500"/>
            <a:ext cx="152400" cy="152400"/>
          </a:xfrm>
          <a:prstGeom prst="roundRect">
            <a:avLst>
              <a:gd name="adj" fmla="val 18750"/>
            </a:avLst>
          </a:prstGeom>
          <a:solidFill>
            <a:srgbClr val="C1856B"/>
          </a:solidFill>
          <a:ln>
            <a:noFill/>
          </a:ln>
        </p:spPr>
        <p:txBody>
          <a:bodyPr/>
          <a:lstStyle/>
          <a:p>
            <a:endParaRPr lang="da-DK"/>
          </a:p>
        </p:txBody>
      </p:sp>
      <p:sp>
        <p:nvSpPr>
          <p:cNvPr id="33" name="TextBox 33"/>
          <p:cNvSpPr txBox="1"/>
          <p:nvPr/>
        </p:nvSpPr>
        <p:spPr>
          <a:xfrm>
            <a:off x="2330768" y="5543074"/>
            <a:ext cx="175491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Shared Entity (Material)</a:t>
            </a:r>
          </a:p>
        </p:txBody>
      </p:sp>
      <p:sp>
        <p:nvSpPr>
          <p:cNvPr id="34" name="Rectangle 34"/>
          <p:cNvSpPr/>
          <p:nvPr/>
        </p:nvSpPr>
        <p:spPr>
          <a:xfrm>
            <a:off x="4095750" y="5524500"/>
            <a:ext cx="152400" cy="152400"/>
          </a:xfrm>
          <a:prstGeom prst="roundRect">
            <a:avLst>
              <a:gd name="adj" fmla="val 18750"/>
            </a:avLst>
          </a:prstGeom>
          <a:solidFill>
            <a:srgbClr val="753438"/>
          </a:solidFill>
          <a:ln>
            <a:noFill/>
          </a:ln>
        </p:spPr>
        <p:txBody>
          <a:bodyPr/>
          <a:lstStyle/>
          <a:p>
            <a:endParaRPr lang="da-DK"/>
          </a:p>
        </p:txBody>
      </p:sp>
      <p:sp>
        <p:nvSpPr>
          <p:cNvPr id="35" name="TextBox 35"/>
          <p:cNvSpPr txBox="1"/>
          <p:nvPr/>
        </p:nvSpPr>
        <p:spPr>
          <a:xfrm>
            <a:off x="4331018" y="5543074"/>
            <a:ext cx="164099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External Source (D365)</a:t>
            </a:r>
          </a:p>
        </p:txBody>
      </p:sp>
      <p:sp>
        <p:nvSpPr>
          <p:cNvPr id="36" name="Rectangle 36"/>
          <p:cNvSpPr/>
          <p:nvPr/>
        </p:nvSpPr>
        <p:spPr>
          <a:xfrm>
            <a:off x="6191250" y="5524500"/>
            <a:ext cx="152400" cy="152400"/>
          </a:xfrm>
          <a:prstGeom prst="roundRect">
            <a:avLst>
              <a:gd name="adj" fmla="val 18750"/>
            </a:avLst>
          </a:prstGeom>
          <a:solidFill>
            <a:srgbClr val="88817E"/>
          </a:solidFill>
          <a:ln>
            <a:noFill/>
          </a:ln>
        </p:spPr>
        <p:txBody>
          <a:bodyPr/>
          <a:lstStyle/>
          <a:p>
            <a:endParaRPr lang="da-DK"/>
          </a:p>
        </p:txBody>
      </p:sp>
      <p:sp>
        <p:nvSpPr>
          <p:cNvPr id="37" name="TextBox 37"/>
          <p:cNvSpPr txBox="1"/>
          <p:nvPr/>
        </p:nvSpPr>
        <p:spPr>
          <a:xfrm>
            <a:off x="6426518" y="5543074"/>
            <a:ext cx="136331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Independent Assets</a:t>
            </a:r>
          </a:p>
        </p:txBody>
      </p:sp>
      <p:sp>
        <p:nvSpPr>
          <p:cNvPr id="38" name="TextBox 38"/>
          <p:cNvSpPr txBox="1"/>
          <p:nvPr/>
        </p:nvSpPr>
        <p:spPr>
          <a:xfrm>
            <a:off x="559118" y="5990749"/>
            <a:ext cx="749357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Range → Master Product → Variant: quan hệ cha-con. Material là entity dùng chung, liên kết nhiều products.</a:t>
            </a:r>
          </a:p>
        </p:txBody>
      </p:sp>
      <p:sp>
        <p:nvSpPr>
          <p:cNvPr id="39" name="TextBox 39"/>
          <p:cNvSpPr txBox="1"/>
          <p:nvPr/>
        </p:nvSpPr>
        <p:spPr>
          <a:xfrm>
            <a:off x="559118" y="6181249"/>
            <a:ext cx="667478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D365 cung cấp item number, price, dimensions, lifecycle status cho Master Product và Variant.</a:t>
            </a:r>
          </a:p>
        </p:txBody>
      </p:sp>
      <p:sp>
        <p:nvSpPr>
          <p:cNvPr id="40" name="TextBox 40"/>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2</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130808"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01 / Data Model</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2500846"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Data Ownership</a:t>
            </a:r>
          </a:p>
        </p:txBody>
      </p:sp>
      <p:sp>
        <p:nvSpPr>
          <p:cNvPr id="7" name="Rectangle 7"/>
          <p:cNvSpPr/>
          <p:nvPr/>
        </p:nvSpPr>
        <p:spPr>
          <a:xfrm>
            <a:off x="571500" y="1333500"/>
            <a:ext cx="5143500" cy="381000"/>
          </a:xfrm>
          <a:prstGeom prst="roundRect">
            <a:avLst>
              <a:gd name="adj" fmla="val 15000"/>
            </a:avLst>
          </a:prstGeom>
          <a:solidFill>
            <a:srgbClr val="753438"/>
          </a:solidFill>
          <a:ln>
            <a:noFill/>
          </a:ln>
        </p:spPr>
        <p:txBody>
          <a:bodyPr/>
          <a:lstStyle/>
          <a:p>
            <a:endParaRPr lang="da-DK"/>
          </a:p>
        </p:txBody>
      </p:sp>
      <p:sp>
        <p:nvSpPr>
          <p:cNvPr id="8" name="TextBox 8"/>
          <p:cNvSpPr txBox="1"/>
          <p:nvPr/>
        </p:nvSpPr>
        <p:spPr>
          <a:xfrm>
            <a:off x="2470128" y="1442085"/>
            <a:ext cx="134624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D365 là Master</a:t>
            </a:r>
          </a:p>
        </p:txBody>
      </p:sp>
      <p:sp>
        <p:nvSpPr>
          <p:cNvPr id="9" name="Rectangle 9"/>
          <p:cNvSpPr/>
          <p:nvPr/>
        </p:nvSpPr>
        <p:spPr>
          <a:xfrm>
            <a:off x="571500" y="180975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10" name="TextBox 10"/>
          <p:cNvSpPr txBox="1"/>
          <p:nvPr/>
        </p:nvSpPr>
        <p:spPr>
          <a:xfrm>
            <a:off x="1340191" y="1953578"/>
            <a:ext cx="939117"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Item Number</a:t>
            </a:r>
          </a:p>
        </p:txBody>
      </p:sp>
      <p:sp>
        <p:nvSpPr>
          <p:cNvPr id="11" name="Rectangle 11"/>
          <p:cNvSpPr/>
          <p:nvPr/>
        </p:nvSpPr>
        <p:spPr>
          <a:xfrm>
            <a:off x="3238500" y="180975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12" name="TextBox 12"/>
          <p:cNvSpPr txBox="1"/>
          <p:nvPr/>
        </p:nvSpPr>
        <p:spPr>
          <a:xfrm>
            <a:off x="3903678" y="1953578"/>
            <a:ext cx="1146143"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Master Number</a:t>
            </a:r>
          </a:p>
        </p:txBody>
      </p:sp>
      <p:sp>
        <p:nvSpPr>
          <p:cNvPr id="13" name="Rectangle 13"/>
          <p:cNvSpPr/>
          <p:nvPr/>
        </p:nvSpPr>
        <p:spPr>
          <a:xfrm>
            <a:off x="571500" y="232410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14" name="TextBox 14"/>
          <p:cNvSpPr txBox="1"/>
          <p:nvPr/>
        </p:nvSpPr>
        <p:spPr>
          <a:xfrm>
            <a:off x="1229011" y="2467928"/>
            <a:ext cx="1161478"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Variant Number</a:t>
            </a:r>
          </a:p>
        </p:txBody>
      </p:sp>
      <p:sp>
        <p:nvSpPr>
          <p:cNvPr id="15" name="Rectangle 15"/>
          <p:cNvSpPr/>
          <p:nvPr/>
        </p:nvSpPr>
        <p:spPr>
          <a:xfrm>
            <a:off x="3238500" y="232410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16" name="TextBox 16"/>
          <p:cNvSpPr txBox="1"/>
          <p:nvPr/>
        </p:nvSpPr>
        <p:spPr>
          <a:xfrm>
            <a:off x="4064698" y="2467928"/>
            <a:ext cx="824103"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Dimensions</a:t>
            </a:r>
          </a:p>
        </p:txBody>
      </p:sp>
      <p:sp>
        <p:nvSpPr>
          <p:cNvPr id="17" name="Rectangle 17"/>
          <p:cNvSpPr/>
          <p:nvPr/>
        </p:nvSpPr>
        <p:spPr>
          <a:xfrm>
            <a:off x="571500" y="283845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18" name="TextBox 18"/>
          <p:cNvSpPr txBox="1"/>
          <p:nvPr/>
        </p:nvSpPr>
        <p:spPr>
          <a:xfrm>
            <a:off x="1562552" y="2982278"/>
            <a:ext cx="494395"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Prices</a:t>
            </a:r>
          </a:p>
        </p:txBody>
      </p:sp>
      <p:sp>
        <p:nvSpPr>
          <p:cNvPr id="19" name="Rectangle 19"/>
          <p:cNvSpPr/>
          <p:nvPr/>
        </p:nvSpPr>
        <p:spPr>
          <a:xfrm>
            <a:off x="3238500" y="283845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20" name="TextBox 20"/>
          <p:cNvSpPr txBox="1"/>
          <p:nvPr/>
        </p:nvSpPr>
        <p:spPr>
          <a:xfrm>
            <a:off x="3784830" y="2982278"/>
            <a:ext cx="1383840"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Product Hierarchy</a:t>
            </a:r>
          </a:p>
        </p:txBody>
      </p:sp>
      <p:sp>
        <p:nvSpPr>
          <p:cNvPr id="21" name="Rectangle 21"/>
          <p:cNvSpPr/>
          <p:nvPr/>
        </p:nvSpPr>
        <p:spPr>
          <a:xfrm>
            <a:off x="571500" y="335280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22" name="TextBox 22"/>
          <p:cNvSpPr txBox="1"/>
          <p:nvPr/>
        </p:nvSpPr>
        <p:spPr>
          <a:xfrm>
            <a:off x="1179171" y="3496628"/>
            <a:ext cx="1261158"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Lifecycle Status</a:t>
            </a:r>
          </a:p>
        </p:txBody>
      </p:sp>
      <p:sp>
        <p:nvSpPr>
          <p:cNvPr id="23" name="Rectangle 23"/>
          <p:cNvSpPr/>
          <p:nvPr/>
        </p:nvSpPr>
        <p:spPr>
          <a:xfrm>
            <a:off x="3238500" y="335280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24" name="TextBox 24"/>
          <p:cNvSpPr txBox="1"/>
          <p:nvPr/>
        </p:nvSpPr>
        <p:spPr>
          <a:xfrm>
            <a:off x="4145209" y="3496628"/>
            <a:ext cx="663083"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Designer</a:t>
            </a:r>
          </a:p>
        </p:txBody>
      </p:sp>
      <p:sp>
        <p:nvSpPr>
          <p:cNvPr id="25" name="Rectangle 25"/>
          <p:cNvSpPr/>
          <p:nvPr/>
        </p:nvSpPr>
        <p:spPr>
          <a:xfrm>
            <a:off x="6477000" y="1333500"/>
            <a:ext cx="5143500" cy="381000"/>
          </a:xfrm>
          <a:prstGeom prst="roundRect">
            <a:avLst>
              <a:gd name="adj" fmla="val 15000"/>
            </a:avLst>
          </a:prstGeom>
          <a:solidFill>
            <a:srgbClr val="586A68"/>
          </a:solidFill>
          <a:ln>
            <a:noFill/>
          </a:ln>
        </p:spPr>
        <p:txBody>
          <a:bodyPr/>
          <a:lstStyle/>
          <a:p>
            <a:endParaRPr lang="da-DK"/>
          </a:p>
        </p:txBody>
      </p:sp>
      <p:sp>
        <p:nvSpPr>
          <p:cNvPr id="26" name="TextBox 26"/>
          <p:cNvSpPr txBox="1"/>
          <p:nvPr/>
        </p:nvSpPr>
        <p:spPr>
          <a:xfrm>
            <a:off x="8430835" y="1442085"/>
            <a:ext cx="123583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PIM là Master</a:t>
            </a:r>
          </a:p>
        </p:txBody>
      </p:sp>
      <p:sp>
        <p:nvSpPr>
          <p:cNvPr id="27" name="Rectangle 27"/>
          <p:cNvSpPr/>
          <p:nvPr/>
        </p:nvSpPr>
        <p:spPr>
          <a:xfrm>
            <a:off x="6477000" y="180975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28" name="TextBox 28"/>
          <p:cNvSpPr txBox="1"/>
          <p:nvPr/>
        </p:nvSpPr>
        <p:spPr>
          <a:xfrm>
            <a:off x="6831640" y="1953578"/>
            <a:ext cx="1767221"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Descriptions (B2B/B2C)</a:t>
            </a:r>
          </a:p>
        </p:txBody>
      </p:sp>
      <p:sp>
        <p:nvSpPr>
          <p:cNvPr id="29" name="Rectangle 29"/>
          <p:cNvSpPr/>
          <p:nvPr/>
        </p:nvSpPr>
        <p:spPr>
          <a:xfrm>
            <a:off x="9144000" y="180975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30" name="TextBox 30"/>
          <p:cNvSpPr txBox="1"/>
          <p:nvPr/>
        </p:nvSpPr>
        <p:spPr>
          <a:xfrm>
            <a:off x="10200227" y="1953578"/>
            <a:ext cx="364046"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USPs</a:t>
            </a:r>
          </a:p>
        </p:txBody>
      </p:sp>
      <p:sp>
        <p:nvSpPr>
          <p:cNvPr id="31" name="Rectangle 31"/>
          <p:cNvSpPr/>
          <p:nvPr/>
        </p:nvSpPr>
        <p:spPr>
          <a:xfrm>
            <a:off x="6477000" y="232410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32" name="TextBox 32"/>
          <p:cNvSpPr txBox="1"/>
          <p:nvPr/>
        </p:nvSpPr>
        <p:spPr>
          <a:xfrm>
            <a:off x="7211187" y="2467928"/>
            <a:ext cx="1008126"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Visual Assets</a:t>
            </a:r>
          </a:p>
        </p:txBody>
      </p:sp>
      <p:sp>
        <p:nvSpPr>
          <p:cNvPr id="33" name="Rectangle 33"/>
          <p:cNvSpPr/>
          <p:nvPr/>
        </p:nvSpPr>
        <p:spPr>
          <a:xfrm>
            <a:off x="9144000" y="232410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34" name="TextBox 34"/>
          <p:cNvSpPr txBox="1"/>
          <p:nvPr/>
        </p:nvSpPr>
        <p:spPr>
          <a:xfrm>
            <a:off x="9709499" y="2467928"/>
            <a:ext cx="1345502"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Care Instructions</a:t>
            </a:r>
          </a:p>
        </p:txBody>
      </p:sp>
      <p:sp>
        <p:nvSpPr>
          <p:cNvPr id="35" name="Rectangle 35"/>
          <p:cNvSpPr/>
          <p:nvPr/>
        </p:nvSpPr>
        <p:spPr>
          <a:xfrm>
            <a:off x="6477000" y="283845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36" name="TextBox 36"/>
          <p:cNvSpPr txBox="1"/>
          <p:nvPr/>
        </p:nvSpPr>
        <p:spPr>
          <a:xfrm>
            <a:off x="7195852" y="2982278"/>
            <a:ext cx="1038797"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Material Data</a:t>
            </a:r>
          </a:p>
        </p:txBody>
      </p:sp>
      <p:sp>
        <p:nvSpPr>
          <p:cNvPr id="37" name="Rectangle 37"/>
          <p:cNvSpPr/>
          <p:nvPr/>
        </p:nvSpPr>
        <p:spPr>
          <a:xfrm>
            <a:off x="9144000" y="283845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38" name="TextBox 38"/>
          <p:cNvSpPr txBox="1"/>
          <p:nvPr/>
        </p:nvSpPr>
        <p:spPr>
          <a:xfrm>
            <a:off x="9778508" y="2982278"/>
            <a:ext cx="1207484"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Channel Mapping</a:t>
            </a:r>
          </a:p>
        </p:txBody>
      </p:sp>
      <p:sp>
        <p:nvSpPr>
          <p:cNvPr id="39" name="Rectangle 39"/>
          <p:cNvSpPr/>
          <p:nvPr/>
        </p:nvSpPr>
        <p:spPr>
          <a:xfrm>
            <a:off x="6477000" y="335280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40" name="TextBox 40"/>
          <p:cNvSpPr txBox="1"/>
          <p:nvPr/>
        </p:nvSpPr>
        <p:spPr>
          <a:xfrm>
            <a:off x="7184350" y="3496628"/>
            <a:ext cx="1061799"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SEO Metadata</a:t>
            </a:r>
          </a:p>
        </p:txBody>
      </p:sp>
      <p:sp>
        <p:nvSpPr>
          <p:cNvPr id="41" name="Rectangle 41"/>
          <p:cNvSpPr/>
          <p:nvPr/>
        </p:nvSpPr>
        <p:spPr>
          <a:xfrm>
            <a:off x="9144000" y="335280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42" name="TextBox 42"/>
          <p:cNvSpPr txBox="1"/>
          <p:nvPr/>
        </p:nvSpPr>
        <p:spPr>
          <a:xfrm>
            <a:off x="9966365" y="3496628"/>
            <a:ext cx="831771"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Catalogues</a:t>
            </a:r>
          </a:p>
        </p:txBody>
      </p:sp>
      <p:sp>
        <p:nvSpPr>
          <p:cNvPr id="43" name="TextBox 43"/>
          <p:cNvSpPr txBox="1"/>
          <p:nvPr/>
        </p:nvSpPr>
        <p:spPr>
          <a:xfrm>
            <a:off x="5523120" y="4220528"/>
            <a:ext cx="1145760" cy="213360"/>
          </a:xfrm>
          <a:prstGeom prst="rect">
            <a:avLst/>
          </a:prstGeom>
          <a:noFill/>
          <a:ln>
            <a:noFill/>
          </a:ln>
        </p:spPr>
        <p:txBody>
          <a:bodyPr wrap="none" lIns="0" tIns="0" rIns="0" bIns="0" anchor="t" anchorCtr="0">
            <a:spAutoFit/>
          </a:bodyPr>
          <a:lstStyle/>
          <a:p>
            <a:pPr algn="ctr"/>
            <a:r>
              <a:rPr lang="zh-CN" sz="1050" b="1" dirty="0">
                <a:solidFill>
                  <a:srgbClr val="3C3C3B"/>
                </a:solidFill>
                <a:latin typeface="Segoe UI"/>
                <a:ea typeface="Microsoft YaHei"/>
                <a:cs typeface="Segoe UI"/>
              </a:rPr>
              <a:t>Sync Direction</a:t>
            </a:r>
          </a:p>
        </p:txBody>
      </p:sp>
      <p:sp>
        <p:nvSpPr>
          <p:cNvPr id="44" name="Rectangle 44"/>
          <p:cNvSpPr/>
          <p:nvPr/>
        </p:nvSpPr>
        <p:spPr>
          <a:xfrm>
            <a:off x="1143000" y="4524375"/>
            <a:ext cx="4191000" cy="571500"/>
          </a:xfrm>
          <a:prstGeom prst="roundRect">
            <a:avLst>
              <a:gd name="adj" fmla="val 13333"/>
            </a:avLst>
          </a:prstGeom>
          <a:solidFill>
            <a:srgbClr val="FFFFFF"/>
          </a:solidFill>
          <a:ln w="9525">
            <a:solidFill>
              <a:srgbClr val="753438"/>
            </a:solidFill>
          </a:ln>
        </p:spPr>
        <p:txBody>
          <a:bodyPr/>
          <a:lstStyle/>
          <a:p>
            <a:endParaRPr lang="da-DK"/>
          </a:p>
        </p:txBody>
      </p:sp>
      <p:sp>
        <p:nvSpPr>
          <p:cNvPr id="45" name="Line 45"/>
          <p:cNvSpPr/>
          <p:nvPr/>
        </p:nvSpPr>
        <p:spPr>
          <a:xfrm>
            <a:off x="1905000" y="4810125"/>
            <a:ext cx="2476500" cy="9525"/>
          </a:xfrm>
          <a:custGeom>
            <a:avLst/>
            <a:gdLst/>
            <a:ahLst/>
            <a:cxnLst/>
            <a:rect l="l" t="t" r="r" b="b"/>
            <a:pathLst>
              <a:path w="2476500" h="9525">
                <a:moveTo>
                  <a:pt x="0" y="0"/>
                </a:moveTo>
                <a:lnTo>
                  <a:pt x="2476500" y="0"/>
                </a:lnTo>
              </a:path>
            </a:pathLst>
          </a:custGeom>
          <a:noFill/>
          <a:ln w="19050">
            <a:solidFill>
              <a:srgbClr val="753438"/>
            </a:solidFill>
          </a:ln>
        </p:spPr>
        <p:txBody>
          <a:bodyPr/>
          <a:lstStyle/>
          <a:p>
            <a:endParaRPr lang="da-DK"/>
          </a:p>
        </p:txBody>
      </p:sp>
      <p:sp>
        <p:nvSpPr>
          <p:cNvPr id="46" name="Polygon 46"/>
          <p:cNvSpPr/>
          <p:nvPr/>
        </p:nvSpPr>
        <p:spPr>
          <a:xfrm>
            <a:off x="4333875" y="4752975"/>
            <a:ext cx="123825" cy="114300"/>
          </a:xfrm>
          <a:custGeom>
            <a:avLst/>
            <a:gdLst/>
            <a:ahLst/>
            <a:cxnLst/>
            <a:rect l="l" t="t" r="r" b="b"/>
            <a:pathLst>
              <a:path w="123825" h="114300">
                <a:moveTo>
                  <a:pt x="0" y="0"/>
                </a:moveTo>
                <a:lnTo>
                  <a:pt x="123825" y="57150"/>
                </a:lnTo>
                <a:lnTo>
                  <a:pt x="0" y="114300"/>
                </a:lnTo>
                <a:close/>
              </a:path>
            </a:pathLst>
          </a:custGeom>
          <a:solidFill>
            <a:srgbClr val="753438"/>
          </a:solidFill>
          <a:ln>
            <a:noFill/>
          </a:ln>
        </p:spPr>
        <p:txBody>
          <a:bodyPr/>
          <a:lstStyle/>
          <a:p>
            <a:endParaRPr lang="da-DK"/>
          </a:p>
        </p:txBody>
      </p:sp>
      <p:sp>
        <p:nvSpPr>
          <p:cNvPr id="47" name="TextBox 47"/>
          <p:cNvSpPr txBox="1"/>
          <p:nvPr/>
        </p:nvSpPr>
        <p:spPr>
          <a:xfrm>
            <a:off x="2083546" y="4903470"/>
            <a:ext cx="2119408" cy="182880"/>
          </a:xfrm>
          <a:prstGeom prst="rect">
            <a:avLst/>
          </a:prstGeom>
          <a:noFill/>
          <a:ln>
            <a:noFill/>
          </a:ln>
        </p:spPr>
        <p:txBody>
          <a:bodyPr wrap="none" lIns="0" tIns="0" rIns="0" bIns="0" anchor="t" anchorCtr="0">
            <a:spAutoFit/>
          </a:bodyPr>
          <a:lstStyle/>
          <a:p>
            <a:pPr algn="ctr"/>
            <a:r>
              <a:rPr lang="zh-CN" sz="900" dirty="0">
                <a:solidFill>
                  <a:srgbClr val="753438"/>
                </a:solidFill>
                <a:latin typeface="Segoe UI"/>
                <a:ea typeface="Microsoft YaHei"/>
                <a:cs typeface="Segoe UI"/>
              </a:rPr>
              <a:t>D365 → PIM (one-way, scheduled)</a:t>
            </a:r>
          </a:p>
        </p:txBody>
      </p:sp>
      <p:sp>
        <p:nvSpPr>
          <p:cNvPr id="48" name="Rectangle 48"/>
          <p:cNvSpPr/>
          <p:nvPr/>
        </p:nvSpPr>
        <p:spPr>
          <a:xfrm>
            <a:off x="5905500" y="4524375"/>
            <a:ext cx="4191000" cy="571500"/>
          </a:xfrm>
          <a:prstGeom prst="roundRect">
            <a:avLst>
              <a:gd name="adj" fmla="val 13333"/>
            </a:avLst>
          </a:prstGeom>
          <a:solidFill>
            <a:srgbClr val="FFFFFF"/>
          </a:solidFill>
          <a:ln w="9525">
            <a:solidFill>
              <a:srgbClr val="586A68"/>
            </a:solidFill>
          </a:ln>
        </p:spPr>
        <p:txBody>
          <a:bodyPr/>
          <a:lstStyle/>
          <a:p>
            <a:endParaRPr lang="da-DK"/>
          </a:p>
        </p:txBody>
      </p:sp>
      <p:sp>
        <p:nvSpPr>
          <p:cNvPr id="49" name="Line 49"/>
          <p:cNvSpPr/>
          <p:nvPr/>
        </p:nvSpPr>
        <p:spPr>
          <a:xfrm>
            <a:off x="6667500" y="4810125"/>
            <a:ext cx="2476500" cy="9525"/>
          </a:xfrm>
          <a:custGeom>
            <a:avLst/>
            <a:gdLst/>
            <a:ahLst/>
            <a:cxnLst/>
            <a:rect l="l" t="t" r="r" b="b"/>
            <a:pathLst>
              <a:path w="2476500" h="9525">
                <a:moveTo>
                  <a:pt x="0" y="0"/>
                </a:moveTo>
                <a:lnTo>
                  <a:pt x="2476500" y="0"/>
                </a:lnTo>
              </a:path>
            </a:pathLst>
          </a:custGeom>
          <a:noFill/>
          <a:ln w="19050">
            <a:solidFill>
              <a:srgbClr val="586A68"/>
            </a:solidFill>
          </a:ln>
        </p:spPr>
        <p:txBody>
          <a:bodyPr/>
          <a:lstStyle/>
          <a:p>
            <a:endParaRPr lang="da-DK"/>
          </a:p>
        </p:txBody>
      </p:sp>
      <p:sp>
        <p:nvSpPr>
          <p:cNvPr id="50" name="Polygon 50"/>
          <p:cNvSpPr/>
          <p:nvPr/>
        </p:nvSpPr>
        <p:spPr>
          <a:xfrm>
            <a:off x="6496050" y="4752975"/>
            <a:ext cx="123825" cy="114300"/>
          </a:xfrm>
          <a:custGeom>
            <a:avLst/>
            <a:gdLst/>
            <a:ahLst/>
            <a:cxnLst/>
            <a:rect l="l" t="t" r="r" b="b"/>
            <a:pathLst>
              <a:path w="123825" h="114300">
                <a:moveTo>
                  <a:pt x="123825" y="0"/>
                </a:moveTo>
                <a:lnTo>
                  <a:pt x="0" y="57150"/>
                </a:lnTo>
                <a:lnTo>
                  <a:pt x="123825" y="114300"/>
                </a:lnTo>
                <a:close/>
              </a:path>
            </a:pathLst>
          </a:custGeom>
          <a:solidFill>
            <a:srgbClr val="586A68"/>
          </a:solidFill>
          <a:ln>
            <a:noFill/>
          </a:ln>
        </p:spPr>
        <p:txBody>
          <a:bodyPr/>
          <a:lstStyle/>
          <a:p>
            <a:endParaRPr lang="da-DK"/>
          </a:p>
        </p:txBody>
      </p:sp>
      <p:sp>
        <p:nvSpPr>
          <p:cNvPr id="51" name="Polygon 51"/>
          <p:cNvSpPr/>
          <p:nvPr/>
        </p:nvSpPr>
        <p:spPr>
          <a:xfrm>
            <a:off x="9096375" y="4752975"/>
            <a:ext cx="123825" cy="114300"/>
          </a:xfrm>
          <a:custGeom>
            <a:avLst/>
            <a:gdLst/>
            <a:ahLst/>
            <a:cxnLst/>
            <a:rect l="l" t="t" r="r" b="b"/>
            <a:pathLst>
              <a:path w="123825" h="114300">
                <a:moveTo>
                  <a:pt x="0" y="0"/>
                </a:moveTo>
                <a:lnTo>
                  <a:pt x="123825" y="57150"/>
                </a:lnTo>
                <a:lnTo>
                  <a:pt x="0" y="114300"/>
                </a:lnTo>
                <a:close/>
              </a:path>
            </a:pathLst>
          </a:custGeom>
          <a:solidFill>
            <a:srgbClr val="586A68"/>
          </a:solidFill>
          <a:ln>
            <a:noFill/>
          </a:ln>
        </p:spPr>
        <p:txBody>
          <a:bodyPr/>
          <a:lstStyle/>
          <a:p>
            <a:endParaRPr lang="da-DK"/>
          </a:p>
        </p:txBody>
      </p:sp>
      <p:sp>
        <p:nvSpPr>
          <p:cNvPr id="52" name="TextBox 52"/>
          <p:cNvSpPr txBox="1"/>
          <p:nvPr/>
        </p:nvSpPr>
        <p:spPr>
          <a:xfrm>
            <a:off x="6921627" y="4903470"/>
            <a:ext cx="1968246" cy="182880"/>
          </a:xfrm>
          <a:prstGeom prst="rect">
            <a:avLst/>
          </a:prstGeom>
          <a:noFill/>
          <a:ln>
            <a:noFill/>
          </a:ln>
        </p:spPr>
        <p:txBody>
          <a:bodyPr wrap="none" lIns="0" tIns="0" rIns="0" bIns="0" anchor="t" anchorCtr="0">
            <a:spAutoFit/>
          </a:bodyPr>
          <a:lstStyle/>
          <a:p>
            <a:pPr algn="ctr"/>
            <a:r>
              <a:rPr lang="zh-CN" sz="900" dirty="0">
                <a:solidFill>
                  <a:srgbClr val="586A68"/>
                </a:solidFill>
                <a:latin typeface="Segoe UI"/>
                <a:ea typeface="Microsoft YaHei"/>
                <a:cs typeface="Segoe UI"/>
              </a:rPr>
              <a:t>PIM ↔ Channels (two-way, API)</a:t>
            </a:r>
          </a:p>
        </p:txBody>
      </p:sp>
      <p:sp>
        <p:nvSpPr>
          <p:cNvPr id="53" name="TextBox 53"/>
          <p:cNvSpPr txBox="1"/>
          <p:nvPr/>
        </p:nvSpPr>
        <p:spPr>
          <a:xfrm>
            <a:off x="559118" y="5704999"/>
            <a:ext cx="758613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Nguyên tắc: D365 là master cho dữ liệu thương mại/vận hành. PIM là master cho nội dung marketing và assets.</a:t>
            </a:r>
          </a:p>
        </p:txBody>
      </p:sp>
      <p:sp>
        <p:nvSpPr>
          <p:cNvPr id="54" name="TextBox 54"/>
          <p:cNvSpPr txBox="1"/>
          <p:nvPr/>
        </p:nvSpPr>
        <p:spPr>
          <a:xfrm>
            <a:off x="559118" y="5943124"/>
            <a:ext cx="556407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Conflict resolution: D365 wins cho commercial data, PIM wins cho content data.</a:t>
            </a:r>
          </a:p>
        </p:txBody>
      </p:sp>
      <p:sp>
        <p:nvSpPr>
          <p:cNvPr id="55" name="TextBox 55"/>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3</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069467"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02 / Workflow</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547477"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New Product Workflow</a:t>
            </a:r>
          </a:p>
        </p:txBody>
      </p:sp>
      <p:sp>
        <p:nvSpPr>
          <p:cNvPr id="7" name="Rectangle 7"/>
          <p:cNvSpPr/>
          <p:nvPr/>
        </p:nvSpPr>
        <p:spPr>
          <a:xfrm>
            <a:off x="571500" y="1333500"/>
            <a:ext cx="2095500" cy="476250"/>
          </a:xfrm>
          <a:prstGeom prst="roundRect">
            <a:avLst>
              <a:gd name="adj" fmla="val 12000"/>
            </a:avLst>
          </a:prstGeom>
          <a:solidFill>
            <a:srgbClr val="586A68"/>
          </a:solidFill>
          <a:ln>
            <a:noFill/>
          </a:ln>
        </p:spPr>
        <p:txBody>
          <a:bodyPr/>
          <a:lstStyle/>
          <a:p>
            <a:endParaRPr lang="da-DK"/>
          </a:p>
        </p:txBody>
      </p:sp>
      <p:sp>
        <p:nvSpPr>
          <p:cNvPr id="8" name="TextBox 8"/>
          <p:cNvSpPr txBox="1"/>
          <p:nvPr/>
        </p:nvSpPr>
        <p:spPr>
          <a:xfrm>
            <a:off x="1121687" y="1434941"/>
            <a:ext cx="995127"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1. Product Team</a:t>
            </a:r>
          </a:p>
        </p:txBody>
      </p:sp>
      <p:sp>
        <p:nvSpPr>
          <p:cNvPr id="9" name="TextBox 9"/>
          <p:cNvSpPr txBox="1"/>
          <p:nvPr/>
        </p:nvSpPr>
        <p:spPr>
          <a:xfrm>
            <a:off x="870347" y="1604962"/>
            <a:ext cx="149780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Tạo Range, Master, Variant</a:t>
            </a:r>
          </a:p>
        </p:txBody>
      </p:sp>
      <p:sp>
        <p:nvSpPr>
          <p:cNvPr id="10" name="Line 10"/>
          <p:cNvSpPr/>
          <p:nvPr/>
        </p:nvSpPr>
        <p:spPr>
          <a:xfrm>
            <a:off x="2667000" y="1571625"/>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11" name="Polygon 11"/>
          <p:cNvSpPr/>
          <p:nvPr/>
        </p:nvSpPr>
        <p:spPr>
          <a:xfrm>
            <a:off x="2924175" y="1524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12" name="Rectangle 12"/>
          <p:cNvSpPr/>
          <p:nvPr/>
        </p:nvSpPr>
        <p:spPr>
          <a:xfrm>
            <a:off x="3048000" y="1333500"/>
            <a:ext cx="2095500" cy="476250"/>
          </a:xfrm>
          <a:prstGeom prst="roundRect">
            <a:avLst>
              <a:gd name="adj" fmla="val 12000"/>
            </a:avLst>
          </a:prstGeom>
          <a:solidFill>
            <a:srgbClr val="753438"/>
          </a:solidFill>
          <a:ln>
            <a:noFill/>
          </a:ln>
        </p:spPr>
        <p:txBody>
          <a:bodyPr/>
          <a:lstStyle/>
          <a:p>
            <a:endParaRPr lang="da-DK"/>
          </a:p>
        </p:txBody>
      </p:sp>
      <p:sp>
        <p:nvSpPr>
          <p:cNvPr id="13" name="TextBox 13"/>
          <p:cNvSpPr txBox="1"/>
          <p:nvPr/>
        </p:nvSpPr>
        <p:spPr>
          <a:xfrm>
            <a:off x="3699399" y="1434941"/>
            <a:ext cx="792701"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2. D365 Sync</a:t>
            </a:r>
          </a:p>
        </p:txBody>
      </p:sp>
      <p:sp>
        <p:nvSpPr>
          <p:cNvPr id="14" name="TextBox 14"/>
          <p:cNvSpPr txBox="1"/>
          <p:nvPr/>
        </p:nvSpPr>
        <p:spPr>
          <a:xfrm>
            <a:off x="3179802" y="1604962"/>
            <a:ext cx="183189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Item, Price, Dimensions, Designer</a:t>
            </a:r>
          </a:p>
        </p:txBody>
      </p:sp>
      <p:sp>
        <p:nvSpPr>
          <p:cNvPr id="15" name="Line 15"/>
          <p:cNvSpPr/>
          <p:nvPr/>
        </p:nvSpPr>
        <p:spPr>
          <a:xfrm>
            <a:off x="5143500" y="1571625"/>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16" name="Polygon 16"/>
          <p:cNvSpPr/>
          <p:nvPr/>
        </p:nvSpPr>
        <p:spPr>
          <a:xfrm>
            <a:off x="5400675" y="1524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17" name="Rectangle 17"/>
          <p:cNvSpPr/>
          <p:nvPr/>
        </p:nvSpPr>
        <p:spPr>
          <a:xfrm>
            <a:off x="5524500" y="1333500"/>
            <a:ext cx="2095500" cy="476250"/>
          </a:xfrm>
          <a:prstGeom prst="roundRect">
            <a:avLst>
              <a:gd name="adj" fmla="val 12000"/>
            </a:avLst>
          </a:prstGeom>
          <a:solidFill>
            <a:srgbClr val="C1856B"/>
          </a:solidFill>
          <a:ln>
            <a:noFill/>
          </a:ln>
        </p:spPr>
        <p:txBody>
          <a:bodyPr/>
          <a:lstStyle/>
          <a:p>
            <a:endParaRPr lang="da-DK"/>
          </a:p>
        </p:txBody>
      </p:sp>
      <p:sp>
        <p:nvSpPr>
          <p:cNvPr id="18" name="TextBox 18"/>
          <p:cNvSpPr txBox="1"/>
          <p:nvPr/>
        </p:nvSpPr>
        <p:spPr>
          <a:xfrm>
            <a:off x="6163248" y="1434941"/>
            <a:ext cx="818005"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3. Marketing</a:t>
            </a:r>
          </a:p>
        </p:txBody>
      </p:sp>
      <p:sp>
        <p:nvSpPr>
          <p:cNvPr id="19" name="TextBox 19"/>
          <p:cNvSpPr txBox="1"/>
          <p:nvPr/>
        </p:nvSpPr>
        <p:spPr>
          <a:xfrm>
            <a:off x="5790486" y="1604962"/>
            <a:ext cx="156352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Images, Videos, Descriptions</a:t>
            </a:r>
          </a:p>
        </p:txBody>
      </p:sp>
      <p:sp>
        <p:nvSpPr>
          <p:cNvPr id="20" name="Line 20"/>
          <p:cNvSpPr/>
          <p:nvPr/>
        </p:nvSpPr>
        <p:spPr>
          <a:xfrm>
            <a:off x="7620000" y="1571625"/>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21" name="Polygon 21"/>
          <p:cNvSpPr/>
          <p:nvPr/>
        </p:nvSpPr>
        <p:spPr>
          <a:xfrm>
            <a:off x="7877175" y="1524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22" name="Rectangle 22"/>
          <p:cNvSpPr/>
          <p:nvPr/>
        </p:nvSpPr>
        <p:spPr>
          <a:xfrm>
            <a:off x="8001000" y="1333500"/>
            <a:ext cx="2095500" cy="476250"/>
          </a:xfrm>
          <a:prstGeom prst="roundRect">
            <a:avLst>
              <a:gd name="adj" fmla="val 12000"/>
            </a:avLst>
          </a:prstGeom>
          <a:solidFill>
            <a:srgbClr val="586A68">
              <a:alpha val="80000"/>
            </a:srgbClr>
          </a:solidFill>
          <a:ln>
            <a:noFill/>
          </a:ln>
        </p:spPr>
        <p:txBody>
          <a:bodyPr/>
          <a:lstStyle/>
          <a:p>
            <a:endParaRPr lang="da-DK"/>
          </a:p>
        </p:txBody>
      </p:sp>
      <p:sp>
        <p:nvSpPr>
          <p:cNvPr id="23" name="TextBox 23"/>
          <p:cNvSpPr txBox="1"/>
          <p:nvPr/>
        </p:nvSpPr>
        <p:spPr>
          <a:xfrm>
            <a:off x="8497417" y="1434941"/>
            <a:ext cx="1102665"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4. Technical Team</a:t>
            </a:r>
          </a:p>
        </p:txBody>
      </p:sp>
      <p:sp>
        <p:nvSpPr>
          <p:cNvPr id="24" name="TextBox 24"/>
          <p:cNvSpPr txBox="1"/>
          <p:nvPr/>
        </p:nvSpPr>
        <p:spPr>
          <a:xfrm>
            <a:off x="8390215" y="1604962"/>
            <a:ext cx="131706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CAD, Sheets, Compliance</a:t>
            </a:r>
          </a:p>
        </p:txBody>
      </p:sp>
      <p:sp>
        <p:nvSpPr>
          <p:cNvPr id="25" name="Line 25"/>
          <p:cNvSpPr/>
          <p:nvPr/>
        </p:nvSpPr>
        <p:spPr>
          <a:xfrm>
            <a:off x="9048750" y="1809750"/>
            <a:ext cx="9525" cy="381000"/>
          </a:xfrm>
          <a:custGeom>
            <a:avLst/>
            <a:gdLst/>
            <a:ahLst/>
            <a:cxnLst/>
            <a:rect l="l" t="t" r="r" b="b"/>
            <a:pathLst>
              <a:path w="9525" h="381000">
                <a:moveTo>
                  <a:pt x="0" y="0"/>
                </a:moveTo>
                <a:lnTo>
                  <a:pt x="0" y="381000"/>
                </a:lnTo>
              </a:path>
            </a:pathLst>
          </a:custGeom>
          <a:noFill/>
          <a:ln w="14288">
            <a:solidFill>
              <a:srgbClr val="88817E"/>
            </a:solidFill>
          </a:ln>
        </p:spPr>
        <p:txBody>
          <a:bodyPr/>
          <a:lstStyle/>
          <a:p>
            <a:endParaRPr lang="da-DK"/>
          </a:p>
        </p:txBody>
      </p:sp>
      <p:sp>
        <p:nvSpPr>
          <p:cNvPr id="26" name="Polygon 26"/>
          <p:cNvSpPr/>
          <p:nvPr/>
        </p:nvSpPr>
        <p:spPr>
          <a:xfrm>
            <a:off x="8991600" y="21621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27" name="Rectangle 27"/>
          <p:cNvSpPr/>
          <p:nvPr/>
        </p:nvSpPr>
        <p:spPr>
          <a:xfrm>
            <a:off x="8001000" y="2286000"/>
            <a:ext cx="2095500" cy="476250"/>
          </a:xfrm>
          <a:prstGeom prst="roundRect">
            <a:avLst>
              <a:gd name="adj" fmla="val 12000"/>
            </a:avLst>
          </a:prstGeom>
          <a:solidFill>
            <a:srgbClr val="B6ADA4"/>
          </a:solidFill>
          <a:ln>
            <a:noFill/>
          </a:ln>
        </p:spPr>
        <p:txBody>
          <a:bodyPr/>
          <a:lstStyle/>
          <a:p>
            <a:endParaRPr lang="da-DK"/>
          </a:p>
        </p:txBody>
      </p:sp>
      <p:sp>
        <p:nvSpPr>
          <p:cNvPr id="28" name="TextBox 28"/>
          <p:cNvSpPr txBox="1"/>
          <p:nvPr/>
        </p:nvSpPr>
        <p:spPr>
          <a:xfrm>
            <a:off x="8459463" y="2387441"/>
            <a:ext cx="1178575"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5. Material Linking</a:t>
            </a:r>
          </a:p>
        </p:txBody>
      </p:sp>
      <p:sp>
        <p:nvSpPr>
          <p:cNvPr id="29" name="TextBox 29"/>
          <p:cNvSpPr txBox="1"/>
          <p:nvPr/>
        </p:nvSpPr>
        <p:spPr>
          <a:xfrm>
            <a:off x="8294370" y="2557462"/>
            <a:ext cx="1508760"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Liên kết Material → Variants</a:t>
            </a:r>
          </a:p>
        </p:txBody>
      </p:sp>
      <p:sp>
        <p:nvSpPr>
          <p:cNvPr id="30" name="Line 30"/>
          <p:cNvSpPr/>
          <p:nvPr/>
        </p:nvSpPr>
        <p:spPr>
          <a:xfrm>
            <a:off x="7715250" y="2524125"/>
            <a:ext cx="285750" cy="9525"/>
          </a:xfrm>
          <a:custGeom>
            <a:avLst/>
            <a:gdLst/>
            <a:ahLst/>
            <a:cxnLst/>
            <a:rect l="l" t="t" r="r" b="b"/>
            <a:pathLst>
              <a:path w="285750" h="9525">
                <a:moveTo>
                  <a:pt x="285750" y="0"/>
                </a:moveTo>
                <a:lnTo>
                  <a:pt x="0" y="0"/>
                </a:lnTo>
              </a:path>
            </a:pathLst>
          </a:custGeom>
          <a:noFill/>
          <a:ln w="14288">
            <a:solidFill>
              <a:srgbClr val="88817E"/>
            </a:solidFill>
          </a:ln>
        </p:spPr>
        <p:txBody>
          <a:bodyPr/>
          <a:lstStyle/>
          <a:p>
            <a:endParaRPr lang="da-DK"/>
          </a:p>
        </p:txBody>
      </p:sp>
      <p:sp>
        <p:nvSpPr>
          <p:cNvPr id="31" name="Polygon 31"/>
          <p:cNvSpPr/>
          <p:nvPr/>
        </p:nvSpPr>
        <p:spPr>
          <a:xfrm>
            <a:off x="7648575" y="2476500"/>
            <a:ext cx="95250" cy="95250"/>
          </a:xfrm>
          <a:custGeom>
            <a:avLst/>
            <a:gdLst/>
            <a:ahLst/>
            <a:cxnLst/>
            <a:rect l="l" t="t" r="r" b="b"/>
            <a:pathLst>
              <a:path w="95250" h="95250">
                <a:moveTo>
                  <a:pt x="95250" y="0"/>
                </a:moveTo>
                <a:lnTo>
                  <a:pt x="0" y="47625"/>
                </a:lnTo>
                <a:lnTo>
                  <a:pt x="95250" y="95250"/>
                </a:lnTo>
                <a:close/>
              </a:path>
            </a:pathLst>
          </a:custGeom>
          <a:solidFill>
            <a:srgbClr val="88817E"/>
          </a:solidFill>
          <a:ln>
            <a:noFill/>
          </a:ln>
        </p:spPr>
        <p:txBody>
          <a:bodyPr/>
          <a:lstStyle/>
          <a:p>
            <a:endParaRPr lang="da-DK"/>
          </a:p>
        </p:txBody>
      </p:sp>
      <p:sp>
        <p:nvSpPr>
          <p:cNvPr id="32" name="Rectangle 32"/>
          <p:cNvSpPr/>
          <p:nvPr/>
        </p:nvSpPr>
        <p:spPr>
          <a:xfrm>
            <a:off x="5524500" y="2286000"/>
            <a:ext cx="2095500" cy="476250"/>
          </a:xfrm>
          <a:prstGeom prst="roundRect">
            <a:avLst>
              <a:gd name="adj" fmla="val 12000"/>
            </a:avLst>
          </a:prstGeom>
          <a:solidFill>
            <a:srgbClr val="586A68">
              <a:alpha val="60000"/>
            </a:srgbClr>
          </a:solidFill>
          <a:ln>
            <a:noFill/>
          </a:ln>
        </p:spPr>
        <p:txBody>
          <a:bodyPr/>
          <a:lstStyle/>
          <a:p>
            <a:endParaRPr lang="da-DK"/>
          </a:p>
        </p:txBody>
      </p:sp>
      <p:sp>
        <p:nvSpPr>
          <p:cNvPr id="33" name="TextBox 33"/>
          <p:cNvSpPr txBox="1"/>
          <p:nvPr/>
        </p:nvSpPr>
        <p:spPr>
          <a:xfrm>
            <a:off x="6207528" y="2387441"/>
            <a:ext cx="72944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6. AI Engine</a:t>
            </a:r>
          </a:p>
        </p:txBody>
      </p:sp>
      <p:sp>
        <p:nvSpPr>
          <p:cNvPr id="34" name="TextBox 34"/>
          <p:cNvSpPr txBox="1"/>
          <p:nvPr/>
        </p:nvSpPr>
        <p:spPr>
          <a:xfrm>
            <a:off x="5727502" y="2557462"/>
            <a:ext cx="1689497"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Draft Descriptions, USPs, Care</a:t>
            </a:r>
          </a:p>
        </p:txBody>
      </p:sp>
      <p:sp>
        <p:nvSpPr>
          <p:cNvPr id="35" name="Line 35"/>
          <p:cNvSpPr/>
          <p:nvPr/>
        </p:nvSpPr>
        <p:spPr>
          <a:xfrm>
            <a:off x="5238750" y="2524125"/>
            <a:ext cx="285750" cy="9525"/>
          </a:xfrm>
          <a:custGeom>
            <a:avLst/>
            <a:gdLst/>
            <a:ahLst/>
            <a:cxnLst/>
            <a:rect l="l" t="t" r="r" b="b"/>
            <a:pathLst>
              <a:path w="285750" h="9525">
                <a:moveTo>
                  <a:pt x="285750" y="0"/>
                </a:moveTo>
                <a:lnTo>
                  <a:pt x="0" y="0"/>
                </a:lnTo>
              </a:path>
            </a:pathLst>
          </a:custGeom>
          <a:noFill/>
          <a:ln w="14288">
            <a:solidFill>
              <a:srgbClr val="88817E"/>
            </a:solidFill>
          </a:ln>
        </p:spPr>
        <p:txBody>
          <a:bodyPr/>
          <a:lstStyle/>
          <a:p>
            <a:endParaRPr lang="da-DK"/>
          </a:p>
        </p:txBody>
      </p:sp>
      <p:sp>
        <p:nvSpPr>
          <p:cNvPr id="36" name="Polygon 36"/>
          <p:cNvSpPr/>
          <p:nvPr/>
        </p:nvSpPr>
        <p:spPr>
          <a:xfrm>
            <a:off x="5172075" y="2476500"/>
            <a:ext cx="95250" cy="95250"/>
          </a:xfrm>
          <a:custGeom>
            <a:avLst/>
            <a:gdLst/>
            <a:ahLst/>
            <a:cxnLst/>
            <a:rect l="l" t="t" r="r" b="b"/>
            <a:pathLst>
              <a:path w="95250" h="95250">
                <a:moveTo>
                  <a:pt x="95250" y="0"/>
                </a:moveTo>
                <a:lnTo>
                  <a:pt x="0" y="47625"/>
                </a:lnTo>
                <a:lnTo>
                  <a:pt x="95250" y="95250"/>
                </a:lnTo>
                <a:close/>
              </a:path>
            </a:pathLst>
          </a:custGeom>
          <a:solidFill>
            <a:srgbClr val="88817E"/>
          </a:solidFill>
          <a:ln>
            <a:noFill/>
          </a:ln>
        </p:spPr>
        <p:txBody>
          <a:bodyPr/>
          <a:lstStyle/>
          <a:p>
            <a:endParaRPr lang="da-DK"/>
          </a:p>
        </p:txBody>
      </p:sp>
      <p:sp>
        <p:nvSpPr>
          <p:cNvPr id="37" name="Rectangle 37"/>
          <p:cNvSpPr/>
          <p:nvPr/>
        </p:nvSpPr>
        <p:spPr>
          <a:xfrm>
            <a:off x="3048000" y="2286000"/>
            <a:ext cx="2095500" cy="476250"/>
          </a:xfrm>
          <a:prstGeom prst="roundRect">
            <a:avLst>
              <a:gd name="adj" fmla="val 12000"/>
            </a:avLst>
          </a:prstGeom>
          <a:solidFill>
            <a:srgbClr val="E2C8BD"/>
          </a:solidFill>
          <a:ln>
            <a:noFill/>
          </a:ln>
        </p:spPr>
        <p:txBody>
          <a:bodyPr/>
          <a:lstStyle/>
          <a:p>
            <a:endParaRPr lang="da-DK"/>
          </a:p>
        </p:txBody>
      </p:sp>
      <p:sp>
        <p:nvSpPr>
          <p:cNvPr id="38" name="TextBox 38"/>
          <p:cNvSpPr txBox="1"/>
          <p:nvPr/>
        </p:nvSpPr>
        <p:spPr>
          <a:xfrm>
            <a:off x="3474834" y="2387441"/>
            <a:ext cx="1241833"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7. Review &amp; Approve</a:t>
            </a:r>
          </a:p>
        </p:txBody>
      </p:sp>
      <p:sp>
        <p:nvSpPr>
          <p:cNvPr id="39" name="TextBox 39"/>
          <p:cNvSpPr txBox="1"/>
          <p:nvPr/>
        </p:nvSpPr>
        <p:spPr>
          <a:xfrm>
            <a:off x="3437215" y="2557462"/>
            <a:ext cx="1317069"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Human approval required</a:t>
            </a:r>
          </a:p>
        </p:txBody>
      </p:sp>
      <p:sp>
        <p:nvSpPr>
          <p:cNvPr id="40" name="Line 40"/>
          <p:cNvSpPr/>
          <p:nvPr/>
        </p:nvSpPr>
        <p:spPr>
          <a:xfrm>
            <a:off x="2762250" y="2524125"/>
            <a:ext cx="285750" cy="9525"/>
          </a:xfrm>
          <a:custGeom>
            <a:avLst/>
            <a:gdLst/>
            <a:ahLst/>
            <a:cxnLst/>
            <a:rect l="l" t="t" r="r" b="b"/>
            <a:pathLst>
              <a:path w="285750" h="9525">
                <a:moveTo>
                  <a:pt x="285750" y="0"/>
                </a:moveTo>
                <a:lnTo>
                  <a:pt x="0" y="0"/>
                </a:lnTo>
              </a:path>
            </a:pathLst>
          </a:custGeom>
          <a:noFill/>
          <a:ln w="14288">
            <a:solidFill>
              <a:srgbClr val="88817E"/>
            </a:solidFill>
          </a:ln>
        </p:spPr>
        <p:txBody>
          <a:bodyPr/>
          <a:lstStyle/>
          <a:p>
            <a:endParaRPr lang="da-DK"/>
          </a:p>
        </p:txBody>
      </p:sp>
      <p:sp>
        <p:nvSpPr>
          <p:cNvPr id="41" name="Polygon 41"/>
          <p:cNvSpPr/>
          <p:nvPr/>
        </p:nvSpPr>
        <p:spPr>
          <a:xfrm>
            <a:off x="2695575" y="2476500"/>
            <a:ext cx="95250" cy="95250"/>
          </a:xfrm>
          <a:custGeom>
            <a:avLst/>
            <a:gdLst/>
            <a:ahLst/>
            <a:cxnLst/>
            <a:rect l="l" t="t" r="r" b="b"/>
            <a:pathLst>
              <a:path w="95250" h="95250">
                <a:moveTo>
                  <a:pt x="95250" y="0"/>
                </a:moveTo>
                <a:lnTo>
                  <a:pt x="0" y="47625"/>
                </a:lnTo>
                <a:lnTo>
                  <a:pt x="95250" y="95250"/>
                </a:lnTo>
                <a:close/>
              </a:path>
            </a:pathLst>
          </a:custGeom>
          <a:solidFill>
            <a:srgbClr val="88817E"/>
          </a:solidFill>
          <a:ln>
            <a:noFill/>
          </a:ln>
        </p:spPr>
        <p:txBody>
          <a:bodyPr/>
          <a:lstStyle/>
          <a:p>
            <a:endParaRPr lang="da-DK"/>
          </a:p>
        </p:txBody>
      </p:sp>
      <p:sp>
        <p:nvSpPr>
          <p:cNvPr id="42" name="Rectangle 42"/>
          <p:cNvSpPr/>
          <p:nvPr/>
        </p:nvSpPr>
        <p:spPr>
          <a:xfrm>
            <a:off x="571500" y="2286000"/>
            <a:ext cx="2095500" cy="476250"/>
          </a:xfrm>
          <a:prstGeom prst="roundRect">
            <a:avLst>
              <a:gd name="adj" fmla="val 12000"/>
            </a:avLst>
          </a:prstGeom>
          <a:solidFill>
            <a:srgbClr val="959B94"/>
          </a:solidFill>
          <a:ln>
            <a:noFill/>
          </a:ln>
        </p:spPr>
        <p:txBody>
          <a:bodyPr/>
          <a:lstStyle/>
          <a:p>
            <a:endParaRPr lang="da-DK"/>
          </a:p>
        </p:txBody>
      </p:sp>
      <p:sp>
        <p:nvSpPr>
          <p:cNvPr id="43" name="TextBox 43"/>
          <p:cNvSpPr txBox="1"/>
          <p:nvPr/>
        </p:nvSpPr>
        <p:spPr>
          <a:xfrm>
            <a:off x="868655" y="2387441"/>
            <a:ext cx="1501190"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8. Ready for Publication</a:t>
            </a:r>
          </a:p>
        </p:txBody>
      </p:sp>
      <p:sp>
        <p:nvSpPr>
          <p:cNvPr id="44" name="TextBox 44"/>
          <p:cNvSpPr txBox="1"/>
          <p:nvPr/>
        </p:nvSpPr>
        <p:spPr>
          <a:xfrm>
            <a:off x="911423" y="2557462"/>
            <a:ext cx="1415653"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All required data complete</a:t>
            </a:r>
          </a:p>
        </p:txBody>
      </p:sp>
      <p:sp>
        <p:nvSpPr>
          <p:cNvPr id="45" name="Line 45"/>
          <p:cNvSpPr/>
          <p:nvPr/>
        </p:nvSpPr>
        <p:spPr>
          <a:xfrm>
            <a:off x="1619250" y="2762250"/>
            <a:ext cx="9525" cy="381000"/>
          </a:xfrm>
          <a:custGeom>
            <a:avLst/>
            <a:gdLst/>
            <a:ahLst/>
            <a:cxnLst/>
            <a:rect l="l" t="t" r="r" b="b"/>
            <a:pathLst>
              <a:path w="9525" h="381000">
                <a:moveTo>
                  <a:pt x="0" y="0"/>
                </a:moveTo>
                <a:lnTo>
                  <a:pt x="0" y="381000"/>
                </a:lnTo>
              </a:path>
            </a:pathLst>
          </a:custGeom>
          <a:noFill/>
          <a:ln w="14288">
            <a:solidFill>
              <a:srgbClr val="88817E"/>
            </a:solidFill>
          </a:ln>
        </p:spPr>
        <p:txBody>
          <a:bodyPr/>
          <a:lstStyle/>
          <a:p>
            <a:endParaRPr lang="da-DK"/>
          </a:p>
        </p:txBody>
      </p:sp>
      <p:sp>
        <p:nvSpPr>
          <p:cNvPr id="46" name="Polygon 46"/>
          <p:cNvSpPr/>
          <p:nvPr/>
        </p:nvSpPr>
        <p:spPr>
          <a:xfrm>
            <a:off x="1562100" y="31146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47" name="Rectangle 47"/>
          <p:cNvSpPr/>
          <p:nvPr/>
        </p:nvSpPr>
        <p:spPr>
          <a:xfrm>
            <a:off x="571500" y="3238500"/>
            <a:ext cx="2095500" cy="476250"/>
          </a:xfrm>
          <a:prstGeom prst="roundRect">
            <a:avLst>
              <a:gd name="adj" fmla="val 12000"/>
            </a:avLst>
          </a:prstGeom>
          <a:solidFill>
            <a:srgbClr val="586A68"/>
          </a:solidFill>
          <a:ln>
            <a:noFill/>
          </a:ln>
        </p:spPr>
        <p:txBody>
          <a:bodyPr/>
          <a:lstStyle/>
          <a:p>
            <a:endParaRPr lang="da-DK"/>
          </a:p>
        </p:txBody>
      </p:sp>
      <p:sp>
        <p:nvSpPr>
          <p:cNvPr id="48" name="TextBox 48"/>
          <p:cNvSpPr txBox="1"/>
          <p:nvPr/>
        </p:nvSpPr>
        <p:spPr>
          <a:xfrm>
            <a:off x="1203922" y="3339941"/>
            <a:ext cx="830656"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9. Distribute</a:t>
            </a:r>
          </a:p>
        </p:txBody>
      </p:sp>
      <p:sp>
        <p:nvSpPr>
          <p:cNvPr id="49" name="TextBox 49"/>
          <p:cNvSpPr txBox="1"/>
          <p:nvPr/>
        </p:nvSpPr>
        <p:spPr>
          <a:xfrm>
            <a:off x="736163" y="3509962"/>
            <a:ext cx="1766173"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Website, iPaper, B2B, Quotation</a:t>
            </a:r>
          </a:p>
        </p:txBody>
      </p:sp>
      <p:sp>
        <p:nvSpPr>
          <p:cNvPr id="50" name="Line 50"/>
          <p:cNvSpPr/>
          <p:nvPr/>
        </p:nvSpPr>
        <p:spPr>
          <a:xfrm>
            <a:off x="2667000" y="3476625"/>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51" name="Polygon 51"/>
          <p:cNvSpPr/>
          <p:nvPr/>
        </p:nvSpPr>
        <p:spPr>
          <a:xfrm>
            <a:off x="2924175" y="3429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52" name="Rectangle 52"/>
          <p:cNvSpPr/>
          <p:nvPr/>
        </p:nvSpPr>
        <p:spPr>
          <a:xfrm>
            <a:off x="3048000" y="3238500"/>
            <a:ext cx="2095500" cy="476250"/>
          </a:xfrm>
          <a:prstGeom prst="roundRect">
            <a:avLst>
              <a:gd name="adj" fmla="val 12000"/>
            </a:avLst>
          </a:prstGeom>
          <a:solidFill>
            <a:srgbClr val="88817E"/>
          </a:solidFill>
          <a:ln>
            <a:noFill/>
          </a:ln>
        </p:spPr>
        <p:txBody>
          <a:bodyPr/>
          <a:lstStyle/>
          <a:p>
            <a:endParaRPr lang="da-DK"/>
          </a:p>
        </p:txBody>
      </p:sp>
      <p:sp>
        <p:nvSpPr>
          <p:cNvPr id="53" name="TextBox 53"/>
          <p:cNvSpPr txBox="1"/>
          <p:nvPr/>
        </p:nvSpPr>
        <p:spPr>
          <a:xfrm>
            <a:off x="3522277" y="3339941"/>
            <a:ext cx="1146946"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10. Usage Tracking</a:t>
            </a:r>
          </a:p>
        </p:txBody>
      </p:sp>
      <p:sp>
        <p:nvSpPr>
          <p:cNvPr id="54" name="TextBox 54"/>
          <p:cNvSpPr txBox="1"/>
          <p:nvPr/>
        </p:nvSpPr>
        <p:spPr>
          <a:xfrm>
            <a:off x="3481030" y="3509962"/>
            <a:ext cx="122943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Log where data is used</a:t>
            </a:r>
          </a:p>
        </p:txBody>
      </p:sp>
      <p:sp>
        <p:nvSpPr>
          <p:cNvPr id="55" name="Freeform 55"/>
          <p:cNvSpPr/>
          <p:nvPr/>
        </p:nvSpPr>
        <p:spPr>
          <a:xfrm>
            <a:off x="4095750" y="2095500"/>
            <a:ext cx="2476500" cy="190500"/>
          </a:xfrm>
          <a:custGeom>
            <a:avLst/>
            <a:gdLst/>
            <a:ahLst/>
            <a:cxnLst/>
            <a:rect l="l" t="t" r="r" b="b"/>
            <a:pathLst>
              <a:path w="2476500" h="190500">
                <a:moveTo>
                  <a:pt x="0" y="190500"/>
                </a:moveTo>
                <a:lnTo>
                  <a:pt x="0" y="0"/>
                </a:lnTo>
                <a:lnTo>
                  <a:pt x="2476500" y="0"/>
                </a:lnTo>
                <a:lnTo>
                  <a:pt x="2476500" y="190500"/>
                </a:lnTo>
              </a:path>
            </a:pathLst>
          </a:custGeom>
          <a:noFill/>
          <a:ln w="14288">
            <a:solidFill>
              <a:srgbClr val="753438"/>
            </a:solidFill>
            <a:custDash>
              <a:ds d="266666" sp="200000"/>
            </a:custDash>
          </a:ln>
        </p:spPr>
        <p:txBody>
          <a:bodyPr/>
          <a:lstStyle/>
          <a:p>
            <a:endParaRPr lang="da-DK"/>
          </a:p>
        </p:txBody>
      </p:sp>
      <p:sp>
        <p:nvSpPr>
          <p:cNvPr id="56" name="TextBox 56"/>
          <p:cNvSpPr txBox="1"/>
          <p:nvPr/>
        </p:nvSpPr>
        <p:spPr>
          <a:xfrm>
            <a:off x="4867156" y="1966912"/>
            <a:ext cx="933688" cy="152400"/>
          </a:xfrm>
          <a:prstGeom prst="rect">
            <a:avLst/>
          </a:prstGeom>
          <a:noFill/>
          <a:ln>
            <a:noFill/>
          </a:ln>
        </p:spPr>
        <p:txBody>
          <a:bodyPr wrap="none" lIns="0" tIns="0" rIns="0" bIns="0" anchor="t" anchorCtr="0">
            <a:spAutoFit/>
          </a:bodyPr>
          <a:lstStyle/>
          <a:p>
            <a:pPr algn="ctr"/>
            <a:r>
              <a:rPr lang="zh-CN" sz="750" dirty="0">
                <a:solidFill>
                  <a:srgbClr val="753438"/>
                </a:solidFill>
                <a:latin typeface="Segoe UI"/>
                <a:ea typeface="Microsoft YaHei"/>
                <a:cs typeface="Segoe UI"/>
              </a:rPr>
              <a:t>Rejected → Revise</a:t>
            </a:r>
          </a:p>
        </p:txBody>
      </p:sp>
      <p:sp>
        <p:nvSpPr>
          <p:cNvPr id="57" name="TextBox 57"/>
          <p:cNvSpPr txBox="1"/>
          <p:nvPr/>
        </p:nvSpPr>
        <p:spPr>
          <a:xfrm>
            <a:off x="558165" y="4172902"/>
            <a:ext cx="1846197"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Phân công trách nhiệm:</a:t>
            </a:r>
          </a:p>
        </p:txBody>
      </p:sp>
      <p:sp>
        <p:nvSpPr>
          <p:cNvPr id="58" name="Rectangle 58"/>
          <p:cNvSpPr/>
          <p:nvPr/>
        </p:nvSpPr>
        <p:spPr>
          <a:xfrm>
            <a:off x="571500" y="4476750"/>
            <a:ext cx="133350" cy="133350"/>
          </a:xfrm>
          <a:prstGeom prst="roundRect">
            <a:avLst>
              <a:gd name="adj" fmla="val 21429"/>
            </a:avLst>
          </a:prstGeom>
          <a:solidFill>
            <a:srgbClr val="586A68"/>
          </a:solidFill>
          <a:ln>
            <a:noFill/>
          </a:ln>
        </p:spPr>
        <p:txBody>
          <a:bodyPr/>
          <a:lstStyle/>
          <a:p>
            <a:endParaRPr lang="da-DK"/>
          </a:p>
        </p:txBody>
      </p:sp>
      <p:sp>
        <p:nvSpPr>
          <p:cNvPr id="59" name="TextBox 59"/>
          <p:cNvSpPr txBox="1"/>
          <p:nvPr/>
        </p:nvSpPr>
        <p:spPr>
          <a:xfrm>
            <a:off x="769620" y="4493895"/>
            <a:ext cx="88382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Product Team</a:t>
            </a:r>
          </a:p>
        </p:txBody>
      </p:sp>
      <p:sp>
        <p:nvSpPr>
          <p:cNvPr id="60" name="Rectangle 60"/>
          <p:cNvSpPr/>
          <p:nvPr/>
        </p:nvSpPr>
        <p:spPr>
          <a:xfrm>
            <a:off x="1905000" y="4476750"/>
            <a:ext cx="133350" cy="133350"/>
          </a:xfrm>
          <a:prstGeom prst="roundRect">
            <a:avLst>
              <a:gd name="adj" fmla="val 21429"/>
            </a:avLst>
          </a:prstGeom>
          <a:solidFill>
            <a:srgbClr val="753438"/>
          </a:solidFill>
          <a:ln>
            <a:noFill/>
          </a:ln>
        </p:spPr>
        <p:txBody>
          <a:bodyPr/>
          <a:lstStyle/>
          <a:p>
            <a:endParaRPr lang="da-DK"/>
          </a:p>
        </p:txBody>
      </p:sp>
      <p:sp>
        <p:nvSpPr>
          <p:cNvPr id="61" name="TextBox 61"/>
          <p:cNvSpPr txBox="1"/>
          <p:nvPr/>
        </p:nvSpPr>
        <p:spPr>
          <a:xfrm>
            <a:off x="2103120" y="4493895"/>
            <a:ext cx="78524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D365 (Auto)</a:t>
            </a:r>
          </a:p>
        </p:txBody>
      </p:sp>
      <p:sp>
        <p:nvSpPr>
          <p:cNvPr id="62" name="Rectangle 62"/>
          <p:cNvSpPr/>
          <p:nvPr/>
        </p:nvSpPr>
        <p:spPr>
          <a:xfrm>
            <a:off x="3143250" y="4476750"/>
            <a:ext cx="133350" cy="133350"/>
          </a:xfrm>
          <a:prstGeom prst="roundRect">
            <a:avLst>
              <a:gd name="adj" fmla="val 21429"/>
            </a:avLst>
          </a:prstGeom>
          <a:solidFill>
            <a:srgbClr val="C1856B"/>
          </a:solidFill>
          <a:ln>
            <a:noFill/>
          </a:ln>
        </p:spPr>
        <p:txBody>
          <a:bodyPr/>
          <a:lstStyle/>
          <a:p>
            <a:endParaRPr lang="da-DK"/>
          </a:p>
        </p:txBody>
      </p:sp>
      <p:sp>
        <p:nvSpPr>
          <p:cNvPr id="63" name="TextBox 63"/>
          <p:cNvSpPr txBox="1"/>
          <p:nvPr/>
        </p:nvSpPr>
        <p:spPr>
          <a:xfrm>
            <a:off x="3341370" y="4493895"/>
            <a:ext cx="66694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Marketing</a:t>
            </a:r>
          </a:p>
        </p:txBody>
      </p:sp>
      <p:sp>
        <p:nvSpPr>
          <p:cNvPr id="64" name="Rectangle 64"/>
          <p:cNvSpPr/>
          <p:nvPr/>
        </p:nvSpPr>
        <p:spPr>
          <a:xfrm>
            <a:off x="4286250" y="4476750"/>
            <a:ext cx="133350" cy="133350"/>
          </a:xfrm>
          <a:prstGeom prst="roundRect">
            <a:avLst>
              <a:gd name="adj" fmla="val 21429"/>
            </a:avLst>
          </a:prstGeom>
          <a:solidFill>
            <a:srgbClr val="B6ADA4"/>
          </a:solidFill>
          <a:ln>
            <a:noFill/>
          </a:ln>
        </p:spPr>
        <p:txBody>
          <a:bodyPr/>
          <a:lstStyle/>
          <a:p>
            <a:endParaRPr lang="da-DK"/>
          </a:p>
        </p:txBody>
      </p:sp>
      <p:sp>
        <p:nvSpPr>
          <p:cNvPr id="65" name="TextBox 65"/>
          <p:cNvSpPr txBox="1"/>
          <p:nvPr/>
        </p:nvSpPr>
        <p:spPr>
          <a:xfrm>
            <a:off x="4484370" y="4493895"/>
            <a:ext cx="94297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Material Mgmt</a:t>
            </a:r>
          </a:p>
        </p:txBody>
      </p:sp>
      <p:sp>
        <p:nvSpPr>
          <p:cNvPr id="66" name="Rectangle 66"/>
          <p:cNvSpPr/>
          <p:nvPr/>
        </p:nvSpPr>
        <p:spPr>
          <a:xfrm>
            <a:off x="5715000" y="4476750"/>
            <a:ext cx="133350" cy="133350"/>
          </a:xfrm>
          <a:prstGeom prst="roundRect">
            <a:avLst>
              <a:gd name="adj" fmla="val 21429"/>
            </a:avLst>
          </a:prstGeom>
          <a:solidFill>
            <a:srgbClr val="E2C8BD"/>
          </a:solidFill>
          <a:ln>
            <a:noFill/>
          </a:ln>
        </p:spPr>
        <p:txBody>
          <a:bodyPr/>
          <a:lstStyle/>
          <a:p>
            <a:endParaRPr lang="da-DK"/>
          </a:p>
        </p:txBody>
      </p:sp>
      <p:sp>
        <p:nvSpPr>
          <p:cNvPr id="67" name="TextBox 67"/>
          <p:cNvSpPr txBox="1"/>
          <p:nvPr/>
        </p:nvSpPr>
        <p:spPr>
          <a:xfrm>
            <a:off x="5913120" y="4493895"/>
            <a:ext cx="56835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Approval</a:t>
            </a:r>
          </a:p>
        </p:txBody>
      </p:sp>
      <p:sp>
        <p:nvSpPr>
          <p:cNvPr id="68" name="Rectangle 68"/>
          <p:cNvSpPr/>
          <p:nvPr/>
        </p:nvSpPr>
        <p:spPr>
          <a:xfrm>
            <a:off x="6858000" y="4476750"/>
            <a:ext cx="133350" cy="133350"/>
          </a:xfrm>
          <a:prstGeom prst="roundRect">
            <a:avLst>
              <a:gd name="adj" fmla="val 21429"/>
            </a:avLst>
          </a:prstGeom>
          <a:solidFill>
            <a:srgbClr val="959B94"/>
          </a:solidFill>
          <a:ln>
            <a:noFill/>
          </a:ln>
        </p:spPr>
        <p:txBody>
          <a:bodyPr/>
          <a:lstStyle/>
          <a:p>
            <a:endParaRPr lang="da-DK"/>
          </a:p>
        </p:txBody>
      </p:sp>
      <p:sp>
        <p:nvSpPr>
          <p:cNvPr id="69" name="TextBox 69"/>
          <p:cNvSpPr txBox="1"/>
          <p:nvPr/>
        </p:nvSpPr>
        <p:spPr>
          <a:xfrm>
            <a:off x="7056120" y="4493895"/>
            <a:ext cx="71951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Publication</a:t>
            </a:r>
          </a:p>
        </p:txBody>
      </p:sp>
      <p:sp>
        <p:nvSpPr>
          <p:cNvPr id="70" name="Rectangle 70"/>
          <p:cNvSpPr/>
          <p:nvPr/>
        </p:nvSpPr>
        <p:spPr>
          <a:xfrm>
            <a:off x="571500" y="4857750"/>
            <a:ext cx="11049000" cy="571500"/>
          </a:xfrm>
          <a:prstGeom prst="roundRect">
            <a:avLst>
              <a:gd name="adj" fmla="val 13333"/>
            </a:avLst>
          </a:prstGeom>
          <a:solidFill>
            <a:srgbClr val="FFFFFF"/>
          </a:solidFill>
          <a:ln w="9525">
            <a:solidFill>
              <a:srgbClr val="586A68"/>
            </a:solidFill>
          </a:ln>
        </p:spPr>
        <p:txBody>
          <a:bodyPr/>
          <a:lstStyle/>
          <a:p>
            <a:endParaRPr lang="da-DK"/>
          </a:p>
        </p:txBody>
      </p:sp>
      <p:sp>
        <p:nvSpPr>
          <p:cNvPr id="71" name="TextBox 71"/>
          <p:cNvSpPr txBox="1"/>
          <p:nvPr/>
        </p:nvSpPr>
        <p:spPr>
          <a:xfrm>
            <a:off x="749618" y="4990624"/>
            <a:ext cx="899449"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Key Insight:</a:t>
            </a:r>
          </a:p>
        </p:txBody>
      </p:sp>
      <p:sp>
        <p:nvSpPr>
          <p:cNvPr id="72" name="TextBox 72"/>
          <p:cNvSpPr txBox="1"/>
          <p:nvPr/>
        </p:nvSpPr>
        <p:spPr>
          <a:xfrm>
            <a:off x="750570" y="5189220"/>
            <a:ext cx="978265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AI-generated content (step 6) luôn cần human approval (step 7) trước khi publish. Customer-facing và compliance content không được tự động xuất bản.</a:t>
            </a:r>
          </a:p>
        </p:txBody>
      </p:sp>
      <p:sp>
        <p:nvSpPr>
          <p:cNvPr id="73" name="TextBox 7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4</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069467"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02 / Workflow</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241538"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Product Status Flow</a:t>
            </a:r>
          </a:p>
        </p:txBody>
      </p:sp>
      <p:sp>
        <p:nvSpPr>
          <p:cNvPr id="7" name="Rectangle 7"/>
          <p:cNvSpPr/>
          <p:nvPr/>
        </p:nvSpPr>
        <p:spPr>
          <a:xfrm>
            <a:off x="952500" y="1714500"/>
            <a:ext cx="1524000" cy="476250"/>
          </a:xfrm>
          <a:prstGeom prst="roundRect">
            <a:avLst>
              <a:gd name="adj" fmla="val 50000"/>
            </a:avLst>
          </a:prstGeom>
          <a:solidFill>
            <a:srgbClr val="586A68"/>
          </a:solidFill>
          <a:ln>
            <a:noFill/>
          </a:ln>
        </p:spPr>
        <p:txBody>
          <a:bodyPr/>
          <a:lstStyle/>
          <a:p>
            <a:endParaRPr lang="da-DK"/>
          </a:p>
        </p:txBody>
      </p:sp>
      <p:sp>
        <p:nvSpPr>
          <p:cNvPr id="8" name="TextBox 8"/>
          <p:cNvSpPr txBox="1"/>
          <p:nvPr/>
        </p:nvSpPr>
        <p:spPr>
          <a:xfrm>
            <a:off x="1479762" y="1886902"/>
            <a:ext cx="4694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Draft</a:t>
            </a:r>
          </a:p>
        </p:txBody>
      </p:sp>
      <p:sp>
        <p:nvSpPr>
          <p:cNvPr id="9" name="Rectangle 9"/>
          <p:cNvSpPr/>
          <p:nvPr/>
        </p:nvSpPr>
        <p:spPr>
          <a:xfrm>
            <a:off x="952500" y="2857500"/>
            <a:ext cx="1524000" cy="476250"/>
          </a:xfrm>
          <a:prstGeom prst="roundRect">
            <a:avLst>
              <a:gd name="adj" fmla="val 50000"/>
            </a:avLst>
          </a:prstGeom>
          <a:solidFill>
            <a:srgbClr val="C1856B"/>
          </a:solidFill>
          <a:ln>
            <a:noFill/>
          </a:ln>
        </p:spPr>
        <p:txBody>
          <a:bodyPr/>
          <a:lstStyle/>
          <a:p>
            <a:endParaRPr lang="da-DK"/>
          </a:p>
        </p:txBody>
      </p:sp>
      <p:sp>
        <p:nvSpPr>
          <p:cNvPr id="10" name="TextBox 10"/>
          <p:cNvSpPr txBox="1"/>
          <p:nvPr/>
        </p:nvSpPr>
        <p:spPr>
          <a:xfrm>
            <a:off x="1125518" y="3029902"/>
            <a:ext cx="117796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Missing Assets</a:t>
            </a:r>
          </a:p>
        </p:txBody>
      </p:sp>
      <p:sp>
        <p:nvSpPr>
          <p:cNvPr id="11" name="Rectangle 11"/>
          <p:cNvSpPr/>
          <p:nvPr/>
        </p:nvSpPr>
        <p:spPr>
          <a:xfrm>
            <a:off x="3619500" y="2286000"/>
            <a:ext cx="1714500" cy="476250"/>
          </a:xfrm>
          <a:prstGeom prst="roundRect">
            <a:avLst>
              <a:gd name="adj" fmla="val 50000"/>
            </a:avLst>
          </a:prstGeom>
          <a:solidFill>
            <a:srgbClr val="E2C8BD"/>
          </a:solidFill>
          <a:ln>
            <a:noFill/>
          </a:ln>
        </p:spPr>
        <p:txBody>
          <a:bodyPr/>
          <a:lstStyle/>
          <a:p>
            <a:endParaRPr lang="da-DK"/>
          </a:p>
        </p:txBody>
      </p:sp>
      <p:sp>
        <p:nvSpPr>
          <p:cNvPr id="12" name="TextBox 12"/>
          <p:cNvSpPr txBox="1"/>
          <p:nvPr/>
        </p:nvSpPr>
        <p:spPr>
          <a:xfrm>
            <a:off x="3887768" y="2458402"/>
            <a:ext cx="1177964" cy="213360"/>
          </a:xfrm>
          <a:prstGeom prst="rect">
            <a:avLst/>
          </a:prstGeom>
          <a:noFill/>
          <a:ln>
            <a:noFill/>
          </a:ln>
        </p:spPr>
        <p:txBody>
          <a:bodyPr wrap="none" lIns="0" tIns="0" rIns="0" bIns="0" anchor="t" anchorCtr="0">
            <a:spAutoFit/>
          </a:bodyPr>
          <a:lstStyle/>
          <a:p>
            <a:pPr algn="ctr"/>
            <a:r>
              <a:rPr lang="zh-CN" sz="1050" b="1" dirty="0">
                <a:solidFill>
                  <a:srgbClr val="3C3C3B"/>
                </a:solidFill>
                <a:latin typeface="Segoe UI"/>
                <a:ea typeface="Microsoft YaHei"/>
                <a:cs typeface="Segoe UI"/>
              </a:rPr>
              <a:t>Pending Review</a:t>
            </a:r>
          </a:p>
        </p:txBody>
      </p:sp>
      <p:sp>
        <p:nvSpPr>
          <p:cNvPr id="13" name="Rectangle 13"/>
          <p:cNvSpPr/>
          <p:nvPr/>
        </p:nvSpPr>
        <p:spPr>
          <a:xfrm>
            <a:off x="6477000" y="2286000"/>
            <a:ext cx="1524000" cy="476250"/>
          </a:xfrm>
          <a:prstGeom prst="roundRect">
            <a:avLst>
              <a:gd name="adj" fmla="val 50000"/>
            </a:avLst>
          </a:prstGeom>
          <a:solidFill>
            <a:srgbClr val="959B94"/>
          </a:solidFill>
          <a:ln>
            <a:noFill/>
          </a:ln>
        </p:spPr>
        <p:txBody>
          <a:bodyPr/>
          <a:lstStyle/>
          <a:p>
            <a:endParaRPr lang="da-DK"/>
          </a:p>
        </p:txBody>
      </p:sp>
      <p:sp>
        <p:nvSpPr>
          <p:cNvPr id="14" name="TextBox 14"/>
          <p:cNvSpPr txBox="1"/>
          <p:nvPr/>
        </p:nvSpPr>
        <p:spPr>
          <a:xfrm>
            <a:off x="6871421" y="2458402"/>
            <a:ext cx="73515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Approved</a:t>
            </a:r>
          </a:p>
        </p:txBody>
      </p:sp>
      <p:sp>
        <p:nvSpPr>
          <p:cNvPr id="15" name="Rectangle 15"/>
          <p:cNvSpPr/>
          <p:nvPr/>
        </p:nvSpPr>
        <p:spPr>
          <a:xfrm>
            <a:off x="8763000" y="1714500"/>
            <a:ext cx="2095500" cy="476250"/>
          </a:xfrm>
          <a:prstGeom prst="roundRect">
            <a:avLst>
              <a:gd name="adj" fmla="val 50000"/>
            </a:avLst>
          </a:prstGeom>
          <a:solidFill>
            <a:srgbClr val="586A68">
              <a:alpha val="85000"/>
            </a:srgbClr>
          </a:solidFill>
          <a:ln>
            <a:noFill/>
          </a:ln>
        </p:spPr>
        <p:txBody>
          <a:bodyPr/>
          <a:lstStyle/>
          <a:p>
            <a:endParaRPr lang="da-DK"/>
          </a:p>
        </p:txBody>
      </p:sp>
      <p:sp>
        <p:nvSpPr>
          <p:cNvPr id="16" name="TextBox 16"/>
          <p:cNvSpPr txBox="1"/>
          <p:nvPr/>
        </p:nvSpPr>
        <p:spPr>
          <a:xfrm>
            <a:off x="8968161" y="1886902"/>
            <a:ext cx="16851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Ready for Publication</a:t>
            </a:r>
          </a:p>
        </p:txBody>
      </p:sp>
      <p:sp>
        <p:nvSpPr>
          <p:cNvPr id="17" name="Rectangle 17"/>
          <p:cNvSpPr/>
          <p:nvPr/>
        </p:nvSpPr>
        <p:spPr>
          <a:xfrm>
            <a:off x="8763000" y="2857500"/>
            <a:ext cx="1524000" cy="476250"/>
          </a:xfrm>
          <a:prstGeom prst="roundRect">
            <a:avLst>
              <a:gd name="adj" fmla="val 50000"/>
            </a:avLst>
          </a:prstGeom>
          <a:solidFill>
            <a:srgbClr val="586A68"/>
          </a:solidFill>
          <a:ln>
            <a:noFill/>
          </a:ln>
        </p:spPr>
        <p:txBody>
          <a:bodyPr/>
          <a:lstStyle/>
          <a:p>
            <a:endParaRPr lang="da-DK"/>
          </a:p>
        </p:txBody>
      </p:sp>
      <p:sp>
        <p:nvSpPr>
          <p:cNvPr id="18" name="TextBox 18"/>
          <p:cNvSpPr txBox="1"/>
          <p:nvPr/>
        </p:nvSpPr>
        <p:spPr>
          <a:xfrm>
            <a:off x="9153395" y="3029902"/>
            <a:ext cx="74321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Published</a:t>
            </a:r>
          </a:p>
        </p:txBody>
      </p:sp>
      <p:sp>
        <p:nvSpPr>
          <p:cNvPr id="19" name="Rectangle 19"/>
          <p:cNvSpPr/>
          <p:nvPr/>
        </p:nvSpPr>
        <p:spPr>
          <a:xfrm>
            <a:off x="8763000" y="3905250"/>
            <a:ext cx="1524000" cy="476250"/>
          </a:xfrm>
          <a:prstGeom prst="roundRect">
            <a:avLst>
              <a:gd name="adj" fmla="val 50000"/>
            </a:avLst>
          </a:prstGeom>
          <a:solidFill>
            <a:srgbClr val="88817E"/>
          </a:solidFill>
          <a:ln>
            <a:noFill/>
          </a:ln>
        </p:spPr>
        <p:txBody>
          <a:bodyPr/>
          <a:lstStyle/>
          <a:p>
            <a:endParaRPr lang="da-DK"/>
          </a:p>
        </p:txBody>
      </p:sp>
      <p:sp>
        <p:nvSpPr>
          <p:cNvPr id="20" name="TextBox 20"/>
          <p:cNvSpPr txBox="1"/>
          <p:nvPr/>
        </p:nvSpPr>
        <p:spPr>
          <a:xfrm>
            <a:off x="9177548" y="4077652"/>
            <a:ext cx="69490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Archived</a:t>
            </a:r>
          </a:p>
        </p:txBody>
      </p:sp>
      <p:sp>
        <p:nvSpPr>
          <p:cNvPr id="21" name="Line 21"/>
          <p:cNvSpPr/>
          <p:nvPr/>
        </p:nvSpPr>
        <p:spPr>
          <a:xfrm>
            <a:off x="1714500" y="2190750"/>
            <a:ext cx="9525" cy="666750"/>
          </a:xfrm>
          <a:custGeom>
            <a:avLst/>
            <a:gdLst/>
            <a:ahLst/>
            <a:cxnLst/>
            <a:rect l="l" t="t" r="r" b="b"/>
            <a:pathLst>
              <a:path w="9525" h="666750">
                <a:moveTo>
                  <a:pt x="0" y="0"/>
                </a:moveTo>
                <a:lnTo>
                  <a:pt x="0" y="666750"/>
                </a:lnTo>
              </a:path>
            </a:pathLst>
          </a:custGeom>
          <a:noFill/>
          <a:ln w="14288">
            <a:solidFill>
              <a:srgbClr val="88817E"/>
            </a:solidFill>
          </a:ln>
        </p:spPr>
        <p:txBody>
          <a:bodyPr/>
          <a:lstStyle/>
          <a:p>
            <a:endParaRPr lang="da-DK"/>
          </a:p>
        </p:txBody>
      </p:sp>
      <p:sp>
        <p:nvSpPr>
          <p:cNvPr id="22" name="Polygon 22"/>
          <p:cNvSpPr/>
          <p:nvPr/>
        </p:nvSpPr>
        <p:spPr>
          <a:xfrm>
            <a:off x="1657350" y="28098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23" name="TextBox 23"/>
          <p:cNvSpPr txBox="1"/>
          <p:nvPr/>
        </p:nvSpPr>
        <p:spPr>
          <a:xfrm>
            <a:off x="1085850" y="2490788"/>
            <a:ext cx="687229"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Thiếu assets</a:t>
            </a:r>
          </a:p>
        </p:txBody>
      </p:sp>
      <p:sp>
        <p:nvSpPr>
          <p:cNvPr id="24" name="Line 24"/>
          <p:cNvSpPr/>
          <p:nvPr/>
        </p:nvSpPr>
        <p:spPr>
          <a:xfrm>
            <a:off x="2476500" y="2619375"/>
            <a:ext cx="1143000" cy="381000"/>
          </a:xfrm>
          <a:custGeom>
            <a:avLst/>
            <a:gdLst/>
            <a:ahLst/>
            <a:cxnLst/>
            <a:rect l="l" t="t" r="r" b="b"/>
            <a:pathLst>
              <a:path w="1143000" h="381000">
                <a:moveTo>
                  <a:pt x="0" y="381000"/>
                </a:moveTo>
                <a:lnTo>
                  <a:pt x="1143000" y="0"/>
                </a:lnTo>
              </a:path>
            </a:pathLst>
          </a:custGeom>
          <a:noFill/>
          <a:ln w="14288">
            <a:solidFill>
              <a:srgbClr val="88817E"/>
            </a:solidFill>
          </a:ln>
        </p:spPr>
        <p:txBody>
          <a:bodyPr/>
          <a:lstStyle/>
          <a:p>
            <a:endParaRPr lang="da-DK"/>
          </a:p>
        </p:txBody>
      </p:sp>
      <p:sp>
        <p:nvSpPr>
          <p:cNvPr id="25" name="Polygon 25"/>
          <p:cNvSpPr/>
          <p:nvPr/>
        </p:nvSpPr>
        <p:spPr>
          <a:xfrm>
            <a:off x="3571875" y="2571750"/>
            <a:ext cx="95250" cy="95250"/>
          </a:xfrm>
          <a:custGeom>
            <a:avLst/>
            <a:gdLst/>
            <a:ahLst/>
            <a:cxnLst/>
            <a:rect l="l" t="t" r="r" b="b"/>
            <a:pathLst>
              <a:path w="95250" h="95250">
                <a:moveTo>
                  <a:pt x="0" y="0"/>
                </a:moveTo>
                <a:lnTo>
                  <a:pt x="95250" y="19050"/>
                </a:lnTo>
                <a:lnTo>
                  <a:pt x="19050" y="95250"/>
                </a:lnTo>
                <a:close/>
              </a:path>
            </a:pathLst>
          </a:custGeom>
          <a:solidFill>
            <a:srgbClr val="88817E"/>
          </a:solidFill>
          <a:ln>
            <a:noFill/>
          </a:ln>
        </p:spPr>
        <p:txBody>
          <a:bodyPr/>
          <a:lstStyle/>
          <a:p>
            <a:endParaRPr lang="da-DK"/>
          </a:p>
        </p:txBody>
      </p:sp>
      <p:sp>
        <p:nvSpPr>
          <p:cNvPr id="26" name="TextBox 26"/>
          <p:cNvSpPr txBox="1"/>
          <p:nvPr/>
        </p:nvSpPr>
        <p:spPr>
          <a:xfrm>
            <a:off x="2847975" y="2586038"/>
            <a:ext cx="533876"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Đủ assets</a:t>
            </a:r>
          </a:p>
        </p:txBody>
      </p:sp>
      <p:sp>
        <p:nvSpPr>
          <p:cNvPr id="27" name="Line 27"/>
          <p:cNvSpPr/>
          <p:nvPr/>
        </p:nvSpPr>
        <p:spPr>
          <a:xfrm>
            <a:off x="2476500" y="1905000"/>
            <a:ext cx="1143000" cy="523875"/>
          </a:xfrm>
          <a:custGeom>
            <a:avLst/>
            <a:gdLst/>
            <a:ahLst/>
            <a:cxnLst/>
            <a:rect l="l" t="t" r="r" b="b"/>
            <a:pathLst>
              <a:path w="1143000" h="523875">
                <a:moveTo>
                  <a:pt x="0" y="0"/>
                </a:moveTo>
                <a:lnTo>
                  <a:pt x="1143000" y="523875"/>
                </a:lnTo>
              </a:path>
            </a:pathLst>
          </a:custGeom>
          <a:noFill/>
          <a:ln w="14288">
            <a:solidFill>
              <a:srgbClr val="88817E"/>
            </a:solidFill>
          </a:ln>
        </p:spPr>
        <p:txBody>
          <a:bodyPr/>
          <a:lstStyle/>
          <a:p>
            <a:endParaRPr lang="da-DK"/>
          </a:p>
        </p:txBody>
      </p:sp>
      <p:sp>
        <p:nvSpPr>
          <p:cNvPr id="28" name="Polygon 28"/>
          <p:cNvSpPr/>
          <p:nvPr/>
        </p:nvSpPr>
        <p:spPr>
          <a:xfrm>
            <a:off x="3571875" y="2381250"/>
            <a:ext cx="95250" cy="95250"/>
          </a:xfrm>
          <a:custGeom>
            <a:avLst/>
            <a:gdLst/>
            <a:ahLst/>
            <a:cxnLst/>
            <a:rect l="l" t="t" r="r" b="b"/>
            <a:pathLst>
              <a:path w="95250" h="95250">
                <a:moveTo>
                  <a:pt x="0" y="0"/>
                </a:moveTo>
                <a:lnTo>
                  <a:pt x="95250" y="19050"/>
                </a:lnTo>
                <a:lnTo>
                  <a:pt x="19050" y="95250"/>
                </a:lnTo>
                <a:close/>
              </a:path>
            </a:pathLst>
          </a:custGeom>
          <a:solidFill>
            <a:srgbClr val="88817E"/>
          </a:solidFill>
          <a:ln>
            <a:noFill/>
          </a:ln>
        </p:spPr>
        <p:txBody>
          <a:bodyPr/>
          <a:lstStyle/>
          <a:p>
            <a:endParaRPr lang="da-DK"/>
          </a:p>
        </p:txBody>
      </p:sp>
      <p:sp>
        <p:nvSpPr>
          <p:cNvPr id="29" name="TextBox 29"/>
          <p:cNvSpPr txBox="1"/>
          <p:nvPr/>
        </p:nvSpPr>
        <p:spPr>
          <a:xfrm>
            <a:off x="2943225" y="1966912"/>
            <a:ext cx="511969"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Đủ dữ liệu</a:t>
            </a:r>
          </a:p>
        </p:txBody>
      </p:sp>
      <p:sp>
        <p:nvSpPr>
          <p:cNvPr id="30" name="Line 30"/>
          <p:cNvSpPr/>
          <p:nvPr/>
        </p:nvSpPr>
        <p:spPr>
          <a:xfrm>
            <a:off x="5334000" y="2524125"/>
            <a:ext cx="1143000" cy="9525"/>
          </a:xfrm>
          <a:custGeom>
            <a:avLst/>
            <a:gdLst/>
            <a:ahLst/>
            <a:cxnLst/>
            <a:rect l="l" t="t" r="r" b="b"/>
            <a:pathLst>
              <a:path w="1143000" h="9525">
                <a:moveTo>
                  <a:pt x="0" y="0"/>
                </a:moveTo>
                <a:lnTo>
                  <a:pt x="1143000" y="0"/>
                </a:lnTo>
              </a:path>
            </a:pathLst>
          </a:custGeom>
          <a:noFill/>
          <a:ln w="14288">
            <a:solidFill>
              <a:srgbClr val="88817E"/>
            </a:solidFill>
          </a:ln>
        </p:spPr>
        <p:txBody>
          <a:bodyPr/>
          <a:lstStyle/>
          <a:p>
            <a:endParaRPr lang="da-DK"/>
          </a:p>
        </p:txBody>
      </p:sp>
      <p:sp>
        <p:nvSpPr>
          <p:cNvPr id="31" name="Polygon 31"/>
          <p:cNvSpPr/>
          <p:nvPr/>
        </p:nvSpPr>
        <p:spPr>
          <a:xfrm>
            <a:off x="6429375" y="2466975"/>
            <a:ext cx="95250" cy="114300"/>
          </a:xfrm>
          <a:custGeom>
            <a:avLst/>
            <a:gdLst/>
            <a:ahLst/>
            <a:cxnLst/>
            <a:rect l="l" t="t" r="r" b="b"/>
            <a:pathLst>
              <a:path w="95250" h="114300">
                <a:moveTo>
                  <a:pt x="0" y="0"/>
                </a:moveTo>
                <a:lnTo>
                  <a:pt x="95250" y="57150"/>
                </a:lnTo>
                <a:lnTo>
                  <a:pt x="0" y="114300"/>
                </a:lnTo>
                <a:close/>
              </a:path>
            </a:pathLst>
          </a:custGeom>
          <a:solidFill>
            <a:srgbClr val="88817E"/>
          </a:solidFill>
          <a:ln>
            <a:noFill/>
          </a:ln>
        </p:spPr>
        <p:txBody>
          <a:bodyPr/>
          <a:lstStyle/>
          <a:p>
            <a:endParaRPr lang="da-DK"/>
          </a:p>
        </p:txBody>
      </p:sp>
      <p:sp>
        <p:nvSpPr>
          <p:cNvPr id="32" name="TextBox 32"/>
          <p:cNvSpPr txBox="1"/>
          <p:nvPr/>
        </p:nvSpPr>
        <p:spPr>
          <a:xfrm>
            <a:off x="5895975" y="2347912"/>
            <a:ext cx="320278" cy="152400"/>
          </a:xfrm>
          <a:prstGeom prst="rect">
            <a:avLst/>
          </a:prstGeom>
          <a:noFill/>
          <a:ln>
            <a:noFill/>
          </a:ln>
        </p:spPr>
        <p:txBody>
          <a:bodyPr wrap="none" lIns="0" tIns="0" rIns="0" bIns="0" anchor="t" anchorCtr="0">
            <a:spAutoFit/>
          </a:bodyPr>
          <a:lstStyle/>
          <a:p>
            <a:pPr algn="l"/>
            <a:r>
              <a:rPr lang="zh-CN" sz="750" dirty="0">
                <a:solidFill>
                  <a:srgbClr val="959B94"/>
                </a:solidFill>
                <a:latin typeface="Segoe UI"/>
                <a:ea typeface="Microsoft YaHei"/>
                <a:cs typeface="Segoe UI"/>
              </a:rPr>
              <a:t>Duyệt</a:t>
            </a:r>
          </a:p>
        </p:txBody>
      </p:sp>
      <p:sp>
        <p:nvSpPr>
          <p:cNvPr id="33" name="Freeform 33"/>
          <p:cNvSpPr/>
          <p:nvPr/>
        </p:nvSpPr>
        <p:spPr>
          <a:xfrm>
            <a:off x="2476500" y="1714500"/>
            <a:ext cx="2000250" cy="571500"/>
          </a:xfrm>
          <a:custGeom>
            <a:avLst/>
            <a:gdLst/>
            <a:ahLst/>
            <a:cxnLst/>
            <a:rect l="l" t="t" r="r" b="b"/>
            <a:pathLst>
              <a:path w="2000250" h="571500">
                <a:moveTo>
                  <a:pt x="2000250" y="571500"/>
                </a:moveTo>
                <a:lnTo>
                  <a:pt x="2000250" y="0"/>
                </a:lnTo>
                <a:lnTo>
                  <a:pt x="0" y="0"/>
                </a:lnTo>
                <a:lnTo>
                  <a:pt x="0" y="95250"/>
                </a:lnTo>
              </a:path>
            </a:pathLst>
          </a:custGeom>
          <a:noFill/>
          <a:ln w="14288">
            <a:solidFill>
              <a:srgbClr val="753438"/>
            </a:solidFill>
            <a:custDash>
              <a:ds d="266666" sp="200000"/>
            </a:custDash>
          </a:ln>
        </p:spPr>
        <p:txBody>
          <a:bodyPr/>
          <a:lstStyle/>
          <a:p>
            <a:endParaRPr lang="da-DK"/>
          </a:p>
        </p:txBody>
      </p:sp>
      <p:sp>
        <p:nvSpPr>
          <p:cNvPr id="34" name="Polygon 34"/>
          <p:cNvSpPr/>
          <p:nvPr/>
        </p:nvSpPr>
        <p:spPr>
          <a:xfrm>
            <a:off x="2419350" y="1781175"/>
            <a:ext cx="114300" cy="95250"/>
          </a:xfrm>
          <a:custGeom>
            <a:avLst/>
            <a:gdLst/>
            <a:ahLst/>
            <a:cxnLst/>
            <a:rect l="l" t="t" r="r" b="b"/>
            <a:pathLst>
              <a:path w="114300" h="95250">
                <a:moveTo>
                  <a:pt x="0" y="0"/>
                </a:moveTo>
                <a:lnTo>
                  <a:pt x="57150" y="95250"/>
                </a:lnTo>
                <a:lnTo>
                  <a:pt x="114300" y="0"/>
                </a:lnTo>
                <a:close/>
              </a:path>
            </a:pathLst>
          </a:custGeom>
          <a:solidFill>
            <a:srgbClr val="753438"/>
          </a:solidFill>
          <a:ln>
            <a:noFill/>
          </a:ln>
        </p:spPr>
        <p:txBody>
          <a:bodyPr/>
          <a:lstStyle/>
          <a:p>
            <a:endParaRPr lang="da-DK"/>
          </a:p>
        </p:txBody>
      </p:sp>
      <p:sp>
        <p:nvSpPr>
          <p:cNvPr id="35" name="TextBox 35"/>
          <p:cNvSpPr txBox="1"/>
          <p:nvPr/>
        </p:nvSpPr>
        <p:spPr>
          <a:xfrm>
            <a:off x="3514725" y="1538288"/>
            <a:ext cx="386001" cy="152400"/>
          </a:xfrm>
          <a:prstGeom prst="rect">
            <a:avLst/>
          </a:prstGeom>
          <a:noFill/>
          <a:ln>
            <a:noFill/>
          </a:ln>
        </p:spPr>
        <p:txBody>
          <a:bodyPr wrap="none" lIns="0" tIns="0" rIns="0" bIns="0" anchor="t" anchorCtr="0">
            <a:spAutoFit/>
          </a:bodyPr>
          <a:lstStyle/>
          <a:p>
            <a:pPr algn="l"/>
            <a:r>
              <a:rPr lang="zh-CN" sz="750" dirty="0">
                <a:solidFill>
                  <a:srgbClr val="753438"/>
                </a:solidFill>
                <a:latin typeface="Segoe UI"/>
                <a:ea typeface="Microsoft YaHei"/>
                <a:cs typeface="Segoe UI"/>
              </a:rPr>
              <a:t>Từ chối</a:t>
            </a:r>
          </a:p>
        </p:txBody>
      </p:sp>
      <p:sp>
        <p:nvSpPr>
          <p:cNvPr id="36" name="Line 36"/>
          <p:cNvSpPr/>
          <p:nvPr/>
        </p:nvSpPr>
        <p:spPr>
          <a:xfrm>
            <a:off x="8001000" y="2047875"/>
            <a:ext cx="762000" cy="381000"/>
          </a:xfrm>
          <a:custGeom>
            <a:avLst/>
            <a:gdLst/>
            <a:ahLst/>
            <a:cxnLst/>
            <a:rect l="l" t="t" r="r" b="b"/>
            <a:pathLst>
              <a:path w="762000" h="381000">
                <a:moveTo>
                  <a:pt x="0" y="381000"/>
                </a:moveTo>
                <a:lnTo>
                  <a:pt x="762000" y="0"/>
                </a:lnTo>
              </a:path>
            </a:pathLst>
          </a:custGeom>
          <a:noFill/>
          <a:ln w="14288">
            <a:solidFill>
              <a:srgbClr val="88817E"/>
            </a:solidFill>
          </a:ln>
        </p:spPr>
        <p:txBody>
          <a:bodyPr/>
          <a:lstStyle/>
          <a:p>
            <a:endParaRPr lang="da-DK"/>
          </a:p>
        </p:txBody>
      </p:sp>
      <p:sp>
        <p:nvSpPr>
          <p:cNvPr id="37" name="Polygon 37"/>
          <p:cNvSpPr/>
          <p:nvPr/>
        </p:nvSpPr>
        <p:spPr>
          <a:xfrm>
            <a:off x="8715375" y="2000250"/>
            <a:ext cx="95250" cy="95250"/>
          </a:xfrm>
          <a:custGeom>
            <a:avLst/>
            <a:gdLst/>
            <a:ahLst/>
            <a:cxnLst/>
            <a:rect l="l" t="t" r="r" b="b"/>
            <a:pathLst>
              <a:path w="95250" h="95250">
                <a:moveTo>
                  <a:pt x="0" y="0"/>
                </a:moveTo>
                <a:lnTo>
                  <a:pt x="95250" y="19050"/>
                </a:lnTo>
                <a:lnTo>
                  <a:pt x="19050" y="95250"/>
                </a:lnTo>
                <a:close/>
              </a:path>
            </a:pathLst>
          </a:custGeom>
          <a:solidFill>
            <a:srgbClr val="88817E"/>
          </a:solidFill>
          <a:ln>
            <a:noFill/>
          </a:ln>
        </p:spPr>
        <p:txBody>
          <a:bodyPr/>
          <a:lstStyle/>
          <a:p>
            <a:endParaRPr lang="da-DK"/>
          </a:p>
        </p:txBody>
      </p:sp>
      <p:sp>
        <p:nvSpPr>
          <p:cNvPr id="38" name="TextBox 38"/>
          <p:cNvSpPr txBox="1"/>
          <p:nvPr/>
        </p:nvSpPr>
        <p:spPr>
          <a:xfrm>
            <a:off x="8277225" y="2062162"/>
            <a:ext cx="19978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Đạt</a:t>
            </a:r>
          </a:p>
        </p:txBody>
      </p:sp>
      <p:sp>
        <p:nvSpPr>
          <p:cNvPr id="39" name="Line 39"/>
          <p:cNvSpPr/>
          <p:nvPr/>
        </p:nvSpPr>
        <p:spPr>
          <a:xfrm>
            <a:off x="9620250" y="2190750"/>
            <a:ext cx="190500" cy="666750"/>
          </a:xfrm>
          <a:custGeom>
            <a:avLst/>
            <a:gdLst/>
            <a:ahLst/>
            <a:cxnLst/>
            <a:rect l="l" t="t" r="r" b="b"/>
            <a:pathLst>
              <a:path w="190500" h="666750">
                <a:moveTo>
                  <a:pt x="190500" y="0"/>
                </a:moveTo>
                <a:lnTo>
                  <a:pt x="0" y="666750"/>
                </a:lnTo>
              </a:path>
            </a:pathLst>
          </a:custGeom>
          <a:noFill/>
          <a:ln w="14288">
            <a:solidFill>
              <a:srgbClr val="88817E"/>
            </a:solidFill>
          </a:ln>
        </p:spPr>
        <p:txBody>
          <a:bodyPr/>
          <a:lstStyle/>
          <a:p>
            <a:endParaRPr lang="da-DK"/>
          </a:p>
        </p:txBody>
      </p:sp>
      <p:sp>
        <p:nvSpPr>
          <p:cNvPr id="40" name="Polygon 40"/>
          <p:cNvSpPr/>
          <p:nvPr/>
        </p:nvSpPr>
        <p:spPr>
          <a:xfrm>
            <a:off x="9563100" y="28098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41" name="TextBox 41"/>
          <p:cNvSpPr txBox="1"/>
          <p:nvPr/>
        </p:nvSpPr>
        <p:spPr>
          <a:xfrm>
            <a:off x="9991725" y="2490788"/>
            <a:ext cx="386001"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Publish</a:t>
            </a:r>
          </a:p>
        </p:txBody>
      </p:sp>
      <p:sp>
        <p:nvSpPr>
          <p:cNvPr id="42" name="Line 42"/>
          <p:cNvSpPr/>
          <p:nvPr/>
        </p:nvSpPr>
        <p:spPr>
          <a:xfrm>
            <a:off x="9525000" y="3333750"/>
            <a:ext cx="9525" cy="571500"/>
          </a:xfrm>
          <a:custGeom>
            <a:avLst/>
            <a:gdLst/>
            <a:ahLst/>
            <a:cxnLst/>
            <a:rect l="l" t="t" r="r" b="b"/>
            <a:pathLst>
              <a:path w="9525" h="571500">
                <a:moveTo>
                  <a:pt x="0" y="0"/>
                </a:moveTo>
                <a:lnTo>
                  <a:pt x="0" y="571500"/>
                </a:lnTo>
              </a:path>
            </a:pathLst>
          </a:custGeom>
          <a:noFill/>
          <a:ln w="14288">
            <a:solidFill>
              <a:srgbClr val="88817E"/>
            </a:solidFill>
          </a:ln>
        </p:spPr>
        <p:txBody>
          <a:bodyPr/>
          <a:lstStyle/>
          <a:p>
            <a:endParaRPr lang="da-DK"/>
          </a:p>
        </p:txBody>
      </p:sp>
      <p:sp>
        <p:nvSpPr>
          <p:cNvPr id="43" name="Polygon 43"/>
          <p:cNvSpPr/>
          <p:nvPr/>
        </p:nvSpPr>
        <p:spPr>
          <a:xfrm>
            <a:off x="9467850" y="385762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44" name="TextBox 44"/>
          <p:cNvSpPr txBox="1"/>
          <p:nvPr/>
        </p:nvSpPr>
        <p:spPr>
          <a:xfrm>
            <a:off x="9896475" y="3586162"/>
            <a:ext cx="221694"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EOL</a:t>
            </a:r>
          </a:p>
        </p:txBody>
      </p:sp>
      <p:sp>
        <p:nvSpPr>
          <p:cNvPr id="45" name="Freeform 45"/>
          <p:cNvSpPr/>
          <p:nvPr/>
        </p:nvSpPr>
        <p:spPr>
          <a:xfrm>
            <a:off x="5334000" y="2762250"/>
            <a:ext cx="3429000" cy="285750"/>
          </a:xfrm>
          <a:custGeom>
            <a:avLst/>
            <a:gdLst/>
            <a:ahLst/>
            <a:cxnLst/>
            <a:rect l="l" t="t" r="r" b="b"/>
            <a:pathLst>
              <a:path w="3429000" h="285750">
                <a:moveTo>
                  <a:pt x="3429000" y="285750"/>
                </a:moveTo>
                <a:lnTo>
                  <a:pt x="381000" y="285750"/>
                </a:lnTo>
                <a:lnTo>
                  <a:pt x="0" y="0"/>
                </a:lnTo>
              </a:path>
            </a:pathLst>
          </a:custGeom>
          <a:noFill/>
          <a:ln w="14288">
            <a:solidFill>
              <a:srgbClr val="753438"/>
            </a:solidFill>
            <a:custDash>
              <a:ds d="266666" sp="200000"/>
            </a:custDash>
          </a:ln>
        </p:spPr>
        <p:txBody>
          <a:bodyPr/>
          <a:lstStyle/>
          <a:p>
            <a:endParaRPr lang="da-DK"/>
          </a:p>
        </p:txBody>
      </p:sp>
      <p:sp>
        <p:nvSpPr>
          <p:cNvPr id="46" name="Polygon 46"/>
          <p:cNvSpPr/>
          <p:nvPr/>
        </p:nvSpPr>
        <p:spPr>
          <a:xfrm>
            <a:off x="5305425" y="2714625"/>
            <a:ext cx="95250" cy="76200"/>
          </a:xfrm>
          <a:custGeom>
            <a:avLst/>
            <a:gdLst/>
            <a:ahLst/>
            <a:cxnLst/>
            <a:rect l="l" t="t" r="r" b="b"/>
            <a:pathLst>
              <a:path w="95250" h="76200">
                <a:moveTo>
                  <a:pt x="57150" y="0"/>
                </a:moveTo>
                <a:lnTo>
                  <a:pt x="0" y="76200"/>
                </a:lnTo>
                <a:lnTo>
                  <a:pt x="95250" y="76200"/>
                </a:lnTo>
                <a:close/>
              </a:path>
            </a:pathLst>
          </a:custGeom>
          <a:solidFill>
            <a:srgbClr val="753438"/>
          </a:solidFill>
          <a:ln>
            <a:noFill/>
          </a:ln>
        </p:spPr>
        <p:txBody>
          <a:bodyPr/>
          <a:lstStyle/>
          <a:p>
            <a:endParaRPr lang="da-DK"/>
          </a:p>
        </p:txBody>
      </p:sp>
      <p:sp>
        <p:nvSpPr>
          <p:cNvPr id="47" name="TextBox 47"/>
          <p:cNvSpPr txBox="1"/>
          <p:nvPr/>
        </p:nvSpPr>
        <p:spPr>
          <a:xfrm>
            <a:off x="7038975" y="2890838"/>
            <a:ext cx="687229" cy="152400"/>
          </a:xfrm>
          <a:prstGeom prst="rect">
            <a:avLst/>
          </a:prstGeom>
          <a:noFill/>
          <a:ln>
            <a:noFill/>
          </a:ln>
        </p:spPr>
        <p:txBody>
          <a:bodyPr wrap="none" lIns="0" tIns="0" rIns="0" bIns="0" anchor="t" anchorCtr="0">
            <a:spAutoFit/>
          </a:bodyPr>
          <a:lstStyle/>
          <a:p>
            <a:pPr algn="l"/>
            <a:r>
              <a:rPr lang="zh-CN" sz="750" dirty="0">
                <a:solidFill>
                  <a:srgbClr val="753438"/>
                </a:solidFill>
                <a:latin typeface="Segoe UI"/>
                <a:ea typeface="Microsoft YaHei"/>
                <a:cs typeface="Segoe UI"/>
              </a:rPr>
              <a:t>Cần cập nhật</a:t>
            </a:r>
          </a:p>
        </p:txBody>
      </p:sp>
      <p:sp>
        <p:nvSpPr>
          <p:cNvPr id="48" name="TextBox 48"/>
          <p:cNvSpPr txBox="1"/>
          <p:nvPr/>
        </p:nvSpPr>
        <p:spPr>
          <a:xfrm>
            <a:off x="556260" y="4728210"/>
            <a:ext cx="1797101"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Completeness Score</a:t>
            </a:r>
          </a:p>
        </p:txBody>
      </p:sp>
      <p:sp>
        <p:nvSpPr>
          <p:cNvPr id="49" name="Rectangle 49"/>
          <p:cNvSpPr/>
          <p:nvPr/>
        </p:nvSpPr>
        <p:spPr>
          <a:xfrm>
            <a:off x="571500" y="5048250"/>
            <a:ext cx="11049000" cy="285750"/>
          </a:xfrm>
          <a:prstGeom prst="roundRect">
            <a:avLst>
              <a:gd name="adj" fmla="val 50000"/>
            </a:avLst>
          </a:prstGeom>
          <a:solidFill>
            <a:srgbClr val="FFFFFF"/>
          </a:solidFill>
          <a:ln w="9525">
            <a:solidFill>
              <a:srgbClr val="88817E"/>
            </a:solidFill>
          </a:ln>
        </p:spPr>
        <p:txBody>
          <a:bodyPr/>
          <a:lstStyle/>
          <a:p>
            <a:endParaRPr lang="da-DK"/>
          </a:p>
        </p:txBody>
      </p:sp>
      <p:sp>
        <p:nvSpPr>
          <p:cNvPr id="50" name="Rectangle 50"/>
          <p:cNvSpPr/>
          <p:nvPr/>
        </p:nvSpPr>
        <p:spPr>
          <a:xfrm>
            <a:off x="571500" y="5048250"/>
            <a:ext cx="4419600" cy="285750"/>
          </a:xfrm>
          <a:prstGeom prst="roundRect">
            <a:avLst>
              <a:gd name="adj" fmla="val 50000"/>
            </a:avLst>
          </a:prstGeom>
          <a:solidFill>
            <a:srgbClr val="C1856B">
              <a:alpha val="40000"/>
            </a:srgbClr>
          </a:solidFill>
          <a:ln>
            <a:noFill/>
          </a:ln>
        </p:spPr>
        <p:txBody>
          <a:bodyPr/>
          <a:lstStyle/>
          <a:p>
            <a:endParaRPr lang="da-DK"/>
          </a:p>
        </p:txBody>
      </p:sp>
      <p:sp>
        <p:nvSpPr>
          <p:cNvPr id="51" name="TextBox 51"/>
          <p:cNvSpPr txBox="1"/>
          <p:nvPr/>
        </p:nvSpPr>
        <p:spPr>
          <a:xfrm>
            <a:off x="2312130" y="5149691"/>
            <a:ext cx="900240"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40% Basic Data</a:t>
            </a:r>
          </a:p>
        </p:txBody>
      </p:sp>
      <p:sp>
        <p:nvSpPr>
          <p:cNvPr id="52" name="Rectangle 52"/>
          <p:cNvSpPr/>
          <p:nvPr/>
        </p:nvSpPr>
        <p:spPr>
          <a:xfrm>
            <a:off x="4991100" y="5048250"/>
            <a:ext cx="2209800" cy="285750"/>
          </a:xfrm>
          <a:prstGeom prst="rect">
            <a:avLst/>
          </a:prstGeom>
          <a:solidFill>
            <a:srgbClr val="C1856B">
              <a:alpha val="60000"/>
            </a:srgbClr>
          </a:solidFill>
          <a:ln>
            <a:noFill/>
          </a:ln>
        </p:spPr>
        <p:txBody>
          <a:bodyPr/>
          <a:lstStyle/>
          <a:p>
            <a:endParaRPr lang="da-DK"/>
          </a:p>
        </p:txBody>
      </p:sp>
      <p:sp>
        <p:nvSpPr>
          <p:cNvPr id="53" name="TextBox 53"/>
          <p:cNvSpPr txBox="1"/>
          <p:nvPr/>
        </p:nvSpPr>
        <p:spPr>
          <a:xfrm>
            <a:off x="5785047" y="5149691"/>
            <a:ext cx="621905"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60% Visual</a:t>
            </a:r>
          </a:p>
        </p:txBody>
      </p:sp>
      <p:sp>
        <p:nvSpPr>
          <p:cNvPr id="54" name="Rectangle 54"/>
          <p:cNvSpPr/>
          <p:nvPr/>
        </p:nvSpPr>
        <p:spPr>
          <a:xfrm>
            <a:off x="7200900" y="5048250"/>
            <a:ext cx="2209800" cy="285750"/>
          </a:xfrm>
          <a:prstGeom prst="rect">
            <a:avLst/>
          </a:prstGeom>
          <a:solidFill>
            <a:srgbClr val="586A68">
              <a:alpha val="50000"/>
            </a:srgbClr>
          </a:solidFill>
          <a:ln>
            <a:noFill/>
          </a:ln>
        </p:spPr>
        <p:txBody>
          <a:bodyPr/>
          <a:lstStyle/>
          <a:p>
            <a:endParaRPr lang="da-DK"/>
          </a:p>
        </p:txBody>
      </p:sp>
      <p:sp>
        <p:nvSpPr>
          <p:cNvPr id="55" name="TextBox 55"/>
          <p:cNvSpPr txBox="1"/>
          <p:nvPr/>
        </p:nvSpPr>
        <p:spPr>
          <a:xfrm>
            <a:off x="7700698" y="5149691"/>
            <a:ext cx="121020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80% Text &amp; Material</a:t>
            </a:r>
          </a:p>
        </p:txBody>
      </p:sp>
      <p:sp>
        <p:nvSpPr>
          <p:cNvPr id="56" name="Rectangle 56"/>
          <p:cNvSpPr/>
          <p:nvPr/>
        </p:nvSpPr>
        <p:spPr>
          <a:xfrm>
            <a:off x="9410700" y="5048250"/>
            <a:ext cx="2209800" cy="285750"/>
          </a:xfrm>
          <a:prstGeom prst="rect">
            <a:avLst/>
          </a:prstGeom>
          <a:solidFill>
            <a:srgbClr val="586A68"/>
          </a:solidFill>
          <a:ln>
            <a:noFill/>
          </a:ln>
        </p:spPr>
        <p:txBody>
          <a:bodyPr/>
          <a:lstStyle/>
          <a:p>
            <a:endParaRPr lang="da-DK"/>
          </a:p>
        </p:txBody>
      </p:sp>
      <p:sp>
        <p:nvSpPr>
          <p:cNvPr id="57" name="Rectangle 57"/>
          <p:cNvSpPr/>
          <p:nvPr/>
        </p:nvSpPr>
        <p:spPr>
          <a:xfrm>
            <a:off x="11477625" y="5048250"/>
            <a:ext cx="142875" cy="285750"/>
          </a:xfrm>
          <a:prstGeom prst="roundRect">
            <a:avLst>
              <a:gd name="adj" fmla="val 50000"/>
            </a:avLst>
          </a:prstGeom>
          <a:solidFill>
            <a:srgbClr val="586A68"/>
          </a:solidFill>
          <a:ln>
            <a:noFill/>
          </a:ln>
        </p:spPr>
        <p:txBody>
          <a:bodyPr/>
          <a:lstStyle/>
          <a:p>
            <a:endParaRPr lang="da-DK"/>
          </a:p>
        </p:txBody>
      </p:sp>
      <p:sp>
        <p:nvSpPr>
          <p:cNvPr id="58" name="TextBox 58"/>
          <p:cNvSpPr txBox="1"/>
          <p:nvPr/>
        </p:nvSpPr>
        <p:spPr>
          <a:xfrm>
            <a:off x="10188833" y="5149691"/>
            <a:ext cx="65353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100% Ready</a:t>
            </a:r>
          </a:p>
        </p:txBody>
      </p:sp>
      <p:sp>
        <p:nvSpPr>
          <p:cNvPr id="59" name="TextBox 59"/>
          <p:cNvSpPr txBox="1"/>
          <p:nvPr/>
        </p:nvSpPr>
        <p:spPr>
          <a:xfrm>
            <a:off x="560070" y="5522595"/>
            <a:ext cx="287521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40%: Item number + Product name + Category</a:t>
            </a:r>
          </a:p>
        </p:txBody>
      </p:sp>
      <p:sp>
        <p:nvSpPr>
          <p:cNvPr id="60" name="TextBox 60"/>
          <p:cNvSpPr txBox="1"/>
          <p:nvPr/>
        </p:nvSpPr>
        <p:spPr>
          <a:xfrm>
            <a:off x="560070" y="5713095"/>
            <a:ext cx="2973800"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60%: + Packshot + Dimensions + Material linked</a:t>
            </a:r>
          </a:p>
        </p:txBody>
      </p:sp>
      <p:sp>
        <p:nvSpPr>
          <p:cNvPr id="61" name="TextBox 61"/>
          <p:cNvSpPr txBox="1"/>
          <p:nvPr/>
        </p:nvSpPr>
        <p:spPr>
          <a:xfrm>
            <a:off x="560070" y="5903595"/>
            <a:ext cx="353244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80%: + Approved description + Care instructions + USPs</a:t>
            </a:r>
          </a:p>
        </p:txBody>
      </p:sp>
      <p:sp>
        <p:nvSpPr>
          <p:cNvPr id="62" name="TextBox 62"/>
          <p:cNvSpPr txBox="1"/>
          <p:nvPr/>
        </p:nvSpPr>
        <p:spPr>
          <a:xfrm>
            <a:off x="560070" y="6094095"/>
            <a:ext cx="393992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100%: + Approval complete + Channel assigned + Price available</a:t>
            </a:r>
          </a:p>
        </p:txBody>
      </p:sp>
      <p:sp>
        <p:nvSpPr>
          <p:cNvPr id="63" name="TextBox 6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5</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552527"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03 / Channel Mapping</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193232"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Channel Distribution</a:t>
            </a:r>
          </a:p>
        </p:txBody>
      </p:sp>
      <p:sp>
        <p:nvSpPr>
          <p:cNvPr id="7" name="Rectangle 7"/>
          <p:cNvSpPr/>
          <p:nvPr/>
        </p:nvSpPr>
        <p:spPr>
          <a:xfrm>
            <a:off x="4762500" y="1524000"/>
            <a:ext cx="2667000" cy="666750"/>
          </a:xfrm>
          <a:prstGeom prst="roundRect">
            <a:avLst>
              <a:gd name="adj" fmla="val 14286"/>
            </a:avLst>
          </a:prstGeom>
          <a:solidFill>
            <a:srgbClr val="586A68"/>
          </a:solidFill>
          <a:ln>
            <a:noFill/>
          </a:ln>
        </p:spPr>
        <p:txBody>
          <a:bodyPr/>
          <a:lstStyle/>
          <a:p>
            <a:endParaRPr lang="da-DK"/>
          </a:p>
        </p:txBody>
      </p:sp>
      <p:sp>
        <p:nvSpPr>
          <p:cNvPr id="8" name="TextBox 8"/>
          <p:cNvSpPr txBox="1"/>
          <p:nvPr/>
        </p:nvSpPr>
        <p:spPr>
          <a:xfrm>
            <a:off x="5892927" y="1695450"/>
            <a:ext cx="40614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Microsoft YaHei"/>
                <a:cs typeface="Segoe UI"/>
              </a:rPr>
              <a:t>PIM</a:t>
            </a:r>
          </a:p>
        </p:txBody>
      </p:sp>
      <p:sp>
        <p:nvSpPr>
          <p:cNvPr id="9" name="TextBox 9"/>
          <p:cNvSpPr txBox="1"/>
          <p:nvPr/>
        </p:nvSpPr>
        <p:spPr>
          <a:xfrm>
            <a:off x="5371481" y="1979295"/>
            <a:ext cx="1449038"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Segoe UI"/>
                <a:ea typeface="Microsoft YaHei"/>
                <a:cs typeface="Segoe UI"/>
              </a:rPr>
              <a:t>Single Source of Truth</a:t>
            </a:r>
          </a:p>
        </p:txBody>
      </p:sp>
      <p:sp>
        <p:nvSpPr>
          <p:cNvPr id="10" name="Rectangle 10"/>
          <p:cNvSpPr/>
          <p:nvPr/>
        </p:nvSpPr>
        <p:spPr>
          <a:xfrm>
            <a:off x="571500" y="3048000"/>
            <a:ext cx="1905000" cy="571500"/>
          </a:xfrm>
          <a:prstGeom prst="roundRect">
            <a:avLst>
              <a:gd name="adj" fmla="val 13333"/>
            </a:avLst>
          </a:prstGeom>
          <a:solidFill>
            <a:srgbClr val="FFFFFF"/>
          </a:solidFill>
          <a:ln w="19050">
            <a:solidFill>
              <a:srgbClr val="586A68"/>
            </a:solidFill>
          </a:ln>
        </p:spPr>
        <p:txBody>
          <a:bodyPr/>
          <a:lstStyle/>
          <a:p>
            <a:endParaRPr lang="da-DK"/>
          </a:p>
        </p:txBody>
      </p:sp>
      <p:sp>
        <p:nvSpPr>
          <p:cNvPr id="11" name="TextBox 11"/>
          <p:cNvSpPr txBox="1"/>
          <p:nvPr/>
        </p:nvSpPr>
        <p:spPr>
          <a:xfrm>
            <a:off x="838783" y="3180874"/>
            <a:ext cx="1370433"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Website &amp; Webshop</a:t>
            </a:r>
          </a:p>
        </p:txBody>
      </p:sp>
      <p:sp>
        <p:nvSpPr>
          <p:cNvPr id="12" name="TextBox 12"/>
          <p:cNvSpPr txBox="1"/>
          <p:nvPr/>
        </p:nvSpPr>
        <p:spPr>
          <a:xfrm>
            <a:off x="1016079" y="3395662"/>
            <a:ext cx="1015841"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REST API / GraphQL</a:t>
            </a:r>
          </a:p>
        </p:txBody>
      </p:sp>
      <p:sp>
        <p:nvSpPr>
          <p:cNvPr id="13" name="Rectangle 13"/>
          <p:cNvSpPr/>
          <p:nvPr/>
        </p:nvSpPr>
        <p:spPr>
          <a:xfrm>
            <a:off x="2857500" y="3048000"/>
            <a:ext cx="1905000" cy="571500"/>
          </a:xfrm>
          <a:prstGeom prst="roundRect">
            <a:avLst>
              <a:gd name="adj" fmla="val 13333"/>
            </a:avLst>
          </a:prstGeom>
          <a:solidFill>
            <a:srgbClr val="FFFFFF"/>
          </a:solidFill>
          <a:ln w="19050">
            <a:solidFill>
              <a:srgbClr val="C1856B"/>
            </a:solidFill>
          </a:ln>
        </p:spPr>
        <p:txBody>
          <a:bodyPr/>
          <a:lstStyle/>
          <a:p>
            <a:endParaRPr lang="da-DK"/>
          </a:p>
        </p:txBody>
      </p:sp>
      <p:sp>
        <p:nvSpPr>
          <p:cNvPr id="14" name="TextBox 14"/>
          <p:cNvSpPr txBox="1"/>
          <p:nvPr/>
        </p:nvSpPr>
        <p:spPr>
          <a:xfrm>
            <a:off x="3150949" y="3180874"/>
            <a:ext cx="1318102"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B2B &amp; Sales Portal</a:t>
            </a:r>
          </a:p>
        </p:txBody>
      </p:sp>
      <p:sp>
        <p:nvSpPr>
          <p:cNvPr id="15" name="TextBox 15"/>
          <p:cNvSpPr txBox="1"/>
          <p:nvPr/>
        </p:nvSpPr>
        <p:spPr>
          <a:xfrm>
            <a:off x="3252788" y="3395662"/>
            <a:ext cx="1114425"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API / Asset Packages</a:t>
            </a:r>
          </a:p>
        </p:txBody>
      </p:sp>
      <p:sp>
        <p:nvSpPr>
          <p:cNvPr id="16" name="Rectangle 16"/>
          <p:cNvSpPr/>
          <p:nvPr/>
        </p:nvSpPr>
        <p:spPr>
          <a:xfrm>
            <a:off x="5143500" y="3048000"/>
            <a:ext cx="1905000" cy="571500"/>
          </a:xfrm>
          <a:prstGeom prst="roundRect">
            <a:avLst>
              <a:gd name="adj" fmla="val 13333"/>
            </a:avLst>
          </a:prstGeom>
          <a:solidFill>
            <a:srgbClr val="FFFFFF"/>
          </a:solidFill>
          <a:ln w="19050">
            <a:solidFill>
              <a:srgbClr val="B6ADA4"/>
            </a:solidFill>
          </a:ln>
        </p:spPr>
        <p:txBody>
          <a:bodyPr/>
          <a:lstStyle/>
          <a:p>
            <a:endParaRPr lang="da-DK"/>
          </a:p>
        </p:txBody>
      </p:sp>
      <p:sp>
        <p:nvSpPr>
          <p:cNvPr id="17" name="TextBox 17"/>
          <p:cNvSpPr txBox="1"/>
          <p:nvPr/>
        </p:nvSpPr>
        <p:spPr>
          <a:xfrm>
            <a:off x="5377142" y="3180874"/>
            <a:ext cx="1437717"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iPaper &amp; Catalogues</a:t>
            </a:r>
          </a:p>
        </p:txBody>
      </p:sp>
      <p:sp>
        <p:nvSpPr>
          <p:cNvPr id="18" name="TextBox 18"/>
          <p:cNvSpPr txBox="1"/>
          <p:nvPr/>
        </p:nvSpPr>
        <p:spPr>
          <a:xfrm>
            <a:off x="5631894" y="3395662"/>
            <a:ext cx="928211"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Scheduled Export</a:t>
            </a:r>
          </a:p>
        </p:txBody>
      </p:sp>
      <p:sp>
        <p:nvSpPr>
          <p:cNvPr id="19" name="Rectangle 19"/>
          <p:cNvSpPr/>
          <p:nvPr/>
        </p:nvSpPr>
        <p:spPr>
          <a:xfrm>
            <a:off x="7429500" y="3048000"/>
            <a:ext cx="1905000" cy="571500"/>
          </a:xfrm>
          <a:prstGeom prst="roundRect">
            <a:avLst>
              <a:gd name="adj" fmla="val 13333"/>
            </a:avLst>
          </a:prstGeom>
          <a:solidFill>
            <a:srgbClr val="FFFFFF"/>
          </a:solidFill>
          <a:ln w="19050">
            <a:solidFill>
              <a:srgbClr val="753438"/>
            </a:solidFill>
          </a:ln>
        </p:spPr>
        <p:txBody>
          <a:bodyPr/>
          <a:lstStyle/>
          <a:p>
            <a:endParaRPr lang="da-DK"/>
          </a:p>
        </p:txBody>
      </p:sp>
      <p:sp>
        <p:nvSpPr>
          <p:cNvPr id="20" name="TextBox 20"/>
          <p:cNvSpPr txBox="1"/>
          <p:nvPr/>
        </p:nvSpPr>
        <p:spPr>
          <a:xfrm>
            <a:off x="7603334" y="3180874"/>
            <a:ext cx="1557332"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Quotation &amp; Pricelist</a:t>
            </a:r>
          </a:p>
        </p:txBody>
      </p:sp>
      <p:sp>
        <p:nvSpPr>
          <p:cNvPr id="21" name="TextBox 21"/>
          <p:cNvSpPr txBox="1"/>
          <p:nvPr/>
        </p:nvSpPr>
        <p:spPr>
          <a:xfrm>
            <a:off x="8115062" y="3395662"/>
            <a:ext cx="533876"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Data Feed</a:t>
            </a:r>
          </a:p>
        </p:txBody>
      </p:sp>
      <p:sp>
        <p:nvSpPr>
          <p:cNvPr id="22" name="Rectangle 22"/>
          <p:cNvSpPr/>
          <p:nvPr/>
        </p:nvSpPr>
        <p:spPr>
          <a:xfrm>
            <a:off x="9715500" y="3048000"/>
            <a:ext cx="1905000" cy="571500"/>
          </a:xfrm>
          <a:prstGeom prst="roundRect">
            <a:avLst>
              <a:gd name="adj" fmla="val 13333"/>
            </a:avLst>
          </a:prstGeom>
          <a:solidFill>
            <a:srgbClr val="FFFFFF"/>
          </a:solidFill>
          <a:ln w="19050">
            <a:solidFill>
              <a:srgbClr val="88817E"/>
            </a:solidFill>
          </a:ln>
        </p:spPr>
        <p:txBody>
          <a:bodyPr/>
          <a:lstStyle/>
          <a:p>
            <a:endParaRPr lang="da-DK"/>
          </a:p>
        </p:txBody>
      </p:sp>
      <p:sp>
        <p:nvSpPr>
          <p:cNvPr id="23" name="TextBox 23"/>
          <p:cNvSpPr txBox="1"/>
          <p:nvPr/>
        </p:nvSpPr>
        <p:spPr>
          <a:xfrm>
            <a:off x="10218275" y="3180874"/>
            <a:ext cx="899449"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Internal Use</a:t>
            </a:r>
          </a:p>
        </p:txBody>
      </p:sp>
      <p:sp>
        <p:nvSpPr>
          <p:cNvPr id="24" name="TextBox 24"/>
          <p:cNvSpPr txBox="1"/>
          <p:nvPr/>
        </p:nvSpPr>
        <p:spPr>
          <a:xfrm>
            <a:off x="10086142" y="3395662"/>
            <a:ext cx="1163717"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Dashboard / Download</a:t>
            </a:r>
          </a:p>
        </p:txBody>
      </p:sp>
      <p:sp>
        <p:nvSpPr>
          <p:cNvPr id="25" name="Line 25"/>
          <p:cNvSpPr/>
          <p:nvPr/>
        </p:nvSpPr>
        <p:spPr>
          <a:xfrm>
            <a:off x="1524000" y="2190750"/>
            <a:ext cx="3810000" cy="857250"/>
          </a:xfrm>
          <a:custGeom>
            <a:avLst/>
            <a:gdLst/>
            <a:ahLst/>
            <a:cxnLst/>
            <a:rect l="l" t="t" r="r" b="b"/>
            <a:pathLst>
              <a:path w="3810000" h="857250">
                <a:moveTo>
                  <a:pt x="3810000" y="0"/>
                </a:moveTo>
                <a:lnTo>
                  <a:pt x="0" y="857250"/>
                </a:lnTo>
              </a:path>
            </a:pathLst>
          </a:custGeom>
          <a:noFill/>
          <a:ln w="14288">
            <a:solidFill>
              <a:srgbClr val="586A68"/>
            </a:solidFill>
          </a:ln>
        </p:spPr>
        <p:txBody>
          <a:bodyPr/>
          <a:lstStyle/>
          <a:p>
            <a:endParaRPr lang="da-DK"/>
          </a:p>
        </p:txBody>
      </p:sp>
      <p:sp>
        <p:nvSpPr>
          <p:cNvPr id="26" name="Line 26"/>
          <p:cNvSpPr/>
          <p:nvPr/>
        </p:nvSpPr>
        <p:spPr>
          <a:xfrm>
            <a:off x="3810000" y="2190750"/>
            <a:ext cx="1809750" cy="857250"/>
          </a:xfrm>
          <a:custGeom>
            <a:avLst/>
            <a:gdLst/>
            <a:ahLst/>
            <a:cxnLst/>
            <a:rect l="l" t="t" r="r" b="b"/>
            <a:pathLst>
              <a:path w="1809750" h="857250">
                <a:moveTo>
                  <a:pt x="1809750" y="0"/>
                </a:moveTo>
                <a:lnTo>
                  <a:pt x="0" y="857250"/>
                </a:lnTo>
              </a:path>
            </a:pathLst>
          </a:custGeom>
          <a:noFill/>
          <a:ln w="14288">
            <a:solidFill>
              <a:srgbClr val="C1856B"/>
            </a:solidFill>
          </a:ln>
        </p:spPr>
        <p:txBody>
          <a:bodyPr/>
          <a:lstStyle/>
          <a:p>
            <a:endParaRPr lang="da-DK"/>
          </a:p>
        </p:txBody>
      </p:sp>
      <p:sp>
        <p:nvSpPr>
          <p:cNvPr id="27" name="Line 27"/>
          <p:cNvSpPr/>
          <p:nvPr/>
        </p:nvSpPr>
        <p:spPr>
          <a:xfrm>
            <a:off x="6096000" y="2190750"/>
            <a:ext cx="9525" cy="857250"/>
          </a:xfrm>
          <a:custGeom>
            <a:avLst/>
            <a:gdLst/>
            <a:ahLst/>
            <a:cxnLst/>
            <a:rect l="l" t="t" r="r" b="b"/>
            <a:pathLst>
              <a:path w="9525" h="857250">
                <a:moveTo>
                  <a:pt x="0" y="0"/>
                </a:moveTo>
                <a:lnTo>
                  <a:pt x="0" y="857250"/>
                </a:lnTo>
              </a:path>
            </a:pathLst>
          </a:custGeom>
          <a:noFill/>
          <a:ln w="14288">
            <a:solidFill>
              <a:srgbClr val="B6ADA4"/>
            </a:solidFill>
          </a:ln>
        </p:spPr>
        <p:txBody>
          <a:bodyPr/>
          <a:lstStyle/>
          <a:p>
            <a:endParaRPr lang="da-DK"/>
          </a:p>
        </p:txBody>
      </p:sp>
      <p:sp>
        <p:nvSpPr>
          <p:cNvPr id="28" name="Line 28"/>
          <p:cNvSpPr/>
          <p:nvPr/>
        </p:nvSpPr>
        <p:spPr>
          <a:xfrm>
            <a:off x="6572250" y="2190750"/>
            <a:ext cx="1809750" cy="857250"/>
          </a:xfrm>
          <a:custGeom>
            <a:avLst/>
            <a:gdLst/>
            <a:ahLst/>
            <a:cxnLst/>
            <a:rect l="l" t="t" r="r" b="b"/>
            <a:pathLst>
              <a:path w="1809750" h="857250">
                <a:moveTo>
                  <a:pt x="0" y="0"/>
                </a:moveTo>
                <a:lnTo>
                  <a:pt x="1809750" y="857250"/>
                </a:lnTo>
              </a:path>
            </a:pathLst>
          </a:custGeom>
          <a:noFill/>
          <a:ln w="14288">
            <a:solidFill>
              <a:srgbClr val="753438"/>
            </a:solidFill>
          </a:ln>
        </p:spPr>
        <p:txBody>
          <a:bodyPr/>
          <a:lstStyle/>
          <a:p>
            <a:endParaRPr lang="da-DK"/>
          </a:p>
        </p:txBody>
      </p:sp>
      <p:sp>
        <p:nvSpPr>
          <p:cNvPr id="29" name="Line 29"/>
          <p:cNvSpPr/>
          <p:nvPr/>
        </p:nvSpPr>
        <p:spPr>
          <a:xfrm>
            <a:off x="6858000" y="2190750"/>
            <a:ext cx="3810000" cy="857250"/>
          </a:xfrm>
          <a:custGeom>
            <a:avLst/>
            <a:gdLst/>
            <a:ahLst/>
            <a:cxnLst/>
            <a:rect l="l" t="t" r="r" b="b"/>
            <a:pathLst>
              <a:path w="3810000" h="857250">
                <a:moveTo>
                  <a:pt x="0" y="0"/>
                </a:moveTo>
                <a:lnTo>
                  <a:pt x="3810000" y="857250"/>
                </a:lnTo>
              </a:path>
            </a:pathLst>
          </a:custGeom>
          <a:noFill/>
          <a:ln w="14288">
            <a:solidFill>
              <a:srgbClr val="88817E"/>
            </a:solidFill>
          </a:ln>
        </p:spPr>
        <p:txBody>
          <a:bodyPr/>
          <a:lstStyle/>
          <a:p>
            <a:endParaRPr lang="da-DK"/>
          </a:p>
        </p:txBody>
      </p:sp>
      <p:sp>
        <p:nvSpPr>
          <p:cNvPr id="30" name="TextBox 30"/>
          <p:cNvSpPr txBox="1"/>
          <p:nvPr/>
        </p:nvSpPr>
        <p:spPr>
          <a:xfrm>
            <a:off x="561975" y="3824288"/>
            <a:ext cx="73652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Product Name</a:t>
            </a:r>
          </a:p>
        </p:txBody>
      </p:sp>
      <p:sp>
        <p:nvSpPr>
          <p:cNvPr id="31" name="TextBox 31"/>
          <p:cNvSpPr txBox="1"/>
          <p:nvPr/>
        </p:nvSpPr>
        <p:spPr>
          <a:xfrm>
            <a:off x="561975" y="3967162"/>
            <a:ext cx="84058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B2C Description</a:t>
            </a:r>
          </a:p>
        </p:txBody>
      </p:sp>
      <p:sp>
        <p:nvSpPr>
          <p:cNvPr id="32" name="TextBox 32"/>
          <p:cNvSpPr txBox="1"/>
          <p:nvPr/>
        </p:nvSpPr>
        <p:spPr>
          <a:xfrm>
            <a:off x="561975" y="4110038"/>
            <a:ext cx="114180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Packshots, Lifestyle</a:t>
            </a:r>
          </a:p>
        </p:txBody>
      </p:sp>
      <p:sp>
        <p:nvSpPr>
          <p:cNvPr id="33" name="TextBox 33"/>
          <p:cNvSpPr txBox="1"/>
          <p:nvPr/>
        </p:nvSpPr>
        <p:spPr>
          <a:xfrm>
            <a:off x="561975" y="4252912"/>
            <a:ext cx="101584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Videos, Dimensions</a:t>
            </a:r>
          </a:p>
        </p:txBody>
      </p:sp>
      <p:sp>
        <p:nvSpPr>
          <p:cNvPr id="34" name="TextBox 34"/>
          <p:cNvSpPr txBox="1"/>
          <p:nvPr/>
        </p:nvSpPr>
        <p:spPr>
          <a:xfrm>
            <a:off x="561975" y="4395788"/>
            <a:ext cx="86248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Materials, Care</a:t>
            </a:r>
          </a:p>
        </p:txBody>
      </p:sp>
      <p:sp>
        <p:nvSpPr>
          <p:cNvPr id="35" name="TextBox 35"/>
          <p:cNvSpPr txBox="1"/>
          <p:nvPr/>
        </p:nvSpPr>
        <p:spPr>
          <a:xfrm>
            <a:off x="561975" y="4538662"/>
            <a:ext cx="110347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Variants, Downloads</a:t>
            </a:r>
          </a:p>
        </p:txBody>
      </p:sp>
      <p:sp>
        <p:nvSpPr>
          <p:cNvPr id="36" name="TextBox 36"/>
          <p:cNvSpPr txBox="1"/>
          <p:nvPr/>
        </p:nvSpPr>
        <p:spPr>
          <a:xfrm>
            <a:off x="2847975" y="3824288"/>
            <a:ext cx="84058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B2B Description</a:t>
            </a:r>
          </a:p>
        </p:txBody>
      </p:sp>
      <p:sp>
        <p:nvSpPr>
          <p:cNvPr id="37" name="TextBox 37"/>
          <p:cNvSpPr txBox="1"/>
          <p:nvPr/>
        </p:nvSpPr>
        <p:spPr>
          <a:xfrm>
            <a:off x="2847975" y="3967162"/>
            <a:ext cx="90082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USPs, Price Data</a:t>
            </a:r>
          </a:p>
        </p:txBody>
      </p:sp>
      <p:sp>
        <p:nvSpPr>
          <p:cNvPr id="38" name="TextBox 38"/>
          <p:cNvSpPr txBox="1"/>
          <p:nvPr/>
        </p:nvSpPr>
        <p:spPr>
          <a:xfrm>
            <a:off x="2847975" y="4110038"/>
            <a:ext cx="90082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Technical Sheets</a:t>
            </a:r>
          </a:p>
        </p:txBody>
      </p:sp>
      <p:sp>
        <p:nvSpPr>
          <p:cNvPr id="39" name="TextBox 39"/>
          <p:cNvSpPr txBox="1"/>
          <p:nvPr/>
        </p:nvSpPr>
        <p:spPr>
          <a:xfrm>
            <a:off x="2847975" y="4252912"/>
            <a:ext cx="479108"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CAD Files</a:t>
            </a:r>
          </a:p>
        </p:txBody>
      </p:sp>
      <p:sp>
        <p:nvSpPr>
          <p:cNvPr id="40" name="TextBox 40"/>
          <p:cNvSpPr txBox="1"/>
          <p:nvPr/>
        </p:nvSpPr>
        <p:spPr>
          <a:xfrm>
            <a:off x="2847975" y="4395788"/>
            <a:ext cx="74199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Hi-Res Images</a:t>
            </a:r>
          </a:p>
        </p:txBody>
      </p:sp>
      <p:sp>
        <p:nvSpPr>
          <p:cNvPr id="41" name="TextBox 41"/>
          <p:cNvSpPr txBox="1"/>
          <p:nvPr/>
        </p:nvSpPr>
        <p:spPr>
          <a:xfrm>
            <a:off x="2847975" y="4538662"/>
            <a:ext cx="86248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Compliance Docs</a:t>
            </a:r>
          </a:p>
        </p:txBody>
      </p:sp>
      <p:sp>
        <p:nvSpPr>
          <p:cNvPr id="42" name="TextBox 42"/>
          <p:cNvSpPr txBox="1"/>
          <p:nvPr/>
        </p:nvSpPr>
        <p:spPr>
          <a:xfrm>
            <a:off x="5133975" y="3824288"/>
            <a:ext cx="77485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Approved Text</a:t>
            </a:r>
          </a:p>
        </p:txBody>
      </p:sp>
      <p:sp>
        <p:nvSpPr>
          <p:cNvPr id="43" name="TextBox 43"/>
          <p:cNvSpPr txBox="1"/>
          <p:nvPr/>
        </p:nvSpPr>
        <p:spPr>
          <a:xfrm>
            <a:off x="5133975" y="3967162"/>
            <a:ext cx="922734"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Catalogue Images</a:t>
            </a:r>
          </a:p>
        </p:txBody>
      </p:sp>
      <p:sp>
        <p:nvSpPr>
          <p:cNvPr id="44" name="TextBox 44"/>
          <p:cNvSpPr txBox="1"/>
          <p:nvPr/>
        </p:nvSpPr>
        <p:spPr>
          <a:xfrm>
            <a:off x="5133975" y="4110038"/>
            <a:ext cx="917258"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Product Numbers</a:t>
            </a:r>
          </a:p>
        </p:txBody>
      </p:sp>
      <p:sp>
        <p:nvSpPr>
          <p:cNvPr id="45" name="TextBox 45"/>
          <p:cNvSpPr txBox="1"/>
          <p:nvPr/>
        </p:nvSpPr>
        <p:spPr>
          <a:xfrm>
            <a:off x="5133975" y="4252912"/>
            <a:ext cx="82415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Material Names</a:t>
            </a:r>
          </a:p>
        </p:txBody>
      </p:sp>
      <p:sp>
        <p:nvSpPr>
          <p:cNvPr id="46" name="TextBox 46"/>
          <p:cNvSpPr txBox="1"/>
          <p:nvPr/>
        </p:nvSpPr>
        <p:spPr>
          <a:xfrm>
            <a:off x="5133975" y="4395788"/>
            <a:ext cx="101584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Dimensions, Prices</a:t>
            </a:r>
          </a:p>
        </p:txBody>
      </p:sp>
      <p:sp>
        <p:nvSpPr>
          <p:cNvPr id="47" name="TextBox 47"/>
          <p:cNvSpPr txBox="1"/>
          <p:nvPr/>
        </p:nvSpPr>
        <p:spPr>
          <a:xfrm>
            <a:off x="5133975" y="4538662"/>
            <a:ext cx="56673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Page Links</a:t>
            </a:r>
          </a:p>
        </p:txBody>
      </p:sp>
      <p:sp>
        <p:nvSpPr>
          <p:cNvPr id="48" name="TextBox 48"/>
          <p:cNvSpPr txBox="1"/>
          <p:nvPr/>
        </p:nvSpPr>
        <p:spPr>
          <a:xfrm>
            <a:off x="7419975" y="3824288"/>
            <a:ext cx="769382"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Product Image</a:t>
            </a:r>
          </a:p>
        </p:txBody>
      </p:sp>
      <p:sp>
        <p:nvSpPr>
          <p:cNvPr id="49" name="TextBox 49"/>
          <p:cNvSpPr txBox="1"/>
          <p:nvPr/>
        </p:nvSpPr>
        <p:spPr>
          <a:xfrm>
            <a:off x="7419975" y="3967162"/>
            <a:ext cx="74199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Variant Image</a:t>
            </a:r>
          </a:p>
        </p:txBody>
      </p:sp>
      <p:sp>
        <p:nvSpPr>
          <p:cNvPr id="50" name="TextBox 50"/>
          <p:cNvSpPr txBox="1"/>
          <p:nvPr/>
        </p:nvSpPr>
        <p:spPr>
          <a:xfrm>
            <a:off x="7419975" y="4110038"/>
            <a:ext cx="670798"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Item Number</a:t>
            </a:r>
          </a:p>
        </p:txBody>
      </p:sp>
      <p:sp>
        <p:nvSpPr>
          <p:cNvPr id="51" name="TextBox 51"/>
          <p:cNvSpPr txBox="1"/>
          <p:nvPr/>
        </p:nvSpPr>
        <p:spPr>
          <a:xfrm>
            <a:off x="7419975" y="4252912"/>
            <a:ext cx="955596"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Price, Dimensions</a:t>
            </a:r>
          </a:p>
        </p:txBody>
      </p:sp>
      <p:sp>
        <p:nvSpPr>
          <p:cNvPr id="52" name="TextBox 52"/>
          <p:cNvSpPr txBox="1"/>
          <p:nvPr/>
        </p:nvSpPr>
        <p:spPr>
          <a:xfrm>
            <a:off x="7419975" y="4395788"/>
            <a:ext cx="1169194"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Material / Upholstery</a:t>
            </a:r>
          </a:p>
        </p:txBody>
      </p:sp>
      <p:sp>
        <p:nvSpPr>
          <p:cNvPr id="53" name="TextBox 53"/>
          <p:cNvSpPr txBox="1"/>
          <p:nvPr/>
        </p:nvSpPr>
        <p:spPr>
          <a:xfrm>
            <a:off x="7419975" y="4538662"/>
            <a:ext cx="961072"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Short Description</a:t>
            </a:r>
          </a:p>
        </p:txBody>
      </p:sp>
      <p:sp>
        <p:nvSpPr>
          <p:cNvPr id="54" name="TextBox 54"/>
          <p:cNvSpPr txBox="1"/>
          <p:nvPr/>
        </p:nvSpPr>
        <p:spPr>
          <a:xfrm>
            <a:off x="9705975" y="3824288"/>
            <a:ext cx="961072"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Sales Data (D365)</a:t>
            </a:r>
          </a:p>
        </p:txBody>
      </p:sp>
      <p:sp>
        <p:nvSpPr>
          <p:cNvPr id="55" name="TextBox 55"/>
          <p:cNvSpPr txBox="1"/>
          <p:nvPr/>
        </p:nvSpPr>
        <p:spPr>
          <a:xfrm>
            <a:off x="9705975" y="3967162"/>
            <a:ext cx="1130856"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Completeness Status</a:t>
            </a:r>
          </a:p>
        </p:txBody>
      </p:sp>
      <p:sp>
        <p:nvSpPr>
          <p:cNvPr id="56" name="TextBox 56"/>
          <p:cNvSpPr txBox="1"/>
          <p:nvPr/>
        </p:nvSpPr>
        <p:spPr>
          <a:xfrm>
            <a:off x="9705975" y="4110038"/>
            <a:ext cx="92821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Launch Readiness</a:t>
            </a:r>
          </a:p>
        </p:txBody>
      </p:sp>
      <p:sp>
        <p:nvSpPr>
          <p:cNvPr id="57" name="TextBox 57"/>
          <p:cNvSpPr txBox="1"/>
          <p:nvPr/>
        </p:nvSpPr>
        <p:spPr>
          <a:xfrm>
            <a:off x="9705975" y="4252912"/>
            <a:ext cx="1010364"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Download Packages</a:t>
            </a:r>
          </a:p>
        </p:txBody>
      </p:sp>
      <p:sp>
        <p:nvSpPr>
          <p:cNvPr id="58" name="TextBox 58"/>
          <p:cNvSpPr txBox="1"/>
          <p:nvPr/>
        </p:nvSpPr>
        <p:spPr>
          <a:xfrm>
            <a:off x="9705975" y="4395788"/>
            <a:ext cx="807720"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Usage Tracking</a:t>
            </a:r>
          </a:p>
        </p:txBody>
      </p:sp>
      <p:sp>
        <p:nvSpPr>
          <p:cNvPr id="59" name="Rectangle 59"/>
          <p:cNvSpPr/>
          <p:nvPr/>
        </p:nvSpPr>
        <p:spPr>
          <a:xfrm>
            <a:off x="571500" y="5048250"/>
            <a:ext cx="11049000" cy="762000"/>
          </a:xfrm>
          <a:prstGeom prst="roundRect">
            <a:avLst>
              <a:gd name="adj" fmla="val 10000"/>
            </a:avLst>
          </a:prstGeom>
          <a:solidFill>
            <a:srgbClr val="FFFFFF"/>
          </a:solidFill>
          <a:ln w="9525">
            <a:solidFill>
              <a:srgbClr val="88817E"/>
            </a:solidFill>
          </a:ln>
        </p:spPr>
        <p:txBody>
          <a:bodyPr/>
          <a:lstStyle/>
          <a:p>
            <a:endParaRPr lang="da-DK"/>
          </a:p>
        </p:txBody>
      </p:sp>
      <p:sp>
        <p:nvSpPr>
          <p:cNvPr id="60" name="TextBox 60"/>
          <p:cNvSpPr txBox="1"/>
          <p:nvPr/>
        </p:nvSpPr>
        <p:spPr>
          <a:xfrm>
            <a:off x="749618" y="5181124"/>
            <a:ext cx="1340529" cy="198120"/>
          </a:xfrm>
          <a:prstGeom prst="rect">
            <a:avLst/>
          </a:prstGeom>
          <a:noFill/>
          <a:ln>
            <a:noFill/>
          </a:ln>
        </p:spPr>
        <p:txBody>
          <a:bodyPr wrap="none" lIns="0" tIns="0" rIns="0" bIns="0" anchor="t" anchorCtr="0">
            <a:spAutoFit/>
          </a:bodyPr>
          <a:lstStyle/>
          <a:p>
            <a:pPr algn="l"/>
            <a:r>
              <a:rPr lang="zh-CN" sz="975" b="1" dirty="0">
                <a:solidFill>
                  <a:srgbClr val="3C3C3B"/>
                </a:solidFill>
                <a:latin typeface="Segoe UI"/>
                <a:ea typeface="Microsoft YaHei"/>
                <a:cs typeface="Segoe UI"/>
              </a:rPr>
              <a:t>Delivery Methods:</a:t>
            </a:r>
          </a:p>
        </p:txBody>
      </p:sp>
      <p:sp>
        <p:nvSpPr>
          <p:cNvPr id="61" name="TextBox 61"/>
          <p:cNvSpPr txBox="1"/>
          <p:nvPr/>
        </p:nvSpPr>
        <p:spPr>
          <a:xfrm>
            <a:off x="750570" y="5427345"/>
            <a:ext cx="2237708" cy="182880"/>
          </a:xfrm>
          <a:prstGeom prst="rect">
            <a:avLst/>
          </a:prstGeom>
          <a:noFill/>
          <a:ln>
            <a:noFill/>
          </a:ln>
        </p:spPr>
        <p:txBody>
          <a:bodyPr wrap="none" lIns="0" tIns="0" rIns="0" bIns="0" anchor="t" anchorCtr="0">
            <a:spAutoFit/>
          </a:bodyPr>
          <a:lstStyle/>
          <a:p>
            <a:pPr algn="l"/>
            <a:r>
              <a:rPr lang="zh-CN" sz="900" dirty="0">
                <a:solidFill>
                  <a:srgbClr val="586A68"/>
                </a:solidFill>
                <a:latin typeface="Segoe UI"/>
                <a:ea typeface="Microsoft YaHei"/>
                <a:cs typeface="Segoe UI"/>
              </a:rPr>
              <a:t>Real-time API: Website, B2B Portal</a:t>
            </a:r>
          </a:p>
        </p:txBody>
      </p:sp>
      <p:sp>
        <p:nvSpPr>
          <p:cNvPr id="62" name="TextBox 62"/>
          <p:cNvSpPr txBox="1"/>
          <p:nvPr/>
        </p:nvSpPr>
        <p:spPr>
          <a:xfrm>
            <a:off x="4751070" y="5427345"/>
            <a:ext cx="2382298"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Scheduled Export: iPaper, Quotation</a:t>
            </a:r>
          </a:p>
        </p:txBody>
      </p:sp>
      <p:sp>
        <p:nvSpPr>
          <p:cNvPr id="63" name="TextBox 63"/>
          <p:cNvSpPr txBox="1"/>
          <p:nvPr/>
        </p:nvSpPr>
        <p:spPr>
          <a:xfrm>
            <a:off x="8561070" y="5427345"/>
            <a:ext cx="1350454"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On-demand: Internal</a:t>
            </a:r>
          </a:p>
        </p:txBody>
      </p:sp>
      <p:sp>
        <p:nvSpPr>
          <p:cNvPr id="64" name="TextBox 64"/>
          <p:cNvSpPr txBox="1"/>
          <p:nvPr/>
        </p:nvSpPr>
        <p:spPr>
          <a:xfrm>
            <a:off x="751522" y="5625941"/>
            <a:ext cx="6702195"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Image renditions served via CDN. Language versions managed in PIM. Archived products handled per channel policy.</a:t>
            </a:r>
          </a:p>
        </p:txBody>
      </p:sp>
      <p:sp>
        <p:nvSpPr>
          <p:cNvPr id="65" name="TextBox 65"/>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6</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86690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04 / Asset Classification</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193232"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Asset Classification</a:t>
            </a:r>
          </a:p>
        </p:txBody>
      </p:sp>
      <p:sp>
        <p:nvSpPr>
          <p:cNvPr id="7" name="Rectangle 7"/>
          <p:cNvSpPr/>
          <p:nvPr/>
        </p:nvSpPr>
        <p:spPr>
          <a:xfrm>
            <a:off x="571500" y="1333500"/>
            <a:ext cx="2571750" cy="2667000"/>
          </a:xfrm>
          <a:prstGeom prst="roundRect">
            <a:avLst>
              <a:gd name="adj" fmla="val 3704"/>
            </a:avLst>
          </a:prstGeom>
          <a:solidFill>
            <a:srgbClr val="FFFFFF"/>
          </a:solidFill>
          <a:ln w="19050">
            <a:solidFill>
              <a:srgbClr val="586A68"/>
            </a:solidFill>
          </a:ln>
        </p:spPr>
        <p:txBody>
          <a:bodyPr/>
          <a:lstStyle/>
          <a:p>
            <a:endParaRPr lang="da-DK"/>
          </a:p>
        </p:txBody>
      </p:sp>
      <p:sp>
        <p:nvSpPr>
          <p:cNvPr id="8" name="Rectangle 8"/>
          <p:cNvSpPr/>
          <p:nvPr/>
        </p:nvSpPr>
        <p:spPr>
          <a:xfrm>
            <a:off x="571500" y="1333500"/>
            <a:ext cx="2571750" cy="381000"/>
          </a:xfrm>
          <a:prstGeom prst="roundRect">
            <a:avLst>
              <a:gd name="adj" fmla="val 25000"/>
            </a:avLst>
          </a:prstGeom>
          <a:solidFill>
            <a:srgbClr val="586A68"/>
          </a:solidFill>
          <a:ln>
            <a:noFill/>
          </a:ln>
        </p:spPr>
        <p:txBody>
          <a:bodyPr/>
          <a:lstStyle/>
          <a:p>
            <a:endParaRPr lang="da-DK"/>
          </a:p>
        </p:txBody>
      </p:sp>
      <p:sp>
        <p:nvSpPr>
          <p:cNvPr id="9" name="Rectangle 9"/>
          <p:cNvSpPr/>
          <p:nvPr/>
        </p:nvSpPr>
        <p:spPr>
          <a:xfrm>
            <a:off x="571500" y="1619250"/>
            <a:ext cx="2571750" cy="95250"/>
          </a:xfrm>
          <a:prstGeom prst="rect">
            <a:avLst/>
          </a:prstGeom>
          <a:solidFill>
            <a:srgbClr val="586A68"/>
          </a:solidFill>
          <a:ln>
            <a:noFill/>
          </a:ln>
        </p:spPr>
        <p:txBody>
          <a:bodyPr/>
          <a:lstStyle/>
          <a:p>
            <a:endParaRPr lang="da-DK"/>
          </a:p>
        </p:txBody>
      </p:sp>
      <p:sp>
        <p:nvSpPr>
          <p:cNvPr id="10" name="TextBox 10"/>
          <p:cNvSpPr txBox="1"/>
          <p:nvPr/>
        </p:nvSpPr>
        <p:spPr>
          <a:xfrm>
            <a:off x="1175806" y="1467802"/>
            <a:ext cx="136313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Product-Specific</a:t>
            </a:r>
          </a:p>
        </p:txBody>
      </p:sp>
      <p:sp>
        <p:nvSpPr>
          <p:cNvPr id="11" name="TextBox 11"/>
          <p:cNvSpPr txBox="1"/>
          <p:nvPr/>
        </p:nvSpPr>
        <p:spPr>
          <a:xfrm>
            <a:off x="750570" y="1903095"/>
            <a:ext cx="67351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Packshots</a:t>
            </a:r>
          </a:p>
        </p:txBody>
      </p:sp>
      <p:sp>
        <p:nvSpPr>
          <p:cNvPr id="12" name="TextBox 12"/>
          <p:cNvSpPr txBox="1"/>
          <p:nvPr/>
        </p:nvSpPr>
        <p:spPr>
          <a:xfrm>
            <a:off x="750570" y="2141220"/>
            <a:ext cx="89039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Line Drawings</a:t>
            </a:r>
          </a:p>
        </p:txBody>
      </p:sp>
      <p:sp>
        <p:nvSpPr>
          <p:cNvPr id="13" name="TextBox 13"/>
          <p:cNvSpPr txBox="1"/>
          <p:nvPr/>
        </p:nvSpPr>
        <p:spPr>
          <a:xfrm>
            <a:off x="750570" y="2379345"/>
            <a:ext cx="57492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CAD Files</a:t>
            </a:r>
          </a:p>
        </p:txBody>
      </p:sp>
      <p:sp>
        <p:nvSpPr>
          <p:cNvPr id="14" name="TextBox 14"/>
          <p:cNvSpPr txBox="1"/>
          <p:nvPr/>
        </p:nvSpPr>
        <p:spPr>
          <a:xfrm>
            <a:off x="750570" y="2617470"/>
            <a:ext cx="96926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Product Videos</a:t>
            </a:r>
          </a:p>
        </p:txBody>
      </p:sp>
      <p:sp>
        <p:nvSpPr>
          <p:cNvPr id="15" name="TextBox 15"/>
          <p:cNvSpPr txBox="1"/>
          <p:nvPr/>
        </p:nvSpPr>
        <p:spPr>
          <a:xfrm>
            <a:off x="750570" y="2855595"/>
            <a:ext cx="122558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Variant Renderings</a:t>
            </a:r>
          </a:p>
        </p:txBody>
      </p:sp>
      <p:sp>
        <p:nvSpPr>
          <p:cNvPr id="16" name="TextBox 16"/>
          <p:cNvSpPr txBox="1"/>
          <p:nvPr/>
        </p:nvSpPr>
        <p:spPr>
          <a:xfrm>
            <a:off x="75152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17" name="TextBox 17"/>
          <p:cNvSpPr txBox="1"/>
          <p:nvPr/>
        </p:nvSpPr>
        <p:spPr>
          <a:xfrm>
            <a:off x="751522" y="3435191"/>
            <a:ext cx="1551796" cy="167640"/>
          </a:xfrm>
          <a:prstGeom prst="rect">
            <a:avLst/>
          </a:prstGeom>
          <a:noFill/>
          <a:ln>
            <a:noFill/>
          </a:ln>
        </p:spPr>
        <p:txBody>
          <a:bodyPr wrap="none" lIns="0" tIns="0" rIns="0" bIns="0" anchor="t" anchorCtr="0">
            <a:spAutoFit/>
          </a:bodyPr>
          <a:lstStyle/>
          <a:p>
            <a:pPr algn="l"/>
            <a:r>
              <a:rPr lang="zh-CN" sz="825" b="1" dirty="0">
                <a:solidFill>
                  <a:srgbClr val="586A68"/>
                </a:solidFill>
                <a:latin typeface="Segoe UI"/>
                <a:ea typeface="Microsoft YaHei"/>
                <a:cs typeface="Segoe UI"/>
              </a:rPr>
              <a:t>Master Product, Variant</a:t>
            </a:r>
          </a:p>
        </p:txBody>
      </p:sp>
      <p:sp>
        <p:nvSpPr>
          <p:cNvPr id="18" name="Rectangle 18"/>
          <p:cNvSpPr/>
          <p:nvPr/>
        </p:nvSpPr>
        <p:spPr>
          <a:xfrm>
            <a:off x="3524250" y="1333500"/>
            <a:ext cx="2571750" cy="2667000"/>
          </a:xfrm>
          <a:prstGeom prst="roundRect">
            <a:avLst>
              <a:gd name="adj" fmla="val 3704"/>
            </a:avLst>
          </a:prstGeom>
          <a:solidFill>
            <a:srgbClr val="FFFFFF"/>
          </a:solidFill>
          <a:ln w="19050">
            <a:solidFill>
              <a:srgbClr val="C1856B"/>
            </a:solidFill>
          </a:ln>
        </p:spPr>
        <p:txBody>
          <a:bodyPr/>
          <a:lstStyle/>
          <a:p>
            <a:endParaRPr lang="da-DK"/>
          </a:p>
        </p:txBody>
      </p:sp>
      <p:sp>
        <p:nvSpPr>
          <p:cNvPr id="19" name="Rectangle 19"/>
          <p:cNvSpPr/>
          <p:nvPr/>
        </p:nvSpPr>
        <p:spPr>
          <a:xfrm>
            <a:off x="3524250" y="1333500"/>
            <a:ext cx="2571750" cy="381000"/>
          </a:xfrm>
          <a:prstGeom prst="roundRect">
            <a:avLst>
              <a:gd name="adj" fmla="val 25000"/>
            </a:avLst>
          </a:prstGeom>
          <a:solidFill>
            <a:srgbClr val="C1856B"/>
          </a:solidFill>
          <a:ln>
            <a:noFill/>
          </a:ln>
        </p:spPr>
        <p:txBody>
          <a:bodyPr/>
          <a:lstStyle/>
          <a:p>
            <a:endParaRPr lang="da-DK"/>
          </a:p>
        </p:txBody>
      </p:sp>
      <p:sp>
        <p:nvSpPr>
          <p:cNvPr id="20" name="Rectangle 20"/>
          <p:cNvSpPr/>
          <p:nvPr/>
        </p:nvSpPr>
        <p:spPr>
          <a:xfrm>
            <a:off x="3524250" y="1619250"/>
            <a:ext cx="2571750" cy="95250"/>
          </a:xfrm>
          <a:prstGeom prst="rect">
            <a:avLst/>
          </a:prstGeom>
          <a:solidFill>
            <a:srgbClr val="C1856B"/>
          </a:solidFill>
          <a:ln>
            <a:noFill/>
          </a:ln>
        </p:spPr>
        <p:txBody>
          <a:bodyPr/>
          <a:lstStyle/>
          <a:p>
            <a:endParaRPr lang="da-DK"/>
          </a:p>
        </p:txBody>
      </p:sp>
      <p:sp>
        <p:nvSpPr>
          <p:cNvPr id="21" name="TextBox 21"/>
          <p:cNvSpPr txBox="1"/>
          <p:nvPr/>
        </p:nvSpPr>
        <p:spPr>
          <a:xfrm>
            <a:off x="4402291" y="1467802"/>
            <a:ext cx="81566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Marketing</a:t>
            </a:r>
          </a:p>
        </p:txBody>
      </p:sp>
      <p:sp>
        <p:nvSpPr>
          <p:cNvPr id="22" name="TextBox 22"/>
          <p:cNvSpPr txBox="1"/>
          <p:nvPr/>
        </p:nvSpPr>
        <p:spPr>
          <a:xfrm>
            <a:off x="3703320" y="1903095"/>
            <a:ext cx="1074420"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Lifestyle Images</a:t>
            </a:r>
          </a:p>
        </p:txBody>
      </p:sp>
      <p:sp>
        <p:nvSpPr>
          <p:cNvPr id="23" name="TextBox 23"/>
          <p:cNvSpPr txBox="1"/>
          <p:nvPr/>
        </p:nvSpPr>
        <p:spPr>
          <a:xfrm>
            <a:off x="3703320" y="2141220"/>
            <a:ext cx="106127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Campaign Images</a:t>
            </a:r>
          </a:p>
        </p:txBody>
      </p:sp>
      <p:sp>
        <p:nvSpPr>
          <p:cNvPr id="24" name="TextBox 24"/>
          <p:cNvSpPr txBox="1"/>
          <p:nvPr/>
        </p:nvSpPr>
        <p:spPr>
          <a:xfrm>
            <a:off x="3703320" y="2379345"/>
            <a:ext cx="104813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Lifestyle Videos</a:t>
            </a:r>
          </a:p>
        </p:txBody>
      </p:sp>
      <p:sp>
        <p:nvSpPr>
          <p:cNvPr id="25" name="TextBox 25"/>
          <p:cNvSpPr txBox="1"/>
          <p:nvPr/>
        </p:nvSpPr>
        <p:spPr>
          <a:xfrm>
            <a:off x="3703320" y="2617470"/>
            <a:ext cx="118614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Catalogue Spreads</a:t>
            </a:r>
          </a:p>
        </p:txBody>
      </p:sp>
      <p:sp>
        <p:nvSpPr>
          <p:cNvPr id="26" name="TextBox 26"/>
          <p:cNvSpPr txBox="1"/>
          <p:nvPr/>
        </p:nvSpPr>
        <p:spPr>
          <a:xfrm>
            <a:off x="370427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27" name="TextBox 27"/>
          <p:cNvSpPr txBox="1"/>
          <p:nvPr/>
        </p:nvSpPr>
        <p:spPr>
          <a:xfrm>
            <a:off x="3704272" y="3435191"/>
            <a:ext cx="1026756" cy="167640"/>
          </a:xfrm>
          <a:prstGeom prst="rect">
            <a:avLst/>
          </a:prstGeom>
          <a:noFill/>
          <a:ln>
            <a:noFill/>
          </a:ln>
        </p:spPr>
        <p:txBody>
          <a:bodyPr wrap="none" lIns="0" tIns="0" rIns="0" bIns="0" anchor="t" anchorCtr="0">
            <a:spAutoFit/>
          </a:bodyPr>
          <a:lstStyle/>
          <a:p>
            <a:pPr algn="l"/>
            <a:r>
              <a:rPr lang="zh-CN" sz="825" b="1" dirty="0">
                <a:solidFill>
                  <a:srgbClr val="C1856B"/>
                </a:solidFill>
                <a:latin typeface="Segoe UI"/>
                <a:ea typeface="Microsoft YaHei"/>
                <a:cs typeface="Segoe UI"/>
              </a:rPr>
              <a:t>Range, Campaign</a:t>
            </a:r>
          </a:p>
        </p:txBody>
      </p:sp>
      <p:sp>
        <p:nvSpPr>
          <p:cNvPr id="28" name="Rectangle 28"/>
          <p:cNvSpPr/>
          <p:nvPr/>
        </p:nvSpPr>
        <p:spPr>
          <a:xfrm>
            <a:off x="6477000" y="1333500"/>
            <a:ext cx="2571750" cy="2667000"/>
          </a:xfrm>
          <a:prstGeom prst="roundRect">
            <a:avLst>
              <a:gd name="adj" fmla="val 3704"/>
            </a:avLst>
          </a:prstGeom>
          <a:solidFill>
            <a:srgbClr val="FFFFFF"/>
          </a:solidFill>
          <a:ln w="19050">
            <a:solidFill>
              <a:srgbClr val="B6ADA4"/>
            </a:solidFill>
          </a:ln>
        </p:spPr>
        <p:txBody>
          <a:bodyPr/>
          <a:lstStyle/>
          <a:p>
            <a:endParaRPr lang="da-DK"/>
          </a:p>
        </p:txBody>
      </p:sp>
      <p:sp>
        <p:nvSpPr>
          <p:cNvPr id="29" name="Rectangle 29"/>
          <p:cNvSpPr/>
          <p:nvPr/>
        </p:nvSpPr>
        <p:spPr>
          <a:xfrm>
            <a:off x="6477000" y="1333500"/>
            <a:ext cx="2571750" cy="381000"/>
          </a:xfrm>
          <a:prstGeom prst="roundRect">
            <a:avLst>
              <a:gd name="adj" fmla="val 25000"/>
            </a:avLst>
          </a:prstGeom>
          <a:solidFill>
            <a:srgbClr val="B6ADA4"/>
          </a:solidFill>
          <a:ln>
            <a:noFill/>
          </a:ln>
        </p:spPr>
        <p:txBody>
          <a:bodyPr/>
          <a:lstStyle/>
          <a:p>
            <a:endParaRPr lang="da-DK"/>
          </a:p>
        </p:txBody>
      </p:sp>
      <p:sp>
        <p:nvSpPr>
          <p:cNvPr id="30" name="Rectangle 30"/>
          <p:cNvSpPr/>
          <p:nvPr/>
        </p:nvSpPr>
        <p:spPr>
          <a:xfrm>
            <a:off x="6477000" y="1619250"/>
            <a:ext cx="2571750" cy="95250"/>
          </a:xfrm>
          <a:prstGeom prst="rect">
            <a:avLst/>
          </a:prstGeom>
          <a:solidFill>
            <a:srgbClr val="B6ADA4"/>
          </a:solidFill>
          <a:ln>
            <a:noFill/>
          </a:ln>
        </p:spPr>
        <p:txBody>
          <a:bodyPr/>
          <a:lstStyle/>
          <a:p>
            <a:endParaRPr lang="da-DK"/>
          </a:p>
        </p:txBody>
      </p:sp>
      <p:sp>
        <p:nvSpPr>
          <p:cNvPr id="31" name="TextBox 31"/>
          <p:cNvSpPr txBox="1"/>
          <p:nvPr/>
        </p:nvSpPr>
        <p:spPr>
          <a:xfrm>
            <a:off x="7419449" y="1467802"/>
            <a:ext cx="68685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Material</a:t>
            </a:r>
          </a:p>
        </p:txBody>
      </p:sp>
      <p:sp>
        <p:nvSpPr>
          <p:cNvPr id="32" name="TextBox 32"/>
          <p:cNvSpPr txBox="1"/>
          <p:nvPr/>
        </p:nvSpPr>
        <p:spPr>
          <a:xfrm>
            <a:off x="6656070" y="1903095"/>
            <a:ext cx="142932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Swatches (Round Dot)</a:t>
            </a:r>
          </a:p>
        </p:txBody>
      </p:sp>
      <p:sp>
        <p:nvSpPr>
          <p:cNvPr id="33" name="TextBox 33"/>
          <p:cNvSpPr txBox="1"/>
          <p:nvPr/>
        </p:nvSpPr>
        <p:spPr>
          <a:xfrm>
            <a:off x="6656070" y="2141220"/>
            <a:ext cx="142932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Large Material Images</a:t>
            </a:r>
          </a:p>
        </p:txBody>
      </p:sp>
      <p:sp>
        <p:nvSpPr>
          <p:cNvPr id="34" name="TextBox 34"/>
          <p:cNvSpPr txBox="1"/>
          <p:nvPr/>
        </p:nvSpPr>
        <p:spPr>
          <a:xfrm>
            <a:off x="6656070" y="2379345"/>
            <a:ext cx="108099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Technical Sheets</a:t>
            </a:r>
          </a:p>
        </p:txBody>
      </p:sp>
      <p:sp>
        <p:nvSpPr>
          <p:cNvPr id="35" name="TextBox 35"/>
          <p:cNvSpPr txBox="1"/>
          <p:nvPr/>
        </p:nvSpPr>
        <p:spPr>
          <a:xfrm>
            <a:off x="6656070" y="2617470"/>
            <a:ext cx="115328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Care Instructions</a:t>
            </a:r>
          </a:p>
        </p:txBody>
      </p:sp>
      <p:sp>
        <p:nvSpPr>
          <p:cNvPr id="36" name="TextBox 36"/>
          <p:cNvSpPr txBox="1"/>
          <p:nvPr/>
        </p:nvSpPr>
        <p:spPr>
          <a:xfrm>
            <a:off x="665702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37" name="TextBox 37"/>
          <p:cNvSpPr txBox="1"/>
          <p:nvPr/>
        </p:nvSpPr>
        <p:spPr>
          <a:xfrm>
            <a:off x="6657022" y="3435191"/>
            <a:ext cx="1558122" cy="167640"/>
          </a:xfrm>
          <a:prstGeom prst="rect">
            <a:avLst/>
          </a:prstGeom>
          <a:noFill/>
          <a:ln>
            <a:noFill/>
          </a:ln>
        </p:spPr>
        <p:txBody>
          <a:bodyPr wrap="none" lIns="0" tIns="0" rIns="0" bIns="0" anchor="t" anchorCtr="0">
            <a:spAutoFit/>
          </a:bodyPr>
          <a:lstStyle/>
          <a:p>
            <a:pPr algn="l"/>
            <a:r>
              <a:rPr lang="zh-CN" sz="825" b="1" dirty="0">
                <a:solidFill>
                  <a:srgbClr val="B6ADA4"/>
                </a:solidFill>
                <a:latin typeface="Segoe UI"/>
                <a:ea typeface="Microsoft YaHei"/>
                <a:cs typeface="Segoe UI"/>
              </a:rPr>
              <a:t>Material Entity (shared)</a:t>
            </a:r>
          </a:p>
        </p:txBody>
      </p:sp>
      <p:sp>
        <p:nvSpPr>
          <p:cNvPr id="38" name="Rectangle 38"/>
          <p:cNvSpPr/>
          <p:nvPr/>
        </p:nvSpPr>
        <p:spPr>
          <a:xfrm>
            <a:off x="9429750" y="1333500"/>
            <a:ext cx="2571750" cy="2667000"/>
          </a:xfrm>
          <a:prstGeom prst="roundRect">
            <a:avLst>
              <a:gd name="adj" fmla="val 3704"/>
            </a:avLst>
          </a:prstGeom>
          <a:solidFill>
            <a:srgbClr val="FFFFFF"/>
          </a:solidFill>
          <a:ln w="19050">
            <a:solidFill>
              <a:srgbClr val="88817E"/>
            </a:solidFill>
          </a:ln>
        </p:spPr>
        <p:txBody>
          <a:bodyPr/>
          <a:lstStyle/>
          <a:p>
            <a:endParaRPr lang="da-DK"/>
          </a:p>
        </p:txBody>
      </p:sp>
      <p:sp>
        <p:nvSpPr>
          <p:cNvPr id="39" name="Rectangle 39"/>
          <p:cNvSpPr/>
          <p:nvPr/>
        </p:nvSpPr>
        <p:spPr>
          <a:xfrm>
            <a:off x="9429750" y="1333500"/>
            <a:ext cx="2571750" cy="381000"/>
          </a:xfrm>
          <a:prstGeom prst="roundRect">
            <a:avLst>
              <a:gd name="adj" fmla="val 25000"/>
            </a:avLst>
          </a:prstGeom>
          <a:solidFill>
            <a:srgbClr val="88817E"/>
          </a:solidFill>
          <a:ln>
            <a:noFill/>
          </a:ln>
        </p:spPr>
        <p:txBody>
          <a:bodyPr/>
          <a:lstStyle/>
          <a:p>
            <a:endParaRPr lang="da-DK"/>
          </a:p>
        </p:txBody>
      </p:sp>
      <p:sp>
        <p:nvSpPr>
          <p:cNvPr id="40" name="Rectangle 40"/>
          <p:cNvSpPr/>
          <p:nvPr/>
        </p:nvSpPr>
        <p:spPr>
          <a:xfrm>
            <a:off x="9429750" y="1619250"/>
            <a:ext cx="2571750" cy="95250"/>
          </a:xfrm>
          <a:prstGeom prst="rect">
            <a:avLst/>
          </a:prstGeom>
          <a:solidFill>
            <a:srgbClr val="88817E"/>
          </a:solidFill>
          <a:ln>
            <a:noFill/>
          </a:ln>
        </p:spPr>
        <p:txBody>
          <a:bodyPr/>
          <a:lstStyle/>
          <a:p>
            <a:endParaRPr lang="da-DK"/>
          </a:p>
        </p:txBody>
      </p:sp>
      <p:sp>
        <p:nvSpPr>
          <p:cNvPr id="41" name="TextBox 41"/>
          <p:cNvSpPr txBox="1"/>
          <p:nvPr/>
        </p:nvSpPr>
        <p:spPr>
          <a:xfrm>
            <a:off x="10303765" y="1467802"/>
            <a:ext cx="82372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Corporate</a:t>
            </a:r>
          </a:p>
        </p:txBody>
      </p:sp>
      <p:sp>
        <p:nvSpPr>
          <p:cNvPr id="42" name="TextBox 42"/>
          <p:cNvSpPr txBox="1"/>
          <p:nvPr/>
        </p:nvSpPr>
        <p:spPr>
          <a:xfrm>
            <a:off x="9608820" y="1903095"/>
            <a:ext cx="38433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Logos</a:t>
            </a:r>
          </a:p>
        </p:txBody>
      </p:sp>
      <p:sp>
        <p:nvSpPr>
          <p:cNvPr id="43" name="TextBox 43"/>
          <p:cNvSpPr txBox="1"/>
          <p:nvPr/>
        </p:nvSpPr>
        <p:spPr>
          <a:xfrm>
            <a:off x="9608820" y="2141220"/>
            <a:ext cx="122558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Designer Portraits</a:t>
            </a:r>
          </a:p>
        </p:txBody>
      </p:sp>
      <p:sp>
        <p:nvSpPr>
          <p:cNvPr id="44" name="TextBox 44"/>
          <p:cNvSpPr txBox="1"/>
          <p:nvPr/>
        </p:nvSpPr>
        <p:spPr>
          <a:xfrm>
            <a:off x="9608820" y="2379345"/>
            <a:ext cx="99555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Factory Images</a:t>
            </a:r>
          </a:p>
        </p:txBody>
      </p:sp>
      <p:sp>
        <p:nvSpPr>
          <p:cNvPr id="45" name="TextBox 45"/>
          <p:cNvSpPr txBox="1"/>
          <p:nvPr/>
        </p:nvSpPr>
        <p:spPr>
          <a:xfrm>
            <a:off x="9608820" y="2617470"/>
            <a:ext cx="1501616"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Company Profile Images</a:t>
            </a:r>
          </a:p>
        </p:txBody>
      </p:sp>
      <p:sp>
        <p:nvSpPr>
          <p:cNvPr id="46" name="TextBox 46"/>
          <p:cNvSpPr txBox="1"/>
          <p:nvPr/>
        </p:nvSpPr>
        <p:spPr>
          <a:xfrm>
            <a:off x="960977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47" name="TextBox 47"/>
          <p:cNvSpPr txBox="1"/>
          <p:nvPr/>
        </p:nvSpPr>
        <p:spPr>
          <a:xfrm>
            <a:off x="9609772" y="3435191"/>
            <a:ext cx="1026756" cy="167640"/>
          </a:xfrm>
          <a:prstGeom prst="rect">
            <a:avLst/>
          </a:prstGeom>
          <a:noFill/>
          <a:ln>
            <a:noFill/>
          </a:ln>
        </p:spPr>
        <p:txBody>
          <a:bodyPr wrap="none" lIns="0" tIns="0" rIns="0" bIns="0" anchor="t" anchorCtr="0">
            <a:spAutoFit/>
          </a:bodyPr>
          <a:lstStyle/>
          <a:p>
            <a:pPr algn="l"/>
            <a:r>
              <a:rPr lang="zh-CN" sz="825" b="1" dirty="0">
                <a:solidFill>
                  <a:srgbClr val="88817E"/>
                </a:solidFill>
                <a:latin typeface="Segoe UI"/>
                <a:ea typeface="Microsoft YaHei"/>
                <a:cs typeface="Segoe UI"/>
              </a:rPr>
              <a:t>Brand / Company</a:t>
            </a:r>
          </a:p>
        </p:txBody>
      </p:sp>
      <p:sp>
        <p:nvSpPr>
          <p:cNvPr id="48" name="TextBox 48"/>
          <p:cNvSpPr txBox="1"/>
          <p:nvPr/>
        </p:nvSpPr>
        <p:spPr>
          <a:xfrm>
            <a:off x="556260" y="4251960"/>
            <a:ext cx="2257158"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Required Asset Metadata</a:t>
            </a:r>
          </a:p>
        </p:txBody>
      </p:sp>
      <p:sp>
        <p:nvSpPr>
          <p:cNvPr id="49" name="Rectangle 49"/>
          <p:cNvSpPr/>
          <p:nvPr/>
        </p:nvSpPr>
        <p:spPr>
          <a:xfrm>
            <a:off x="57150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50" name="TextBox 50"/>
          <p:cNvSpPr txBox="1"/>
          <p:nvPr/>
        </p:nvSpPr>
        <p:spPr>
          <a:xfrm>
            <a:off x="1101983" y="4702016"/>
            <a:ext cx="653534"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Asset Type</a:t>
            </a:r>
          </a:p>
        </p:txBody>
      </p:sp>
      <p:sp>
        <p:nvSpPr>
          <p:cNvPr id="51" name="Rectangle 51"/>
          <p:cNvSpPr/>
          <p:nvPr/>
        </p:nvSpPr>
        <p:spPr>
          <a:xfrm>
            <a:off x="238125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52" name="TextBox 52"/>
          <p:cNvSpPr txBox="1"/>
          <p:nvPr/>
        </p:nvSpPr>
        <p:spPr>
          <a:xfrm>
            <a:off x="2842450" y="4702016"/>
            <a:ext cx="792099"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Linked Entity</a:t>
            </a:r>
          </a:p>
        </p:txBody>
      </p:sp>
      <p:sp>
        <p:nvSpPr>
          <p:cNvPr id="53" name="Rectangle 53"/>
          <p:cNvSpPr/>
          <p:nvPr/>
        </p:nvSpPr>
        <p:spPr>
          <a:xfrm>
            <a:off x="419100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54" name="TextBox 54"/>
          <p:cNvSpPr txBox="1"/>
          <p:nvPr/>
        </p:nvSpPr>
        <p:spPr>
          <a:xfrm>
            <a:off x="4670274" y="4702016"/>
            <a:ext cx="755952"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Usage Rights</a:t>
            </a:r>
          </a:p>
        </p:txBody>
      </p:sp>
      <p:sp>
        <p:nvSpPr>
          <p:cNvPr id="55" name="Rectangle 55"/>
          <p:cNvSpPr/>
          <p:nvPr/>
        </p:nvSpPr>
        <p:spPr>
          <a:xfrm>
            <a:off x="600075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56" name="TextBox 56"/>
          <p:cNvSpPr txBox="1"/>
          <p:nvPr/>
        </p:nvSpPr>
        <p:spPr>
          <a:xfrm>
            <a:off x="6380619" y="4702016"/>
            <a:ext cx="954762"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Approval Status</a:t>
            </a:r>
          </a:p>
        </p:txBody>
      </p:sp>
      <p:sp>
        <p:nvSpPr>
          <p:cNvPr id="57" name="Rectangle 57"/>
          <p:cNvSpPr/>
          <p:nvPr/>
        </p:nvSpPr>
        <p:spPr>
          <a:xfrm>
            <a:off x="781050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58" name="TextBox 58"/>
          <p:cNvSpPr txBox="1"/>
          <p:nvPr/>
        </p:nvSpPr>
        <p:spPr>
          <a:xfrm>
            <a:off x="8175308" y="4702016"/>
            <a:ext cx="984885"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Allowed Channels</a:t>
            </a:r>
          </a:p>
        </p:txBody>
      </p:sp>
      <p:sp>
        <p:nvSpPr>
          <p:cNvPr id="59" name="Rectangle 59"/>
          <p:cNvSpPr/>
          <p:nvPr/>
        </p:nvSpPr>
        <p:spPr>
          <a:xfrm>
            <a:off x="962025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60" name="TextBox 60"/>
          <p:cNvSpPr txBox="1"/>
          <p:nvPr/>
        </p:nvSpPr>
        <p:spPr>
          <a:xfrm>
            <a:off x="10135672" y="4702016"/>
            <a:ext cx="683657"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File Format</a:t>
            </a:r>
          </a:p>
        </p:txBody>
      </p:sp>
      <p:sp>
        <p:nvSpPr>
          <p:cNvPr id="61" name="Rectangle 61"/>
          <p:cNvSpPr/>
          <p:nvPr/>
        </p:nvSpPr>
        <p:spPr>
          <a:xfrm>
            <a:off x="571500" y="5010150"/>
            <a:ext cx="1714500" cy="342900"/>
          </a:xfrm>
          <a:prstGeom prst="roundRect">
            <a:avLst>
              <a:gd name="adj" fmla="val 16667"/>
            </a:avLst>
          </a:prstGeom>
          <a:solidFill>
            <a:srgbClr val="C1856B">
              <a:alpha val="10000"/>
            </a:srgbClr>
          </a:solidFill>
          <a:ln w="9525">
            <a:solidFill>
              <a:srgbClr val="C1856B"/>
            </a:solidFill>
          </a:ln>
        </p:spPr>
        <p:txBody>
          <a:bodyPr/>
          <a:lstStyle/>
          <a:p>
            <a:endParaRPr lang="da-DK"/>
          </a:p>
        </p:txBody>
      </p:sp>
      <p:sp>
        <p:nvSpPr>
          <p:cNvPr id="62" name="TextBox 62"/>
          <p:cNvSpPr txBox="1"/>
          <p:nvPr/>
        </p:nvSpPr>
        <p:spPr>
          <a:xfrm>
            <a:off x="1117044" y="5140166"/>
            <a:ext cx="623411"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Resolution</a:t>
            </a:r>
          </a:p>
        </p:txBody>
      </p:sp>
      <p:sp>
        <p:nvSpPr>
          <p:cNvPr id="63" name="Rectangle 63"/>
          <p:cNvSpPr/>
          <p:nvPr/>
        </p:nvSpPr>
        <p:spPr>
          <a:xfrm>
            <a:off x="2381250" y="5010150"/>
            <a:ext cx="1714500" cy="342900"/>
          </a:xfrm>
          <a:prstGeom prst="roundRect">
            <a:avLst>
              <a:gd name="adj" fmla="val 16667"/>
            </a:avLst>
          </a:prstGeom>
          <a:solidFill>
            <a:srgbClr val="C1856B">
              <a:alpha val="10000"/>
            </a:srgbClr>
          </a:solidFill>
          <a:ln w="9525">
            <a:solidFill>
              <a:srgbClr val="C1856B"/>
            </a:solidFill>
          </a:ln>
        </p:spPr>
        <p:txBody>
          <a:bodyPr/>
          <a:lstStyle/>
          <a:p>
            <a:endParaRPr lang="da-DK"/>
          </a:p>
        </p:txBody>
      </p:sp>
      <p:sp>
        <p:nvSpPr>
          <p:cNvPr id="64" name="TextBox 64"/>
          <p:cNvSpPr txBox="1"/>
          <p:nvPr/>
        </p:nvSpPr>
        <p:spPr>
          <a:xfrm>
            <a:off x="2893659" y="5140166"/>
            <a:ext cx="689681"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Expiry Date</a:t>
            </a:r>
          </a:p>
        </p:txBody>
      </p:sp>
      <p:sp>
        <p:nvSpPr>
          <p:cNvPr id="65" name="Rectangle 65"/>
          <p:cNvSpPr/>
          <p:nvPr/>
        </p:nvSpPr>
        <p:spPr>
          <a:xfrm>
            <a:off x="4191000" y="5010150"/>
            <a:ext cx="1714500" cy="342900"/>
          </a:xfrm>
          <a:prstGeom prst="roundRect">
            <a:avLst>
              <a:gd name="adj" fmla="val 16667"/>
            </a:avLst>
          </a:prstGeom>
          <a:solidFill>
            <a:srgbClr val="C1856B">
              <a:alpha val="10000"/>
            </a:srgbClr>
          </a:solidFill>
          <a:ln w="9525">
            <a:solidFill>
              <a:srgbClr val="C1856B"/>
            </a:solidFill>
          </a:ln>
        </p:spPr>
        <p:txBody>
          <a:bodyPr/>
          <a:lstStyle/>
          <a:p>
            <a:endParaRPr lang="da-DK"/>
          </a:p>
        </p:txBody>
      </p:sp>
      <p:sp>
        <p:nvSpPr>
          <p:cNvPr id="66" name="TextBox 66"/>
          <p:cNvSpPr txBox="1"/>
          <p:nvPr/>
        </p:nvSpPr>
        <p:spPr>
          <a:xfrm>
            <a:off x="4640151" y="5140166"/>
            <a:ext cx="816197"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Photographer</a:t>
            </a:r>
          </a:p>
        </p:txBody>
      </p:sp>
      <p:sp>
        <p:nvSpPr>
          <p:cNvPr id="67" name="Rectangle 67"/>
          <p:cNvSpPr/>
          <p:nvPr/>
        </p:nvSpPr>
        <p:spPr>
          <a:xfrm>
            <a:off x="6000750" y="5010150"/>
            <a:ext cx="1714500" cy="342900"/>
          </a:xfrm>
          <a:prstGeom prst="roundRect">
            <a:avLst>
              <a:gd name="adj" fmla="val 16667"/>
            </a:avLst>
          </a:prstGeom>
          <a:solidFill>
            <a:srgbClr val="C1856B">
              <a:alpha val="10000"/>
            </a:srgbClr>
          </a:solidFill>
          <a:ln w="9525">
            <a:solidFill>
              <a:srgbClr val="C1856B"/>
            </a:solidFill>
          </a:ln>
        </p:spPr>
        <p:txBody>
          <a:bodyPr/>
          <a:lstStyle/>
          <a:p>
            <a:endParaRPr lang="da-DK"/>
          </a:p>
        </p:txBody>
      </p:sp>
      <p:sp>
        <p:nvSpPr>
          <p:cNvPr id="68" name="TextBox 68"/>
          <p:cNvSpPr txBox="1"/>
          <p:nvPr/>
        </p:nvSpPr>
        <p:spPr>
          <a:xfrm>
            <a:off x="6464963" y="5140166"/>
            <a:ext cx="786074"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Last Updated</a:t>
            </a:r>
          </a:p>
        </p:txBody>
      </p:sp>
      <p:sp>
        <p:nvSpPr>
          <p:cNvPr id="69" name="Rectangle 69"/>
          <p:cNvSpPr/>
          <p:nvPr/>
        </p:nvSpPr>
        <p:spPr>
          <a:xfrm>
            <a:off x="7810500" y="5010150"/>
            <a:ext cx="3524250" cy="342900"/>
          </a:xfrm>
          <a:prstGeom prst="roundRect">
            <a:avLst>
              <a:gd name="adj" fmla="val 16667"/>
            </a:avLst>
          </a:prstGeom>
          <a:solidFill>
            <a:srgbClr val="C1856B">
              <a:alpha val="10000"/>
            </a:srgbClr>
          </a:solidFill>
          <a:ln w="9525">
            <a:solidFill>
              <a:srgbClr val="C1856B"/>
            </a:solidFill>
          </a:ln>
        </p:spPr>
        <p:txBody>
          <a:bodyPr/>
          <a:lstStyle/>
          <a:p>
            <a:endParaRPr lang="da-DK"/>
          </a:p>
        </p:txBody>
      </p:sp>
      <p:sp>
        <p:nvSpPr>
          <p:cNvPr id="70" name="TextBox 70"/>
          <p:cNvSpPr txBox="1"/>
          <p:nvPr/>
        </p:nvSpPr>
        <p:spPr>
          <a:xfrm>
            <a:off x="8293977" y="5140166"/>
            <a:ext cx="2557296"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Usage Locations (tracked across channels)</a:t>
            </a:r>
          </a:p>
        </p:txBody>
      </p:sp>
      <p:sp>
        <p:nvSpPr>
          <p:cNvPr id="71" name="TextBox 71"/>
          <p:cNvSpPr txBox="1"/>
          <p:nvPr/>
        </p:nvSpPr>
        <p:spPr>
          <a:xfrm>
            <a:off x="560070" y="5617845"/>
            <a:ext cx="5412105"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Mỗi asset phải có đầy đủ metadata để tracking, governance, và phân phối đúng kênh.</a:t>
            </a:r>
          </a:p>
        </p:txBody>
      </p:sp>
      <p:sp>
        <p:nvSpPr>
          <p:cNvPr id="72" name="TextBox 72"/>
          <p:cNvSpPr txBox="1"/>
          <p:nvPr/>
        </p:nvSpPr>
        <p:spPr>
          <a:xfrm>
            <a:off x="560070" y="5808345"/>
            <a:ext cx="449856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Version control và approval workflow áp dụng cho tất cả asset types.</a:t>
            </a:r>
          </a:p>
        </p:txBody>
      </p:sp>
      <p:sp>
        <p:nvSpPr>
          <p:cNvPr id="73" name="TextBox 7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7</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86690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04 / Asset Classification</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835638"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Image Engine &amp; Transformation</a:t>
            </a:r>
          </a:p>
        </p:txBody>
      </p:sp>
      <p:sp>
        <p:nvSpPr>
          <p:cNvPr id="7" name="Rectangle 7"/>
          <p:cNvSpPr/>
          <p:nvPr/>
        </p:nvSpPr>
        <p:spPr>
          <a:xfrm>
            <a:off x="571500" y="1428750"/>
            <a:ext cx="1905000" cy="571500"/>
          </a:xfrm>
          <a:prstGeom prst="roundRect">
            <a:avLst>
              <a:gd name="adj" fmla="val 13333"/>
            </a:avLst>
          </a:prstGeom>
          <a:solidFill>
            <a:srgbClr val="586A68"/>
          </a:solidFill>
          <a:ln>
            <a:noFill/>
          </a:ln>
        </p:spPr>
        <p:txBody>
          <a:bodyPr/>
          <a:lstStyle/>
          <a:p>
            <a:endParaRPr lang="da-DK"/>
          </a:p>
        </p:txBody>
      </p:sp>
      <p:sp>
        <p:nvSpPr>
          <p:cNvPr id="8" name="TextBox 8"/>
          <p:cNvSpPr txBox="1"/>
          <p:nvPr/>
        </p:nvSpPr>
        <p:spPr>
          <a:xfrm>
            <a:off x="955146" y="1553528"/>
            <a:ext cx="113770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Original Asset</a:t>
            </a:r>
          </a:p>
        </p:txBody>
      </p:sp>
      <p:sp>
        <p:nvSpPr>
          <p:cNvPr id="9" name="TextBox 9"/>
          <p:cNvSpPr txBox="1"/>
          <p:nvPr/>
        </p:nvSpPr>
        <p:spPr>
          <a:xfrm>
            <a:off x="917091" y="1768316"/>
            <a:ext cx="1213818"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Segoe UI"/>
                <a:ea typeface="Microsoft YaHei"/>
                <a:cs typeface="Segoe UI"/>
              </a:rPr>
              <a:t>Upload (any format)</a:t>
            </a:r>
          </a:p>
        </p:txBody>
      </p:sp>
      <p:sp>
        <p:nvSpPr>
          <p:cNvPr id="10" name="Line 10"/>
          <p:cNvSpPr/>
          <p:nvPr/>
        </p:nvSpPr>
        <p:spPr>
          <a:xfrm>
            <a:off x="2476500" y="1714500"/>
            <a:ext cx="762000" cy="9525"/>
          </a:xfrm>
          <a:custGeom>
            <a:avLst/>
            <a:gdLst/>
            <a:ahLst/>
            <a:cxnLst/>
            <a:rect l="l" t="t" r="r" b="b"/>
            <a:pathLst>
              <a:path w="762000" h="9525">
                <a:moveTo>
                  <a:pt x="0" y="0"/>
                </a:moveTo>
                <a:lnTo>
                  <a:pt x="762000" y="0"/>
                </a:lnTo>
              </a:path>
            </a:pathLst>
          </a:custGeom>
          <a:noFill/>
          <a:ln w="19050">
            <a:solidFill>
              <a:srgbClr val="88817E"/>
            </a:solidFill>
          </a:ln>
        </p:spPr>
        <p:txBody>
          <a:bodyPr/>
          <a:lstStyle/>
          <a:p>
            <a:endParaRPr lang="da-DK"/>
          </a:p>
        </p:txBody>
      </p:sp>
      <p:sp>
        <p:nvSpPr>
          <p:cNvPr id="11" name="Polygon 11"/>
          <p:cNvSpPr/>
          <p:nvPr/>
        </p:nvSpPr>
        <p:spPr>
          <a:xfrm>
            <a:off x="3190875" y="1657350"/>
            <a:ext cx="123825" cy="114300"/>
          </a:xfrm>
          <a:custGeom>
            <a:avLst/>
            <a:gdLst/>
            <a:ahLst/>
            <a:cxnLst/>
            <a:rect l="l" t="t" r="r" b="b"/>
            <a:pathLst>
              <a:path w="123825" h="114300">
                <a:moveTo>
                  <a:pt x="0" y="0"/>
                </a:moveTo>
                <a:lnTo>
                  <a:pt x="123825" y="57150"/>
                </a:lnTo>
                <a:lnTo>
                  <a:pt x="0" y="114300"/>
                </a:lnTo>
                <a:close/>
              </a:path>
            </a:pathLst>
          </a:custGeom>
          <a:solidFill>
            <a:srgbClr val="88817E"/>
          </a:solidFill>
          <a:ln>
            <a:noFill/>
          </a:ln>
        </p:spPr>
        <p:txBody>
          <a:bodyPr/>
          <a:lstStyle/>
          <a:p>
            <a:endParaRPr lang="da-DK"/>
          </a:p>
        </p:txBody>
      </p:sp>
      <p:sp>
        <p:nvSpPr>
          <p:cNvPr id="12" name="Rectangle 12"/>
          <p:cNvSpPr/>
          <p:nvPr/>
        </p:nvSpPr>
        <p:spPr>
          <a:xfrm>
            <a:off x="3333750" y="1238250"/>
            <a:ext cx="2857500" cy="952500"/>
          </a:xfrm>
          <a:prstGeom prst="roundRect">
            <a:avLst>
              <a:gd name="adj" fmla="val 10000"/>
            </a:avLst>
          </a:prstGeom>
          <a:solidFill>
            <a:srgbClr val="FFFFFF"/>
          </a:solidFill>
          <a:ln w="19050">
            <a:solidFill>
              <a:srgbClr val="C1856B"/>
            </a:solidFill>
          </a:ln>
        </p:spPr>
        <p:txBody>
          <a:bodyPr/>
          <a:lstStyle/>
          <a:p>
            <a:endParaRPr lang="da-DK"/>
          </a:p>
        </p:txBody>
      </p:sp>
      <p:sp>
        <p:nvSpPr>
          <p:cNvPr id="13" name="TextBox 13"/>
          <p:cNvSpPr txBox="1"/>
          <p:nvPr/>
        </p:nvSpPr>
        <p:spPr>
          <a:xfrm>
            <a:off x="4190590" y="1375410"/>
            <a:ext cx="1143819" cy="243840"/>
          </a:xfrm>
          <a:prstGeom prst="rect">
            <a:avLst/>
          </a:prstGeom>
          <a:noFill/>
          <a:ln>
            <a:noFill/>
          </a:ln>
        </p:spPr>
        <p:txBody>
          <a:bodyPr wrap="none" lIns="0" tIns="0" rIns="0" bIns="0" anchor="t" anchorCtr="0">
            <a:spAutoFit/>
          </a:bodyPr>
          <a:lstStyle/>
          <a:p>
            <a:pPr algn="ctr"/>
            <a:r>
              <a:rPr lang="zh-CN" sz="1200" b="1" dirty="0">
                <a:solidFill>
                  <a:srgbClr val="C1856B"/>
                </a:solidFill>
                <a:latin typeface="Segoe UI"/>
                <a:ea typeface="Microsoft YaHei"/>
                <a:cs typeface="Segoe UI"/>
              </a:rPr>
              <a:t>Image Engine</a:t>
            </a:r>
          </a:p>
        </p:txBody>
      </p:sp>
      <p:sp>
        <p:nvSpPr>
          <p:cNvPr id="14" name="TextBox 14"/>
          <p:cNvSpPr txBox="1"/>
          <p:nvPr/>
        </p:nvSpPr>
        <p:spPr>
          <a:xfrm>
            <a:off x="3513772" y="1625441"/>
            <a:ext cx="38845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Resize</a:t>
            </a:r>
          </a:p>
        </p:txBody>
      </p:sp>
      <p:sp>
        <p:nvSpPr>
          <p:cNvPr id="15" name="TextBox 15"/>
          <p:cNvSpPr txBox="1"/>
          <p:nvPr/>
        </p:nvSpPr>
        <p:spPr>
          <a:xfrm>
            <a:off x="3513772" y="1777841"/>
            <a:ext cx="94271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Convert Format</a:t>
            </a:r>
          </a:p>
        </p:txBody>
      </p:sp>
      <p:sp>
        <p:nvSpPr>
          <p:cNvPr id="16" name="TextBox 16"/>
          <p:cNvSpPr txBox="1"/>
          <p:nvPr/>
        </p:nvSpPr>
        <p:spPr>
          <a:xfrm>
            <a:off x="3513772" y="1930241"/>
            <a:ext cx="91861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Crop (Presets)</a:t>
            </a:r>
          </a:p>
        </p:txBody>
      </p:sp>
      <p:sp>
        <p:nvSpPr>
          <p:cNvPr id="17" name="TextBox 17"/>
          <p:cNvSpPr txBox="1"/>
          <p:nvPr/>
        </p:nvSpPr>
        <p:spPr>
          <a:xfrm>
            <a:off x="4752022" y="1625441"/>
            <a:ext cx="65955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Focal Point</a:t>
            </a:r>
          </a:p>
        </p:txBody>
      </p:sp>
      <p:sp>
        <p:nvSpPr>
          <p:cNvPr id="18" name="TextBox 18"/>
          <p:cNvSpPr txBox="1"/>
          <p:nvPr/>
        </p:nvSpPr>
        <p:spPr>
          <a:xfrm>
            <a:off x="4752022" y="1777841"/>
            <a:ext cx="64750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BG Removal</a:t>
            </a:r>
          </a:p>
        </p:txBody>
      </p:sp>
      <p:sp>
        <p:nvSpPr>
          <p:cNvPr id="19" name="TextBox 19"/>
          <p:cNvSpPr txBox="1"/>
          <p:nvPr/>
        </p:nvSpPr>
        <p:spPr>
          <a:xfrm>
            <a:off x="4752022" y="1930241"/>
            <a:ext cx="108127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Naming Convention</a:t>
            </a:r>
          </a:p>
        </p:txBody>
      </p:sp>
      <p:sp>
        <p:nvSpPr>
          <p:cNvPr id="20" name="Line 20"/>
          <p:cNvSpPr/>
          <p:nvPr/>
        </p:nvSpPr>
        <p:spPr>
          <a:xfrm>
            <a:off x="6191250" y="1714500"/>
            <a:ext cx="762000" cy="9525"/>
          </a:xfrm>
          <a:custGeom>
            <a:avLst/>
            <a:gdLst/>
            <a:ahLst/>
            <a:cxnLst/>
            <a:rect l="l" t="t" r="r" b="b"/>
            <a:pathLst>
              <a:path w="762000" h="9525">
                <a:moveTo>
                  <a:pt x="0" y="0"/>
                </a:moveTo>
                <a:lnTo>
                  <a:pt x="762000" y="0"/>
                </a:lnTo>
              </a:path>
            </a:pathLst>
          </a:custGeom>
          <a:noFill/>
          <a:ln w="19050">
            <a:solidFill>
              <a:srgbClr val="88817E"/>
            </a:solidFill>
          </a:ln>
        </p:spPr>
        <p:txBody>
          <a:bodyPr/>
          <a:lstStyle/>
          <a:p>
            <a:endParaRPr lang="da-DK"/>
          </a:p>
        </p:txBody>
      </p:sp>
      <p:sp>
        <p:nvSpPr>
          <p:cNvPr id="21" name="Polygon 21"/>
          <p:cNvSpPr/>
          <p:nvPr/>
        </p:nvSpPr>
        <p:spPr>
          <a:xfrm>
            <a:off x="6905625" y="1657350"/>
            <a:ext cx="123825" cy="114300"/>
          </a:xfrm>
          <a:custGeom>
            <a:avLst/>
            <a:gdLst/>
            <a:ahLst/>
            <a:cxnLst/>
            <a:rect l="l" t="t" r="r" b="b"/>
            <a:pathLst>
              <a:path w="123825" h="114300">
                <a:moveTo>
                  <a:pt x="0" y="0"/>
                </a:moveTo>
                <a:lnTo>
                  <a:pt x="123825" y="57150"/>
                </a:lnTo>
                <a:lnTo>
                  <a:pt x="0" y="114300"/>
                </a:lnTo>
                <a:close/>
              </a:path>
            </a:pathLst>
          </a:custGeom>
          <a:solidFill>
            <a:srgbClr val="88817E"/>
          </a:solidFill>
          <a:ln>
            <a:noFill/>
          </a:ln>
        </p:spPr>
        <p:txBody>
          <a:bodyPr/>
          <a:lstStyle/>
          <a:p>
            <a:endParaRPr lang="da-DK"/>
          </a:p>
        </p:txBody>
      </p:sp>
      <p:sp>
        <p:nvSpPr>
          <p:cNvPr id="22" name="Rectangle 22"/>
          <p:cNvSpPr/>
          <p:nvPr/>
        </p:nvSpPr>
        <p:spPr>
          <a:xfrm>
            <a:off x="7048500" y="1238250"/>
            <a:ext cx="4667250" cy="2286000"/>
          </a:xfrm>
          <a:prstGeom prst="roundRect">
            <a:avLst>
              <a:gd name="adj" fmla="val 4167"/>
            </a:avLst>
          </a:prstGeom>
          <a:solidFill>
            <a:srgbClr val="FFFFFF"/>
          </a:solidFill>
          <a:ln w="14288">
            <a:solidFill>
              <a:srgbClr val="586A68"/>
            </a:solidFill>
          </a:ln>
        </p:spPr>
        <p:txBody>
          <a:bodyPr/>
          <a:lstStyle/>
          <a:p>
            <a:endParaRPr lang="da-DK"/>
          </a:p>
        </p:txBody>
      </p:sp>
      <p:sp>
        <p:nvSpPr>
          <p:cNvPr id="23" name="TextBox 23"/>
          <p:cNvSpPr txBox="1"/>
          <p:nvPr/>
        </p:nvSpPr>
        <p:spPr>
          <a:xfrm>
            <a:off x="8752888" y="1363028"/>
            <a:ext cx="1258474" cy="213360"/>
          </a:xfrm>
          <a:prstGeom prst="rect">
            <a:avLst/>
          </a:prstGeom>
          <a:noFill/>
          <a:ln>
            <a:noFill/>
          </a:ln>
        </p:spPr>
        <p:txBody>
          <a:bodyPr wrap="none" lIns="0" tIns="0" rIns="0" bIns="0" anchor="t" anchorCtr="0">
            <a:spAutoFit/>
          </a:bodyPr>
          <a:lstStyle/>
          <a:p>
            <a:pPr algn="ctr"/>
            <a:r>
              <a:rPr lang="zh-CN" sz="1050" b="1" dirty="0">
                <a:solidFill>
                  <a:srgbClr val="586A68"/>
                </a:solidFill>
                <a:latin typeface="Segoe UI"/>
                <a:ea typeface="Microsoft YaHei"/>
                <a:cs typeface="Segoe UI"/>
              </a:rPr>
              <a:t>Output Presets</a:t>
            </a:r>
          </a:p>
        </p:txBody>
      </p:sp>
      <p:sp>
        <p:nvSpPr>
          <p:cNvPr id="24" name="Rectangle 24"/>
          <p:cNvSpPr/>
          <p:nvPr/>
        </p:nvSpPr>
        <p:spPr>
          <a:xfrm>
            <a:off x="7239000" y="1600200"/>
            <a:ext cx="2095500" cy="285750"/>
          </a:xfrm>
          <a:prstGeom prst="roundRect">
            <a:avLst>
              <a:gd name="adj" fmla="val 20000"/>
            </a:avLst>
          </a:prstGeom>
          <a:solidFill>
            <a:srgbClr val="586A68">
              <a:alpha val="8000"/>
            </a:srgbClr>
          </a:solidFill>
          <a:ln>
            <a:noFill/>
          </a:ln>
        </p:spPr>
        <p:txBody>
          <a:bodyPr/>
          <a:lstStyle/>
          <a:p>
            <a:endParaRPr lang="da-DK"/>
          </a:p>
        </p:txBody>
      </p:sp>
      <p:sp>
        <p:nvSpPr>
          <p:cNvPr id="25" name="TextBox 25"/>
          <p:cNvSpPr txBox="1"/>
          <p:nvPr/>
        </p:nvSpPr>
        <p:spPr>
          <a:xfrm>
            <a:off x="7323772" y="1701641"/>
            <a:ext cx="110537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 Product Image</a:t>
            </a:r>
          </a:p>
        </p:txBody>
      </p:sp>
      <p:sp>
        <p:nvSpPr>
          <p:cNvPr id="26" name="TextBox 26"/>
          <p:cNvSpPr txBox="1"/>
          <p:nvPr/>
        </p:nvSpPr>
        <p:spPr>
          <a:xfrm>
            <a:off x="8678663" y="1709738"/>
            <a:ext cx="709136"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WebP, 1200px</a:t>
            </a:r>
          </a:p>
        </p:txBody>
      </p:sp>
      <p:sp>
        <p:nvSpPr>
          <p:cNvPr id="27" name="Rectangle 27"/>
          <p:cNvSpPr/>
          <p:nvPr/>
        </p:nvSpPr>
        <p:spPr>
          <a:xfrm>
            <a:off x="7239000" y="1943100"/>
            <a:ext cx="2095500" cy="285750"/>
          </a:xfrm>
          <a:prstGeom prst="roundRect">
            <a:avLst>
              <a:gd name="adj" fmla="val 20000"/>
            </a:avLst>
          </a:prstGeom>
          <a:solidFill>
            <a:srgbClr val="586A68">
              <a:alpha val="8000"/>
            </a:srgbClr>
          </a:solidFill>
          <a:ln>
            <a:noFill/>
          </a:ln>
        </p:spPr>
        <p:txBody>
          <a:bodyPr/>
          <a:lstStyle/>
          <a:p>
            <a:endParaRPr lang="da-DK"/>
          </a:p>
        </p:txBody>
      </p:sp>
      <p:sp>
        <p:nvSpPr>
          <p:cNvPr id="28" name="TextBox 28"/>
          <p:cNvSpPr txBox="1"/>
          <p:nvPr/>
        </p:nvSpPr>
        <p:spPr>
          <a:xfrm>
            <a:off x="7323772" y="2044541"/>
            <a:ext cx="84029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 Thumbnail</a:t>
            </a:r>
          </a:p>
        </p:txBody>
      </p:sp>
      <p:sp>
        <p:nvSpPr>
          <p:cNvPr id="29" name="TextBox 29"/>
          <p:cNvSpPr txBox="1"/>
          <p:nvPr/>
        </p:nvSpPr>
        <p:spPr>
          <a:xfrm>
            <a:off x="8705850" y="2052638"/>
            <a:ext cx="676275"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WebP, 300px</a:t>
            </a:r>
          </a:p>
        </p:txBody>
      </p:sp>
      <p:sp>
        <p:nvSpPr>
          <p:cNvPr id="30" name="Rectangle 30"/>
          <p:cNvSpPr/>
          <p:nvPr/>
        </p:nvSpPr>
        <p:spPr>
          <a:xfrm>
            <a:off x="7239000" y="2286000"/>
            <a:ext cx="2095500" cy="285750"/>
          </a:xfrm>
          <a:prstGeom prst="roundRect">
            <a:avLst>
              <a:gd name="adj" fmla="val 20000"/>
            </a:avLst>
          </a:prstGeom>
          <a:solidFill>
            <a:srgbClr val="586A68">
              <a:alpha val="8000"/>
            </a:srgbClr>
          </a:solidFill>
          <a:ln>
            <a:noFill/>
          </a:ln>
        </p:spPr>
        <p:txBody>
          <a:bodyPr/>
          <a:lstStyle/>
          <a:p>
            <a:endParaRPr lang="da-DK"/>
          </a:p>
        </p:txBody>
      </p:sp>
      <p:sp>
        <p:nvSpPr>
          <p:cNvPr id="31" name="TextBox 31"/>
          <p:cNvSpPr txBox="1"/>
          <p:nvPr/>
        </p:nvSpPr>
        <p:spPr>
          <a:xfrm>
            <a:off x="7323772" y="2387441"/>
            <a:ext cx="92463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Catalogue Print</a:t>
            </a:r>
          </a:p>
        </p:txBody>
      </p:sp>
      <p:sp>
        <p:nvSpPr>
          <p:cNvPr id="32" name="TextBox 32"/>
          <p:cNvSpPr txBox="1"/>
          <p:nvPr/>
        </p:nvSpPr>
        <p:spPr>
          <a:xfrm>
            <a:off x="8746094" y="2407394"/>
            <a:ext cx="659844"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TIFF, 300dpi</a:t>
            </a:r>
          </a:p>
        </p:txBody>
      </p:sp>
      <p:sp>
        <p:nvSpPr>
          <p:cNvPr id="33" name="Rectangle 33"/>
          <p:cNvSpPr/>
          <p:nvPr/>
        </p:nvSpPr>
        <p:spPr>
          <a:xfrm>
            <a:off x="7239000" y="2628900"/>
            <a:ext cx="2095500" cy="285750"/>
          </a:xfrm>
          <a:prstGeom prst="roundRect">
            <a:avLst>
              <a:gd name="adj" fmla="val 20000"/>
            </a:avLst>
          </a:prstGeom>
          <a:solidFill>
            <a:srgbClr val="586A68">
              <a:alpha val="8000"/>
            </a:srgbClr>
          </a:solidFill>
          <a:ln>
            <a:noFill/>
          </a:ln>
        </p:spPr>
        <p:txBody>
          <a:bodyPr/>
          <a:lstStyle/>
          <a:p>
            <a:endParaRPr lang="da-DK"/>
          </a:p>
        </p:txBody>
      </p:sp>
      <p:sp>
        <p:nvSpPr>
          <p:cNvPr id="34" name="TextBox 34"/>
          <p:cNvSpPr txBox="1"/>
          <p:nvPr/>
        </p:nvSpPr>
        <p:spPr>
          <a:xfrm>
            <a:off x="7323772" y="2730341"/>
            <a:ext cx="112345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Pricelist Thumbnail</a:t>
            </a:r>
          </a:p>
        </p:txBody>
      </p:sp>
      <p:sp>
        <p:nvSpPr>
          <p:cNvPr id="35" name="TextBox 35"/>
          <p:cNvSpPr txBox="1"/>
          <p:nvPr/>
        </p:nvSpPr>
        <p:spPr>
          <a:xfrm>
            <a:off x="8784431" y="2700146"/>
            <a:ext cx="56673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JPG, 150px</a:t>
            </a:r>
          </a:p>
        </p:txBody>
      </p:sp>
      <p:sp>
        <p:nvSpPr>
          <p:cNvPr id="36" name="Rectangle 36"/>
          <p:cNvSpPr/>
          <p:nvPr/>
        </p:nvSpPr>
        <p:spPr>
          <a:xfrm>
            <a:off x="9477375" y="1600200"/>
            <a:ext cx="2095500" cy="285750"/>
          </a:xfrm>
          <a:prstGeom prst="roundRect">
            <a:avLst>
              <a:gd name="adj" fmla="val 20000"/>
            </a:avLst>
          </a:prstGeom>
          <a:solidFill>
            <a:srgbClr val="C1856B">
              <a:alpha val="10000"/>
            </a:srgbClr>
          </a:solidFill>
          <a:ln>
            <a:noFill/>
          </a:ln>
        </p:spPr>
        <p:txBody>
          <a:bodyPr/>
          <a:lstStyle/>
          <a:p>
            <a:endParaRPr lang="da-DK"/>
          </a:p>
        </p:txBody>
      </p:sp>
      <p:sp>
        <p:nvSpPr>
          <p:cNvPr id="37" name="TextBox 37"/>
          <p:cNvSpPr txBox="1"/>
          <p:nvPr/>
        </p:nvSpPr>
        <p:spPr>
          <a:xfrm>
            <a:off x="9562148" y="1701641"/>
            <a:ext cx="115357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Social Media Square</a:t>
            </a:r>
          </a:p>
        </p:txBody>
      </p:sp>
      <p:sp>
        <p:nvSpPr>
          <p:cNvPr id="38" name="TextBox 38"/>
          <p:cNvSpPr txBox="1"/>
          <p:nvPr/>
        </p:nvSpPr>
        <p:spPr>
          <a:xfrm>
            <a:off x="11372850" y="1709738"/>
            <a:ext cx="145018"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1:1</a:t>
            </a:r>
          </a:p>
        </p:txBody>
      </p:sp>
      <p:sp>
        <p:nvSpPr>
          <p:cNvPr id="39" name="Rectangle 39"/>
          <p:cNvSpPr/>
          <p:nvPr/>
        </p:nvSpPr>
        <p:spPr>
          <a:xfrm>
            <a:off x="9477375" y="1943100"/>
            <a:ext cx="2095500" cy="285750"/>
          </a:xfrm>
          <a:prstGeom prst="roundRect">
            <a:avLst>
              <a:gd name="adj" fmla="val 20000"/>
            </a:avLst>
          </a:prstGeom>
          <a:solidFill>
            <a:srgbClr val="C1856B">
              <a:alpha val="10000"/>
            </a:srgbClr>
          </a:solidFill>
          <a:ln>
            <a:noFill/>
          </a:ln>
        </p:spPr>
        <p:txBody>
          <a:bodyPr/>
          <a:lstStyle/>
          <a:p>
            <a:endParaRPr lang="da-DK"/>
          </a:p>
        </p:txBody>
      </p:sp>
      <p:sp>
        <p:nvSpPr>
          <p:cNvPr id="40" name="TextBox 40"/>
          <p:cNvSpPr txBox="1"/>
          <p:nvPr/>
        </p:nvSpPr>
        <p:spPr>
          <a:xfrm>
            <a:off x="9562148" y="2044541"/>
            <a:ext cx="122586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Social Media Vertical</a:t>
            </a:r>
          </a:p>
        </p:txBody>
      </p:sp>
      <p:sp>
        <p:nvSpPr>
          <p:cNvPr id="41" name="TextBox 41"/>
          <p:cNvSpPr txBox="1"/>
          <p:nvPr/>
        </p:nvSpPr>
        <p:spPr>
          <a:xfrm>
            <a:off x="11372850" y="2052638"/>
            <a:ext cx="19978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4:5</a:t>
            </a:r>
          </a:p>
        </p:txBody>
      </p:sp>
      <p:sp>
        <p:nvSpPr>
          <p:cNvPr id="42" name="Rectangle 42"/>
          <p:cNvSpPr/>
          <p:nvPr/>
        </p:nvSpPr>
        <p:spPr>
          <a:xfrm>
            <a:off x="9477375" y="2286000"/>
            <a:ext cx="2095500" cy="285750"/>
          </a:xfrm>
          <a:prstGeom prst="roundRect">
            <a:avLst>
              <a:gd name="adj" fmla="val 20000"/>
            </a:avLst>
          </a:prstGeom>
          <a:solidFill>
            <a:srgbClr val="C1856B">
              <a:alpha val="10000"/>
            </a:srgbClr>
          </a:solidFill>
          <a:ln>
            <a:noFill/>
          </a:ln>
        </p:spPr>
        <p:txBody>
          <a:bodyPr/>
          <a:lstStyle/>
          <a:p>
            <a:endParaRPr lang="da-DK"/>
          </a:p>
        </p:txBody>
      </p:sp>
      <p:sp>
        <p:nvSpPr>
          <p:cNvPr id="43" name="TextBox 43"/>
          <p:cNvSpPr txBox="1"/>
          <p:nvPr/>
        </p:nvSpPr>
        <p:spPr>
          <a:xfrm>
            <a:off x="9562148" y="2387441"/>
            <a:ext cx="112345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Sales Presentation</a:t>
            </a:r>
          </a:p>
        </p:txBody>
      </p:sp>
      <p:sp>
        <p:nvSpPr>
          <p:cNvPr id="44" name="TextBox 44"/>
          <p:cNvSpPr txBox="1"/>
          <p:nvPr/>
        </p:nvSpPr>
        <p:spPr>
          <a:xfrm>
            <a:off x="11372850" y="2395538"/>
            <a:ext cx="19978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PNG</a:t>
            </a:r>
          </a:p>
        </p:txBody>
      </p:sp>
      <p:sp>
        <p:nvSpPr>
          <p:cNvPr id="45" name="TextBox 45"/>
          <p:cNvSpPr txBox="1"/>
          <p:nvPr/>
        </p:nvSpPr>
        <p:spPr>
          <a:xfrm>
            <a:off x="556260" y="3585210"/>
            <a:ext cx="2054733"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Asset Governance Flow</a:t>
            </a:r>
          </a:p>
        </p:txBody>
      </p:sp>
      <p:sp>
        <p:nvSpPr>
          <p:cNvPr id="46" name="Rectangle 46"/>
          <p:cNvSpPr/>
          <p:nvPr/>
        </p:nvSpPr>
        <p:spPr>
          <a:xfrm>
            <a:off x="571500" y="4000500"/>
            <a:ext cx="1333500" cy="428625"/>
          </a:xfrm>
          <a:prstGeom prst="roundRect">
            <a:avLst>
              <a:gd name="adj" fmla="val 13333"/>
            </a:avLst>
          </a:prstGeom>
          <a:solidFill>
            <a:srgbClr val="586A68"/>
          </a:solidFill>
          <a:ln>
            <a:noFill/>
          </a:ln>
        </p:spPr>
        <p:txBody>
          <a:bodyPr/>
          <a:lstStyle/>
          <a:p>
            <a:endParaRPr lang="da-DK"/>
          </a:p>
        </p:txBody>
      </p:sp>
      <p:sp>
        <p:nvSpPr>
          <p:cNvPr id="47" name="TextBox 47"/>
          <p:cNvSpPr txBox="1"/>
          <p:nvPr/>
        </p:nvSpPr>
        <p:spPr>
          <a:xfrm>
            <a:off x="1016344" y="4160520"/>
            <a:ext cx="44381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Upload</a:t>
            </a:r>
          </a:p>
        </p:txBody>
      </p:sp>
      <p:sp>
        <p:nvSpPr>
          <p:cNvPr id="48" name="Line 48"/>
          <p:cNvSpPr/>
          <p:nvPr/>
        </p:nvSpPr>
        <p:spPr>
          <a:xfrm>
            <a:off x="19050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49" name="Polygon 49"/>
          <p:cNvSpPr/>
          <p:nvPr/>
        </p:nvSpPr>
        <p:spPr>
          <a:xfrm>
            <a:off x="21621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50" name="Rectangle 50"/>
          <p:cNvSpPr/>
          <p:nvPr/>
        </p:nvSpPr>
        <p:spPr>
          <a:xfrm>
            <a:off x="2286000" y="4000500"/>
            <a:ext cx="1333500" cy="428625"/>
          </a:xfrm>
          <a:prstGeom prst="roundRect">
            <a:avLst>
              <a:gd name="adj" fmla="val 13333"/>
            </a:avLst>
          </a:prstGeom>
          <a:solidFill>
            <a:srgbClr val="C1856B"/>
          </a:solidFill>
          <a:ln>
            <a:noFill/>
          </a:ln>
        </p:spPr>
        <p:txBody>
          <a:bodyPr/>
          <a:lstStyle/>
          <a:p>
            <a:endParaRPr lang="da-DK"/>
          </a:p>
        </p:txBody>
      </p:sp>
      <p:sp>
        <p:nvSpPr>
          <p:cNvPr id="51" name="TextBox 51"/>
          <p:cNvSpPr txBox="1"/>
          <p:nvPr/>
        </p:nvSpPr>
        <p:spPr>
          <a:xfrm>
            <a:off x="2672186" y="4160520"/>
            <a:ext cx="56112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Classify</a:t>
            </a:r>
          </a:p>
        </p:txBody>
      </p:sp>
      <p:sp>
        <p:nvSpPr>
          <p:cNvPr id="52" name="Line 52"/>
          <p:cNvSpPr/>
          <p:nvPr/>
        </p:nvSpPr>
        <p:spPr>
          <a:xfrm>
            <a:off x="36195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53" name="Polygon 53"/>
          <p:cNvSpPr/>
          <p:nvPr/>
        </p:nvSpPr>
        <p:spPr>
          <a:xfrm>
            <a:off x="38766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54" name="Rectangle 54"/>
          <p:cNvSpPr/>
          <p:nvPr/>
        </p:nvSpPr>
        <p:spPr>
          <a:xfrm>
            <a:off x="4000500" y="4000500"/>
            <a:ext cx="1333500" cy="428625"/>
          </a:xfrm>
          <a:prstGeom prst="roundRect">
            <a:avLst>
              <a:gd name="adj" fmla="val 13333"/>
            </a:avLst>
          </a:prstGeom>
          <a:solidFill>
            <a:srgbClr val="B6ADA4"/>
          </a:solidFill>
          <a:ln>
            <a:noFill/>
          </a:ln>
        </p:spPr>
        <p:txBody>
          <a:bodyPr/>
          <a:lstStyle/>
          <a:p>
            <a:endParaRPr lang="da-DK"/>
          </a:p>
        </p:txBody>
      </p:sp>
      <p:sp>
        <p:nvSpPr>
          <p:cNvPr id="55" name="TextBox 55"/>
          <p:cNvSpPr txBox="1"/>
          <p:nvPr/>
        </p:nvSpPr>
        <p:spPr>
          <a:xfrm>
            <a:off x="4290074" y="4160520"/>
            <a:ext cx="75435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Link Entity</a:t>
            </a:r>
          </a:p>
        </p:txBody>
      </p:sp>
      <p:sp>
        <p:nvSpPr>
          <p:cNvPr id="56" name="Line 56"/>
          <p:cNvSpPr/>
          <p:nvPr/>
        </p:nvSpPr>
        <p:spPr>
          <a:xfrm>
            <a:off x="53340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57" name="Polygon 57"/>
          <p:cNvSpPr/>
          <p:nvPr/>
        </p:nvSpPr>
        <p:spPr>
          <a:xfrm>
            <a:off x="55911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58" name="Rectangle 58"/>
          <p:cNvSpPr/>
          <p:nvPr/>
        </p:nvSpPr>
        <p:spPr>
          <a:xfrm>
            <a:off x="5715000" y="4000500"/>
            <a:ext cx="1333500" cy="428625"/>
          </a:xfrm>
          <a:prstGeom prst="roundRect">
            <a:avLst>
              <a:gd name="adj" fmla="val 13333"/>
            </a:avLst>
          </a:prstGeom>
          <a:solidFill>
            <a:srgbClr val="88817E"/>
          </a:solidFill>
          <a:ln>
            <a:noFill/>
          </a:ln>
        </p:spPr>
        <p:txBody>
          <a:bodyPr/>
          <a:lstStyle/>
          <a:p>
            <a:endParaRPr lang="da-DK"/>
          </a:p>
        </p:txBody>
      </p:sp>
      <p:sp>
        <p:nvSpPr>
          <p:cNvPr id="59" name="TextBox 59"/>
          <p:cNvSpPr txBox="1"/>
          <p:nvPr/>
        </p:nvSpPr>
        <p:spPr>
          <a:xfrm>
            <a:off x="5918314" y="4160520"/>
            <a:ext cx="92687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Add Metadata</a:t>
            </a:r>
          </a:p>
        </p:txBody>
      </p:sp>
      <p:sp>
        <p:nvSpPr>
          <p:cNvPr id="60" name="Line 60"/>
          <p:cNvSpPr/>
          <p:nvPr/>
        </p:nvSpPr>
        <p:spPr>
          <a:xfrm>
            <a:off x="70485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61" name="Polygon 61"/>
          <p:cNvSpPr/>
          <p:nvPr/>
        </p:nvSpPr>
        <p:spPr>
          <a:xfrm>
            <a:off x="73056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62" name="Rectangle 62"/>
          <p:cNvSpPr/>
          <p:nvPr/>
        </p:nvSpPr>
        <p:spPr>
          <a:xfrm>
            <a:off x="7429500" y="4000500"/>
            <a:ext cx="1333500" cy="428625"/>
          </a:xfrm>
          <a:prstGeom prst="roundRect">
            <a:avLst>
              <a:gd name="adj" fmla="val 13333"/>
            </a:avLst>
          </a:prstGeom>
          <a:solidFill>
            <a:srgbClr val="E2C8BD"/>
          </a:solidFill>
          <a:ln>
            <a:noFill/>
          </a:ln>
        </p:spPr>
        <p:txBody>
          <a:bodyPr/>
          <a:lstStyle/>
          <a:p>
            <a:endParaRPr lang="da-DK"/>
          </a:p>
        </p:txBody>
      </p:sp>
      <p:sp>
        <p:nvSpPr>
          <p:cNvPr id="63" name="TextBox 63"/>
          <p:cNvSpPr txBox="1"/>
          <p:nvPr/>
        </p:nvSpPr>
        <p:spPr>
          <a:xfrm>
            <a:off x="7819137" y="4160520"/>
            <a:ext cx="554226"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Approve</a:t>
            </a:r>
          </a:p>
        </p:txBody>
      </p:sp>
      <p:sp>
        <p:nvSpPr>
          <p:cNvPr id="64" name="Line 64"/>
          <p:cNvSpPr/>
          <p:nvPr/>
        </p:nvSpPr>
        <p:spPr>
          <a:xfrm>
            <a:off x="87630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65" name="Polygon 65"/>
          <p:cNvSpPr/>
          <p:nvPr/>
        </p:nvSpPr>
        <p:spPr>
          <a:xfrm>
            <a:off x="90201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66" name="Rectangle 66"/>
          <p:cNvSpPr/>
          <p:nvPr/>
        </p:nvSpPr>
        <p:spPr>
          <a:xfrm>
            <a:off x="9144000" y="4000500"/>
            <a:ext cx="1333500" cy="428625"/>
          </a:xfrm>
          <a:prstGeom prst="roundRect">
            <a:avLst>
              <a:gd name="adj" fmla="val 13333"/>
            </a:avLst>
          </a:prstGeom>
          <a:solidFill>
            <a:srgbClr val="586A68">
              <a:alpha val="70000"/>
            </a:srgbClr>
          </a:solidFill>
          <a:ln>
            <a:noFill/>
          </a:ln>
        </p:spPr>
        <p:txBody>
          <a:bodyPr/>
          <a:lstStyle/>
          <a:p>
            <a:endParaRPr lang="da-DK"/>
          </a:p>
        </p:txBody>
      </p:sp>
      <p:sp>
        <p:nvSpPr>
          <p:cNvPr id="67" name="TextBox 67"/>
          <p:cNvSpPr txBox="1"/>
          <p:nvPr/>
        </p:nvSpPr>
        <p:spPr>
          <a:xfrm>
            <a:off x="9533637" y="4160520"/>
            <a:ext cx="55422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Process</a:t>
            </a:r>
          </a:p>
        </p:txBody>
      </p:sp>
      <p:sp>
        <p:nvSpPr>
          <p:cNvPr id="68" name="Line 68"/>
          <p:cNvSpPr/>
          <p:nvPr/>
        </p:nvSpPr>
        <p:spPr>
          <a:xfrm>
            <a:off x="104775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69" name="Polygon 69"/>
          <p:cNvSpPr/>
          <p:nvPr/>
        </p:nvSpPr>
        <p:spPr>
          <a:xfrm>
            <a:off x="107346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70" name="Rectangle 70"/>
          <p:cNvSpPr/>
          <p:nvPr/>
        </p:nvSpPr>
        <p:spPr>
          <a:xfrm>
            <a:off x="10858500" y="4000500"/>
            <a:ext cx="952500" cy="428625"/>
          </a:xfrm>
          <a:prstGeom prst="roundRect">
            <a:avLst>
              <a:gd name="adj" fmla="val 13333"/>
            </a:avLst>
          </a:prstGeom>
          <a:solidFill>
            <a:srgbClr val="959B94"/>
          </a:solidFill>
          <a:ln>
            <a:noFill/>
          </a:ln>
        </p:spPr>
        <p:txBody>
          <a:bodyPr/>
          <a:lstStyle/>
          <a:p>
            <a:endParaRPr lang="da-DK"/>
          </a:p>
        </p:txBody>
      </p:sp>
      <p:sp>
        <p:nvSpPr>
          <p:cNvPr id="71" name="TextBox 71"/>
          <p:cNvSpPr txBox="1"/>
          <p:nvPr/>
        </p:nvSpPr>
        <p:spPr>
          <a:xfrm>
            <a:off x="10978277" y="4160520"/>
            <a:ext cx="71294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Distribute</a:t>
            </a:r>
          </a:p>
        </p:txBody>
      </p:sp>
      <p:sp>
        <p:nvSpPr>
          <p:cNvPr id="72" name="Rectangle 72"/>
          <p:cNvSpPr/>
          <p:nvPr/>
        </p:nvSpPr>
        <p:spPr>
          <a:xfrm>
            <a:off x="571500" y="4857750"/>
            <a:ext cx="11049000" cy="666750"/>
          </a:xfrm>
          <a:prstGeom prst="roundRect">
            <a:avLst>
              <a:gd name="adj" fmla="val 11429"/>
            </a:avLst>
          </a:prstGeom>
          <a:solidFill>
            <a:srgbClr val="FFFFFF"/>
          </a:solidFill>
          <a:ln w="9525">
            <a:solidFill>
              <a:srgbClr val="586A68"/>
            </a:solidFill>
          </a:ln>
        </p:spPr>
        <p:txBody>
          <a:bodyPr/>
          <a:lstStyle/>
          <a:p>
            <a:endParaRPr lang="da-DK"/>
          </a:p>
        </p:txBody>
      </p:sp>
      <p:sp>
        <p:nvSpPr>
          <p:cNvPr id="73" name="TextBox 73"/>
          <p:cNvSpPr txBox="1"/>
          <p:nvPr/>
        </p:nvSpPr>
        <p:spPr>
          <a:xfrm>
            <a:off x="749618" y="4990624"/>
            <a:ext cx="1437717"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Rendition Tracking:</a:t>
            </a:r>
          </a:p>
        </p:txBody>
      </p:sp>
      <p:sp>
        <p:nvSpPr>
          <p:cNvPr id="74" name="TextBox 74"/>
          <p:cNvSpPr txBox="1"/>
          <p:nvPr/>
        </p:nvSpPr>
        <p:spPr>
          <a:xfrm>
            <a:off x="750570" y="5217795"/>
            <a:ext cx="508349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Image Engine tracks welke rendition is gegenereerd van welk origineel bestand.</a:t>
            </a:r>
          </a:p>
        </p:txBody>
      </p:sp>
      <p:sp>
        <p:nvSpPr>
          <p:cNvPr id="75" name="TextBox 75"/>
          <p:cNvSpPr txBox="1"/>
          <p:nvPr/>
        </p:nvSpPr>
        <p:spPr>
          <a:xfrm>
            <a:off x="750570" y="5379720"/>
            <a:ext cx="670683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Format conversion: JPG, PNG, WebP, TIFF. Naming conventions applied automatically per channel preset.</a:t>
            </a:r>
          </a:p>
        </p:txBody>
      </p:sp>
      <p:sp>
        <p:nvSpPr>
          <p:cNvPr id="76" name="TextBox 76"/>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8</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22282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05 / Integration</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982231"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Integration Architecture</a:t>
            </a:r>
          </a:p>
        </p:txBody>
      </p:sp>
      <p:sp>
        <p:nvSpPr>
          <p:cNvPr id="7" name="TextBox 7"/>
          <p:cNvSpPr txBox="1"/>
          <p:nvPr/>
        </p:nvSpPr>
        <p:spPr>
          <a:xfrm>
            <a:off x="558165" y="1315402"/>
            <a:ext cx="1081352"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DATA SOURCES</a:t>
            </a:r>
          </a:p>
        </p:txBody>
      </p:sp>
      <p:sp>
        <p:nvSpPr>
          <p:cNvPr id="8" name="Rectangle 8"/>
          <p:cNvSpPr/>
          <p:nvPr/>
        </p:nvSpPr>
        <p:spPr>
          <a:xfrm>
            <a:off x="571500" y="1571625"/>
            <a:ext cx="1714500" cy="523875"/>
          </a:xfrm>
          <a:prstGeom prst="roundRect">
            <a:avLst>
              <a:gd name="adj" fmla="val 14545"/>
            </a:avLst>
          </a:prstGeom>
          <a:solidFill>
            <a:srgbClr val="753438"/>
          </a:solidFill>
          <a:ln>
            <a:noFill/>
          </a:ln>
        </p:spPr>
        <p:txBody>
          <a:bodyPr/>
          <a:lstStyle/>
          <a:p>
            <a:endParaRPr lang="da-DK"/>
          </a:p>
        </p:txBody>
      </p:sp>
      <p:sp>
        <p:nvSpPr>
          <p:cNvPr id="9" name="TextBox 9"/>
          <p:cNvSpPr txBox="1"/>
          <p:nvPr/>
        </p:nvSpPr>
        <p:spPr>
          <a:xfrm>
            <a:off x="1023881" y="1704499"/>
            <a:ext cx="80973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D365 (ERP)</a:t>
            </a:r>
          </a:p>
        </p:txBody>
      </p:sp>
      <p:sp>
        <p:nvSpPr>
          <p:cNvPr id="10" name="TextBox 10"/>
          <p:cNvSpPr txBox="1"/>
          <p:nvPr/>
        </p:nvSpPr>
        <p:spPr>
          <a:xfrm>
            <a:off x="745569" y="1900238"/>
            <a:ext cx="1366361"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Commercial &amp; Operational</a:t>
            </a:r>
          </a:p>
        </p:txBody>
      </p:sp>
      <p:sp>
        <p:nvSpPr>
          <p:cNvPr id="11" name="Rectangle 11"/>
          <p:cNvSpPr/>
          <p:nvPr/>
        </p:nvSpPr>
        <p:spPr>
          <a:xfrm>
            <a:off x="2476500" y="1571625"/>
            <a:ext cx="1714500" cy="523875"/>
          </a:xfrm>
          <a:prstGeom prst="roundRect">
            <a:avLst>
              <a:gd name="adj" fmla="val 14545"/>
            </a:avLst>
          </a:prstGeom>
          <a:solidFill>
            <a:srgbClr val="C1856B"/>
          </a:solidFill>
          <a:ln>
            <a:noFill/>
          </a:ln>
        </p:spPr>
        <p:txBody>
          <a:bodyPr/>
          <a:lstStyle/>
          <a:p>
            <a:endParaRPr lang="da-DK"/>
          </a:p>
        </p:txBody>
      </p:sp>
      <p:sp>
        <p:nvSpPr>
          <p:cNvPr id="12" name="TextBox 12"/>
          <p:cNvSpPr txBox="1"/>
          <p:nvPr/>
        </p:nvSpPr>
        <p:spPr>
          <a:xfrm>
            <a:off x="2869073" y="1704499"/>
            <a:ext cx="92935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Photography</a:t>
            </a:r>
          </a:p>
        </p:txBody>
      </p:sp>
      <p:sp>
        <p:nvSpPr>
          <p:cNvPr id="13" name="TextBox 13"/>
          <p:cNvSpPr txBox="1"/>
          <p:nvPr/>
        </p:nvSpPr>
        <p:spPr>
          <a:xfrm>
            <a:off x="2913459" y="1900238"/>
            <a:ext cx="840581"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Studio &amp; Agency</a:t>
            </a:r>
          </a:p>
        </p:txBody>
      </p:sp>
      <p:sp>
        <p:nvSpPr>
          <p:cNvPr id="14" name="Rectangle 14"/>
          <p:cNvSpPr/>
          <p:nvPr/>
        </p:nvSpPr>
        <p:spPr>
          <a:xfrm>
            <a:off x="4381500" y="1571625"/>
            <a:ext cx="1714500" cy="523875"/>
          </a:xfrm>
          <a:prstGeom prst="roundRect">
            <a:avLst>
              <a:gd name="adj" fmla="val 14545"/>
            </a:avLst>
          </a:prstGeom>
          <a:solidFill>
            <a:srgbClr val="88817E"/>
          </a:solidFill>
          <a:ln>
            <a:noFill/>
          </a:ln>
        </p:spPr>
        <p:txBody>
          <a:bodyPr/>
          <a:lstStyle/>
          <a:p>
            <a:endParaRPr lang="da-DK"/>
          </a:p>
        </p:txBody>
      </p:sp>
      <p:sp>
        <p:nvSpPr>
          <p:cNvPr id="15" name="TextBox 15"/>
          <p:cNvSpPr txBox="1"/>
          <p:nvPr/>
        </p:nvSpPr>
        <p:spPr>
          <a:xfrm>
            <a:off x="4691838" y="1704499"/>
            <a:ext cx="109382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Technical Team</a:t>
            </a:r>
          </a:p>
        </p:txBody>
      </p:sp>
      <p:sp>
        <p:nvSpPr>
          <p:cNvPr id="16" name="TextBox 16"/>
          <p:cNvSpPr txBox="1"/>
          <p:nvPr/>
        </p:nvSpPr>
        <p:spPr>
          <a:xfrm>
            <a:off x="4807506" y="1900238"/>
            <a:ext cx="86248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CAD, Compliance</a:t>
            </a:r>
          </a:p>
        </p:txBody>
      </p:sp>
      <p:sp>
        <p:nvSpPr>
          <p:cNvPr id="17" name="Line 17"/>
          <p:cNvSpPr/>
          <p:nvPr/>
        </p:nvSpPr>
        <p:spPr>
          <a:xfrm>
            <a:off x="1428750" y="2095500"/>
            <a:ext cx="9525" cy="476250"/>
          </a:xfrm>
          <a:custGeom>
            <a:avLst/>
            <a:gdLst/>
            <a:ahLst/>
            <a:cxnLst/>
            <a:rect l="l" t="t" r="r" b="b"/>
            <a:pathLst>
              <a:path w="9525" h="476250">
                <a:moveTo>
                  <a:pt x="0" y="0"/>
                </a:moveTo>
                <a:lnTo>
                  <a:pt x="0" y="476250"/>
                </a:lnTo>
              </a:path>
            </a:pathLst>
          </a:custGeom>
          <a:noFill/>
          <a:ln w="14288">
            <a:solidFill>
              <a:srgbClr val="753438"/>
            </a:solidFill>
          </a:ln>
        </p:spPr>
        <p:txBody>
          <a:bodyPr/>
          <a:lstStyle/>
          <a:p>
            <a:endParaRPr lang="da-DK"/>
          </a:p>
        </p:txBody>
      </p:sp>
      <p:sp>
        <p:nvSpPr>
          <p:cNvPr id="18" name="Polygon 18"/>
          <p:cNvSpPr/>
          <p:nvPr/>
        </p:nvSpPr>
        <p:spPr>
          <a:xfrm>
            <a:off x="1371600" y="2524125"/>
            <a:ext cx="114300" cy="95250"/>
          </a:xfrm>
          <a:custGeom>
            <a:avLst/>
            <a:gdLst/>
            <a:ahLst/>
            <a:cxnLst/>
            <a:rect l="l" t="t" r="r" b="b"/>
            <a:pathLst>
              <a:path w="114300" h="95250">
                <a:moveTo>
                  <a:pt x="0" y="0"/>
                </a:moveTo>
                <a:lnTo>
                  <a:pt x="57150" y="95250"/>
                </a:lnTo>
                <a:lnTo>
                  <a:pt x="114300" y="0"/>
                </a:lnTo>
                <a:close/>
              </a:path>
            </a:pathLst>
          </a:custGeom>
          <a:solidFill>
            <a:srgbClr val="753438"/>
          </a:solidFill>
          <a:ln>
            <a:noFill/>
          </a:ln>
        </p:spPr>
        <p:txBody>
          <a:bodyPr/>
          <a:lstStyle/>
          <a:p>
            <a:endParaRPr lang="da-DK"/>
          </a:p>
        </p:txBody>
      </p:sp>
      <p:sp>
        <p:nvSpPr>
          <p:cNvPr id="19" name="Line 19"/>
          <p:cNvSpPr/>
          <p:nvPr/>
        </p:nvSpPr>
        <p:spPr>
          <a:xfrm>
            <a:off x="3333750" y="2095500"/>
            <a:ext cx="9525" cy="476250"/>
          </a:xfrm>
          <a:custGeom>
            <a:avLst/>
            <a:gdLst/>
            <a:ahLst/>
            <a:cxnLst/>
            <a:rect l="l" t="t" r="r" b="b"/>
            <a:pathLst>
              <a:path w="9525" h="476250">
                <a:moveTo>
                  <a:pt x="0" y="0"/>
                </a:moveTo>
                <a:lnTo>
                  <a:pt x="0" y="476250"/>
                </a:lnTo>
              </a:path>
            </a:pathLst>
          </a:custGeom>
          <a:noFill/>
          <a:ln w="14288">
            <a:solidFill>
              <a:srgbClr val="C1856B"/>
            </a:solidFill>
          </a:ln>
        </p:spPr>
        <p:txBody>
          <a:bodyPr/>
          <a:lstStyle/>
          <a:p>
            <a:endParaRPr lang="da-DK"/>
          </a:p>
        </p:txBody>
      </p:sp>
      <p:sp>
        <p:nvSpPr>
          <p:cNvPr id="20" name="Polygon 20"/>
          <p:cNvSpPr/>
          <p:nvPr/>
        </p:nvSpPr>
        <p:spPr>
          <a:xfrm>
            <a:off x="3276600" y="2524125"/>
            <a:ext cx="114300" cy="95250"/>
          </a:xfrm>
          <a:custGeom>
            <a:avLst/>
            <a:gdLst/>
            <a:ahLst/>
            <a:cxnLst/>
            <a:rect l="l" t="t" r="r" b="b"/>
            <a:pathLst>
              <a:path w="114300" h="95250">
                <a:moveTo>
                  <a:pt x="0" y="0"/>
                </a:moveTo>
                <a:lnTo>
                  <a:pt x="57150" y="95250"/>
                </a:lnTo>
                <a:lnTo>
                  <a:pt x="114300" y="0"/>
                </a:lnTo>
                <a:close/>
              </a:path>
            </a:pathLst>
          </a:custGeom>
          <a:solidFill>
            <a:srgbClr val="C1856B"/>
          </a:solidFill>
          <a:ln>
            <a:noFill/>
          </a:ln>
        </p:spPr>
        <p:txBody>
          <a:bodyPr/>
          <a:lstStyle/>
          <a:p>
            <a:endParaRPr lang="da-DK"/>
          </a:p>
        </p:txBody>
      </p:sp>
      <p:sp>
        <p:nvSpPr>
          <p:cNvPr id="21" name="Line 21"/>
          <p:cNvSpPr/>
          <p:nvPr/>
        </p:nvSpPr>
        <p:spPr>
          <a:xfrm>
            <a:off x="5238750" y="2095500"/>
            <a:ext cx="9525" cy="476250"/>
          </a:xfrm>
          <a:custGeom>
            <a:avLst/>
            <a:gdLst/>
            <a:ahLst/>
            <a:cxnLst/>
            <a:rect l="l" t="t" r="r" b="b"/>
            <a:pathLst>
              <a:path w="9525" h="476250">
                <a:moveTo>
                  <a:pt x="0" y="0"/>
                </a:moveTo>
                <a:lnTo>
                  <a:pt x="0" y="476250"/>
                </a:lnTo>
              </a:path>
            </a:pathLst>
          </a:custGeom>
          <a:noFill/>
          <a:ln w="14288">
            <a:solidFill>
              <a:srgbClr val="88817E"/>
            </a:solidFill>
          </a:ln>
        </p:spPr>
        <p:txBody>
          <a:bodyPr/>
          <a:lstStyle/>
          <a:p>
            <a:endParaRPr lang="da-DK"/>
          </a:p>
        </p:txBody>
      </p:sp>
      <p:sp>
        <p:nvSpPr>
          <p:cNvPr id="22" name="Polygon 22"/>
          <p:cNvSpPr/>
          <p:nvPr/>
        </p:nvSpPr>
        <p:spPr>
          <a:xfrm>
            <a:off x="5181600" y="252412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23" name="Rectangle 23"/>
          <p:cNvSpPr/>
          <p:nvPr/>
        </p:nvSpPr>
        <p:spPr>
          <a:xfrm>
            <a:off x="571500" y="2667000"/>
            <a:ext cx="6667500" cy="1905000"/>
          </a:xfrm>
          <a:prstGeom prst="roundRect">
            <a:avLst>
              <a:gd name="adj" fmla="val 6000"/>
            </a:avLst>
          </a:prstGeom>
          <a:solidFill>
            <a:srgbClr val="FFFFFF"/>
          </a:solidFill>
          <a:ln w="19050">
            <a:solidFill>
              <a:srgbClr val="586A68"/>
            </a:solidFill>
          </a:ln>
        </p:spPr>
        <p:txBody>
          <a:bodyPr/>
          <a:lstStyle/>
          <a:p>
            <a:endParaRPr lang="da-DK"/>
          </a:p>
        </p:txBody>
      </p:sp>
      <p:sp>
        <p:nvSpPr>
          <p:cNvPr id="24" name="TextBox 24"/>
          <p:cNvSpPr txBox="1"/>
          <p:nvPr/>
        </p:nvSpPr>
        <p:spPr>
          <a:xfrm>
            <a:off x="748665" y="2791778"/>
            <a:ext cx="1105505"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PIM PLATFORM</a:t>
            </a:r>
          </a:p>
        </p:txBody>
      </p:sp>
      <p:sp>
        <p:nvSpPr>
          <p:cNvPr id="25" name="Rectangle 25"/>
          <p:cNvSpPr/>
          <p:nvPr/>
        </p:nvSpPr>
        <p:spPr>
          <a:xfrm>
            <a:off x="762000" y="3048000"/>
            <a:ext cx="1238250" cy="428625"/>
          </a:xfrm>
          <a:prstGeom prst="roundRect">
            <a:avLst>
              <a:gd name="adj" fmla="val 13333"/>
            </a:avLst>
          </a:prstGeom>
          <a:solidFill>
            <a:srgbClr val="586A68"/>
          </a:solidFill>
          <a:ln>
            <a:noFill/>
          </a:ln>
        </p:spPr>
        <p:txBody>
          <a:bodyPr/>
          <a:lstStyle/>
          <a:p>
            <a:endParaRPr lang="da-DK"/>
          </a:p>
        </p:txBody>
      </p:sp>
      <p:sp>
        <p:nvSpPr>
          <p:cNvPr id="26" name="TextBox 26"/>
          <p:cNvSpPr txBox="1"/>
          <p:nvPr/>
        </p:nvSpPr>
        <p:spPr>
          <a:xfrm>
            <a:off x="1038543" y="3216116"/>
            <a:ext cx="68516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Product DB</a:t>
            </a:r>
          </a:p>
        </p:txBody>
      </p:sp>
      <p:sp>
        <p:nvSpPr>
          <p:cNvPr id="27" name="Rectangle 27"/>
          <p:cNvSpPr/>
          <p:nvPr/>
        </p:nvSpPr>
        <p:spPr>
          <a:xfrm>
            <a:off x="2095500" y="3048000"/>
            <a:ext cx="1238250" cy="428625"/>
          </a:xfrm>
          <a:prstGeom prst="roundRect">
            <a:avLst>
              <a:gd name="adj" fmla="val 13333"/>
            </a:avLst>
          </a:prstGeom>
          <a:solidFill>
            <a:srgbClr val="C1856B"/>
          </a:solidFill>
          <a:ln>
            <a:noFill/>
          </a:ln>
        </p:spPr>
        <p:txBody>
          <a:bodyPr/>
          <a:lstStyle/>
          <a:p>
            <a:endParaRPr lang="da-DK"/>
          </a:p>
        </p:txBody>
      </p:sp>
      <p:sp>
        <p:nvSpPr>
          <p:cNvPr id="28" name="TextBox 28"/>
          <p:cNvSpPr txBox="1"/>
          <p:nvPr/>
        </p:nvSpPr>
        <p:spPr>
          <a:xfrm>
            <a:off x="2441627" y="3216116"/>
            <a:ext cx="545996"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Asset DB</a:t>
            </a:r>
          </a:p>
        </p:txBody>
      </p:sp>
      <p:sp>
        <p:nvSpPr>
          <p:cNvPr id="29" name="Rectangle 29"/>
          <p:cNvSpPr/>
          <p:nvPr/>
        </p:nvSpPr>
        <p:spPr>
          <a:xfrm>
            <a:off x="3429000" y="3048000"/>
            <a:ext cx="1238250" cy="428625"/>
          </a:xfrm>
          <a:prstGeom prst="roundRect">
            <a:avLst>
              <a:gd name="adj" fmla="val 13333"/>
            </a:avLst>
          </a:prstGeom>
          <a:solidFill>
            <a:srgbClr val="B6ADA4"/>
          </a:solidFill>
          <a:ln>
            <a:noFill/>
          </a:ln>
        </p:spPr>
        <p:txBody>
          <a:bodyPr/>
          <a:lstStyle/>
          <a:p>
            <a:endParaRPr lang="da-DK"/>
          </a:p>
        </p:txBody>
      </p:sp>
      <p:sp>
        <p:nvSpPr>
          <p:cNvPr id="30" name="TextBox 30"/>
          <p:cNvSpPr txBox="1"/>
          <p:nvPr/>
        </p:nvSpPr>
        <p:spPr>
          <a:xfrm>
            <a:off x="3689729" y="3216116"/>
            <a:ext cx="71679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Material DB</a:t>
            </a:r>
          </a:p>
        </p:txBody>
      </p:sp>
      <p:sp>
        <p:nvSpPr>
          <p:cNvPr id="31" name="Rectangle 31"/>
          <p:cNvSpPr/>
          <p:nvPr/>
        </p:nvSpPr>
        <p:spPr>
          <a:xfrm>
            <a:off x="762000" y="3667125"/>
            <a:ext cx="952500" cy="381000"/>
          </a:xfrm>
          <a:prstGeom prst="roundRect">
            <a:avLst>
              <a:gd name="adj" fmla="val 15000"/>
            </a:avLst>
          </a:prstGeom>
          <a:solidFill>
            <a:srgbClr val="586A68">
              <a:alpha val="15000"/>
            </a:srgbClr>
          </a:solidFill>
          <a:ln w="9525">
            <a:solidFill>
              <a:srgbClr val="586A68"/>
            </a:solidFill>
          </a:ln>
        </p:spPr>
        <p:txBody>
          <a:bodyPr/>
          <a:lstStyle/>
          <a:p>
            <a:endParaRPr lang="da-DK"/>
          </a:p>
        </p:txBody>
      </p:sp>
      <p:sp>
        <p:nvSpPr>
          <p:cNvPr id="32" name="TextBox 32"/>
          <p:cNvSpPr txBox="1"/>
          <p:nvPr/>
        </p:nvSpPr>
        <p:spPr>
          <a:xfrm>
            <a:off x="998696" y="3824288"/>
            <a:ext cx="479108"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AI Engine</a:t>
            </a:r>
          </a:p>
        </p:txBody>
      </p:sp>
      <p:sp>
        <p:nvSpPr>
          <p:cNvPr id="33" name="Rectangle 33"/>
          <p:cNvSpPr/>
          <p:nvPr/>
        </p:nvSpPr>
        <p:spPr>
          <a:xfrm>
            <a:off x="1809750" y="3667125"/>
            <a:ext cx="952500" cy="381000"/>
          </a:xfrm>
          <a:prstGeom prst="roundRect">
            <a:avLst>
              <a:gd name="adj" fmla="val 15000"/>
            </a:avLst>
          </a:prstGeom>
          <a:solidFill>
            <a:srgbClr val="586A68">
              <a:alpha val="15000"/>
            </a:srgbClr>
          </a:solidFill>
          <a:ln w="9525">
            <a:solidFill>
              <a:srgbClr val="586A68"/>
            </a:solidFill>
          </a:ln>
        </p:spPr>
        <p:txBody>
          <a:bodyPr/>
          <a:lstStyle/>
          <a:p>
            <a:endParaRPr lang="da-DK"/>
          </a:p>
        </p:txBody>
      </p:sp>
      <p:sp>
        <p:nvSpPr>
          <p:cNvPr id="34" name="TextBox 34"/>
          <p:cNvSpPr txBox="1"/>
          <p:nvPr/>
        </p:nvSpPr>
        <p:spPr>
          <a:xfrm>
            <a:off x="1945124" y="3824288"/>
            <a:ext cx="681752"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Image Engine</a:t>
            </a:r>
          </a:p>
        </p:txBody>
      </p:sp>
      <p:sp>
        <p:nvSpPr>
          <p:cNvPr id="35" name="Rectangle 35"/>
          <p:cNvSpPr/>
          <p:nvPr/>
        </p:nvSpPr>
        <p:spPr>
          <a:xfrm>
            <a:off x="2857500" y="3667125"/>
            <a:ext cx="952500" cy="381000"/>
          </a:xfrm>
          <a:prstGeom prst="roundRect">
            <a:avLst>
              <a:gd name="adj" fmla="val 15000"/>
            </a:avLst>
          </a:prstGeom>
          <a:solidFill>
            <a:srgbClr val="586A68">
              <a:alpha val="15000"/>
            </a:srgbClr>
          </a:solidFill>
          <a:ln w="9525">
            <a:solidFill>
              <a:srgbClr val="586A68"/>
            </a:solidFill>
          </a:ln>
        </p:spPr>
        <p:txBody>
          <a:bodyPr/>
          <a:lstStyle/>
          <a:p>
            <a:endParaRPr lang="da-DK"/>
          </a:p>
        </p:txBody>
      </p:sp>
      <p:sp>
        <p:nvSpPr>
          <p:cNvPr id="36" name="TextBox 36"/>
          <p:cNvSpPr txBox="1"/>
          <p:nvPr/>
        </p:nvSpPr>
        <p:spPr>
          <a:xfrm>
            <a:off x="3075027" y="3824288"/>
            <a:ext cx="51744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Workflow</a:t>
            </a:r>
          </a:p>
        </p:txBody>
      </p:sp>
      <p:sp>
        <p:nvSpPr>
          <p:cNvPr id="37" name="Rectangle 37"/>
          <p:cNvSpPr/>
          <p:nvPr/>
        </p:nvSpPr>
        <p:spPr>
          <a:xfrm>
            <a:off x="3905250" y="3667125"/>
            <a:ext cx="952500" cy="381000"/>
          </a:xfrm>
          <a:prstGeom prst="roundRect">
            <a:avLst>
              <a:gd name="adj" fmla="val 15000"/>
            </a:avLst>
          </a:prstGeom>
          <a:solidFill>
            <a:srgbClr val="586A68">
              <a:alpha val="15000"/>
            </a:srgbClr>
          </a:solidFill>
          <a:ln w="9525">
            <a:solidFill>
              <a:srgbClr val="586A68"/>
            </a:solidFill>
          </a:ln>
        </p:spPr>
        <p:txBody>
          <a:bodyPr/>
          <a:lstStyle/>
          <a:p>
            <a:endParaRPr lang="da-DK"/>
          </a:p>
        </p:txBody>
      </p:sp>
      <p:sp>
        <p:nvSpPr>
          <p:cNvPr id="38" name="TextBox 38"/>
          <p:cNvSpPr txBox="1"/>
          <p:nvPr/>
        </p:nvSpPr>
        <p:spPr>
          <a:xfrm>
            <a:off x="4191238" y="3824288"/>
            <a:ext cx="380524"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Search</a:t>
            </a:r>
          </a:p>
        </p:txBody>
      </p:sp>
      <p:sp>
        <p:nvSpPr>
          <p:cNvPr id="39" name="Rectangle 39"/>
          <p:cNvSpPr/>
          <p:nvPr/>
        </p:nvSpPr>
        <p:spPr>
          <a:xfrm>
            <a:off x="762000" y="4191000"/>
            <a:ext cx="952500" cy="285750"/>
          </a:xfrm>
          <a:prstGeom prst="roundRect">
            <a:avLst>
              <a:gd name="adj" fmla="val 13333"/>
            </a:avLst>
          </a:prstGeom>
          <a:solidFill>
            <a:srgbClr val="E2C8BD"/>
          </a:solidFill>
          <a:ln>
            <a:noFill/>
          </a:ln>
        </p:spPr>
        <p:txBody>
          <a:bodyPr/>
          <a:lstStyle/>
          <a:p>
            <a:endParaRPr lang="da-DK"/>
          </a:p>
        </p:txBody>
      </p:sp>
      <p:sp>
        <p:nvSpPr>
          <p:cNvPr id="40" name="TextBox 40"/>
          <p:cNvSpPr txBox="1"/>
          <p:nvPr/>
        </p:nvSpPr>
        <p:spPr>
          <a:xfrm>
            <a:off x="1025116" y="4308634"/>
            <a:ext cx="426268"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Approval</a:t>
            </a:r>
          </a:p>
        </p:txBody>
      </p:sp>
      <p:sp>
        <p:nvSpPr>
          <p:cNvPr id="41" name="Rectangle 41"/>
          <p:cNvSpPr/>
          <p:nvPr/>
        </p:nvSpPr>
        <p:spPr>
          <a:xfrm>
            <a:off x="1809750" y="4191000"/>
            <a:ext cx="952500" cy="285750"/>
          </a:xfrm>
          <a:prstGeom prst="roundRect">
            <a:avLst>
              <a:gd name="adj" fmla="val 13333"/>
            </a:avLst>
          </a:prstGeom>
          <a:solidFill>
            <a:srgbClr val="E2C8BD"/>
          </a:solidFill>
          <a:ln>
            <a:noFill/>
          </a:ln>
        </p:spPr>
        <p:txBody>
          <a:bodyPr/>
          <a:lstStyle/>
          <a:p>
            <a:endParaRPr lang="da-DK"/>
          </a:p>
        </p:txBody>
      </p:sp>
      <p:sp>
        <p:nvSpPr>
          <p:cNvPr id="42" name="TextBox 42"/>
          <p:cNvSpPr txBox="1"/>
          <p:nvPr/>
        </p:nvSpPr>
        <p:spPr>
          <a:xfrm>
            <a:off x="2030968" y="4308634"/>
            <a:ext cx="510064"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Versioning</a:t>
            </a:r>
          </a:p>
        </p:txBody>
      </p:sp>
      <p:sp>
        <p:nvSpPr>
          <p:cNvPr id="43" name="Rectangle 43"/>
          <p:cNvSpPr/>
          <p:nvPr/>
        </p:nvSpPr>
        <p:spPr>
          <a:xfrm>
            <a:off x="2857500" y="4191000"/>
            <a:ext cx="952500" cy="285750"/>
          </a:xfrm>
          <a:prstGeom prst="roundRect">
            <a:avLst>
              <a:gd name="adj" fmla="val 13333"/>
            </a:avLst>
          </a:prstGeom>
          <a:solidFill>
            <a:srgbClr val="E2C8BD"/>
          </a:solidFill>
          <a:ln>
            <a:noFill/>
          </a:ln>
        </p:spPr>
        <p:txBody>
          <a:bodyPr/>
          <a:lstStyle/>
          <a:p>
            <a:endParaRPr lang="da-DK"/>
          </a:p>
        </p:txBody>
      </p:sp>
      <p:sp>
        <p:nvSpPr>
          <p:cNvPr id="44" name="TextBox 44"/>
          <p:cNvSpPr txBox="1"/>
          <p:nvPr/>
        </p:nvSpPr>
        <p:spPr>
          <a:xfrm>
            <a:off x="3120616" y="4308634"/>
            <a:ext cx="426268"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Tracking</a:t>
            </a:r>
          </a:p>
        </p:txBody>
      </p:sp>
      <p:sp>
        <p:nvSpPr>
          <p:cNvPr id="45" name="Rectangle 45"/>
          <p:cNvSpPr/>
          <p:nvPr/>
        </p:nvSpPr>
        <p:spPr>
          <a:xfrm>
            <a:off x="3905250" y="4191000"/>
            <a:ext cx="952500" cy="285750"/>
          </a:xfrm>
          <a:prstGeom prst="roundRect">
            <a:avLst>
              <a:gd name="adj" fmla="val 13333"/>
            </a:avLst>
          </a:prstGeom>
          <a:solidFill>
            <a:srgbClr val="E2C8BD"/>
          </a:solidFill>
          <a:ln>
            <a:noFill/>
          </a:ln>
        </p:spPr>
        <p:txBody>
          <a:bodyPr/>
          <a:lstStyle/>
          <a:p>
            <a:endParaRPr lang="da-DK"/>
          </a:p>
        </p:txBody>
      </p:sp>
      <p:sp>
        <p:nvSpPr>
          <p:cNvPr id="46" name="TextBox 46"/>
          <p:cNvSpPr txBox="1"/>
          <p:nvPr/>
        </p:nvSpPr>
        <p:spPr>
          <a:xfrm>
            <a:off x="4237375" y="4308634"/>
            <a:ext cx="288250"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Score</a:t>
            </a:r>
          </a:p>
        </p:txBody>
      </p:sp>
      <p:sp>
        <p:nvSpPr>
          <p:cNvPr id="47" name="Rectangle 47"/>
          <p:cNvSpPr/>
          <p:nvPr/>
        </p:nvSpPr>
        <p:spPr>
          <a:xfrm>
            <a:off x="5143500" y="3048000"/>
            <a:ext cx="1905000" cy="1428750"/>
          </a:xfrm>
          <a:prstGeom prst="roundRect">
            <a:avLst>
              <a:gd name="adj" fmla="val 5333"/>
            </a:avLst>
          </a:prstGeom>
          <a:solidFill>
            <a:srgbClr val="586A68">
              <a:alpha val="8000"/>
            </a:srgbClr>
          </a:solidFill>
          <a:ln w="14288">
            <a:solidFill>
              <a:srgbClr val="586A68"/>
            </a:solidFill>
          </a:ln>
        </p:spPr>
        <p:txBody>
          <a:bodyPr/>
          <a:lstStyle/>
          <a:p>
            <a:endParaRPr lang="da-DK"/>
          </a:p>
        </p:txBody>
      </p:sp>
      <p:sp>
        <p:nvSpPr>
          <p:cNvPr id="48" name="TextBox 48"/>
          <p:cNvSpPr txBox="1"/>
          <p:nvPr/>
        </p:nvSpPr>
        <p:spPr>
          <a:xfrm>
            <a:off x="5687770" y="3188970"/>
            <a:ext cx="816459" cy="182880"/>
          </a:xfrm>
          <a:prstGeom prst="rect">
            <a:avLst/>
          </a:prstGeom>
          <a:noFill/>
          <a:ln>
            <a:noFill/>
          </a:ln>
        </p:spPr>
        <p:txBody>
          <a:bodyPr wrap="none" lIns="0" tIns="0" rIns="0" bIns="0" anchor="t" anchorCtr="0">
            <a:spAutoFit/>
          </a:bodyPr>
          <a:lstStyle/>
          <a:p>
            <a:pPr algn="ctr"/>
            <a:r>
              <a:rPr lang="zh-CN" sz="900" b="1" dirty="0">
                <a:solidFill>
                  <a:srgbClr val="586A68"/>
                </a:solidFill>
                <a:latin typeface="Segoe UI"/>
                <a:ea typeface="Microsoft YaHei"/>
                <a:cs typeface="Segoe UI"/>
              </a:rPr>
              <a:t>API Gateway</a:t>
            </a:r>
          </a:p>
        </p:txBody>
      </p:sp>
      <p:sp>
        <p:nvSpPr>
          <p:cNvPr id="49" name="TextBox 49"/>
          <p:cNvSpPr txBox="1"/>
          <p:nvPr/>
        </p:nvSpPr>
        <p:spPr>
          <a:xfrm>
            <a:off x="5681186" y="3443288"/>
            <a:ext cx="829628"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REST / GraphQL</a:t>
            </a:r>
          </a:p>
        </p:txBody>
      </p:sp>
      <p:sp>
        <p:nvSpPr>
          <p:cNvPr id="50" name="TextBox 50"/>
          <p:cNvSpPr txBox="1"/>
          <p:nvPr/>
        </p:nvSpPr>
        <p:spPr>
          <a:xfrm>
            <a:off x="5631894" y="3633788"/>
            <a:ext cx="928211"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Scheduled Export</a:t>
            </a:r>
          </a:p>
        </p:txBody>
      </p:sp>
      <p:sp>
        <p:nvSpPr>
          <p:cNvPr id="51" name="TextBox 51"/>
          <p:cNvSpPr txBox="1"/>
          <p:nvPr/>
        </p:nvSpPr>
        <p:spPr>
          <a:xfrm>
            <a:off x="5829062" y="3824288"/>
            <a:ext cx="53387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Data Feed</a:t>
            </a:r>
          </a:p>
        </p:txBody>
      </p:sp>
      <p:sp>
        <p:nvSpPr>
          <p:cNvPr id="52" name="TextBox 52"/>
          <p:cNvSpPr txBox="1"/>
          <p:nvPr/>
        </p:nvSpPr>
        <p:spPr>
          <a:xfrm>
            <a:off x="5741432" y="4014788"/>
            <a:ext cx="70913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CDN (Images)</a:t>
            </a:r>
          </a:p>
        </p:txBody>
      </p:sp>
      <p:sp>
        <p:nvSpPr>
          <p:cNvPr id="53" name="TextBox 53"/>
          <p:cNvSpPr txBox="1"/>
          <p:nvPr/>
        </p:nvSpPr>
        <p:spPr>
          <a:xfrm>
            <a:off x="5667494" y="4205288"/>
            <a:ext cx="857012"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Webhook Events</a:t>
            </a:r>
          </a:p>
        </p:txBody>
      </p:sp>
      <p:sp>
        <p:nvSpPr>
          <p:cNvPr id="54" name="TextBox 54"/>
          <p:cNvSpPr txBox="1"/>
          <p:nvPr/>
        </p:nvSpPr>
        <p:spPr>
          <a:xfrm>
            <a:off x="8082915" y="1315402"/>
            <a:ext cx="1347035"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OUTPUT CHANNELS</a:t>
            </a:r>
          </a:p>
        </p:txBody>
      </p:sp>
      <p:sp>
        <p:nvSpPr>
          <p:cNvPr id="55" name="Line 55"/>
          <p:cNvSpPr/>
          <p:nvPr/>
        </p:nvSpPr>
        <p:spPr>
          <a:xfrm>
            <a:off x="7239000" y="1809750"/>
            <a:ext cx="762000" cy="1428750"/>
          </a:xfrm>
          <a:custGeom>
            <a:avLst/>
            <a:gdLst/>
            <a:ahLst/>
            <a:cxnLst/>
            <a:rect l="l" t="t" r="r" b="b"/>
            <a:pathLst>
              <a:path w="762000" h="1428750">
                <a:moveTo>
                  <a:pt x="0" y="1428750"/>
                </a:moveTo>
                <a:lnTo>
                  <a:pt x="762000" y="0"/>
                </a:lnTo>
              </a:path>
            </a:pathLst>
          </a:custGeom>
          <a:noFill/>
          <a:ln w="14288">
            <a:solidFill>
              <a:srgbClr val="586A68"/>
            </a:solidFill>
          </a:ln>
        </p:spPr>
        <p:txBody>
          <a:bodyPr/>
          <a:lstStyle/>
          <a:p>
            <a:endParaRPr lang="da-DK"/>
          </a:p>
        </p:txBody>
      </p:sp>
      <p:sp>
        <p:nvSpPr>
          <p:cNvPr id="56" name="Line 56"/>
          <p:cNvSpPr/>
          <p:nvPr/>
        </p:nvSpPr>
        <p:spPr>
          <a:xfrm>
            <a:off x="7239000" y="2476500"/>
            <a:ext cx="762000" cy="1047750"/>
          </a:xfrm>
          <a:custGeom>
            <a:avLst/>
            <a:gdLst/>
            <a:ahLst/>
            <a:cxnLst/>
            <a:rect l="l" t="t" r="r" b="b"/>
            <a:pathLst>
              <a:path w="762000" h="1047750">
                <a:moveTo>
                  <a:pt x="0" y="1047750"/>
                </a:moveTo>
                <a:lnTo>
                  <a:pt x="762000" y="0"/>
                </a:lnTo>
              </a:path>
            </a:pathLst>
          </a:custGeom>
          <a:noFill/>
          <a:ln w="14288">
            <a:solidFill>
              <a:srgbClr val="C1856B"/>
            </a:solidFill>
          </a:ln>
        </p:spPr>
        <p:txBody>
          <a:bodyPr/>
          <a:lstStyle/>
          <a:p>
            <a:endParaRPr lang="da-DK"/>
          </a:p>
        </p:txBody>
      </p:sp>
      <p:sp>
        <p:nvSpPr>
          <p:cNvPr id="57" name="Line 57"/>
          <p:cNvSpPr/>
          <p:nvPr/>
        </p:nvSpPr>
        <p:spPr>
          <a:xfrm>
            <a:off x="7239000" y="3143250"/>
            <a:ext cx="762000" cy="619125"/>
          </a:xfrm>
          <a:custGeom>
            <a:avLst/>
            <a:gdLst/>
            <a:ahLst/>
            <a:cxnLst/>
            <a:rect l="l" t="t" r="r" b="b"/>
            <a:pathLst>
              <a:path w="762000" h="619125">
                <a:moveTo>
                  <a:pt x="0" y="619125"/>
                </a:moveTo>
                <a:lnTo>
                  <a:pt x="762000" y="0"/>
                </a:lnTo>
              </a:path>
            </a:pathLst>
          </a:custGeom>
          <a:noFill/>
          <a:ln w="14288">
            <a:solidFill>
              <a:srgbClr val="B6ADA4"/>
            </a:solidFill>
          </a:ln>
        </p:spPr>
        <p:txBody>
          <a:bodyPr/>
          <a:lstStyle/>
          <a:p>
            <a:endParaRPr lang="da-DK"/>
          </a:p>
        </p:txBody>
      </p:sp>
      <p:sp>
        <p:nvSpPr>
          <p:cNvPr id="58" name="Line 58"/>
          <p:cNvSpPr/>
          <p:nvPr/>
        </p:nvSpPr>
        <p:spPr>
          <a:xfrm>
            <a:off x="7239000" y="3810000"/>
            <a:ext cx="762000" cy="190500"/>
          </a:xfrm>
          <a:custGeom>
            <a:avLst/>
            <a:gdLst/>
            <a:ahLst/>
            <a:cxnLst/>
            <a:rect l="l" t="t" r="r" b="b"/>
            <a:pathLst>
              <a:path w="762000" h="190500">
                <a:moveTo>
                  <a:pt x="0" y="190500"/>
                </a:moveTo>
                <a:lnTo>
                  <a:pt x="762000" y="0"/>
                </a:lnTo>
              </a:path>
            </a:pathLst>
          </a:custGeom>
          <a:noFill/>
          <a:ln w="14288">
            <a:solidFill>
              <a:srgbClr val="753438"/>
            </a:solidFill>
          </a:ln>
        </p:spPr>
        <p:txBody>
          <a:bodyPr/>
          <a:lstStyle/>
          <a:p>
            <a:endParaRPr lang="da-DK"/>
          </a:p>
        </p:txBody>
      </p:sp>
      <p:sp>
        <p:nvSpPr>
          <p:cNvPr id="59" name="Line 59"/>
          <p:cNvSpPr/>
          <p:nvPr/>
        </p:nvSpPr>
        <p:spPr>
          <a:xfrm>
            <a:off x="7239000" y="4238625"/>
            <a:ext cx="762000" cy="238125"/>
          </a:xfrm>
          <a:custGeom>
            <a:avLst/>
            <a:gdLst/>
            <a:ahLst/>
            <a:cxnLst/>
            <a:rect l="l" t="t" r="r" b="b"/>
            <a:pathLst>
              <a:path w="762000" h="238125">
                <a:moveTo>
                  <a:pt x="0" y="0"/>
                </a:moveTo>
                <a:lnTo>
                  <a:pt x="762000" y="238125"/>
                </a:lnTo>
              </a:path>
            </a:pathLst>
          </a:custGeom>
          <a:noFill/>
          <a:ln w="14288">
            <a:solidFill>
              <a:srgbClr val="88817E"/>
            </a:solidFill>
          </a:ln>
        </p:spPr>
        <p:txBody>
          <a:bodyPr/>
          <a:lstStyle/>
          <a:p>
            <a:endParaRPr lang="da-DK"/>
          </a:p>
        </p:txBody>
      </p:sp>
      <p:sp>
        <p:nvSpPr>
          <p:cNvPr id="60" name="Rectangle 60"/>
          <p:cNvSpPr/>
          <p:nvPr/>
        </p:nvSpPr>
        <p:spPr>
          <a:xfrm>
            <a:off x="8096250" y="1571625"/>
            <a:ext cx="1714500" cy="428625"/>
          </a:xfrm>
          <a:prstGeom prst="roundRect">
            <a:avLst>
              <a:gd name="adj" fmla="val 13333"/>
            </a:avLst>
          </a:prstGeom>
          <a:solidFill>
            <a:srgbClr val="FFFFFF"/>
          </a:solidFill>
          <a:ln w="14288">
            <a:solidFill>
              <a:srgbClr val="586A68"/>
            </a:solidFill>
          </a:ln>
        </p:spPr>
        <p:txBody>
          <a:bodyPr/>
          <a:lstStyle/>
          <a:p>
            <a:endParaRPr lang="da-DK"/>
          </a:p>
        </p:txBody>
      </p:sp>
      <p:sp>
        <p:nvSpPr>
          <p:cNvPr id="61" name="TextBox 61"/>
          <p:cNvSpPr txBox="1"/>
          <p:nvPr/>
        </p:nvSpPr>
        <p:spPr>
          <a:xfrm>
            <a:off x="8350567" y="1731645"/>
            <a:ext cx="1205865"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Website &amp; Webshop</a:t>
            </a:r>
          </a:p>
        </p:txBody>
      </p:sp>
      <p:sp>
        <p:nvSpPr>
          <p:cNvPr id="62" name="Rectangle 62"/>
          <p:cNvSpPr/>
          <p:nvPr/>
        </p:nvSpPr>
        <p:spPr>
          <a:xfrm>
            <a:off x="8096250" y="2238375"/>
            <a:ext cx="1714500" cy="428625"/>
          </a:xfrm>
          <a:prstGeom prst="roundRect">
            <a:avLst>
              <a:gd name="adj" fmla="val 13333"/>
            </a:avLst>
          </a:prstGeom>
          <a:solidFill>
            <a:srgbClr val="FFFFFF"/>
          </a:solidFill>
          <a:ln w="14288">
            <a:solidFill>
              <a:srgbClr val="C1856B"/>
            </a:solidFill>
          </a:ln>
        </p:spPr>
        <p:txBody>
          <a:bodyPr/>
          <a:lstStyle/>
          <a:p>
            <a:endParaRPr lang="da-DK"/>
          </a:p>
        </p:txBody>
      </p:sp>
      <p:sp>
        <p:nvSpPr>
          <p:cNvPr id="63" name="TextBox 63"/>
          <p:cNvSpPr txBox="1"/>
          <p:nvPr/>
        </p:nvSpPr>
        <p:spPr>
          <a:xfrm>
            <a:off x="8613458" y="2398395"/>
            <a:ext cx="680085"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B2B Portal</a:t>
            </a:r>
          </a:p>
        </p:txBody>
      </p:sp>
      <p:sp>
        <p:nvSpPr>
          <p:cNvPr id="64" name="Rectangle 64"/>
          <p:cNvSpPr/>
          <p:nvPr/>
        </p:nvSpPr>
        <p:spPr>
          <a:xfrm>
            <a:off x="8096250" y="2905125"/>
            <a:ext cx="1714500" cy="428625"/>
          </a:xfrm>
          <a:prstGeom prst="roundRect">
            <a:avLst>
              <a:gd name="adj" fmla="val 13333"/>
            </a:avLst>
          </a:prstGeom>
          <a:solidFill>
            <a:srgbClr val="FFFFFF"/>
          </a:solidFill>
          <a:ln w="14288">
            <a:solidFill>
              <a:srgbClr val="B6ADA4"/>
            </a:solidFill>
          </a:ln>
        </p:spPr>
        <p:txBody>
          <a:bodyPr/>
          <a:lstStyle/>
          <a:p>
            <a:endParaRPr lang="da-DK"/>
          </a:p>
        </p:txBody>
      </p:sp>
      <p:sp>
        <p:nvSpPr>
          <p:cNvPr id="65" name="TextBox 65"/>
          <p:cNvSpPr txBox="1"/>
          <p:nvPr/>
        </p:nvSpPr>
        <p:spPr>
          <a:xfrm>
            <a:off x="8320992" y="3065145"/>
            <a:ext cx="1265015"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iPaper &amp; Catalogues</a:t>
            </a:r>
          </a:p>
        </p:txBody>
      </p:sp>
      <p:sp>
        <p:nvSpPr>
          <p:cNvPr id="66" name="Rectangle 66"/>
          <p:cNvSpPr/>
          <p:nvPr/>
        </p:nvSpPr>
        <p:spPr>
          <a:xfrm>
            <a:off x="8096250" y="3571875"/>
            <a:ext cx="1714500" cy="428625"/>
          </a:xfrm>
          <a:prstGeom prst="roundRect">
            <a:avLst>
              <a:gd name="adj" fmla="val 13333"/>
            </a:avLst>
          </a:prstGeom>
          <a:solidFill>
            <a:srgbClr val="FFFFFF"/>
          </a:solidFill>
          <a:ln w="14288">
            <a:solidFill>
              <a:srgbClr val="753438"/>
            </a:solidFill>
          </a:ln>
        </p:spPr>
        <p:txBody>
          <a:bodyPr/>
          <a:lstStyle/>
          <a:p>
            <a:endParaRPr lang="da-DK"/>
          </a:p>
        </p:txBody>
      </p:sp>
      <p:sp>
        <p:nvSpPr>
          <p:cNvPr id="67" name="TextBox 67"/>
          <p:cNvSpPr txBox="1"/>
          <p:nvPr/>
        </p:nvSpPr>
        <p:spPr>
          <a:xfrm>
            <a:off x="8268414" y="3731895"/>
            <a:ext cx="1370171"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Quotation &amp; Pricelist</a:t>
            </a:r>
          </a:p>
        </p:txBody>
      </p:sp>
      <p:sp>
        <p:nvSpPr>
          <p:cNvPr id="68" name="Rectangle 68"/>
          <p:cNvSpPr/>
          <p:nvPr/>
        </p:nvSpPr>
        <p:spPr>
          <a:xfrm>
            <a:off x="8096250" y="4238625"/>
            <a:ext cx="1714500" cy="428625"/>
          </a:xfrm>
          <a:prstGeom prst="roundRect">
            <a:avLst>
              <a:gd name="adj" fmla="val 13333"/>
            </a:avLst>
          </a:prstGeom>
          <a:solidFill>
            <a:srgbClr val="FFFFFF"/>
          </a:solidFill>
          <a:ln w="14288">
            <a:solidFill>
              <a:srgbClr val="88817E"/>
            </a:solidFill>
          </a:ln>
        </p:spPr>
        <p:txBody>
          <a:bodyPr/>
          <a:lstStyle/>
          <a:p>
            <a:endParaRPr lang="da-DK"/>
          </a:p>
        </p:txBody>
      </p:sp>
      <p:sp>
        <p:nvSpPr>
          <p:cNvPr id="69" name="TextBox 69"/>
          <p:cNvSpPr txBox="1"/>
          <p:nvPr/>
        </p:nvSpPr>
        <p:spPr>
          <a:xfrm>
            <a:off x="8501729" y="4398645"/>
            <a:ext cx="903541"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Internal Tools</a:t>
            </a:r>
          </a:p>
        </p:txBody>
      </p:sp>
      <p:sp>
        <p:nvSpPr>
          <p:cNvPr id="70" name="TextBox 70"/>
          <p:cNvSpPr txBox="1"/>
          <p:nvPr/>
        </p:nvSpPr>
        <p:spPr>
          <a:xfrm>
            <a:off x="9992678" y="1755934"/>
            <a:ext cx="643152" cy="137160"/>
          </a:xfrm>
          <a:prstGeom prst="rect">
            <a:avLst/>
          </a:prstGeom>
          <a:noFill/>
          <a:ln>
            <a:noFill/>
          </a:ln>
        </p:spPr>
        <p:txBody>
          <a:bodyPr wrap="none" lIns="0" tIns="0" rIns="0" bIns="0" anchor="t" anchorCtr="0">
            <a:spAutoFit/>
          </a:bodyPr>
          <a:lstStyle/>
          <a:p>
            <a:pPr algn="l"/>
            <a:r>
              <a:rPr lang="zh-CN" sz="675" dirty="0">
                <a:solidFill>
                  <a:srgbClr val="586A68"/>
                </a:solidFill>
                <a:latin typeface="Segoe UI"/>
                <a:ea typeface="Microsoft YaHei"/>
                <a:cs typeface="Segoe UI"/>
              </a:rPr>
              <a:t>Real-time API</a:t>
            </a:r>
          </a:p>
        </p:txBody>
      </p:sp>
      <p:sp>
        <p:nvSpPr>
          <p:cNvPr id="71" name="TextBox 71"/>
          <p:cNvSpPr txBox="1"/>
          <p:nvPr/>
        </p:nvSpPr>
        <p:spPr>
          <a:xfrm>
            <a:off x="9992678" y="2422684"/>
            <a:ext cx="702302" cy="137160"/>
          </a:xfrm>
          <a:prstGeom prst="rect">
            <a:avLst/>
          </a:prstGeom>
          <a:noFill/>
          <a:ln>
            <a:noFill/>
          </a:ln>
        </p:spPr>
        <p:txBody>
          <a:bodyPr wrap="none" lIns="0" tIns="0" rIns="0" bIns="0" anchor="t" anchorCtr="0">
            <a:spAutoFit/>
          </a:bodyPr>
          <a:lstStyle/>
          <a:p>
            <a:pPr algn="l"/>
            <a:r>
              <a:rPr lang="zh-CN" sz="675" dirty="0">
                <a:solidFill>
                  <a:srgbClr val="C1856B"/>
                </a:solidFill>
                <a:latin typeface="Segoe UI"/>
                <a:ea typeface="Microsoft YaHei"/>
                <a:cs typeface="Segoe UI"/>
              </a:rPr>
              <a:t>API + Packages</a:t>
            </a:r>
          </a:p>
        </p:txBody>
      </p:sp>
      <p:sp>
        <p:nvSpPr>
          <p:cNvPr id="72" name="TextBox 72"/>
          <p:cNvSpPr txBox="1"/>
          <p:nvPr/>
        </p:nvSpPr>
        <p:spPr>
          <a:xfrm>
            <a:off x="9992678" y="3089434"/>
            <a:ext cx="480489" cy="137160"/>
          </a:xfrm>
          <a:prstGeom prst="rect">
            <a:avLst/>
          </a:prstGeom>
          <a:noFill/>
          <a:ln>
            <a:noFill/>
          </a:ln>
        </p:spPr>
        <p:txBody>
          <a:bodyPr wrap="none" lIns="0" tIns="0" rIns="0" bIns="0" anchor="t" anchorCtr="0">
            <a:spAutoFit/>
          </a:bodyPr>
          <a:lstStyle/>
          <a:p>
            <a:pPr algn="l"/>
            <a:r>
              <a:rPr lang="zh-CN" sz="675" dirty="0">
                <a:solidFill>
                  <a:srgbClr val="B6ADA4"/>
                </a:solidFill>
                <a:latin typeface="Segoe UI"/>
                <a:ea typeface="Microsoft YaHei"/>
                <a:cs typeface="Segoe UI"/>
              </a:rPr>
              <a:t>Scheduled</a:t>
            </a:r>
          </a:p>
        </p:txBody>
      </p:sp>
      <p:sp>
        <p:nvSpPr>
          <p:cNvPr id="73" name="TextBox 73"/>
          <p:cNvSpPr txBox="1"/>
          <p:nvPr/>
        </p:nvSpPr>
        <p:spPr>
          <a:xfrm>
            <a:off x="9992678" y="3756184"/>
            <a:ext cx="480489" cy="137160"/>
          </a:xfrm>
          <a:prstGeom prst="rect">
            <a:avLst/>
          </a:prstGeom>
          <a:noFill/>
          <a:ln>
            <a:noFill/>
          </a:ln>
        </p:spPr>
        <p:txBody>
          <a:bodyPr wrap="none" lIns="0" tIns="0" rIns="0" bIns="0" anchor="t" anchorCtr="0">
            <a:spAutoFit/>
          </a:bodyPr>
          <a:lstStyle/>
          <a:p>
            <a:pPr algn="l"/>
            <a:r>
              <a:rPr lang="zh-CN" sz="675" dirty="0">
                <a:solidFill>
                  <a:srgbClr val="753438"/>
                </a:solidFill>
                <a:latin typeface="Segoe UI"/>
                <a:ea typeface="Microsoft YaHei"/>
                <a:cs typeface="Segoe UI"/>
              </a:rPr>
              <a:t>Data Feed</a:t>
            </a:r>
          </a:p>
        </p:txBody>
      </p:sp>
      <p:sp>
        <p:nvSpPr>
          <p:cNvPr id="74" name="TextBox 74"/>
          <p:cNvSpPr txBox="1"/>
          <p:nvPr/>
        </p:nvSpPr>
        <p:spPr>
          <a:xfrm>
            <a:off x="9992678" y="4422934"/>
            <a:ext cx="544568" cy="137160"/>
          </a:xfrm>
          <a:prstGeom prst="rect">
            <a:avLst/>
          </a:prstGeom>
          <a:noFill/>
          <a:ln>
            <a:noFill/>
          </a:ln>
        </p:spPr>
        <p:txBody>
          <a:bodyPr wrap="none" lIns="0" tIns="0" rIns="0" bIns="0" anchor="t" anchorCtr="0">
            <a:spAutoFit/>
          </a:bodyPr>
          <a:lstStyle/>
          <a:p>
            <a:pPr algn="l"/>
            <a:r>
              <a:rPr lang="zh-CN" sz="675" dirty="0">
                <a:solidFill>
                  <a:srgbClr val="88817E"/>
                </a:solidFill>
                <a:latin typeface="Segoe UI"/>
                <a:ea typeface="Microsoft YaHei"/>
                <a:cs typeface="Segoe UI"/>
              </a:rPr>
              <a:t>On-demand</a:t>
            </a:r>
          </a:p>
        </p:txBody>
      </p:sp>
      <p:sp>
        <p:nvSpPr>
          <p:cNvPr id="75" name="Rectangle 75"/>
          <p:cNvSpPr/>
          <p:nvPr/>
        </p:nvSpPr>
        <p:spPr>
          <a:xfrm>
            <a:off x="571500" y="4953000"/>
            <a:ext cx="11049000" cy="1143000"/>
          </a:xfrm>
          <a:prstGeom prst="roundRect">
            <a:avLst>
              <a:gd name="adj" fmla="val 6667"/>
            </a:avLst>
          </a:prstGeom>
          <a:solidFill>
            <a:srgbClr val="FFFFFF"/>
          </a:solidFill>
          <a:ln w="9525">
            <a:solidFill>
              <a:srgbClr val="88817E"/>
            </a:solidFill>
          </a:ln>
        </p:spPr>
        <p:txBody>
          <a:bodyPr/>
          <a:lstStyle/>
          <a:p>
            <a:endParaRPr lang="da-DK"/>
          </a:p>
        </p:txBody>
      </p:sp>
      <p:sp>
        <p:nvSpPr>
          <p:cNvPr id="76" name="TextBox 76"/>
          <p:cNvSpPr txBox="1"/>
          <p:nvPr/>
        </p:nvSpPr>
        <p:spPr>
          <a:xfrm>
            <a:off x="749618" y="5085874"/>
            <a:ext cx="1938604" cy="198120"/>
          </a:xfrm>
          <a:prstGeom prst="rect">
            <a:avLst/>
          </a:prstGeom>
          <a:noFill/>
          <a:ln>
            <a:noFill/>
          </a:ln>
        </p:spPr>
        <p:txBody>
          <a:bodyPr wrap="none" lIns="0" tIns="0" rIns="0" bIns="0" anchor="t" anchorCtr="0">
            <a:spAutoFit/>
          </a:bodyPr>
          <a:lstStyle/>
          <a:p>
            <a:pPr algn="l"/>
            <a:r>
              <a:rPr lang="zh-CN" sz="975" b="1" dirty="0">
                <a:solidFill>
                  <a:srgbClr val="3C3C3B"/>
                </a:solidFill>
                <a:latin typeface="Segoe UI"/>
                <a:ea typeface="Microsoft YaHei"/>
                <a:cs typeface="Segoe UI"/>
              </a:rPr>
              <a:t>Key Integration Decisions:</a:t>
            </a:r>
          </a:p>
        </p:txBody>
      </p:sp>
      <p:sp>
        <p:nvSpPr>
          <p:cNvPr id="77" name="TextBox 77"/>
          <p:cNvSpPr txBox="1"/>
          <p:nvPr/>
        </p:nvSpPr>
        <p:spPr>
          <a:xfrm>
            <a:off x="751522" y="5340191"/>
            <a:ext cx="422007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D365 → PIM: One-way sync (scheduled). D365 wins for commercial data.</a:t>
            </a:r>
          </a:p>
        </p:txBody>
      </p:sp>
      <p:sp>
        <p:nvSpPr>
          <p:cNvPr id="78" name="TextBox 78"/>
          <p:cNvSpPr txBox="1"/>
          <p:nvPr/>
        </p:nvSpPr>
        <p:spPr>
          <a:xfrm>
            <a:off x="751522" y="5530691"/>
            <a:ext cx="472011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Website: Pull via API (REST/GraphQL). Images via CDN. Language versions in PIM.</a:t>
            </a:r>
          </a:p>
        </p:txBody>
      </p:sp>
      <p:sp>
        <p:nvSpPr>
          <p:cNvPr id="79" name="TextBox 79"/>
          <p:cNvSpPr txBox="1"/>
          <p:nvPr/>
        </p:nvSpPr>
        <p:spPr>
          <a:xfrm>
            <a:off x="751522" y="5721191"/>
            <a:ext cx="578043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iPaper: Semi-automatic export (JSON/XML). PIM tracks which catalogue version used which data.</a:t>
            </a:r>
          </a:p>
        </p:txBody>
      </p:sp>
      <p:sp>
        <p:nvSpPr>
          <p:cNvPr id="80" name="TextBox 80"/>
          <p:cNvSpPr txBox="1"/>
          <p:nvPr/>
        </p:nvSpPr>
        <p:spPr>
          <a:xfrm>
            <a:off x="751522" y="5911691"/>
            <a:ext cx="494904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Quotation: Data feed for images + product data. Price sourced from D365 directly.</a:t>
            </a:r>
          </a:p>
        </p:txBody>
      </p:sp>
      <p:sp>
        <p:nvSpPr>
          <p:cNvPr id="81" name="TextBox 81"/>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9</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22282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05 / Integration</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644089"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D365 Integration Detail</a:t>
            </a:r>
          </a:p>
        </p:txBody>
      </p:sp>
      <p:sp>
        <p:nvSpPr>
          <p:cNvPr id="7" name="Rectangle 7"/>
          <p:cNvSpPr/>
          <p:nvPr/>
        </p:nvSpPr>
        <p:spPr>
          <a:xfrm>
            <a:off x="571500" y="1428750"/>
            <a:ext cx="3810000" cy="3333750"/>
          </a:xfrm>
          <a:prstGeom prst="roundRect">
            <a:avLst>
              <a:gd name="adj" fmla="val 2857"/>
            </a:avLst>
          </a:prstGeom>
          <a:solidFill>
            <a:srgbClr val="FFFFFF"/>
          </a:solidFill>
          <a:ln w="19050">
            <a:solidFill>
              <a:srgbClr val="753438"/>
            </a:solidFill>
          </a:ln>
        </p:spPr>
        <p:txBody>
          <a:bodyPr/>
          <a:lstStyle/>
          <a:p>
            <a:endParaRPr lang="da-DK"/>
          </a:p>
        </p:txBody>
      </p:sp>
      <p:sp>
        <p:nvSpPr>
          <p:cNvPr id="8" name="Rectangle 8"/>
          <p:cNvSpPr/>
          <p:nvPr/>
        </p:nvSpPr>
        <p:spPr>
          <a:xfrm>
            <a:off x="571500" y="1428750"/>
            <a:ext cx="3810000" cy="381000"/>
          </a:xfrm>
          <a:prstGeom prst="roundRect">
            <a:avLst>
              <a:gd name="adj" fmla="val 25000"/>
            </a:avLst>
          </a:prstGeom>
          <a:solidFill>
            <a:srgbClr val="753438"/>
          </a:solidFill>
          <a:ln>
            <a:noFill/>
          </a:ln>
        </p:spPr>
        <p:txBody>
          <a:bodyPr/>
          <a:lstStyle/>
          <a:p>
            <a:endParaRPr lang="da-DK"/>
          </a:p>
        </p:txBody>
      </p:sp>
      <p:sp>
        <p:nvSpPr>
          <p:cNvPr id="9" name="Rectangle 9"/>
          <p:cNvSpPr/>
          <p:nvPr/>
        </p:nvSpPr>
        <p:spPr>
          <a:xfrm>
            <a:off x="571500" y="1714500"/>
            <a:ext cx="3810000" cy="95250"/>
          </a:xfrm>
          <a:prstGeom prst="rect">
            <a:avLst/>
          </a:prstGeom>
          <a:solidFill>
            <a:srgbClr val="753438"/>
          </a:solidFill>
          <a:ln>
            <a:noFill/>
          </a:ln>
        </p:spPr>
        <p:txBody>
          <a:bodyPr/>
          <a:lstStyle/>
          <a:p>
            <a:endParaRPr lang="da-DK"/>
          </a:p>
        </p:txBody>
      </p:sp>
      <p:sp>
        <p:nvSpPr>
          <p:cNvPr id="10" name="TextBox 10"/>
          <p:cNvSpPr txBox="1"/>
          <p:nvPr/>
        </p:nvSpPr>
        <p:spPr>
          <a:xfrm>
            <a:off x="1545746" y="1546860"/>
            <a:ext cx="186150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D365 — Master Fields</a:t>
            </a:r>
          </a:p>
        </p:txBody>
      </p:sp>
      <p:sp>
        <p:nvSpPr>
          <p:cNvPr id="11" name="Rectangle 11"/>
          <p:cNvSpPr/>
          <p:nvPr/>
        </p:nvSpPr>
        <p:spPr>
          <a:xfrm>
            <a:off x="762000" y="1952625"/>
            <a:ext cx="1619250" cy="333375"/>
          </a:xfrm>
          <a:prstGeom prst="roundRect">
            <a:avLst>
              <a:gd name="adj" fmla="val 14286"/>
            </a:avLst>
          </a:prstGeom>
          <a:solidFill>
            <a:srgbClr val="753438">
              <a:alpha val="8000"/>
            </a:srgbClr>
          </a:solidFill>
          <a:ln>
            <a:noFill/>
          </a:ln>
        </p:spPr>
        <p:txBody>
          <a:bodyPr/>
          <a:lstStyle/>
          <a:p>
            <a:endParaRPr lang="da-DK"/>
          </a:p>
        </p:txBody>
      </p:sp>
      <p:sp>
        <p:nvSpPr>
          <p:cNvPr id="12" name="TextBox 12"/>
          <p:cNvSpPr txBox="1"/>
          <p:nvPr/>
        </p:nvSpPr>
        <p:spPr>
          <a:xfrm>
            <a:off x="1169146" y="2065020"/>
            <a:ext cx="804958"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Item Number</a:t>
            </a:r>
          </a:p>
        </p:txBody>
      </p:sp>
      <p:sp>
        <p:nvSpPr>
          <p:cNvPr id="13" name="Rectangle 13"/>
          <p:cNvSpPr/>
          <p:nvPr/>
        </p:nvSpPr>
        <p:spPr>
          <a:xfrm>
            <a:off x="2571750" y="1952625"/>
            <a:ext cx="1619250" cy="333375"/>
          </a:xfrm>
          <a:prstGeom prst="roundRect">
            <a:avLst>
              <a:gd name="adj" fmla="val 14286"/>
            </a:avLst>
          </a:prstGeom>
          <a:solidFill>
            <a:srgbClr val="753438">
              <a:alpha val="8000"/>
            </a:srgbClr>
          </a:solidFill>
          <a:ln>
            <a:noFill/>
          </a:ln>
        </p:spPr>
        <p:txBody>
          <a:bodyPr/>
          <a:lstStyle/>
          <a:p>
            <a:endParaRPr lang="da-DK"/>
          </a:p>
        </p:txBody>
      </p:sp>
      <p:sp>
        <p:nvSpPr>
          <p:cNvPr id="14" name="TextBox 14"/>
          <p:cNvSpPr txBox="1"/>
          <p:nvPr/>
        </p:nvSpPr>
        <p:spPr>
          <a:xfrm>
            <a:off x="2890171" y="2065020"/>
            <a:ext cx="982408"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Master Number</a:t>
            </a:r>
          </a:p>
        </p:txBody>
      </p:sp>
      <p:sp>
        <p:nvSpPr>
          <p:cNvPr id="15" name="Rectangle 15"/>
          <p:cNvSpPr/>
          <p:nvPr/>
        </p:nvSpPr>
        <p:spPr>
          <a:xfrm>
            <a:off x="762000" y="2381250"/>
            <a:ext cx="1619250" cy="333375"/>
          </a:xfrm>
          <a:prstGeom prst="roundRect">
            <a:avLst>
              <a:gd name="adj" fmla="val 14286"/>
            </a:avLst>
          </a:prstGeom>
          <a:solidFill>
            <a:srgbClr val="753438">
              <a:alpha val="8000"/>
            </a:srgbClr>
          </a:solidFill>
          <a:ln>
            <a:noFill/>
          </a:ln>
        </p:spPr>
        <p:txBody>
          <a:bodyPr/>
          <a:lstStyle/>
          <a:p>
            <a:endParaRPr lang="da-DK"/>
          </a:p>
        </p:txBody>
      </p:sp>
      <p:sp>
        <p:nvSpPr>
          <p:cNvPr id="16" name="TextBox 16"/>
          <p:cNvSpPr txBox="1"/>
          <p:nvPr/>
        </p:nvSpPr>
        <p:spPr>
          <a:xfrm>
            <a:off x="1073848" y="2493645"/>
            <a:ext cx="995553"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Variant Number</a:t>
            </a:r>
          </a:p>
        </p:txBody>
      </p:sp>
      <p:sp>
        <p:nvSpPr>
          <p:cNvPr id="17" name="Rectangle 17"/>
          <p:cNvSpPr/>
          <p:nvPr/>
        </p:nvSpPr>
        <p:spPr>
          <a:xfrm>
            <a:off x="2571750" y="2381250"/>
            <a:ext cx="1619250" cy="333375"/>
          </a:xfrm>
          <a:prstGeom prst="roundRect">
            <a:avLst>
              <a:gd name="adj" fmla="val 14286"/>
            </a:avLst>
          </a:prstGeom>
          <a:solidFill>
            <a:srgbClr val="753438">
              <a:alpha val="8000"/>
            </a:srgbClr>
          </a:solidFill>
          <a:ln>
            <a:noFill/>
          </a:ln>
        </p:spPr>
        <p:txBody>
          <a:bodyPr/>
          <a:lstStyle/>
          <a:p>
            <a:endParaRPr lang="da-DK"/>
          </a:p>
        </p:txBody>
      </p:sp>
      <p:sp>
        <p:nvSpPr>
          <p:cNvPr id="18" name="TextBox 18"/>
          <p:cNvSpPr txBox="1"/>
          <p:nvPr/>
        </p:nvSpPr>
        <p:spPr>
          <a:xfrm>
            <a:off x="3028188" y="2493645"/>
            <a:ext cx="706374"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Dimensions</a:t>
            </a:r>
          </a:p>
        </p:txBody>
      </p:sp>
      <p:sp>
        <p:nvSpPr>
          <p:cNvPr id="19" name="Rectangle 19"/>
          <p:cNvSpPr/>
          <p:nvPr/>
        </p:nvSpPr>
        <p:spPr>
          <a:xfrm>
            <a:off x="762000" y="2809875"/>
            <a:ext cx="1619250" cy="333375"/>
          </a:xfrm>
          <a:prstGeom prst="roundRect">
            <a:avLst>
              <a:gd name="adj" fmla="val 14286"/>
            </a:avLst>
          </a:prstGeom>
          <a:solidFill>
            <a:srgbClr val="753438">
              <a:alpha val="8000"/>
            </a:srgbClr>
          </a:solidFill>
          <a:ln>
            <a:noFill/>
          </a:ln>
        </p:spPr>
        <p:txBody>
          <a:bodyPr/>
          <a:lstStyle/>
          <a:p>
            <a:endParaRPr lang="da-DK"/>
          </a:p>
        </p:txBody>
      </p:sp>
      <p:sp>
        <p:nvSpPr>
          <p:cNvPr id="20" name="TextBox 20"/>
          <p:cNvSpPr txBox="1"/>
          <p:nvPr/>
        </p:nvSpPr>
        <p:spPr>
          <a:xfrm>
            <a:off x="1287447" y="2922270"/>
            <a:ext cx="568357"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Designer</a:t>
            </a:r>
          </a:p>
        </p:txBody>
      </p:sp>
      <p:sp>
        <p:nvSpPr>
          <p:cNvPr id="21" name="Rectangle 21"/>
          <p:cNvSpPr/>
          <p:nvPr/>
        </p:nvSpPr>
        <p:spPr>
          <a:xfrm>
            <a:off x="2571750" y="2809875"/>
            <a:ext cx="1619250" cy="333375"/>
          </a:xfrm>
          <a:prstGeom prst="roundRect">
            <a:avLst>
              <a:gd name="adj" fmla="val 14286"/>
            </a:avLst>
          </a:prstGeom>
          <a:solidFill>
            <a:srgbClr val="753438">
              <a:alpha val="8000"/>
            </a:srgbClr>
          </a:solidFill>
          <a:ln>
            <a:noFill/>
          </a:ln>
        </p:spPr>
        <p:txBody>
          <a:bodyPr/>
          <a:lstStyle/>
          <a:p>
            <a:endParaRPr lang="da-DK"/>
          </a:p>
        </p:txBody>
      </p:sp>
      <p:sp>
        <p:nvSpPr>
          <p:cNvPr id="22" name="TextBox 22"/>
          <p:cNvSpPr txBox="1"/>
          <p:nvPr/>
        </p:nvSpPr>
        <p:spPr>
          <a:xfrm>
            <a:off x="3169491" y="2922270"/>
            <a:ext cx="423767"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Prices</a:t>
            </a:r>
          </a:p>
        </p:txBody>
      </p:sp>
      <p:sp>
        <p:nvSpPr>
          <p:cNvPr id="23" name="Rectangle 23"/>
          <p:cNvSpPr/>
          <p:nvPr/>
        </p:nvSpPr>
        <p:spPr>
          <a:xfrm>
            <a:off x="762000" y="3238500"/>
            <a:ext cx="1619250" cy="333375"/>
          </a:xfrm>
          <a:prstGeom prst="roundRect">
            <a:avLst>
              <a:gd name="adj" fmla="val 14286"/>
            </a:avLst>
          </a:prstGeom>
          <a:solidFill>
            <a:srgbClr val="753438">
              <a:alpha val="8000"/>
            </a:srgbClr>
          </a:solidFill>
          <a:ln>
            <a:noFill/>
          </a:ln>
        </p:spPr>
        <p:txBody>
          <a:bodyPr/>
          <a:lstStyle/>
          <a:p>
            <a:endParaRPr lang="da-DK"/>
          </a:p>
        </p:txBody>
      </p:sp>
      <p:sp>
        <p:nvSpPr>
          <p:cNvPr id="24" name="TextBox 24"/>
          <p:cNvSpPr txBox="1"/>
          <p:nvPr/>
        </p:nvSpPr>
        <p:spPr>
          <a:xfrm>
            <a:off x="978551" y="3350895"/>
            <a:ext cx="1186148"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Product Hierarchy</a:t>
            </a:r>
          </a:p>
        </p:txBody>
      </p:sp>
      <p:sp>
        <p:nvSpPr>
          <p:cNvPr id="25" name="Rectangle 25"/>
          <p:cNvSpPr/>
          <p:nvPr/>
        </p:nvSpPr>
        <p:spPr>
          <a:xfrm>
            <a:off x="2571750" y="3238500"/>
            <a:ext cx="1619250" cy="333375"/>
          </a:xfrm>
          <a:prstGeom prst="roundRect">
            <a:avLst>
              <a:gd name="adj" fmla="val 14286"/>
            </a:avLst>
          </a:prstGeom>
          <a:solidFill>
            <a:srgbClr val="753438">
              <a:alpha val="8000"/>
            </a:srgbClr>
          </a:solidFill>
          <a:ln>
            <a:noFill/>
          </a:ln>
        </p:spPr>
        <p:txBody>
          <a:bodyPr/>
          <a:lstStyle/>
          <a:p>
            <a:endParaRPr lang="da-DK"/>
          </a:p>
        </p:txBody>
      </p:sp>
      <p:sp>
        <p:nvSpPr>
          <p:cNvPr id="26" name="TextBox 26"/>
          <p:cNvSpPr txBox="1"/>
          <p:nvPr/>
        </p:nvSpPr>
        <p:spPr>
          <a:xfrm>
            <a:off x="2840879" y="3350895"/>
            <a:ext cx="1080992"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Lifecycle Status</a:t>
            </a:r>
          </a:p>
        </p:txBody>
      </p:sp>
      <p:sp>
        <p:nvSpPr>
          <p:cNvPr id="27" name="Rectangle 27"/>
          <p:cNvSpPr/>
          <p:nvPr/>
        </p:nvSpPr>
        <p:spPr>
          <a:xfrm>
            <a:off x="762000" y="3667125"/>
            <a:ext cx="1619250" cy="333375"/>
          </a:xfrm>
          <a:prstGeom prst="roundRect">
            <a:avLst>
              <a:gd name="adj" fmla="val 14286"/>
            </a:avLst>
          </a:prstGeom>
          <a:solidFill>
            <a:srgbClr val="753438">
              <a:alpha val="8000"/>
            </a:srgbClr>
          </a:solidFill>
          <a:ln>
            <a:noFill/>
          </a:ln>
        </p:spPr>
        <p:txBody>
          <a:bodyPr/>
          <a:lstStyle/>
          <a:p>
            <a:endParaRPr lang="da-DK"/>
          </a:p>
        </p:txBody>
      </p:sp>
      <p:sp>
        <p:nvSpPr>
          <p:cNvPr id="28" name="TextBox 28"/>
          <p:cNvSpPr txBox="1"/>
          <p:nvPr/>
        </p:nvSpPr>
        <p:spPr>
          <a:xfrm>
            <a:off x="1159288" y="3779520"/>
            <a:ext cx="824674"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Sales Status</a:t>
            </a:r>
          </a:p>
        </p:txBody>
      </p:sp>
      <p:sp>
        <p:nvSpPr>
          <p:cNvPr id="29" name="Rectangle 29"/>
          <p:cNvSpPr/>
          <p:nvPr/>
        </p:nvSpPr>
        <p:spPr>
          <a:xfrm>
            <a:off x="2571750" y="3667125"/>
            <a:ext cx="1619250" cy="333375"/>
          </a:xfrm>
          <a:prstGeom prst="roundRect">
            <a:avLst>
              <a:gd name="adj" fmla="val 14286"/>
            </a:avLst>
          </a:prstGeom>
          <a:solidFill>
            <a:srgbClr val="753438">
              <a:alpha val="8000"/>
            </a:srgbClr>
          </a:solidFill>
          <a:ln>
            <a:noFill/>
          </a:ln>
        </p:spPr>
        <p:txBody>
          <a:bodyPr/>
          <a:lstStyle/>
          <a:p>
            <a:endParaRPr lang="da-DK"/>
          </a:p>
        </p:txBody>
      </p:sp>
      <p:sp>
        <p:nvSpPr>
          <p:cNvPr id="30" name="TextBox 30"/>
          <p:cNvSpPr txBox="1"/>
          <p:nvPr/>
        </p:nvSpPr>
        <p:spPr>
          <a:xfrm>
            <a:off x="2762012" y="3779520"/>
            <a:ext cx="1238726"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Availability / Stock</a:t>
            </a:r>
          </a:p>
        </p:txBody>
      </p:sp>
      <p:sp>
        <p:nvSpPr>
          <p:cNvPr id="31" name="Rectangle 31"/>
          <p:cNvSpPr/>
          <p:nvPr/>
        </p:nvSpPr>
        <p:spPr>
          <a:xfrm>
            <a:off x="4953000" y="2667000"/>
            <a:ext cx="1524000" cy="762000"/>
          </a:xfrm>
          <a:prstGeom prst="roundRect">
            <a:avLst>
              <a:gd name="adj" fmla="val 12500"/>
            </a:avLst>
          </a:prstGeom>
          <a:solidFill>
            <a:srgbClr val="E2C8BD"/>
          </a:solidFill>
          <a:ln w="14288">
            <a:solidFill>
              <a:srgbClr val="C1856B"/>
            </a:solidFill>
          </a:ln>
        </p:spPr>
        <p:txBody>
          <a:bodyPr/>
          <a:lstStyle/>
          <a:p>
            <a:endParaRPr lang="da-DK"/>
          </a:p>
        </p:txBody>
      </p:sp>
      <p:sp>
        <p:nvSpPr>
          <p:cNvPr id="32" name="TextBox 32"/>
          <p:cNvSpPr txBox="1"/>
          <p:nvPr/>
        </p:nvSpPr>
        <p:spPr>
          <a:xfrm>
            <a:off x="5287703" y="2847499"/>
            <a:ext cx="854594"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Sync Engine</a:t>
            </a:r>
          </a:p>
        </p:txBody>
      </p:sp>
      <p:sp>
        <p:nvSpPr>
          <p:cNvPr id="33" name="TextBox 33"/>
          <p:cNvSpPr txBox="1"/>
          <p:nvPr/>
        </p:nvSpPr>
        <p:spPr>
          <a:xfrm>
            <a:off x="5448062" y="3062288"/>
            <a:ext cx="53387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Scheduled</a:t>
            </a:r>
          </a:p>
        </p:txBody>
      </p:sp>
      <p:sp>
        <p:nvSpPr>
          <p:cNvPr id="34" name="TextBox 34"/>
          <p:cNvSpPr txBox="1"/>
          <p:nvPr/>
        </p:nvSpPr>
        <p:spPr>
          <a:xfrm>
            <a:off x="5322094" y="3214688"/>
            <a:ext cx="785812"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One-way → PIM</a:t>
            </a:r>
          </a:p>
        </p:txBody>
      </p:sp>
      <p:sp>
        <p:nvSpPr>
          <p:cNvPr id="35" name="Line 35"/>
          <p:cNvSpPr/>
          <p:nvPr/>
        </p:nvSpPr>
        <p:spPr>
          <a:xfrm>
            <a:off x="4381500" y="3048000"/>
            <a:ext cx="571500" cy="9525"/>
          </a:xfrm>
          <a:custGeom>
            <a:avLst/>
            <a:gdLst/>
            <a:ahLst/>
            <a:cxnLst/>
            <a:rect l="l" t="t" r="r" b="b"/>
            <a:pathLst>
              <a:path w="571500" h="9525">
                <a:moveTo>
                  <a:pt x="0" y="0"/>
                </a:moveTo>
                <a:lnTo>
                  <a:pt x="571500" y="0"/>
                </a:lnTo>
              </a:path>
            </a:pathLst>
          </a:custGeom>
          <a:noFill/>
          <a:ln w="19050">
            <a:solidFill>
              <a:srgbClr val="753438"/>
            </a:solidFill>
          </a:ln>
        </p:spPr>
        <p:txBody>
          <a:bodyPr/>
          <a:lstStyle/>
          <a:p>
            <a:endParaRPr lang="da-DK"/>
          </a:p>
        </p:txBody>
      </p:sp>
      <p:sp>
        <p:nvSpPr>
          <p:cNvPr id="36" name="Polygon 36"/>
          <p:cNvSpPr/>
          <p:nvPr/>
        </p:nvSpPr>
        <p:spPr>
          <a:xfrm>
            <a:off x="4905375" y="2990850"/>
            <a:ext cx="95250" cy="114300"/>
          </a:xfrm>
          <a:custGeom>
            <a:avLst/>
            <a:gdLst/>
            <a:ahLst/>
            <a:cxnLst/>
            <a:rect l="l" t="t" r="r" b="b"/>
            <a:pathLst>
              <a:path w="95250" h="114300">
                <a:moveTo>
                  <a:pt x="0" y="0"/>
                </a:moveTo>
                <a:lnTo>
                  <a:pt x="95250" y="57150"/>
                </a:lnTo>
                <a:lnTo>
                  <a:pt x="0" y="114300"/>
                </a:lnTo>
                <a:close/>
              </a:path>
            </a:pathLst>
          </a:custGeom>
          <a:solidFill>
            <a:srgbClr val="753438"/>
          </a:solidFill>
          <a:ln>
            <a:noFill/>
          </a:ln>
        </p:spPr>
        <p:txBody>
          <a:bodyPr/>
          <a:lstStyle/>
          <a:p>
            <a:endParaRPr lang="da-DK"/>
          </a:p>
        </p:txBody>
      </p:sp>
      <p:sp>
        <p:nvSpPr>
          <p:cNvPr id="37" name="Line 37"/>
          <p:cNvSpPr/>
          <p:nvPr/>
        </p:nvSpPr>
        <p:spPr>
          <a:xfrm>
            <a:off x="6477000" y="3048000"/>
            <a:ext cx="571500" cy="9525"/>
          </a:xfrm>
          <a:custGeom>
            <a:avLst/>
            <a:gdLst/>
            <a:ahLst/>
            <a:cxnLst/>
            <a:rect l="l" t="t" r="r" b="b"/>
            <a:pathLst>
              <a:path w="571500" h="9525">
                <a:moveTo>
                  <a:pt x="0" y="0"/>
                </a:moveTo>
                <a:lnTo>
                  <a:pt x="571500" y="0"/>
                </a:lnTo>
              </a:path>
            </a:pathLst>
          </a:custGeom>
          <a:noFill/>
          <a:ln w="19050">
            <a:solidFill>
              <a:srgbClr val="586A68"/>
            </a:solidFill>
          </a:ln>
        </p:spPr>
        <p:txBody>
          <a:bodyPr/>
          <a:lstStyle/>
          <a:p>
            <a:endParaRPr lang="da-DK"/>
          </a:p>
        </p:txBody>
      </p:sp>
      <p:sp>
        <p:nvSpPr>
          <p:cNvPr id="38" name="Polygon 38"/>
          <p:cNvSpPr/>
          <p:nvPr/>
        </p:nvSpPr>
        <p:spPr>
          <a:xfrm>
            <a:off x="7000875" y="2990850"/>
            <a:ext cx="95250" cy="114300"/>
          </a:xfrm>
          <a:custGeom>
            <a:avLst/>
            <a:gdLst/>
            <a:ahLst/>
            <a:cxnLst/>
            <a:rect l="l" t="t" r="r" b="b"/>
            <a:pathLst>
              <a:path w="95250" h="114300">
                <a:moveTo>
                  <a:pt x="0" y="0"/>
                </a:moveTo>
                <a:lnTo>
                  <a:pt x="95250" y="57150"/>
                </a:lnTo>
                <a:lnTo>
                  <a:pt x="0" y="114300"/>
                </a:lnTo>
                <a:close/>
              </a:path>
            </a:pathLst>
          </a:custGeom>
          <a:solidFill>
            <a:srgbClr val="586A68"/>
          </a:solidFill>
          <a:ln>
            <a:noFill/>
          </a:ln>
        </p:spPr>
        <p:txBody>
          <a:bodyPr/>
          <a:lstStyle/>
          <a:p>
            <a:endParaRPr lang="da-DK"/>
          </a:p>
        </p:txBody>
      </p:sp>
      <p:sp>
        <p:nvSpPr>
          <p:cNvPr id="39" name="Rectangle 39"/>
          <p:cNvSpPr/>
          <p:nvPr/>
        </p:nvSpPr>
        <p:spPr>
          <a:xfrm>
            <a:off x="7143750" y="1428750"/>
            <a:ext cx="3810000" cy="3333750"/>
          </a:xfrm>
          <a:prstGeom prst="roundRect">
            <a:avLst>
              <a:gd name="adj" fmla="val 2857"/>
            </a:avLst>
          </a:prstGeom>
          <a:solidFill>
            <a:srgbClr val="FFFFFF"/>
          </a:solidFill>
          <a:ln w="19050">
            <a:solidFill>
              <a:srgbClr val="586A68"/>
            </a:solidFill>
          </a:ln>
        </p:spPr>
        <p:txBody>
          <a:bodyPr/>
          <a:lstStyle/>
          <a:p>
            <a:endParaRPr lang="da-DK"/>
          </a:p>
        </p:txBody>
      </p:sp>
      <p:sp>
        <p:nvSpPr>
          <p:cNvPr id="40" name="Rectangle 40"/>
          <p:cNvSpPr/>
          <p:nvPr/>
        </p:nvSpPr>
        <p:spPr>
          <a:xfrm>
            <a:off x="7143750" y="1428750"/>
            <a:ext cx="3810000" cy="381000"/>
          </a:xfrm>
          <a:prstGeom prst="roundRect">
            <a:avLst>
              <a:gd name="adj" fmla="val 25000"/>
            </a:avLst>
          </a:prstGeom>
          <a:solidFill>
            <a:srgbClr val="586A68"/>
          </a:solidFill>
          <a:ln>
            <a:noFill/>
          </a:ln>
        </p:spPr>
        <p:txBody>
          <a:bodyPr/>
          <a:lstStyle/>
          <a:p>
            <a:endParaRPr lang="da-DK"/>
          </a:p>
        </p:txBody>
      </p:sp>
      <p:sp>
        <p:nvSpPr>
          <p:cNvPr id="41" name="Rectangle 41"/>
          <p:cNvSpPr/>
          <p:nvPr/>
        </p:nvSpPr>
        <p:spPr>
          <a:xfrm>
            <a:off x="7143750" y="1714500"/>
            <a:ext cx="3810000" cy="95250"/>
          </a:xfrm>
          <a:prstGeom prst="rect">
            <a:avLst/>
          </a:prstGeom>
          <a:solidFill>
            <a:srgbClr val="586A68"/>
          </a:solidFill>
          <a:ln>
            <a:noFill/>
          </a:ln>
        </p:spPr>
        <p:txBody>
          <a:bodyPr/>
          <a:lstStyle/>
          <a:p>
            <a:endParaRPr lang="da-DK"/>
          </a:p>
        </p:txBody>
      </p:sp>
      <p:sp>
        <p:nvSpPr>
          <p:cNvPr id="42" name="TextBox 42"/>
          <p:cNvSpPr txBox="1"/>
          <p:nvPr/>
        </p:nvSpPr>
        <p:spPr>
          <a:xfrm>
            <a:off x="7910970" y="1546860"/>
            <a:ext cx="227556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PIM — Receives &amp; Enriches</a:t>
            </a:r>
          </a:p>
        </p:txBody>
      </p:sp>
      <p:sp>
        <p:nvSpPr>
          <p:cNvPr id="43" name="TextBox 43"/>
          <p:cNvSpPr txBox="1"/>
          <p:nvPr/>
        </p:nvSpPr>
        <p:spPr>
          <a:xfrm>
            <a:off x="7322820" y="1950720"/>
            <a:ext cx="1389231" cy="182880"/>
          </a:xfrm>
          <a:prstGeom prst="rect">
            <a:avLst/>
          </a:prstGeom>
          <a:noFill/>
          <a:ln>
            <a:noFill/>
          </a:ln>
        </p:spPr>
        <p:txBody>
          <a:bodyPr wrap="none" lIns="0" tIns="0" rIns="0" bIns="0" anchor="t" anchorCtr="0">
            <a:spAutoFit/>
          </a:bodyPr>
          <a:lstStyle/>
          <a:p>
            <a:pPr algn="l"/>
            <a:r>
              <a:rPr lang="zh-CN" sz="900" b="1" dirty="0">
                <a:solidFill>
                  <a:srgbClr val="586A68"/>
                </a:solidFill>
                <a:latin typeface="Segoe UI"/>
                <a:ea typeface="Microsoft YaHei"/>
                <a:cs typeface="Segoe UI"/>
              </a:rPr>
              <a:t>Received from D365:</a:t>
            </a:r>
          </a:p>
        </p:txBody>
      </p:sp>
      <p:sp>
        <p:nvSpPr>
          <p:cNvPr id="44" name="TextBox 44"/>
          <p:cNvSpPr txBox="1"/>
          <p:nvPr/>
        </p:nvSpPr>
        <p:spPr>
          <a:xfrm>
            <a:off x="7323772" y="2196941"/>
            <a:ext cx="208135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structure (auto-created)</a:t>
            </a:r>
          </a:p>
        </p:txBody>
      </p:sp>
      <p:sp>
        <p:nvSpPr>
          <p:cNvPr id="45" name="TextBox 45"/>
          <p:cNvSpPr txBox="1"/>
          <p:nvPr/>
        </p:nvSpPr>
        <p:spPr>
          <a:xfrm>
            <a:off x="7323772" y="2387441"/>
            <a:ext cx="200906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Commercial data (prices, status)</a:t>
            </a:r>
          </a:p>
        </p:txBody>
      </p:sp>
      <p:sp>
        <p:nvSpPr>
          <p:cNvPr id="46" name="TextBox 46"/>
          <p:cNvSpPr txBox="1"/>
          <p:nvPr/>
        </p:nvSpPr>
        <p:spPr>
          <a:xfrm>
            <a:off x="7323772" y="2577941"/>
            <a:ext cx="162348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Dimensions &amp; specifications</a:t>
            </a:r>
          </a:p>
        </p:txBody>
      </p:sp>
      <p:sp>
        <p:nvSpPr>
          <p:cNvPr id="47" name="TextBox 47"/>
          <p:cNvSpPr txBox="1"/>
          <p:nvPr/>
        </p:nvSpPr>
        <p:spPr>
          <a:xfrm>
            <a:off x="7322820" y="2903220"/>
            <a:ext cx="1092494" cy="182880"/>
          </a:xfrm>
          <a:prstGeom prst="rect">
            <a:avLst/>
          </a:prstGeom>
          <a:noFill/>
          <a:ln>
            <a:noFill/>
          </a:ln>
        </p:spPr>
        <p:txBody>
          <a:bodyPr wrap="none" lIns="0" tIns="0" rIns="0" bIns="0" anchor="t" anchorCtr="0">
            <a:spAutoFit/>
          </a:bodyPr>
          <a:lstStyle/>
          <a:p>
            <a:pPr algn="l"/>
            <a:r>
              <a:rPr lang="zh-CN" sz="900" b="1" dirty="0">
                <a:solidFill>
                  <a:srgbClr val="586A68"/>
                </a:solidFill>
                <a:latin typeface="Segoe UI"/>
                <a:ea typeface="Microsoft YaHei"/>
                <a:cs typeface="Segoe UI"/>
              </a:rPr>
              <a:t>Enriched in PIM:</a:t>
            </a:r>
          </a:p>
        </p:txBody>
      </p:sp>
      <p:sp>
        <p:nvSpPr>
          <p:cNvPr id="48" name="TextBox 48"/>
          <p:cNvSpPr txBox="1"/>
          <p:nvPr/>
        </p:nvSpPr>
        <p:spPr>
          <a:xfrm>
            <a:off x="7323772" y="3149441"/>
            <a:ext cx="138853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Descriptions (B2B/B2C)</a:t>
            </a:r>
          </a:p>
        </p:txBody>
      </p:sp>
      <p:sp>
        <p:nvSpPr>
          <p:cNvPr id="49" name="TextBox 49"/>
          <p:cNvSpPr txBox="1"/>
          <p:nvPr/>
        </p:nvSpPr>
        <p:spPr>
          <a:xfrm>
            <a:off x="7323772" y="3339941"/>
            <a:ext cx="156324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Visual assets &amp; renderings</a:t>
            </a:r>
          </a:p>
        </p:txBody>
      </p:sp>
      <p:sp>
        <p:nvSpPr>
          <p:cNvPr id="50" name="TextBox 50"/>
          <p:cNvSpPr txBox="1"/>
          <p:nvPr/>
        </p:nvSpPr>
        <p:spPr>
          <a:xfrm>
            <a:off x="7323772" y="3530441"/>
            <a:ext cx="209942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Material linking &amp; care instructions</a:t>
            </a:r>
          </a:p>
        </p:txBody>
      </p:sp>
      <p:sp>
        <p:nvSpPr>
          <p:cNvPr id="51" name="TextBox 51"/>
          <p:cNvSpPr txBox="1"/>
          <p:nvPr/>
        </p:nvSpPr>
        <p:spPr>
          <a:xfrm>
            <a:off x="7323772" y="3720941"/>
            <a:ext cx="123791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USPs &amp; SEO metadata</a:t>
            </a:r>
          </a:p>
        </p:txBody>
      </p:sp>
      <p:sp>
        <p:nvSpPr>
          <p:cNvPr id="52" name="TextBox 52"/>
          <p:cNvSpPr txBox="1"/>
          <p:nvPr/>
        </p:nvSpPr>
        <p:spPr>
          <a:xfrm>
            <a:off x="7323772" y="3911441"/>
            <a:ext cx="121381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Channel assignments</a:t>
            </a:r>
          </a:p>
        </p:txBody>
      </p:sp>
      <p:sp>
        <p:nvSpPr>
          <p:cNvPr id="53" name="TextBox 53"/>
          <p:cNvSpPr txBox="1"/>
          <p:nvPr/>
        </p:nvSpPr>
        <p:spPr>
          <a:xfrm>
            <a:off x="7323772" y="4101941"/>
            <a:ext cx="188254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Approval status &amp; completeness</a:t>
            </a:r>
          </a:p>
        </p:txBody>
      </p:sp>
      <p:sp>
        <p:nvSpPr>
          <p:cNvPr id="54" name="Rectangle 54"/>
          <p:cNvSpPr/>
          <p:nvPr/>
        </p:nvSpPr>
        <p:spPr>
          <a:xfrm>
            <a:off x="571500" y="5143500"/>
            <a:ext cx="11049000" cy="952500"/>
          </a:xfrm>
          <a:prstGeom prst="roundRect">
            <a:avLst>
              <a:gd name="adj" fmla="val 8000"/>
            </a:avLst>
          </a:prstGeom>
          <a:solidFill>
            <a:srgbClr val="FFFFFF"/>
          </a:solidFill>
          <a:ln w="9525">
            <a:solidFill>
              <a:srgbClr val="88817E"/>
            </a:solidFill>
          </a:ln>
        </p:spPr>
        <p:txBody>
          <a:bodyPr/>
          <a:lstStyle/>
          <a:p>
            <a:endParaRPr lang="da-DK"/>
          </a:p>
        </p:txBody>
      </p:sp>
      <p:sp>
        <p:nvSpPr>
          <p:cNvPr id="55" name="TextBox 55"/>
          <p:cNvSpPr txBox="1"/>
          <p:nvPr/>
        </p:nvSpPr>
        <p:spPr>
          <a:xfrm>
            <a:off x="749618" y="5276374"/>
            <a:ext cx="3022615" cy="198120"/>
          </a:xfrm>
          <a:prstGeom prst="rect">
            <a:avLst/>
          </a:prstGeom>
          <a:noFill/>
          <a:ln>
            <a:noFill/>
          </a:ln>
        </p:spPr>
        <p:txBody>
          <a:bodyPr wrap="none" lIns="0" tIns="0" rIns="0" bIns="0" anchor="t" anchorCtr="0">
            <a:spAutoFit/>
          </a:bodyPr>
          <a:lstStyle/>
          <a:p>
            <a:pPr algn="l"/>
            <a:r>
              <a:rPr lang="zh-CN" sz="975" b="1" dirty="0">
                <a:solidFill>
                  <a:srgbClr val="3C3C3B"/>
                </a:solidFill>
                <a:latin typeface="Segoe UI"/>
                <a:ea typeface="Microsoft YaHei"/>
                <a:cs typeface="Segoe UI"/>
              </a:rPr>
              <a:t>Sync Configuration &amp; Conflict Resolution:</a:t>
            </a:r>
          </a:p>
        </p:txBody>
      </p:sp>
      <p:sp>
        <p:nvSpPr>
          <p:cNvPr id="56" name="Rectangle 56"/>
          <p:cNvSpPr/>
          <p:nvPr/>
        </p:nvSpPr>
        <p:spPr>
          <a:xfrm>
            <a:off x="762000" y="5524500"/>
            <a:ext cx="114300" cy="114300"/>
          </a:xfrm>
          <a:prstGeom prst="roundRect">
            <a:avLst>
              <a:gd name="adj" fmla="val 16667"/>
            </a:avLst>
          </a:prstGeom>
          <a:solidFill>
            <a:srgbClr val="753438"/>
          </a:solidFill>
          <a:ln>
            <a:noFill/>
          </a:ln>
        </p:spPr>
        <p:txBody>
          <a:bodyPr/>
          <a:lstStyle/>
          <a:p>
            <a:endParaRPr lang="da-DK"/>
          </a:p>
        </p:txBody>
      </p:sp>
      <p:sp>
        <p:nvSpPr>
          <p:cNvPr id="57" name="TextBox 57"/>
          <p:cNvSpPr txBox="1"/>
          <p:nvPr/>
        </p:nvSpPr>
        <p:spPr>
          <a:xfrm>
            <a:off x="942022" y="5540216"/>
            <a:ext cx="400319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D365 Wins: commercial data (price, status, dimensions, hierarchy)</a:t>
            </a:r>
          </a:p>
        </p:txBody>
      </p:sp>
      <p:sp>
        <p:nvSpPr>
          <p:cNvPr id="58" name="Rectangle 58"/>
          <p:cNvSpPr/>
          <p:nvPr/>
        </p:nvSpPr>
        <p:spPr>
          <a:xfrm>
            <a:off x="762000" y="5715000"/>
            <a:ext cx="114300" cy="114300"/>
          </a:xfrm>
          <a:prstGeom prst="roundRect">
            <a:avLst>
              <a:gd name="adj" fmla="val 16667"/>
            </a:avLst>
          </a:prstGeom>
          <a:solidFill>
            <a:srgbClr val="586A68"/>
          </a:solidFill>
          <a:ln>
            <a:noFill/>
          </a:ln>
        </p:spPr>
        <p:txBody>
          <a:bodyPr/>
          <a:lstStyle/>
          <a:p>
            <a:endParaRPr lang="da-DK"/>
          </a:p>
        </p:txBody>
      </p:sp>
      <p:sp>
        <p:nvSpPr>
          <p:cNvPr id="59" name="TextBox 59"/>
          <p:cNvSpPr txBox="1"/>
          <p:nvPr/>
        </p:nvSpPr>
        <p:spPr>
          <a:xfrm>
            <a:off x="942022" y="5730716"/>
            <a:ext cx="417790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PIM Wins: content data (descriptions, assets, channel mapping, USPs)</a:t>
            </a:r>
          </a:p>
        </p:txBody>
      </p:sp>
      <p:sp>
        <p:nvSpPr>
          <p:cNvPr id="60" name="Rectangle 60"/>
          <p:cNvSpPr/>
          <p:nvPr/>
        </p:nvSpPr>
        <p:spPr>
          <a:xfrm>
            <a:off x="762000" y="5905500"/>
            <a:ext cx="114300" cy="114300"/>
          </a:xfrm>
          <a:prstGeom prst="roundRect">
            <a:avLst>
              <a:gd name="adj" fmla="val 16667"/>
            </a:avLst>
          </a:prstGeom>
          <a:solidFill>
            <a:srgbClr val="88817E"/>
          </a:solidFill>
          <a:ln>
            <a:noFill/>
          </a:ln>
        </p:spPr>
        <p:txBody>
          <a:bodyPr/>
          <a:lstStyle/>
          <a:p>
            <a:endParaRPr lang="da-DK"/>
          </a:p>
        </p:txBody>
      </p:sp>
      <p:sp>
        <p:nvSpPr>
          <p:cNvPr id="61" name="TextBox 61"/>
          <p:cNvSpPr txBox="1"/>
          <p:nvPr/>
        </p:nvSpPr>
        <p:spPr>
          <a:xfrm>
            <a:off x="942022" y="5921216"/>
            <a:ext cx="490687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Deleted/Archived in D365: flagged in PIM (not deleted) — preserves content history</a:t>
            </a:r>
          </a:p>
        </p:txBody>
      </p:sp>
      <p:sp>
        <p:nvSpPr>
          <p:cNvPr id="62" name="TextBox 62"/>
          <p:cNvSpPr txBox="1"/>
          <p:nvPr/>
        </p:nvSpPr>
        <p:spPr>
          <a:xfrm>
            <a:off x="6657022" y="5540216"/>
            <a:ext cx="248500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New products in D365 → auto-create in PIM</a:t>
            </a:r>
          </a:p>
        </p:txBody>
      </p:sp>
      <p:sp>
        <p:nvSpPr>
          <p:cNvPr id="63" name="TextBox 63"/>
          <p:cNvSpPr txBox="1"/>
          <p:nvPr/>
        </p:nvSpPr>
        <p:spPr>
          <a:xfrm>
            <a:off x="6657022" y="5730716"/>
            <a:ext cx="199098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Updated fields → auto-sync to PIM</a:t>
            </a:r>
          </a:p>
        </p:txBody>
      </p:sp>
      <p:sp>
        <p:nvSpPr>
          <p:cNvPr id="64" name="TextBox 64"/>
          <p:cNvSpPr txBox="1"/>
          <p:nvPr/>
        </p:nvSpPr>
        <p:spPr>
          <a:xfrm>
            <a:off x="6657022" y="5921216"/>
            <a:ext cx="195484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Manual resolution for edge cases</a:t>
            </a:r>
          </a:p>
        </p:txBody>
      </p:sp>
      <p:sp>
        <p:nvSpPr>
          <p:cNvPr id="65" name="TextBox 65"/>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10</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215152"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06 / Governance</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837313"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Ownership &amp; Governance</a:t>
            </a:r>
          </a:p>
        </p:txBody>
      </p:sp>
      <p:sp>
        <p:nvSpPr>
          <p:cNvPr id="7" name="Rectangle 7"/>
          <p:cNvSpPr/>
          <p:nvPr/>
        </p:nvSpPr>
        <p:spPr>
          <a:xfrm>
            <a:off x="571500" y="1333500"/>
            <a:ext cx="3429000" cy="1143000"/>
          </a:xfrm>
          <a:prstGeom prst="roundRect">
            <a:avLst>
              <a:gd name="adj" fmla="val 6667"/>
            </a:avLst>
          </a:prstGeom>
          <a:solidFill>
            <a:srgbClr val="FFFFFF"/>
          </a:solidFill>
          <a:ln w="14288">
            <a:solidFill>
              <a:srgbClr val="586A68"/>
            </a:solidFill>
          </a:ln>
        </p:spPr>
        <p:txBody>
          <a:bodyPr/>
          <a:lstStyle/>
          <a:p>
            <a:endParaRPr lang="da-DK"/>
          </a:p>
        </p:txBody>
      </p:sp>
      <p:sp>
        <p:nvSpPr>
          <p:cNvPr id="8" name="Rectangle 8"/>
          <p:cNvSpPr/>
          <p:nvPr/>
        </p:nvSpPr>
        <p:spPr>
          <a:xfrm>
            <a:off x="571500" y="1333500"/>
            <a:ext cx="76200" cy="1143000"/>
          </a:xfrm>
          <a:prstGeom prst="roundRect">
            <a:avLst>
              <a:gd name="adj" fmla="val 50000"/>
            </a:avLst>
          </a:prstGeom>
          <a:solidFill>
            <a:srgbClr val="586A68"/>
          </a:solidFill>
          <a:ln>
            <a:noFill/>
          </a:ln>
        </p:spPr>
        <p:txBody>
          <a:bodyPr/>
          <a:lstStyle/>
          <a:p>
            <a:endParaRPr lang="da-DK"/>
          </a:p>
        </p:txBody>
      </p:sp>
      <p:sp>
        <p:nvSpPr>
          <p:cNvPr id="9" name="TextBox 9"/>
          <p:cNvSpPr txBox="1"/>
          <p:nvPr/>
        </p:nvSpPr>
        <p:spPr>
          <a:xfrm>
            <a:off x="796290" y="1458278"/>
            <a:ext cx="1081352"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Product Team</a:t>
            </a:r>
          </a:p>
        </p:txBody>
      </p:sp>
      <p:sp>
        <p:nvSpPr>
          <p:cNvPr id="10" name="TextBox 10"/>
          <p:cNvSpPr txBox="1"/>
          <p:nvPr/>
        </p:nvSpPr>
        <p:spPr>
          <a:xfrm>
            <a:off x="799148" y="1701641"/>
            <a:ext cx="284647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structure, range/master/variant logic</a:t>
            </a:r>
          </a:p>
        </p:txBody>
      </p:sp>
      <p:sp>
        <p:nvSpPr>
          <p:cNvPr id="11" name="TextBox 11"/>
          <p:cNvSpPr txBox="1"/>
          <p:nvPr/>
        </p:nvSpPr>
        <p:spPr>
          <a:xfrm>
            <a:off x="799148" y="1873091"/>
            <a:ext cx="173795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Dimensions, material mapping</a:t>
            </a:r>
          </a:p>
        </p:txBody>
      </p:sp>
      <p:sp>
        <p:nvSpPr>
          <p:cNvPr id="12" name="TextBox 12"/>
          <p:cNvSpPr txBox="1"/>
          <p:nvPr/>
        </p:nvSpPr>
        <p:spPr>
          <a:xfrm>
            <a:off x="799148" y="2044541"/>
            <a:ext cx="209340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hierarchy &amp; categorization</a:t>
            </a:r>
          </a:p>
        </p:txBody>
      </p:sp>
      <p:sp>
        <p:nvSpPr>
          <p:cNvPr id="13" name="TextBox 13"/>
          <p:cNvSpPr txBox="1"/>
          <p:nvPr/>
        </p:nvSpPr>
        <p:spPr>
          <a:xfrm>
            <a:off x="800100" y="2281238"/>
            <a:ext cx="2060555" cy="152400"/>
          </a:xfrm>
          <a:prstGeom prst="rect">
            <a:avLst/>
          </a:prstGeom>
          <a:noFill/>
          <a:ln>
            <a:noFill/>
          </a:ln>
        </p:spPr>
        <p:txBody>
          <a:bodyPr wrap="none" lIns="0" tIns="0" rIns="0" bIns="0" anchor="t" anchorCtr="0">
            <a:spAutoFit/>
          </a:bodyPr>
          <a:lstStyle/>
          <a:p>
            <a:pPr algn="l"/>
            <a:r>
              <a:rPr lang="zh-CN" sz="750" b="1" dirty="0">
                <a:solidFill>
                  <a:srgbClr val="586A68"/>
                </a:solidFill>
                <a:latin typeface="Segoe UI"/>
                <a:ea typeface="Microsoft YaHei"/>
                <a:cs typeface="Segoe UI"/>
              </a:rPr>
              <a:t>Create + Edit + Approve (structure)</a:t>
            </a:r>
          </a:p>
        </p:txBody>
      </p:sp>
      <p:sp>
        <p:nvSpPr>
          <p:cNvPr id="14" name="Rectangle 14"/>
          <p:cNvSpPr/>
          <p:nvPr/>
        </p:nvSpPr>
        <p:spPr>
          <a:xfrm>
            <a:off x="4381500" y="1333500"/>
            <a:ext cx="3429000" cy="1143000"/>
          </a:xfrm>
          <a:prstGeom prst="roundRect">
            <a:avLst>
              <a:gd name="adj" fmla="val 6667"/>
            </a:avLst>
          </a:prstGeom>
          <a:solidFill>
            <a:srgbClr val="FFFFFF"/>
          </a:solidFill>
          <a:ln w="14288">
            <a:solidFill>
              <a:srgbClr val="C1856B"/>
            </a:solidFill>
          </a:ln>
        </p:spPr>
        <p:txBody>
          <a:bodyPr/>
          <a:lstStyle/>
          <a:p>
            <a:endParaRPr lang="da-DK"/>
          </a:p>
        </p:txBody>
      </p:sp>
      <p:sp>
        <p:nvSpPr>
          <p:cNvPr id="15" name="Rectangle 15"/>
          <p:cNvSpPr/>
          <p:nvPr/>
        </p:nvSpPr>
        <p:spPr>
          <a:xfrm>
            <a:off x="4381500" y="1333500"/>
            <a:ext cx="76200" cy="1143000"/>
          </a:xfrm>
          <a:prstGeom prst="roundRect">
            <a:avLst>
              <a:gd name="adj" fmla="val 50000"/>
            </a:avLst>
          </a:prstGeom>
          <a:solidFill>
            <a:srgbClr val="C1856B"/>
          </a:solidFill>
          <a:ln>
            <a:noFill/>
          </a:ln>
        </p:spPr>
        <p:txBody>
          <a:bodyPr/>
          <a:lstStyle/>
          <a:p>
            <a:endParaRPr lang="da-DK"/>
          </a:p>
        </p:txBody>
      </p:sp>
      <p:sp>
        <p:nvSpPr>
          <p:cNvPr id="16" name="TextBox 16"/>
          <p:cNvSpPr txBox="1"/>
          <p:nvPr/>
        </p:nvSpPr>
        <p:spPr>
          <a:xfrm>
            <a:off x="4606290" y="1458278"/>
            <a:ext cx="815669"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Marketing</a:t>
            </a:r>
          </a:p>
        </p:txBody>
      </p:sp>
      <p:sp>
        <p:nvSpPr>
          <p:cNvPr id="17" name="TextBox 17"/>
          <p:cNvSpPr txBox="1"/>
          <p:nvPr/>
        </p:nvSpPr>
        <p:spPr>
          <a:xfrm>
            <a:off x="4609148" y="1701641"/>
            <a:ext cx="162348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descriptions, USPs</a:t>
            </a:r>
          </a:p>
        </p:txBody>
      </p:sp>
      <p:sp>
        <p:nvSpPr>
          <p:cNvPr id="18" name="TextBox 18"/>
          <p:cNvSpPr txBox="1"/>
          <p:nvPr/>
        </p:nvSpPr>
        <p:spPr>
          <a:xfrm>
            <a:off x="4609148" y="1873091"/>
            <a:ext cx="1719882"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Lifestyle images, catalogues</a:t>
            </a:r>
          </a:p>
        </p:txBody>
      </p:sp>
      <p:sp>
        <p:nvSpPr>
          <p:cNvPr id="19" name="TextBox 19"/>
          <p:cNvSpPr txBox="1"/>
          <p:nvPr/>
        </p:nvSpPr>
        <p:spPr>
          <a:xfrm>
            <a:off x="4609148" y="2044541"/>
            <a:ext cx="213557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Website content, campaign material</a:t>
            </a:r>
          </a:p>
        </p:txBody>
      </p:sp>
      <p:sp>
        <p:nvSpPr>
          <p:cNvPr id="20" name="TextBox 20"/>
          <p:cNvSpPr txBox="1"/>
          <p:nvPr/>
        </p:nvSpPr>
        <p:spPr>
          <a:xfrm>
            <a:off x="4610100" y="2281238"/>
            <a:ext cx="1934039" cy="152400"/>
          </a:xfrm>
          <a:prstGeom prst="rect">
            <a:avLst/>
          </a:prstGeom>
          <a:noFill/>
          <a:ln>
            <a:noFill/>
          </a:ln>
        </p:spPr>
        <p:txBody>
          <a:bodyPr wrap="none" lIns="0" tIns="0" rIns="0" bIns="0" anchor="t" anchorCtr="0">
            <a:spAutoFit/>
          </a:bodyPr>
          <a:lstStyle/>
          <a:p>
            <a:pPr algn="l"/>
            <a:r>
              <a:rPr lang="zh-CN" sz="750" b="1" dirty="0">
                <a:solidFill>
                  <a:srgbClr val="C1856B"/>
                </a:solidFill>
                <a:latin typeface="Segoe UI"/>
                <a:ea typeface="Microsoft YaHei"/>
                <a:cs typeface="Segoe UI"/>
              </a:rPr>
              <a:t>Create + Edit + Approve (content)</a:t>
            </a:r>
          </a:p>
        </p:txBody>
      </p:sp>
      <p:sp>
        <p:nvSpPr>
          <p:cNvPr id="21" name="Rectangle 21"/>
          <p:cNvSpPr/>
          <p:nvPr/>
        </p:nvSpPr>
        <p:spPr>
          <a:xfrm>
            <a:off x="8191500" y="1333500"/>
            <a:ext cx="3429000" cy="1143000"/>
          </a:xfrm>
          <a:prstGeom prst="roundRect">
            <a:avLst>
              <a:gd name="adj" fmla="val 6667"/>
            </a:avLst>
          </a:prstGeom>
          <a:solidFill>
            <a:srgbClr val="FFFFFF"/>
          </a:solidFill>
          <a:ln w="14288">
            <a:solidFill>
              <a:srgbClr val="B6ADA4"/>
            </a:solidFill>
          </a:ln>
        </p:spPr>
        <p:txBody>
          <a:bodyPr/>
          <a:lstStyle/>
          <a:p>
            <a:endParaRPr lang="da-DK"/>
          </a:p>
        </p:txBody>
      </p:sp>
      <p:sp>
        <p:nvSpPr>
          <p:cNvPr id="22" name="Rectangle 22"/>
          <p:cNvSpPr/>
          <p:nvPr/>
        </p:nvSpPr>
        <p:spPr>
          <a:xfrm>
            <a:off x="8191500" y="1333500"/>
            <a:ext cx="76200" cy="1143000"/>
          </a:xfrm>
          <a:prstGeom prst="roundRect">
            <a:avLst>
              <a:gd name="adj" fmla="val 50000"/>
            </a:avLst>
          </a:prstGeom>
          <a:solidFill>
            <a:srgbClr val="B6ADA4"/>
          </a:solidFill>
          <a:ln>
            <a:noFill/>
          </a:ln>
        </p:spPr>
        <p:txBody>
          <a:bodyPr/>
          <a:lstStyle/>
          <a:p>
            <a:endParaRPr lang="da-DK"/>
          </a:p>
        </p:txBody>
      </p:sp>
      <p:sp>
        <p:nvSpPr>
          <p:cNvPr id="23" name="TextBox 23"/>
          <p:cNvSpPr txBox="1"/>
          <p:nvPr/>
        </p:nvSpPr>
        <p:spPr>
          <a:xfrm>
            <a:off x="8416290" y="1458278"/>
            <a:ext cx="1765687"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Technical &amp; Compliance</a:t>
            </a:r>
          </a:p>
        </p:txBody>
      </p:sp>
      <p:sp>
        <p:nvSpPr>
          <p:cNvPr id="24" name="TextBox 24"/>
          <p:cNvSpPr txBox="1"/>
          <p:nvPr/>
        </p:nvSpPr>
        <p:spPr>
          <a:xfrm>
            <a:off x="8419148" y="1701641"/>
            <a:ext cx="237655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Technical sheets, compliance documents</a:t>
            </a:r>
          </a:p>
        </p:txBody>
      </p:sp>
      <p:sp>
        <p:nvSpPr>
          <p:cNvPr id="25" name="TextBox 25"/>
          <p:cNvSpPr txBox="1"/>
          <p:nvPr/>
        </p:nvSpPr>
        <p:spPr>
          <a:xfrm>
            <a:off x="8419148" y="1873091"/>
            <a:ext cx="114754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Maintenance guides</a:t>
            </a:r>
          </a:p>
        </p:txBody>
      </p:sp>
      <p:sp>
        <p:nvSpPr>
          <p:cNvPr id="26" name="TextBox 26"/>
          <p:cNvSpPr txBox="1"/>
          <p:nvPr/>
        </p:nvSpPr>
        <p:spPr>
          <a:xfrm>
            <a:off x="8419148" y="2044541"/>
            <a:ext cx="146685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CAD files, certifications</a:t>
            </a:r>
          </a:p>
        </p:txBody>
      </p:sp>
      <p:sp>
        <p:nvSpPr>
          <p:cNvPr id="27" name="TextBox 27"/>
          <p:cNvSpPr txBox="1"/>
          <p:nvPr/>
        </p:nvSpPr>
        <p:spPr>
          <a:xfrm>
            <a:off x="8420100" y="2281238"/>
            <a:ext cx="2003048" cy="152400"/>
          </a:xfrm>
          <a:prstGeom prst="rect">
            <a:avLst/>
          </a:prstGeom>
          <a:noFill/>
          <a:ln>
            <a:noFill/>
          </a:ln>
        </p:spPr>
        <p:txBody>
          <a:bodyPr wrap="none" lIns="0" tIns="0" rIns="0" bIns="0" anchor="t" anchorCtr="0">
            <a:spAutoFit/>
          </a:bodyPr>
          <a:lstStyle/>
          <a:p>
            <a:pPr algn="l"/>
            <a:r>
              <a:rPr lang="zh-CN" sz="750" b="1" dirty="0">
                <a:solidFill>
                  <a:srgbClr val="88817E"/>
                </a:solidFill>
                <a:latin typeface="Segoe UI"/>
                <a:ea typeface="Microsoft YaHei"/>
                <a:cs typeface="Segoe UI"/>
              </a:rPr>
              <a:t>Create + Edit + Approve (technical)</a:t>
            </a:r>
          </a:p>
        </p:txBody>
      </p:sp>
      <p:sp>
        <p:nvSpPr>
          <p:cNvPr id="28" name="Rectangle 28"/>
          <p:cNvSpPr/>
          <p:nvPr/>
        </p:nvSpPr>
        <p:spPr>
          <a:xfrm>
            <a:off x="571500" y="2762250"/>
            <a:ext cx="3429000" cy="952500"/>
          </a:xfrm>
          <a:prstGeom prst="roundRect">
            <a:avLst>
              <a:gd name="adj" fmla="val 8000"/>
            </a:avLst>
          </a:prstGeom>
          <a:solidFill>
            <a:srgbClr val="FFFFFF"/>
          </a:solidFill>
          <a:ln w="14288">
            <a:solidFill>
              <a:srgbClr val="E2C8BD"/>
            </a:solidFill>
          </a:ln>
        </p:spPr>
        <p:txBody>
          <a:bodyPr/>
          <a:lstStyle/>
          <a:p>
            <a:endParaRPr lang="da-DK"/>
          </a:p>
        </p:txBody>
      </p:sp>
      <p:sp>
        <p:nvSpPr>
          <p:cNvPr id="29" name="Rectangle 29"/>
          <p:cNvSpPr/>
          <p:nvPr/>
        </p:nvSpPr>
        <p:spPr>
          <a:xfrm>
            <a:off x="571500" y="2762250"/>
            <a:ext cx="76200" cy="952500"/>
          </a:xfrm>
          <a:prstGeom prst="roundRect">
            <a:avLst>
              <a:gd name="adj" fmla="val 50000"/>
            </a:avLst>
          </a:prstGeom>
          <a:solidFill>
            <a:srgbClr val="E2C8BD"/>
          </a:solidFill>
          <a:ln>
            <a:noFill/>
          </a:ln>
        </p:spPr>
        <p:txBody>
          <a:bodyPr/>
          <a:lstStyle/>
          <a:p>
            <a:endParaRPr lang="da-DK"/>
          </a:p>
        </p:txBody>
      </p:sp>
      <p:sp>
        <p:nvSpPr>
          <p:cNvPr id="30" name="TextBox 30"/>
          <p:cNvSpPr txBox="1"/>
          <p:nvPr/>
        </p:nvSpPr>
        <p:spPr>
          <a:xfrm>
            <a:off x="796290" y="2887028"/>
            <a:ext cx="1153811"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Sales &amp; Pricing</a:t>
            </a:r>
          </a:p>
        </p:txBody>
      </p:sp>
      <p:sp>
        <p:nvSpPr>
          <p:cNvPr id="31" name="TextBox 31"/>
          <p:cNvSpPr txBox="1"/>
          <p:nvPr/>
        </p:nvSpPr>
        <p:spPr>
          <a:xfrm>
            <a:off x="799148" y="3130391"/>
            <a:ext cx="164758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Price-related requirements</a:t>
            </a:r>
          </a:p>
        </p:txBody>
      </p:sp>
      <p:sp>
        <p:nvSpPr>
          <p:cNvPr id="32" name="TextBox 32"/>
          <p:cNvSpPr txBox="1"/>
          <p:nvPr/>
        </p:nvSpPr>
        <p:spPr>
          <a:xfrm>
            <a:off x="799148" y="3301841"/>
            <a:ext cx="121984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Sales material needs</a:t>
            </a:r>
          </a:p>
        </p:txBody>
      </p:sp>
      <p:sp>
        <p:nvSpPr>
          <p:cNvPr id="33" name="TextBox 33"/>
          <p:cNvSpPr txBox="1"/>
          <p:nvPr/>
        </p:nvSpPr>
        <p:spPr>
          <a:xfrm>
            <a:off x="800100" y="3519488"/>
            <a:ext cx="841403" cy="152400"/>
          </a:xfrm>
          <a:prstGeom prst="rect">
            <a:avLst/>
          </a:prstGeom>
          <a:noFill/>
          <a:ln>
            <a:noFill/>
          </a:ln>
        </p:spPr>
        <p:txBody>
          <a:bodyPr wrap="none" lIns="0" tIns="0" rIns="0" bIns="0" anchor="t" anchorCtr="0">
            <a:spAutoFit/>
          </a:bodyPr>
          <a:lstStyle/>
          <a:p>
            <a:pPr algn="l"/>
            <a:r>
              <a:rPr lang="zh-CN" sz="750" b="1" dirty="0">
                <a:solidFill>
                  <a:srgbClr val="88817E"/>
                </a:solidFill>
                <a:latin typeface="Segoe UI"/>
                <a:ea typeface="Microsoft YaHei"/>
                <a:cs typeface="Segoe UI"/>
              </a:rPr>
              <a:t>View + Request</a:t>
            </a:r>
          </a:p>
        </p:txBody>
      </p:sp>
      <p:sp>
        <p:nvSpPr>
          <p:cNvPr id="34" name="Rectangle 34"/>
          <p:cNvSpPr/>
          <p:nvPr/>
        </p:nvSpPr>
        <p:spPr>
          <a:xfrm>
            <a:off x="4381500" y="2762250"/>
            <a:ext cx="3429000" cy="952500"/>
          </a:xfrm>
          <a:prstGeom prst="roundRect">
            <a:avLst>
              <a:gd name="adj" fmla="val 8000"/>
            </a:avLst>
          </a:prstGeom>
          <a:solidFill>
            <a:srgbClr val="FFFFFF"/>
          </a:solidFill>
          <a:ln w="14288">
            <a:solidFill>
              <a:srgbClr val="586A68"/>
            </a:solidFill>
          </a:ln>
        </p:spPr>
        <p:txBody>
          <a:bodyPr/>
          <a:lstStyle/>
          <a:p>
            <a:endParaRPr lang="da-DK"/>
          </a:p>
        </p:txBody>
      </p:sp>
      <p:sp>
        <p:nvSpPr>
          <p:cNvPr id="35" name="Rectangle 35"/>
          <p:cNvSpPr/>
          <p:nvPr/>
        </p:nvSpPr>
        <p:spPr>
          <a:xfrm>
            <a:off x="4381500" y="2762250"/>
            <a:ext cx="76200" cy="952500"/>
          </a:xfrm>
          <a:prstGeom prst="roundRect">
            <a:avLst>
              <a:gd name="adj" fmla="val 50000"/>
            </a:avLst>
          </a:prstGeom>
          <a:solidFill>
            <a:srgbClr val="586A68"/>
          </a:solidFill>
          <a:ln>
            <a:noFill/>
          </a:ln>
        </p:spPr>
        <p:txBody>
          <a:bodyPr/>
          <a:lstStyle/>
          <a:p>
            <a:endParaRPr lang="da-DK"/>
          </a:p>
        </p:txBody>
      </p:sp>
      <p:sp>
        <p:nvSpPr>
          <p:cNvPr id="36" name="TextBox 36"/>
          <p:cNvSpPr txBox="1"/>
          <p:nvPr/>
        </p:nvSpPr>
        <p:spPr>
          <a:xfrm>
            <a:off x="4606290" y="2887028"/>
            <a:ext cx="1137709"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IT &amp; Data Team</a:t>
            </a:r>
          </a:p>
        </p:txBody>
      </p:sp>
      <p:sp>
        <p:nvSpPr>
          <p:cNvPr id="37" name="TextBox 37"/>
          <p:cNvSpPr txBox="1"/>
          <p:nvPr/>
        </p:nvSpPr>
        <p:spPr>
          <a:xfrm>
            <a:off x="4609148" y="3130391"/>
            <a:ext cx="176205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Integrations, APIs, data sync</a:t>
            </a:r>
          </a:p>
        </p:txBody>
      </p:sp>
      <p:sp>
        <p:nvSpPr>
          <p:cNvPr id="38" name="TextBox 38"/>
          <p:cNvSpPr txBox="1"/>
          <p:nvPr/>
        </p:nvSpPr>
        <p:spPr>
          <a:xfrm>
            <a:off x="4609148" y="3301841"/>
            <a:ext cx="207533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Permissions, system configuration</a:t>
            </a:r>
          </a:p>
        </p:txBody>
      </p:sp>
      <p:sp>
        <p:nvSpPr>
          <p:cNvPr id="39" name="TextBox 39"/>
          <p:cNvSpPr txBox="1"/>
          <p:nvPr/>
        </p:nvSpPr>
        <p:spPr>
          <a:xfrm>
            <a:off x="4610100" y="3519488"/>
            <a:ext cx="1002423" cy="152400"/>
          </a:xfrm>
          <a:prstGeom prst="rect">
            <a:avLst/>
          </a:prstGeom>
          <a:noFill/>
          <a:ln>
            <a:noFill/>
          </a:ln>
        </p:spPr>
        <p:txBody>
          <a:bodyPr wrap="none" lIns="0" tIns="0" rIns="0" bIns="0" anchor="t" anchorCtr="0">
            <a:spAutoFit/>
          </a:bodyPr>
          <a:lstStyle/>
          <a:p>
            <a:pPr algn="l"/>
            <a:r>
              <a:rPr lang="zh-CN" sz="750" b="1" dirty="0">
                <a:solidFill>
                  <a:srgbClr val="586A68"/>
                </a:solidFill>
                <a:latin typeface="Segoe UI"/>
                <a:ea typeface="Microsoft YaHei"/>
                <a:cs typeface="Segoe UI"/>
              </a:rPr>
              <a:t>Admin + Configure</a:t>
            </a:r>
          </a:p>
        </p:txBody>
      </p:sp>
      <p:sp>
        <p:nvSpPr>
          <p:cNvPr id="40" name="Rectangle 40"/>
          <p:cNvSpPr/>
          <p:nvPr/>
        </p:nvSpPr>
        <p:spPr>
          <a:xfrm>
            <a:off x="8191500" y="2762250"/>
            <a:ext cx="3429000" cy="952500"/>
          </a:xfrm>
          <a:prstGeom prst="roundRect">
            <a:avLst>
              <a:gd name="adj" fmla="val 8000"/>
            </a:avLst>
          </a:prstGeom>
          <a:solidFill>
            <a:srgbClr val="FFFFFF"/>
          </a:solidFill>
          <a:ln w="14288">
            <a:solidFill>
              <a:srgbClr val="753438"/>
            </a:solidFill>
          </a:ln>
        </p:spPr>
        <p:txBody>
          <a:bodyPr/>
          <a:lstStyle/>
          <a:p>
            <a:endParaRPr lang="da-DK"/>
          </a:p>
        </p:txBody>
      </p:sp>
      <p:sp>
        <p:nvSpPr>
          <p:cNvPr id="41" name="Rectangle 41"/>
          <p:cNvSpPr/>
          <p:nvPr/>
        </p:nvSpPr>
        <p:spPr>
          <a:xfrm>
            <a:off x="8191500" y="2762250"/>
            <a:ext cx="76200" cy="952500"/>
          </a:xfrm>
          <a:prstGeom prst="roundRect">
            <a:avLst>
              <a:gd name="adj" fmla="val 50000"/>
            </a:avLst>
          </a:prstGeom>
          <a:solidFill>
            <a:srgbClr val="753438"/>
          </a:solidFill>
          <a:ln>
            <a:noFill/>
          </a:ln>
        </p:spPr>
        <p:txBody>
          <a:bodyPr/>
          <a:lstStyle/>
          <a:p>
            <a:endParaRPr lang="da-DK"/>
          </a:p>
        </p:txBody>
      </p:sp>
      <p:sp>
        <p:nvSpPr>
          <p:cNvPr id="42" name="TextBox 42"/>
          <p:cNvSpPr txBox="1"/>
          <p:nvPr/>
        </p:nvSpPr>
        <p:spPr>
          <a:xfrm>
            <a:off x="8416290" y="2887028"/>
            <a:ext cx="1604667" cy="213360"/>
          </a:xfrm>
          <a:prstGeom prst="rect">
            <a:avLst/>
          </a:prstGeom>
          <a:noFill/>
          <a:ln>
            <a:noFill/>
          </a:ln>
        </p:spPr>
        <p:txBody>
          <a:bodyPr wrap="none" lIns="0" tIns="0" rIns="0" bIns="0" anchor="t" anchorCtr="0">
            <a:spAutoFit/>
          </a:bodyPr>
          <a:lstStyle/>
          <a:p>
            <a:pPr algn="l"/>
            <a:r>
              <a:rPr lang="zh-CN" sz="1050" b="1" dirty="0">
                <a:solidFill>
                  <a:srgbClr val="753438"/>
                </a:solidFill>
                <a:latin typeface="Segoe UI"/>
                <a:ea typeface="Microsoft YaHei"/>
                <a:cs typeface="Segoe UI"/>
              </a:rPr>
              <a:t>Brand / Management</a:t>
            </a:r>
          </a:p>
        </p:txBody>
      </p:sp>
      <p:sp>
        <p:nvSpPr>
          <p:cNvPr id="43" name="TextBox 43"/>
          <p:cNvSpPr txBox="1"/>
          <p:nvPr/>
        </p:nvSpPr>
        <p:spPr>
          <a:xfrm>
            <a:off x="8419148" y="3130391"/>
            <a:ext cx="237053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Final approval for brand-critical assets</a:t>
            </a:r>
          </a:p>
        </p:txBody>
      </p:sp>
      <p:sp>
        <p:nvSpPr>
          <p:cNvPr id="44" name="TextBox 44"/>
          <p:cNvSpPr txBox="1"/>
          <p:nvPr/>
        </p:nvSpPr>
        <p:spPr>
          <a:xfrm>
            <a:off x="8419148" y="3301841"/>
            <a:ext cx="175000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Brand guidelines enforcement</a:t>
            </a:r>
          </a:p>
        </p:txBody>
      </p:sp>
      <p:sp>
        <p:nvSpPr>
          <p:cNvPr id="45" name="TextBox 45"/>
          <p:cNvSpPr txBox="1"/>
          <p:nvPr/>
        </p:nvSpPr>
        <p:spPr>
          <a:xfrm>
            <a:off x="8420100" y="3519488"/>
            <a:ext cx="1272707" cy="152400"/>
          </a:xfrm>
          <a:prstGeom prst="rect">
            <a:avLst/>
          </a:prstGeom>
          <a:noFill/>
          <a:ln>
            <a:noFill/>
          </a:ln>
        </p:spPr>
        <p:txBody>
          <a:bodyPr wrap="none" lIns="0" tIns="0" rIns="0" bIns="0" anchor="t" anchorCtr="0">
            <a:spAutoFit/>
          </a:bodyPr>
          <a:lstStyle/>
          <a:p>
            <a:pPr algn="l"/>
            <a:r>
              <a:rPr lang="zh-CN" sz="750" b="1" dirty="0">
                <a:solidFill>
                  <a:srgbClr val="753438"/>
                </a:solidFill>
                <a:latin typeface="Segoe UI"/>
                <a:ea typeface="Microsoft YaHei"/>
                <a:cs typeface="Segoe UI"/>
              </a:rPr>
              <a:t>Final Approve + Publish</a:t>
            </a:r>
          </a:p>
        </p:txBody>
      </p:sp>
      <p:sp>
        <p:nvSpPr>
          <p:cNvPr id="46" name="TextBox 46"/>
          <p:cNvSpPr txBox="1"/>
          <p:nvPr/>
        </p:nvSpPr>
        <p:spPr>
          <a:xfrm>
            <a:off x="556260" y="3966210"/>
            <a:ext cx="1557871"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Governance Rules</a:t>
            </a:r>
          </a:p>
        </p:txBody>
      </p:sp>
      <p:sp>
        <p:nvSpPr>
          <p:cNvPr id="47" name="Rectangle 47"/>
          <p:cNvSpPr/>
          <p:nvPr/>
        </p:nvSpPr>
        <p:spPr>
          <a:xfrm>
            <a:off x="571500" y="4286250"/>
            <a:ext cx="11049000" cy="1714500"/>
          </a:xfrm>
          <a:prstGeom prst="roundRect">
            <a:avLst>
              <a:gd name="adj" fmla="val 4444"/>
            </a:avLst>
          </a:prstGeom>
          <a:solidFill>
            <a:srgbClr val="FFFFFF"/>
          </a:solidFill>
          <a:ln w="9525">
            <a:solidFill>
              <a:srgbClr val="88817E"/>
            </a:solidFill>
          </a:ln>
        </p:spPr>
        <p:txBody>
          <a:bodyPr/>
          <a:lstStyle/>
          <a:p>
            <a:endParaRPr lang="da-DK"/>
          </a:p>
        </p:txBody>
      </p:sp>
      <p:sp>
        <p:nvSpPr>
          <p:cNvPr id="48" name="Rectangle 48"/>
          <p:cNvSpPr/>
          <p:nvPr/>
        </p:nvSpPr>
        <p:spPr>
          <a:xfrm>
            <a:off x="571500" y="4286250"/>
            <a:ext cx="11049000" cy="285750"/>
          </a:xfrm>
          <a:prstGeom prst="rect">
            <a:avLst/>
          </a:prstGeom>
          <a:solidFill>
            <a:srgbClr val="586A68">
              <a:alpha val="8000"/>
            </a:srgbClr>
          </a:solidFill>
          <a:ln>
            <a:noFill/>
          </a:ln>
        </p:spPr>
        <p:txBody>
          <a:bodyPr/>
          <a:lstStyle/>
          <a:p>
            <a:endParaRPr lang="da-DK"/>
          </a:p>
        </p:txBody>
      </p:sp>
      <p:sp>
        <p:nvSpPr>
          <p:cNvPr id="49" name="TextBox 49"/>
          <p:cNvSpPr txBox="1"/>
          <p:nvPr/>
        </p:nvSpPr>
        <p:spPr>
          <a:xfrm>
            <a:off x="1511086" y="4387691"/>
            <a:ext cx="406828"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Action</a:t>
            </a:r>
          </a:p>
        </p:txBody>
      </p:sp>
      <p:sp>
        <p:nvSpPr>
          <p:cNvPr id="50" name="TextBox 50"/>
          <p:cNvSpPr txBox="1"/>
          <p:nvPr/>
        </p:nvSpPr>
        <p:spPr>
          <a:xfrm>
            <a:off x="4628670" y="4387691"/>
            <a:ext cx="267661"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Rule</a:t>
            </a:r>
          </a:p>
        </p:txBody>
      </p:sp>
      <p:sp>
        <p:nvSpPr>
          <p:cNvPr id="51" name="TextBox 51"/>
          <p:cNvSpPr txBox="1"/>
          <p:nvPr/>
        </p:nvSpPr>
        <p:spPr>
          <a:xfrm>
            <a:off x="8210941" y="4387691"/>
            <a:ext cx="723118"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Responsible</a:t>
            </a:r>
          </a:p>
        </p:txBody>
      </p:sp>
      <p:sp>
        <p:nvSpPr>
          <p:cNvPr id="52" name="TextBox 52"/>
          <p:cNvSpPr txBox="1"/>
          <p:nvPr/>
        </p:nvSpPr>
        <p:spPr>
          <a:xfrm>
            <a:off x="751522" y="4673441"/>
            <a:ext cx="71980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Create Data</a:t>
            </a:r>
          </a:p>
        </p:txBody>
      </p:sp>
      <p:sp>
        <p:nvSpPr>
          <p:cNvPr id="53" name="TextBox 53"/>
          <p:cNvSpPr txBox="1"/>
          <p:nvPr/>
        </p:nvSpPr>
        <p:spPr>
          <a:xfrm>
            <a:off x="3323272" y="4673441"/>
            <a:ext cx="235246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Only assigned team members per domain</a:t>
            </a:r>
          </a:p>
        </p:txBody>
      </p:sp>
      <p:sp>
        <p:nvSpPr>
          <p:cNvPr id="54" name="TextBox 54"/>
          <p:cNvSpPr txBox="1"/>
          <p:nvPr/>
        </p:nvSpPr>
        <p:spPr>
          <a:xfrm>
            <a:off x="7609522" y="4673441"/>
            <a:ext cx="1888569"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Product / Marketing / Technical</a:t>
            </a:r>
          </a:p>
        </p:txBody>
      </p:sp>
      <p:sp>
        <p:nvSpPr>
          <p:cNvPr id="55" name="TextBox 55"/>
          <p:cNvSpPr txBox="1"/>
          <p:nvPr/>
        </p:nvSpPr>
        <p:spPr>
          <a:xfrm>
            <a:off x="751522" y="4911566"/>
            <a:ext cx="55714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Edit Data</a:t>
            </a:r>
          </a:p>
        </p:txBody>
      </p:sp>
      <p:sp>
        <p:nvSpPr>
          <p:cNvPr id="56" name="TextBox 56"/>
          <p:cNvSpPr txBox="1"/>
          <p:nvPr/>
        </p:nvSpPr>
        <p:spPr>
          <a:xfrm>
            <a:off x="3323272" y="4911566"/>
            <a:ext cx="211147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Domain owners + designated editors</a:t>
            </a:r>
          </a:p>
        </p:txBody>
      </p:sp>
      <p:sp>
        <p:nvSpPr>
          <p:cNvPr id="57" name="TextBox 57"/>
          <p:cNvSpPr txBox="1"/>
          <p:nvPr/>
        </p:nvSpPr>
        <p:spPr>
          <a:xfrm>
            <a:off x="7609522" y="4911566"/>
            <a:ext cx="870418"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Domain owners</a:t>
            </a:r>
          </a:p>
        </p:txBody>
      </p:sp>
      <p:sp>
        <p:nvSpPr>
          <p:cNvPr id="58" name="TextBox 58"/>
          <p:cNvSpPr txBox="1"/>
          <p:nvPr/>
        </p:nvSpPr>
        <p:spPr>
          <a:xfrm>
            <a:off x="751522" y="5149691"/>
            <a:ext cx="98488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Approve Content</a:t>
            </a:r>
          </a:p>
        </p:txBody>
      </p:sp>
      <p:sp>
        <p:nvSpPr>
          <p:cNvPr id="59" name="TextBox 59"/>
          <p:cNvSpPr txBox="1"/>
          <p:nvPr/>
        </p:nvSpPr>
        <p:spPr>
          <a:xfrm>
            <a:off x="3323272" y="5149691"/>
            <a:ext cx="358749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Required before publication. AI content needs human review.</a:t>
            </a:r>
          </a:p>
        </p:txBody>
      </p:sp>
      <p:sp>
        <p:nvSpPr>
          <p:cNvPr id="60" name="TextBox 60"/>
          <p:cNvSpPr txBox="1"/>
          <p:nvPr/>
        </p:nvSpPr>
        <p:spPr>
          <a:xfrm>
            <a:off x="7609522" y="5149691"/>
            <a:ext cx="1509022"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Team leads / Brand owner</a:t>
            </a:r>
          </a:p>
        </p:txBody>
      </p:sp>
      <p:sp>
        <p:nvSpPr>
          <p:cNvPr id="61" name="TextBox 61"/>
          <p:cNvSpPr txBox="1"/>
          <p:nvPr/>
        </p:nvSpPr>
        <p:spPr>
          <a:xfrm>
            <a:off x="751522" y="5387816"/>
            <a:ext cx="72582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Publish Data</a:t>
            </a:r>
          </a:p>
        </p:txBody>
      </p:sp>
      <p:sp>
        <p:nvSpPr>
          <p:cNvPr id="62" name="TextBox 62"/>
          <p:cNvSpPr txBox="1"/>
          <p:nvPr/>
        </p:nvSpPr>
        <p:spPr>
          <a:xfrm>
            <a:off x="3323272" y="5387816"/>
            <a:ext cx="238258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Only after 100% completeness + approval</a:t>
            </a:r>
          </a:p>
        </p:txBody>
      </p:sp>
      <p:sp>
        <p:nvSpPr>
          <p:cNvPr id="63" name="TextBox 63"/>
          <p:cNvSpPr txBox="1"/>
          <p:nvPr/>
        </p:nvSpPr>
        <p:spPr>
          <a:xfrm>
            <a:off x="7609522" y="5387816"/>
            <a:ext cx="1737955"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System (auto) / Brand owner</a:t>
            </a:r>
          </a:p>
        </p:txBody>
      </p:sp>
      <p:sp>
        <p:nvSpPr>
          <p:cNvPr id="64" name="TextBox 64"/>
          <p:cNvSpPr txBox="1"/>
          <p:nvPr/>
        </p:nvSpPr>
        <p:spPr>
          <a:xfrm>
            <a:off x="751522" y="5625941"/>
            <a:ext cx="92463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Version Control</a:t>
            </a:r>
          </a:p>
        </p:txBody>
      </p:sp>
      <p:sp>
        <p:nvSpPr>
          <p:cNvPr id="65" name="TextBox 65"/>
          <p:cNvSpPr txBox="1"/>
          <p:nvPr/>
        </p:nvSpPr>
        <p:spPr>
          <a:xfrm>
            <a:off x="3323272" y="5625941"/>
            <a:ext cx="317782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Previous versions retained. Audit log for all changes.</a:t>
            </a:r>
          </a:p>
        </p:txBody>
      </p:sp>
      <p:sp>
        <p:nvSpPr>
          <p:cNvPr id="66" name="TextBox 66"/>
          <p:cNvSpPr txBox="1"/>
          <p:nvPr/>
        </p:nvSpPr>
        <p:spPr>
          <a:xfrm>
            <a:off x="7609522" y="5625941"/>
            <a:ext cx="1201769"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System (automatic)</a:t>
            </a:r>
          </a:p>
        </p:txBody>
      </p:sp>
      <p:sp>
        <p:nvSpPr>
          <p:cNvPr id="67" name="TextBox 67"/>
          <p:cNvSpPr txBox="1"/>
          <p:nvPr/>
        </p:nvSpPr>
        <p:spPr>
          <a:xfrm>
            <a:off x="751522" y="5864066"/>
            <a:ext cx="62341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AI Content</a:t>
            </a:r>
          </a:p>
        </p:txBody>
      </p:sp>
      <p:sp>
        <p:nvSpPr>
          <p:cNvPr id="68" name="TextBox 68"/>
          <p:cNvSpPr txBox="1"/>
          <p:nvPr/>
        </p:nvSpPr>
        <p:spPr>
          <a:xfrm>
            <a:off x="3323272" y="5864066"/>
            <a:ext cx="317180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Draft only. Never auto-published. Audit log required.</a:t>
            </a:r>
          </a:p>
        </p:txBody>
      </p:sp>
      <p:sp>
        <p:nvSpPr>
          <p:cNvPr id="69" name="TextBox 69"/>
          <p:cNvSpPr txBox="1"/>
          <p:nvPr/>
        </p:nvSpPr>
        <p:spPr>
          <a:xfrm>
            <a:off x="7609522" y="5864066"/>
            <a:ext cx="1617464"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Marketing + Brand approval</a:t>
            </a:r>
          </a:p>
        </p:txBody>
      </p:sp>
      <p:sp>
        <p:nvSpPr>
          <p:cNvPr id="70" name="TextBox 70"/>
          <p:cNvSpPr txBox="1"/>
          <p:nvPr/>
        </p:nvSpPr>
        <p:spPr>
          <a:xfrm>
            <a:off x="11530203" y="6570345"/>
            <a:ext cx="101727"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11</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107805"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07 / AI &amp; Vision</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644089"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AI Use Cases &amp; Controls</a:t>
            </a:r>
          </a:p>
        </p:txBody>
      </p:sp>
      <p:sp>
        <p:nvSpPr>
          <p:cNvPr id="7" name="TextBox 7"/>
          <p:cNvSpPr txBox="1"/>
          <p:nvPr/>
        </p:nvSpPr>
        <p:spPr>
          <a:xfrm>
            <a:off x="556260" y="1299210"/>
            <a:ext cx="2284762"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AI-Supported Capabilities</a:t>
            </a:r>
          </a:p>
        </p:txBody>
      </p:sp>
      <p:sp>
        <p:nvSpPr>
          <p:cNvPr id="8" name="Rectangle 8"/>
          <p:cNvSpPr/>
          <p:nvPr/>
        </p:nvSpPr>
        <p:spPr>
          <a:xfrm>
            <a:off x="571500" y="1619250"/>
            <a:ext cx="2190750" cy="666750"/>
          </a:xfrm>
          <a:prstGeom prst="roundRect">
            <a:avLst>
              <a:gd name="adj" fmla="val 11429"/>
            </a:avLst>
          </a:prstGeom>
          <a:solidFill>
            <a:srgbClr val="FFFFFF"/>
          </a:solidFill>
          <a:ln w="14288">
            <a:solidFill>
              <a:srgbClr val="586A68"/>
            </a:solidFill>
          </a:ln>
        </p:spPr>
        <p:txBody>
          <a:bodyPr/>
          <a:lstStyle/>
          <a:p>
            <a:endParaRPr lang="da-DK"/>
          </a:p>
        </p:txBody>
      </p:sp>
      <p:sp>
        <p:nvSpPr>
          <p:cNvPr id="9" name="TextBox 9"/>
          <p:cNvSpPr txBox="1"/>
          <p:nvPr/>
        </p:nvSpPr>
        <p:spPr>
          <a:xfrm>
            <a:off x="889449" y="1760220"/>
            <a:ext cx="1554851"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Draft B2B Descriptions</a:t>
            </a:r>
          </a:p>
        </p:txBody>
      </p:sp>
      <p:sp>
        <p:nvSpPr>
          <p:cNvPr id="10" name="TextBox 10"/>
          <p:cNvSpPr txBox="1"/>
          <p:nvPr/>
        </p:nvSpPr>
        <p:spPr>
          <a:xfrm>
            <a:off x="854988" y="1966912"/>
            <a:ext cx="1623774"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From product &amp; technical data</a:t>
            </a:r>
          </a:p>
        </p:txBody>
      </p:sp>
      <p:sp>
        <p:nvSpPr>
          <p:cNvPr id="11" name="TextBox 11"/>
          <p:cNvSpPr txBox="1"/>
          <p:nvPr/>
        </p:nvSpPr>
        <p:spPr>
          <a:xfrm>
            <a:off x="88195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12" name="Rectangle 12"/>
          <p:cNvSpPr/>
          <p:nvPr/>
        </p:nvSpPr>
        <p:spPr>
          <a:xfrm>
            <a:off x="2952750" y="1619250"/>
            <a:ext cx="2190750" cy="666750"/>
          </a:xfrm>
          <a:prstGeom prst="roundRect">
            <a:avLst>
              <a:gd name="adj" fmla="val 11429"/>
            </a:avLst>
          </a:prstGeom>
          <a:solidFill>
            <a:srgbClr val="FFFFFF"/>
          </a:solidFill>
          <a:ln w="14288">
            <a:solidFill>
              <a:srgbClr val="586A68"/>
            </a:solidFill>
          </a:ln>
        </p:spPr>
        <p:txBody>
          <a:bodyPr/>
          <a:lstStyle/>
          <a:p>
            <a:endParaRPr lang="da-DK"/>
          </a:p>
        </p:txBody>
      </p:sp>
      <p:sp>
        <p:nvSpPr>
          <p:cNvPr id="13" name="TextBox 13"/>
          <p:cNvSpPr txBox="1"/>
          <p:nvPr/>
        </p:nvSpPr>
        <p:spPr>
          <a:xfrm>
            <a:off x="3270699" y="1760220"/>
            <a:ext cx="1554851"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Draft B2C Descriptions</a:t>
            </a:r>
          </a:p>
        </p:txBody>
      </p:sp>
      <p:sp>
        <p:nvSpPr>
          <p:cNvPr id="14" name="TextBox 14"/>
          <p:cNvSpPr txBox="1"/>
          <p:nvPr/>
        </p:nvSpPr>
        <p:spPr>
          <a:xfrm>
            <a:off x="3449836" y="1966912"/>
            <a:ext cx="1196578"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Brand tone compliance</a:t>
            </a:r>
          </a:p>
        </p:txBody>
      </p:sp>
      <p:sp>
        <p:nvSpPr>
          <p:cNvPr id="15" name="TextBox 15"/>
          <p:cNvSpPr txBox="1"/>
          <p:nvPr/>
        </p:nvSpPr>
        <p:spPr>
          <a:xfrm>
            <a:off x="326320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16" name="Rectangle 16"/>
          <p:cNvSpPr/>
          <p:nvPr/>
        </p:nvSpPr>
        <p:spPr>
          <a:xfrm>
            <a:off x="5334000" y="1619250"/>
            <a:ext cx="2190750" cy="666750"/>
          </a:xfrm>
          <a:prstGeom prst="roundRect">
            <a:avLst>
              <a:gd name="adj" fmla="val 11429"/>
            </a:avLst>
          </a:prstGeom>
          <a:solidFill>
            <a:srgbClr val="FFFFFF"/>
          </a:solidFill>
          <a:ln w="14288">
            <a:solidFill>
              <a:srgbClr val="586A68"/>
            </a:solidFill>
          </a:ln>
        </p:spPr>
        <p:txBody>
          <a:bodyPr/>
          <a:lstStyle/>
          <a:p>
            <a:endParaRPr lang="da-DK"/>
          </a:p>
        </p:txBody>
      </p:sp>
      <p:sp>
        <p:nvSpPr>
          <p:cNvPr id="17" name="TextBox 17"/>
          <p:cNvSpPr txBox="1"/>
          <p:nvPr/>
        </p:nvSpPr>
        <p:spPr>
          <a:xfrm>
            <a:off x="5941785" y="1760220"/>
            <a:ext cx="975179"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Generate USPs</a:t>
            </a:r>
          </a:p>
        </p:txBody>
      </p:sp>
      <p:sp>
        <p:nvSpPr>
          <p:cNvPr id="18" name="TextBox 18"/>
          <p:cNvSpPr txBox="1"/>
          <p:nvPr/>
        </p:nvSpPr>
        <p:spPr>
          <a:xfrm>
            <a:off x="5633918" y="1966912"/>
            <a:ext cx="1590913"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Per range, product, material</a:t>
            </a:r>
          </a:p>
        </p:txBody>
      </p:sp>
      <p:sp>
        <p:nvSpPr>
          <p:cNvPr id="19" name="TextBox 19"/>
          <p:cNvSpPr txBox="1"/>
          <p:nvPr/>
        </p:nvSpPr>
        <p:spPr>
          <a:xfrm>
            <a:off x="564445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20" name="Rectangle 20"/>
          <p:cNvSpPr/>
          <p:nvPr/>
        </p:nvSpPr>
        <p:spPr>
          <a:xfrm>
            <a:off x="7715250" y="1619250"/>
            <a:ext cx="2190750" cy="666750"/>
          </a:xfrm>
          <a:prstGeom prst="roundRect">
            <a:avLst>
              <a:gd name="adj" fmla="val 11429"/>
            </a:avLst>
          </a:prstGeom>
          <a:solidFill>
            <a:srgbClr val="FFFFFF"/>
          </a:solidFill>
          <a:ln w="14288">
            <a:solidFill>
              <a:srgbClr val="586A68"/>
            </a:solidFill>
          </a:ln>
        </p:spPr>
        <p:txBody>
          <a:bodyPr/>
          <a:lstStyle/>
          <a:p>
            <a:endParaRPr lang="da-DK"/>
          </a:p>
        </p:txBody>
      </p:sp>
      <p:sp>
        <p:nvSpPr>
          <p:cNvPr id="21" name="TextBox 21"/>
          <p:cNvSpPr txBox="1"/>
          <p:nvPr/>
        </p:nvSpPr>
        <p:spPr>
          <a:xfrm>
            <a:off x="8205721" y="1760220"/>
            <a:ext cx="1209808"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Care Instructions</a:t>
            </a:r>
          </a:p>
        </p:txBody>
      </p:sp>
      <p:sp>
        <p:nvSpPr>
          <p:cNvPr id="22" name="TextBox 22"/>
          <p:cNvSpPr txBox="1"/>
          <p:nvPr/>
        </p:nvSpPr>
        <p:spPr>
          <a:xfrm>
            <a:off x="8195905" y="1966912"/>
            <a:ext cx="1229439"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Based on material data</a:t>
            </a:r>
          </a:p>
        </p:txBody>
      </p:sp>
      <p:sp>
        <p:nvSpPr>
          <p:cNvPr id="23" name="TextBox 23"/>
          <p:cNvSpPr txBox="1"/>
          <p:nvPr/>
        </p:nvSpPr>
        <p:spPr>
          <a:xfrm>
            <a:off x="802570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24" name="Rectangle 24"/>
          <p:cNvSpPr/>
          <p:nvPr/>
        </p:nvSpPr>
        <p:spPr>
          <a:xfrm>
            <a:off x="571500" y="2428875"/>
            <a:ext cx="2190750" cy="666750"/>
          </a:xfrm>
          <a:prstGeom prst="roundRect">
            <a:avLst>
              <a:gd name="adj" fmla="val 11429"/>
            </a:avLst>
          </a:prstGeom>
          <a:solidFill>
            <a:srgbClr val="FFFFFF"/>
          </a:solidFill>
          <a:ln w="14288">
            <a:solidFill>
              <a:srgbClr val="C1856B"/>
            </a:solidFill>
          </a:ln>
        </p:spPr>
        <p:txBody>
          <a:bodyPr/>
          <a:lstStyle/>
          <a:p>
            <a:endParaRPr lang="da-DK"/>
          </a:p>
        </p:txBody>
      </p:sp>
      <p:sp>
        <p:nvSpPr>
          <p:cNvPr id="25" name="TextBox 25"/>
          <p:cNvSpPr txBox="1"/>
          <p:nvPr/>
        </p:nvSpPr>
        <p:spPr>
          <a:xfrm>
            <a:off x="1044719" y="2569845"/>
            <a:ext cx="1244313"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Translate Content</a:t>
            </a:r>
          </a:p>
        </p:txBody>
      </p:sp>
      <p:sp>
        <p:nvSpPr>
          <p:cNvPr id="26" name="TextBox 26"/>
          <p:cNvSpPr txBox="1"/>
          <p:nvPr/>
        </p:nvSpPr>
        <p:spPr>
          <a:xfrm>
            <a:off x="1172647" y="2776538"/>
            <a:ext cx="988457"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Multiple languages</a:t>
            </a:r>
          </a:p>
        </p:txBody>
      </p:sp>
      <p:sp>
        <p:nvSpPr>
          <p:cNvPr id="27" name="Rectangle 27"/>
          <p:cNvSpPr/>
          <p:nvPr/>
        </p:nvSpPr>
        <p:spPr>
          <a:xfrm>
            <a:off x="2952750" y="2428875"/>
            <a:ext cx="2190750" cy="666750"/>
          </a:xfrm>
          <a:prstGeom prst="roundRect">
            <a:avLst>
              <a:gd name="adj" fmla="val 11429"/>
            </a:avLst>
          </a:prstGeom>
          <a:solidFill>
            <a:srgbClr val="FFFFFF"/>
          </a:solidFill>
          <a:ln w="14288">
            <a:solidFill>
              <a:srgbClr val="C1856B"/>
            </a:solidFill>
          </a:ln>
        </p:spPr>
        <p:txBody>
          <a:bodyPr/>
          <a:lstStyle/>
          <a:p>
            <a:endParaRPr lang="da-DK"/>
          </a:p>
        </p:txBody>
      </p:sp>
      <p:sp>
        <p:nvSpPr>
          <p:cNvPr id="28" name="TextBox 28"/>
          <p:cNvSpPr txBox="1"/>
          <p:nvPr/>
        </p:nvSpPr>
        <p:spPr>
          <a:xfrm>
            <a:off x="3218943" y="2569845"/>
            <a:ext cx="1658364"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Suggest Missing Content</a:t>
            </a:r>
          </a:p>
        </p:txBody>
      </p:sp>
      <p:sp>
        <p:nvSpPr>
          <p:cNvPr id="29" name="TextBox 29"/>
          <p:cNvSpPr txBox="1"/>
          <p:nvPr/>
        </p:nvSpPr>
        <p:spPr>
          <a:xfrm>
            <a:off x="3151346" y="2776538"/>
            <a:ext cx="1793557"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Gap detection &amp; recommendations</a:t>
            </a:r>
          </a:p>
        </p:txBody>
      </p:sp>
      <p:sp>
        <p:nvSpPr>
          <p:cNvPr id="30" name="Rectangle 30"/>
          <p:cNvSpPr/>
          <p:nvPr/>
        </p:nvSpPr>
        <p:spPr>
          <a:xfrm>
            <a:off x="5334000" y="2428875"/>
            <a:ext cx="2190750" cy="666750"/>
          </a:xfrm>
          <a:prstGeom prst="roundRect">
            <a:avLst>
              <a:gd name="adj" fmla="val 11429"/>
            </a:avLst>
          </a:prstGeom>
          <a:solidFill>
            <a:srgbClr val="FFFFFF"/>
          </a:solidFill>
          <a:ln w="14288">
            <a:solidFill>
              <a:srgbClr val="C1856B"/>
            </a:solidFill>
          </a:ln>
        </p:spPr>
        <p:txBody>
          <a:bodyPr/>
          <a:lstStyle/>
          <a:p>
            <a:endParaRPr lang="da-DK"/>
          </a:p>
        </p:txBody>
      </p:sp>
      <p:sp>
        <p:nvSpPr>
          <p:cNvPr id="31" name="TextBox 31"/>
          <p:cNvSpPr txBox="1"/>
          <p:nvPr/>
        </p:nvSpPr>
        <p:spPr>
          <a:xfrm>
            <a:off x="5952137" y="2569845"/>
            <a:ext cx="954476"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SEO Metadata</a:t>
            </a:r>
          </a:p>
        </p:txBody>
      </p:sp>
      <p:sp>
        <p:nvSpPr>
          <p:cNvPr id="32" name="TextBox 32"/>
          <p:cNvSpPr txBox="1"/>
          <p:nvPr/>
        </p:nvSpPr>
        <p:spPr>
          <a:xfrm>
            <a:off x="5773579" y="2776538"/>
            <a:ext cx="1311592"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Auto-suggest meta tags</a:t>
            </a:r>
          </a:p>
        </p:txBody>
      </p:sp>
      <p:sp>
        <p:nvSpPr>
          <p:cNvPr id="33" name="Rectangle 33"/>
          <p:cNvSpPr/>
          <p:nvPr/>
        </p:nvSpPr>
        <p:spPr>
          <a:xfrm>
            <a:off x="7715250" y="2428875"/>
            <a:ext cx="2190750" cy="666750"/>
          </a:xfrm>
          <a:prstGeom prst="roundRect">
            <a:avLst>
              <a:gd name="adj" fmla="val 11429"/>
            </a:avLst>
          </a:prstGeom>
          <a:solidFill>
            <a:srgbClr val="FFFFFF"/>
          </a:solidFill>
          <a:ln w="14288">
            <a:solidFill>
              <a:srgbClr val="C1856B"/>
            </a:solidFill>
          </a:ln>
        </p:spPr>
        <p:txBody>
          <a:bodyPr/>
          <a:lstStyle/>
          <a:p>
            <a:endParaRPr lang="da-DK"/>
          </a:p>
        </p:txBody>
      </p:sp>
      <p:sp>
        <p:nvSpPr>
          <p:cNvPr id="34" name="TextBox 34"/>
          <p:cNvSpPr txBox="1"/>
          <p:nvPr/>
        </p:nvSpPr>
        <p:spPr>
          <a:xfrm>
            <a:off x="8226423" y="2569845"/>
            <a:ext cx="1168403"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Standardize Text</a:t>
            </a:r>
          </a:p>
        </p:txBody>
      </p:sp>
      <p:sp>
        <p:nvSpPr>
          <p:cNvPr id="35" name="TextBox 35"/>
          <p:cNvSpPr txBox="1"/>
          <p:nvPr/>
        </p:nvSpPr>
        <p:spPr>
          <a:xfrm>
            <a:off x="8089106" y="2776538"/>
            <a:ext cx="1443038"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Cross-channel consistency</a:t>
            </a:r>
          </a:p>
        </p:txBody>
      </p:sp>
      <p:sp>
        <p:nvSpPr>
          <p:cNvPr id="36" name="TextBox 36"/>
          <p:cNvSpPr txBox="1"/>
          <p:nvPr/>
        </p:nvSpPr>
        <p:spPr>
          <a:xfrm>
            <a:off x="556260" y="3394710"/>
            <a:ext cx="1824704" cy="243840"/>
          </a:xfrm>
          <a:prstGeom prst="rect">
            <a:avLst/>
          </a:prstGeom>
          <a:noFill/>
          <a:ln>
            <a:noFill/>
          </a:ln>
        </p:spPr>
        <p:txBody>
          <a:bodyPr wrap="none" lIns="0" tIns="0" rIns="0" bIns="0" anchor="t" anchorCtr="0">
            <a:spAutoFit/>
          </a:bodyPr>
          <a:lstStyle/>
          <a:p>
            <a:pPr algn="l"/>
            <a:r>
              <a:rPr lang="zh-CN" sz="1200" b="1" dirty="0">
                <a:solidFill>
                  <a:srgbClr val="753438"/>
                </a:solidFill>
                <a:latin typeface="Segoe UI"/>
                <a:ea typeface="Microsoft YaHei"/>
                <a:cs typeface="Segoe UI"/>
              </a:rPr>
              <a:t>Required AI Controls</a:t>
            </a:r>
          </a:p>
        </p:txBody>
      </p:sp>
      <p:sp>
        <p:nvSpPr>
          <p:cNvPr id="37" name="Rectangle 37"/>
          <p:cNvSpPr/>
          <p:nvPr/>
        </p:nvSpPr>
        <p:spPr>
          <a:xfrm>
            <a:off x="571500" y="3714750"/>
            <a:ext cx="11049000" cy="1428750"/>
          </a:xfrm>
          <a:prstGeom prst="roundRect">
            <a:avLst>
              <a:gd name="adj" fmla="val 5333"/>
            </a:avLst>
          </a:prstGeom>
          <a:solidFill>
            <a:srgbClr val="FFFFFF"/>
          </a:solidFill>
          <a:ln w="14288">
            <a:solidFill>
              <a:srgbClr val="753438"/>
            </a:solidFill>
          </a:ln>
        </p:spPr>
        <p:txBody>
          <a:bodyPr/>
          <a:lstStyle/>
          <a:p>
            <a:endParaRPr lang="da-DK"/>
          </a:p>
        </p:txBody>
      </p:sp>
      <p:sp>
        <p:nvSpPr>
          <p:cNvPr id="38" name="Rectangle 38"/>
          <p:cNvSpPr/>
          <p:nvPr/>
        </p:nvSpPr>
        <p:spPr>
          <a:xfrm>
            <a:off x="762000" y="3905250"/>
            <a:ext cx="3238500" cy="333375"/>
          </a:xfrm>
          <a:prstGeom prst="roundRect">
            <a:avLst>
              <a:gd name="adj" fmla="val 17143"/>
            </a:avLst>
          </a:prstGeom>
          <a:solidFill>
            <a:srgbClr val="753438">
              <a:alpha val="6000"/>
            </a:srgbClr>
          </a:solidFill>
          <a:ln>
            <a:noFill/>
          </a:ln>
        </p:spPr>
        <p:txBody>
          <a:bodyPr/>
          <a:lstStyle/>
          <a:p>
            <a:endParaRPr lang="da-DK"/>
          </a:p>
        </p:txBody>
      </p:sp>
      <p:sp>
        <p:nvSpPr>
          <p:cNvPr id="39" name="TextBox 39"/>
          <p:cNvSpPr txBox="1"/>
          <p:nvPr/>
        </p:nvSpPr>
        <p:spPr>
          <a:xfrm>
            <a:off x="941070" y="4017645"/>
            <a:ext cx="137674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Brand Tone Guidelines</a:t>
            </a:r>
          </a:p>
        </p:txBody>
      </p:sp>
      <p:sp>
        <p:nvSpPr>
          <p:cNvPr id="40" name="Rectangle 40"/>
          <p:cNvSpPr/>
          <p:nvPr/>
        </p:nvSpPr>
        <p:spPr>
          <a:xfrm>
            <a:off x="762000" y="4333875"/>
            <a:ext cx="3238500" cy="333375"/>
          </a:xfrm>
          <a:prstGeom prst="roundRect">
            <a:avLst>
              <a:gd name="adj" fmla="val 17143"/>
            </a:avLst>
          </a:prstGeom>
          <a:solidFill>
            <a:srgbClr val="753438">
              <a:alpha val="6000"/>
            </a:srgbClr>
          </a:solidFill>
          <a:ln>
            <a:noFill/>
          </a:ln>
        </p:spPr>
        <p:txBody>
          <a:bodyPr/>
          <a:lstStyle/>
          <a:p>
            <a:endParaRPr lang="da-DK"/>
          </a:p>
        </p:txBody>
      </p:sp>
      <p:sp>
        <p:nvSpPr>
          <p:cNvPr id="41" name="TextBox 41"/>
          <p:cNvSpPr txBox="1"/>
          <p:nvPr/>
        </p:nvSpPr>
        <p:spPr>
          <a:xfrm>
            <a:off x="941070" y="4446270"/>
            <a:ext cx="1396460"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Approved Terminology</a:t>
            </a:r>
          </a:p>
        </p:txBody>
      </p:sp>
      <p:sp>
        <p:nvSpPr>
          <p:cNvPr id="42" name="Rectangle 42"/>
          <p:cNvSpPr/>
          <p:nvPr/>
        </p:nvSpPr>
        <p:spPr>
          <a:xfrm>
            <a:off x="762000" y="4762500"/>
            <a:ext cx="3238500" cy="333375"/>
          </a:xfrm>
          <a:prstGeom prst="roundRect">
            <a:avLst>
              <a:gd name="adj" fmla="val 17143"/>
            </a:avLst>
          </a:prstGeom>
          <a:solidFill>
            <a:srgbClr val="753438">
              <a:alpha val="6000"/>
            </a:srgbClr>
          </a:solidFill>
          <a:ln>
            <a:noFill/>
          </a:ln>
        </p:spPr>
        <p:txBody>
          <a:bodyPr/>
          <a:lstStyle/>
          <a:p>
            <a:endParaRPr lang="da-DK"/>
          </a:p>
        </p:txBody>
      </p:sp>
      <p:sp>
        <p:nvSpPr>
          <p:cNvPr id="43" name="TextBox 43"/>
          <p:cNvSpPr txBox="1"/>
          <p:nvPr/>
        </p:nvSpPr>
        <p:spPr>
          <a:xfrm>
            <a:off x="941070" y="4874895"/>
            <a:ext cx="2434876"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Grounding in Verified PIM &amp; D365 Facts</a:t>
            </a:r>
          </a:p>
        </p:txBody>
      </p:sp>
      <p:sp>
        <p:nvSpPr>
          <p:cNvPr id="44" name="Rectangle 44"/>
          <p:cNvSpPr/>
          <p:nvPr/>
        </p:nvSpPr>
        <p:spPr>
          <a:xfrm>
            <a:off x="4381500" y="3905250"/>
            <a:ext cx="3238500" cy="333375"/>
          </a:xfrm>
          <a:prstGeom prst="roundRect">
            <a:avLst>
              <a:gd name="adj" fmla="val 17143"/>
            </a:avLst>
          </a:prstGeom>
          <a:solidFill>
            <a:srgbClr val="753438">
              <a:alpha val="6000"/>
            </a:srgbClr>
          </a:solidFill>
          <a:ln>
            <a:noFill/>
          </a:ln>
        </p:spPr>
        <p:txBody>
          <a:bodyPr/>
          <a:lstStyle/>
          <a:p>
            <a:endParaRPr lang="da-DK"/>
          </a:p>
        </p:txBody>
      </p:sp>
      <p:sp>
        <p:nvSpPr>
          <p:cNvPr id="45" name="TextBox 45"/>
          <p:cNvSpPr txBox="1"/>
          <p:nvPr/>
        </p:nvSpPr>
        <p:spPr>
          <a:xfrm>
            <a:off x="4560570" y="4017645"/>
            <a:ext cx="185651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Human Approval (mandatory)</a:t>
            </a:r>
          </a:p>
        </p:txBody>
      </p:sp>
      <p:sp>
        <p:nvSpPr>
          <p:cNvPr id="46" name="Rectangle 46"/>
          <p:cNvSpPr/>
          <p:nvPr/>
        </p:nvSpPr>
        <p:spPr>
          <a:xfrm>
            <a:off x="4381500" y="4333875"/>
            <a:ext cx="3238500" cy="333375"/>
          </a:xfrm>
          <a:prstGeom prst="roundRect">
            <a:avLst>
              <a:gd name="adj" fmla="val 17143"/>
            </a:avLst>
          </a:prstGeom>
          <a:solidFill>
            <a:srgbClr val="753438">
              <a:alpha val="6000"/>
            </a:srgbClr>
          </a:solidFill>
          <a:ln>
            <a:noFill/>
          </a:ln>
        </p:spPr>
        <p:txBody>
          <a:bodyPr/>
          <a:lstStyle/>
          <a:p>
            <a:endParaRPr lang="da-DK"/>
          </a:p>
        </p:txBody>
      </p:sp>
      <p:sp>
        <p:nvSpPr>
          <p:cNvPr id="47" name="TextBox 47"/>
          <p:cNvSpPr txBox="1"/>
          <p:nvPr/>
        </p:nvSpPr>
        <p:spPr>
          <a:xfrm>
            <a:off x="4560570" y="4446270"/>
            <a:ext cx="100869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Version History</a:t>
            </a:r>
          </a:p>
        </p:txBody>
      </p:sp>
      <p:sp>
        <p:nvSpPr>
          <p:cNvPr id="48" name="Rectangle 48"/>
          <p:cNvSpPr/>
          <p:nvPr/>
        </p:nvSpPr>
        <p:spPr>
          <a:xfrm>
            <a:off x="4381500" y="4762500"/>
            <a:ext cx="3238500" cy="333375"/>
          </a:xfrm>
          <a:prstGeom prst="roundRect">
            <a:avLst>
              <a:gd name="adj" fmla="val 17143"/>
            </a:avLst>
          </a:prstGeom>
          <a:solidFill>
            <a:srgbClr val="753438">
              <a:alpha val="6000"/>
            </a:srgbClr>
          </a:solidFill>
          <a:ln>
            <a:noFill/>
          </a:ln>
        </p:spPr>
        <p:txBody>
          <a:bodyPr/>
          <a:lstStyle/>
          <a:p>
            <a:endParaRPr lang="da-DK"/>
          </a:p>
        </p:txBody>
      </p:sp>
      <p:sp>
        <p:nvSpPr>
          <p:cNvPr id="49" name="TextBox 49"/>
          <p:cNvSpPr txBox="1"/>
          <p:nvPr/>
        </p:nvSpPr>
        <p:spPr>
          <a:xfrm>
            <a:off x="4560570" y="4874895"/>
            <a:ext cx="228371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Audit Log for AI-Generated Content</a:t>
            </a:r>
          </a:p>
        </p:txBody>
      </p:sp>
      <p:sp>
        <p:nvSpPr>
          <p:cNvPr id="50" name="Rectangle 50"/>
          <p:cNvSpPr/>
          <p:nvPr/>
        </p:nvSpPr>
        <p:spPr>
          <a:xfrm>
            <a:off x="8001000" y="3905250"/>
            <a:ext cx="3429000" cy="1190625"/>
          </a:xfrm>
          <a:prstGeom prst="roundRect">
            <a:avLst>
              <a:gd name="adj" fmla="val 6400"/>
            </a:avLst>
          </a:prstGeom>
          <a:solidFill>
            <a:srgbClr val="753438">
              <a:alpha val="5000"/>
            </a:srgbClr>
          </a:solidFill>
          <a:ln w="9525">
            <a:solidFill>
              <a:srgbClr val="753438"/>
            </a:solidFill>
          </a:ln>
        </p:spPr>
        <p:txBody>
          <a:bodyPr/>
          <a:lstStyle/>
          <a:p>
            <a:endParaRPr lang="da-DK"/>
          </a:p>
        </p:txBody>
      </p:sp>
      <p:sp>
        <p:nvSpPr>
          <p:cNvPr id="51" name="TextBox 51"/>
          <p:cNvSpPr txBox="1"/>
          <p:nvPr/>
        </p:nvSpPr>
        <p:spPr>
          <a:xfrm>
            <a:off x="8180070" y="4093845"/>
            <a:ext cx="830261" cy="182880"/>
          </a:xfrm>
          <a:prstGeom prst="rect">
            <a:avLst/>
          </a:prstGeom>
          <a:noFill/>
          <a:ln>
            <a:noFill/>
          </a:ln>
        </p:spPr>
        <p:txBody>
          <a:bodyPr wrap="none" lIns="0" tIns="0" rIns="0" bIns="0" anchor="t" anchorCtr="0">
            <a:spAutoFit/>
          </a:bodyPr>
          <a:lstStyle/>
          <a:p>
            <a:pPr algn="l"/>
            <a:r>
              <a:rPr lang="zh-CN" sz="900" b="1" dirty="0">
                <a:solidFill>
                  <a:srgbClr val="753438"/>
                </a:solidFill>
                <a:latin typeface="Segoe UI"/>
                <a:ea typeface="Microsoft YaHei"/>
                <a:cs typeface="Segoe UI"/>
              </a:rPr>
              <a:t>Golden Rule:</a:t>
            </a:r>
          </a:p>
        </p:txBody>
      </p:sp>
      <p:sp>
        <p:nvSpPr>
          <p:cNvPr id="52" name="TextBox 52"/>
          <p:cNvSpPr txBox="1"/>
          <p:nvPr/>
        </p:nvSpPr>
        <p:spPr>
          <a:xfrm>
            <a:off x="8181022" y="4340066"/>
            <a:ext cx="209340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AI-generated content = DRAFT only.</a:t>
            </a:r>
          </a:p>
        </p:txBody>
      </p:sp>
      <p:sp>
        <p:nvSpPr>
          <p:cNvPr id="53" name="TextBox 53"/>
          <p:cNvSpPr txBox="1"/>
          <p:nvPr/>
        </p:nvSpPr>
        <p:spPr>
          <a:xfrm>
            <a:off x="8181022" y="4530566"/>
            <a:ext cx="132226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Never auto-published.</a:t>
            </a:r>
          </a:p>
        </p:txBody>
      </p:sp>
      <p:sp>
        <p:nvSpPr>
          <p:cNvPr id="54" name="TextBox 54"/>
          <p:cNvSpPr txBox="1"/>
          <p:nvPr/>
        </p:nvSpPr>
        <p:spPr>
          <a:xfrm>
            <a:off x="8181022" y="4721066"/>
            <a:ext cx="177410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Customer-facing &amp; compliance</a:t>
            </a:r>
          </a:p>
        </p:txBody>
      </p:sp>
      <p:sp>
        <p:nvSpPr>
          <p:cNvPr id="55" name="TextBox 55"/>
          <p:cNvSpPr txBox="1"/>
          <p:nvPr/>
        </p:nvSpPr>
        <p:spPr>
          <a:xfrm>
            <a:off x="8181022" y="4911566"/>
            <a:ext cx="201508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content requires human sign-off.</a:t>
            </a:r>
          </a:p>
        </p:txBody>
      </p:sp>
      <p:sp>
        <p:nvSpPr>
          <p:cNvPr id="56" name="TextBox 56"/>
          <p:cNvSpPr txBox="1"/>
          <p:nvPr/>
        </p:nvSpPr>
        <p:spPr>
          <a:xfrm>
            <a:off x="558165" y="5411152"/>
            <a:ext cx="1628820"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Long-term AI Vision:</a:t>
            </a:r>
          </a:p>
        </p:txBody>
      </p:sp>
      <p:sp>
        <p:nvSpPr>
          <p:cNvPr id="57" name="TextBox 57"/>
          <p:cNvSpPr txBox="1"/>
          <p:nvPr/>
        </p:nvSpPr>
        <p:spPr>
          <a:xfrm>
            <a:off x="560070" y="5665470"/>
            <a:ext cx="654910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AI-generated packshot variants · AI-assisted lifestyle renderings · Automated product text creation</a:t>
            </a:r>
          </a:p>
        </p:txBody>
      </p:sp>
      <p:sp>
        <p:nvSpPr>
          <p:cNvPr id="58" name="TextBox 58"/>
          <p:cNvSpPr txBox="1"/>
          <p:nvPr/>
        </p:nvSpPr>
        <p:spPr>
          <a:xfrm>
            <a:off x="560070" y="5855970"/>
            <a:ext cx="654253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Automated USPs · Auto care recommendations · Auto customer-ready sales packages · Usage tracking</a:t>
            </a:r>
          </a:p>
        </p:txBody>
      </p:sp>
      <p:sp>
        <p:nvSpPr>
          <p:cNvPr id="59" name="TextBox 59"/>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12</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023461"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08 / Summary</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175455"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Key Decisions &amp; Next Steps</a:t>
            </a:r>
          </a:p>
        </p:txBody>
      </p:sp>
      <p:sp>
        <p:nvSpPr>
          <p:cNvPr id="7" name="TextBox 7"/>
          <p:cNvSpPr txBox="1"/>
          <p:nvPr/>
        </p:nvSpPr>
        <p:spPr>
          <a:xfrm>
            <a:off x="556260" y="1299210"/>
            <a:ext cx="2027130"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Key Decisions Required</a:t>
            </a:r>
          </a:p>
        </p:txBody>
      </p:sp>
      <p:sp>
        <p:nvSpPr>
          <p:cNvPr id="8" name="Rectangle 8"/>
          <p:cNvSpPr/>
          <p:nvPr/>
        </p:nvSpPr>
        <p:spPr>
          <a:xfrm>
            <a:off x="571500" y="16192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9" name="TextBox 9"/>
          <p:cNvSpPr txBox="1"/>
          <p:nvPr/>
        </p:nvSpPr>
        <p:spPr>
          <a:xfrm>
            <a:off x="750570" y="1741170"/>
            <a:ext cx="342728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 PIM includes DAM, or integrate with separate DAM?</a:t>
            </a:r>
          </a:p>
        </p:txBody>
      </p:sp>
      <p:sp>
        <p:nvSpPr>
          <p:cNvPr id="10" name="Rectangle 10"/>
          <p:cNvSpPr/>
          <p:nvPr/>
        </p:nvSpPr>
        <p:spPr>
          <a:xfrm>
            <a:off x="571500" y="20383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11" name="TextBox 11"/>
          <p:cNvSpPr txBox="1"/>
          <p:nvPr/>
        </p:nvSpPr>
        <p:spPr>
          <a:xfrm>
            <a:off x="750570" y="2160270"/>
            <a:ext cx="3381280"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2. Which D365 fields are authoritative vs PIM fields?</a:t>
            </a:r>
          </a:p>
        </p:txBody>
      </p:sp>
      <p:sp>
        <p:nvSpPr>
          <p:cNvPr id="12" name="Rectangle 12"/>
          <p:cNvSpPr/>
          <p:nvPr/>
        </p:nvSpPr>
        <p:spPr>
          <a:xfrm>
            <a:off x="571500" y="24574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13" name="TextBox 13"/>
          <p:cNvSpPr txBox="1"/>
          <p:nvPr/>
        </p:nvSpPr>
        <p:spPr>
          <a:xfrm>
            <a:off x="750570" y="2579370"/>
            <a:ext cx="321040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3. PIM publishes directly or only exposes via APIs?</a:t>
            </a:r>
          </a:p>
        </p:txBody>
      </p:sp>
      <p:sp>
        <p:nvSpPr>
          <p:cNvPr id="14" name="Rectangle 14"/>
          <p:cNvSpPr/>
          <p:nvPr/>
        </p:nvSpPr>
        <p:spPr>
          <a:xfrm>
            <a:off x="571500" y="28765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15" name="TextBox 15"/>
          <p:cNvSpPr txBox="1"/>
          <p:nvPr/>
        </p:nvSpPr>
        <p:spPr>
          <a:xfrm>
            <a:off x="750570" y="2998470"/>
            <a:ext cx="276348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4. How many languages must be supported?</a:t>
            </a:r>
          </a:p>
        </p:txBody>
      </p:sp>
      <p:sp>
        <p:nvSpPr>
          <p:cNvPr id="16" name="Rectangle 16"/>
          <p:cNvSpPr/>
          <p:nvPr/>
        </p:nvSpPr>
        <p:spPr>
          <a:xfrm>
            <a:off x="571500" y="32956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17" name="TextBox 17"/>
          <p:cNvSpPr txBox="1"/>
          <p:nvPr/>
        </p:nvSpPr>
        <p:spPr>
          <a:xfrm>
            <a:off x="750570" y="3417570"/>
            <a:ext cx="213255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5. Multi-step approval required?</a:t>
            </a:r>
          </a:p>
        </p:txBody>
      </p:sp>
      <p:sp>
        <p:nvSpPr>
          <p:cNvPr id="18" name="Rectangle 18"/>
          <p:cNvSpPr/>
          <p:nvPr/>
        </p:nvSpPr>
        <p:spPr>
          <a:xfrm>
            <a:off x="571500" y="37147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19" name="TextBox 19"/>
          <p:cNvSpPr txBox="1"/>
          <p:nvPr/>
        </p:nvSpPr>
        <p:spPr>
          <a:xfrm>
            <a:off x="750570" y="3836670"/>
            <a:ext cx="217855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6. Built-in image engine required?</a:t>
            </a:r>
          </a:p>
        </p:txBody>
      </p:sp>
      <p:sp>
        <p:nvSpPr>
          <p:cNvPr id="20" name="Rectangle 20"/>
          <p:cNvSpPr/>
          <p:nvPr/>
        </p:nvSpPr>
        <p:spPr>
          <a:xfrm>
            <a:off x="6286500" y="16192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21" name="TextBox 21"/>
          <p:cNvSpPr txBox="1"/>
          <p:nvPr/>
        </p:nvSpPr>
        <p:spPr>
          <a:xfrm>
            <a:off x="6465570" y="1741170"/>
            <a:ext cx="288178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7. AI built into PIM or integrated externally?</a:t>
            </a:r>
          </a:p>
        </p:txBody>
      </p:sp>
      <p:sp>
        <p:nvSpPr>
          <p:cNvPr id="22" name="Rectangle 22"/>
          <p:cNvSpPr/>
          <p:nvPr/>
        </p:nvSpPr>
        <p:spPr>
          <a:xfrm>
            <a:off x="6286500" y="20383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23" name="TextBox 23"/>
          <p:cNvSpPr txBox="1"/>
          <p:nvPr/>
        </p:nvSpPr>
        <p:spPr>
          <a:xfrm>
            <a:off x="6465570" y="2160270"/>
            <a:ext cx="324983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8. How automated should catalogue production be?</a:t>
            </a:r>
          </a:p>
        </p:txBody>
      </p:sp>
      <p:sp>
        <p:nvSpPr>
          <p:cNvPr id="24" name="Rectangle 24"/>
          <p:cNvSpPr/>
          <p:nvPr/>
        </p:nvSpPr>
        <p:spPr>
          <a:xfrm>
            <a:off x="6286500" y="24574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25" name="TextBox 25"/>
          <p:cNvSpPr txBox="1"/>
          <p:nvPr/>
        </p:nvSpPr>
        <p:spPr>
          <a:xfrm>
            <a:off x="6465570" y="2579370"/>
            <a:ext cx="346671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9. How should product cards &amp; QR codes use PIM data?</a:t>
            </a:r>
          </a:p>
        </p:txBody>
      </p:sp>
      <p:sp>
        <p:nvSpPr>
          <p:cNvPr id="26" name="Rectangle 26"/>
          <p:cNvSpPr/>
          <p:nvPr/>
        </p:nvSpPr>
        <p:spPr>
          <a:xfrm>
            <a:off x="6286500" y="28765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27" name="TextBox 27"/>
          <p:cNvSpPr txBox="1"/>
          <p:nvPr/>
        </p:nvSpPr>
        <p:spPr>
          <a:xfrm>
            <a:off x="6465570" y="2998470"/>
            <a:ext cx="236915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10. Who owns the material database?</a:t>
            </a:r>
          </a:p>
        </p:txBody>
      </p:sp>
      <p:sp>
        <p:nvSpPr>
          <p:cNvPr id="28" name="Rectangle 28"/>
          <p:cNvSpPr/>
          <p:nvPr/>
        </p:nvSpPr>
        <p:spPr>
          <a:xfrm>
            <a:off x="6286500" y="32956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29" name="TextBox 29"/>
          <p:cNvSpPr txBox="1"/>
          <p:nvPr/>
        </p:nvSpPr>
        <p:spPr>
          <a:xfrm>
            <a:off x="6465570" y="3417570"/>
            <a:ext cx="335499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11. Permissions by department, market, or channel?</a:t>
            </a:r>
          </a:p>
        </p:txBody>
      </p:sp>
      <p:sp>
        <p:nvSpPr>
          <p:cNvPr id="30" name="Rectangle 30"/>
          <p:cNvSpPr/>
          <p:nvPr/>
        </p:nvSpPr>
        <p:spPr>
          <a:xfrm>
            <a:off x="6286500" y="37147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31" name="TextBox 31"/>
          <p:cNvSpPr txBox="1"/>
          <p:nvPr/>
        </p:nvSpPr>
        <p:spPr>
          <a:xfrm>
            <a:off x="6465570" y="3836670"/>
            <a:ext cx="283578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12. Usage tracking required for each asset?</a:t>
            </a:r>
          </a:p>
        </p:txBody>
      </p:sp>
      <p:sp>
        <p:nvSpPr>
          <p:cNvPr id="32" name="Rectangle 32"/>
          <p:cNvSpPr/>
          <p:nvPr/>
        </p:nvSpPr>
        <p:spPr>
          <a:xfrm>
            <a:off x="571500" y="4381500"/>
            <a:ext cx="11049000" cy="1143000"/>
          </a:xfrm>
          <a:prstGeom prst="roundRect">
            <a:avLst>
              <a:gd name="adj" fmla="val 8333"/>
            </a:avLst>
          </a:prstGeom>
          <a:solidFill>
            <a:srgbClr val="586A68"/>
          </a:solidFill>
          <a:ln>
            <a:noFill/>
          </a:ln>
        </p:spPr>
        <p:txBody>
          <a:bodyPr/>
          <a:lstStyle/>
          <a:p>
            <a:endParaRPr lang="da-DK"/>
          </a:p>
        </p:txBody>
      </p:sp>
      <p:sp>
        <p:nvSpPr>
          <p:cNvPr id="33" name="TextBox 33"/>
          <p:cNvSpPr txBox="1"/>
          <p:nvPr/>
        </p:nvSpPr>
        <p:spPr>
          <a:xfrm>
            <a:off x="4671079" y="4569142"/>
            <a:ext cx="2849842"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PIM = Single Source of Truth</a:t>
            </a:r>
          </a:p>
        </p:txBody>
      </p:sp>
      <p:sp>
        <p:nvSpPr>
          <p:cNvPr id="34" name="TextBox 34"/>
          <p:cNvSpPr txBox="1"/>
          <p:nvPr/>
        </p:nvSpPr>
        <p:spPr>
          <a:xfrm>
            <a:off x="2203252" y="4895374"/>
            <a:ext cx="7785497"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Segoe UI"/>
                <a:ea typeface="Microsoft YaHei"/>
                <a:cs typeface="Segoe UI"/>
              </a:rPr>
              <a:t>Product data (D365) + Marketing content + Technical files + Material info + Catalogue content + Digital channels</a:t>
            </a:r>
          </a:p>
        </p:txBody>
      </p:sp>
      <p:sp>
        <p:nvSpPr>
          <p:cNvPr id="35" name="TextBox 35"/>
          <p:cNvSpPr txBox="1"/>
          <p:nvPr/>
        </p:nvSpPr>
        <p:spPr>
          <a:xfrm>
            <a:off x="3468814" y="5189220"/>
            <a:ext cx="5254371" cy="182880"/>
          </a:xfrm>
          <a:prstGeom prst="rect">
            <a:avLst/>
          </a:prstGeom>
          <a:noFill/>
          <a:ln>
            <a:noFill/>
          </a:ln>
        </p:spPr>
        <p:txBody>
          <a:bodyPr wrap="none" lIns="0" tIns="0" rIns="0" bIns="0" anchor="t" anchorCtr="0">
            <a:spAutoFit/>
          </a:bodyPr>
          <a:lstStyle/>
          <a:p>
            <a:pPr algn="ctr"/>
            <a:r>
              <a:rPr lang="zh-CN" sz="900" dirty="0">
                <a:solidFill>
                  <a:srgbClr val="E2C8BD"/>
                </a:solidFill>
                <a:latin typeface="Segoe UI"/>
                <a:ea typeface="Microsoft YaHei"/>
                <a:cs typeface="Segoe UI"/>
              </a:rPr>
              <a:t>Structured · Searchable · Reusable · Consistently distributed across all channels</a:t>
            </a:r>
          </a:p>
        </p:txBody>
      </p:sp>
      <p:sp>
        <p:nvSpPr>
          <p:cNvPr id="36" name="TextBox 36"/>
          <p:cNvSpPr txBox="1"/>
          <p:nvPr/>
        </p:nvSpPr>
        <p:spPr>
          <a:xfrm>
            <a:off x="558165" y="5792152"/>
            <a:ext cx="960587"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Next Steps:</a:t>
            </a:r>
          </a:p>
        </p:txBody>
      </p:sp>
      <p:sp>
        <p:nvSpPr>
          <p:cNvPr id="37" name="TextBox 37"/>
          <p:cNvSpPr txBox="1"/>
          <p:nvPr/>
        </p:nvSpPr>
        <p:spPr>
          <a:xfrm>
            <a:off x="560070" y="6046470"/>
            <a:ext cx="739692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 Finalize key decisions above → 2. Define detailed data model → 3. Select PIM platform → 4. Implementation planning</a:t>
            </a:r>
          </a:p>
        </p:txBody>
      </p:sp>
      <p:sp>
        <p:nvSpPr>
          <p:cNvPr id="38" name="Rectangle 38"/>
          <p:cNvSpPr/>
          <p:nvPr/>
        </p:nvSpPr>
        <p:spPr>
          <a:xfrm>
            <a:off x="571500" y="6477000"/>
            <a:ext cx="1905000" cy="19050"/>
          </a:xfrm>
          <a:prstGeom prst="rect">
            <a:avLst/>
          </a:prstGeom>
          <a:solidFill>
            <a:srgbClr val="586A68">
              <a:alpha val="30000"/>
            </a:srgbClr>
          </a:solidFill>
          <a:ln>
            <a:noFill/>
          </a:ln>
        </p:spPr>
        <p:txBody>
          <a:bodyPr/>
          <a:lstStyle/>
          <a:p>
            <a:endParaRPr lang="da-DK"/>
          </a:p>
        </p:txBody>
      </p:sp>
      <p:sp>
        <p:nvSpPr>
          <p:cNvPr id="39" name="Rectangle 39"/>
          <p:cNvSpPr/>
          <p:nvPr/>
        </p:nvSpPr>
        <p:spPr>
          <a:xfrm>
            <a:off x="2667000" y="6477000"/>
            <a:ext cx="571500" cy="19050"/>
          </a:xfrm>
          <a:prstGeom prst="rect">
            <a:avLst/>
          </a:prstGeom>
          <a:solidFill>
            <a:srgbClr val="C1856B">
              <a:alpha val="40000"/>
            </a:srgbClr>
          </a:solidFill>
          <a:ln>
            <a:noFill/>
          </a:ln>
        </p:spPr>
        <p:txBody>
          <a:bodyPr/>
          <a:lstStyle/>
          <a:p>
            <a:endParaRPr lang="da-DK"/>
          </a:p>
        </p:txBody>
      </p:sp>
      <p:sp>
        <p:nvSpPr>
          <p:cNvPr id="40" name="TextBox 40"/>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13</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AD2A1135A74646B46BFBA37F974AD2" ma:contentTypeVersion="13" ma:contentTypeDescription="Create a new document." ma:contentTypeScope="" ma:versionID="a3831cfc9077fcd28286dfef3dcdcc31">
  <xsd:schema xmlns:xsd="http://www.w3.org/2001/XMLSchema" xmlns:xs="http://www.w3.org/2001/XMLSchema" xmlns:p="http://schemas.microsoft.com/office/2006/metadata/properties" xmlns:ns2="a24c43b6-3851-42ae-a873-f7165c1824d9" xmlns:ns3="d6dabced-f658-4946-a86a-4fdcdc264f2c" targetNamespace="http://schemas.microsoft.com/office/2006/metadata/properties" ma:root="true" ma:fieldsID="1a473672182ee79e551d528f6ad6b87f" ns2:_="" ns3:_="">
    <xsd:import namespace="a24c43b6-3851-42ae-a873-f7165c1824d9"/>
    <xsd:import namespace="d6dabced-f658-4946-a86a-4fdcdc264f2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4c43b6-3851-42ae-a873-f7165c1824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883e127b-0c24-4f06-ab68-326cea09e5ef"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dabced-f658-4946-a86a-4fdcdc264f2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6164b070-70b3-4b6e-b188-10deaef71793}" ma:internalName="TaxCatchAll" ma:showField="CatchAllData" ma:web="d6dabced-f658-4946-a86a-4fdcdc264f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24c43b6-3851-42ae-a873-f7165c1824d9">
      <Terms xmlns="http://schemas.microsoft.com/office/infopath/2007/PartnerControls"/>
    </lcf76f155ced4ddcb4097134ff3c332f>
    <TaxCatchAll xmlns="d6dabced-f658-4946-a86a-4fdcdc264f2c" xsi:nil="true"/>
  </documentManagement>
</p:properties>
</file>

<file path=customXml/itemProps1.xml><?xml version="1.0" encoding="utf-8"?>
<ds:datastoreItem xmlns:ds="http://schemas.openxmlformats.org/officeDocument/2006/customXml" ds:itemID="{17EC5A66-1F49-44CF-9820-CE5E4C008533}"/>
</file>

<file path=customXml/itemProps2.xml><?xml version="1.0" encoding="utf-8"?>
<ds:datastoreItem xmlns:ds="http://schemas.openxmlformats.org/officeDocument/2006/customXml" ds:itemID="{54E57F9B-9BD7-4CA5-BE7C-FF5169C7F8E8}"/>
</file>

<file path=customXml/itemProps3.xml><?xml version="1.0" encoding="utf-8"?>
<ds:datastoreItem xmlns:ds="http://schemas.openxmlformats.org/officeDocument/2006/customXml" ds:itemID="{C96FA89B-56F0-41B1-88DC-B99FA7B94351}"/>
</file>

<file path=docProps/app.xml><?xml version="1.0" encoding="utf-8"?>
<Properties xmlns="http://schemas.openxmlformats.org/officeDocument/2006/extended-properties" xmlns:vt="http://schemas.openxmlformats.org/officeDocument/2006/docPropsVTypes">
  <TotalTime>329</TotalTime>
  <Words>14853</Words>
  <Application>Microsoft Office PowerPoint</Application>
  <PresentationFormat>Widescreen</PresentationFormat>
  <Paragraphs>446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Hiep, Chau Phuc - IT</cp:lastModifiedBy>
  <cp:revision>3</cp:revision>
  <dcterms:created xsi:type="dcterms:W3CDTF">2013-01-27T09:14:16Z</dcterms:created>
  <dcterms:modified xsi:type="dcterms:W3CDTF">2026-05-28T08:14:56Z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0x01010091AD2A1135A74646B46BFBA37F974AD2</vt:lpwstr>
  </property>
</Properties>
</file>