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76250" y="1714500"/>
            <a:ext cx="57150" cy="1905000"/>
          </a:xfrm>
          <a:prstGeom prst="roundRect">
            <a:avLst>
              <a:gd name="adj" fmla="val 50000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0090" y="1929765"/>
            <a:ext cx="50938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PIM System — Phase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90" y="2501265"/>
            <a:ext cx="274065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Foundation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3267075"/>
            <a:ext cx="30613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3-4 months - 3-4 developers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8665" y="6077902"/>
            <a:ext cx="41978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Product Information Management — Core Infrastructure</a:t>
            </a:r>
          </a:p>
        </p:txBody>
      </p:sp>
      <p:sp>
        <p:nvSpPr>
          <p:cNvPr id="9" name="Ellipse 9"/>
          <p:cNvSpPr/>
          <p:nvPr/>
        </p:nvSpPr>
        <p:spPr>
          <a:xfrm>
            <a:off x="7905750" y="1524000"/>
            <a:ext cx="2286000" cy="2286000"/>
          </a:xfrm>
          <a:prstGeom prst="ellipse">
            <a:avLst/>
          </a:prstGeom>
          <a:noFill/>
          <a:ln w="19050">
            <a:solidFill>
              <a:srgbClr val="586A68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8953500" y="2571750"/>
            <a:ext cx="1524000" cy="1524000"/>
          </a:xfrm>
          <a:prstGeom prst="ellipse">
            <a:avLst/>
          </a:prstGeom>
          <a:solidFill>
            <a:srgbClr val="C1856B">
              <a:alpha val="12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906000" y="1809750"/>
            <a:ext cx="1143000" cy="1143000"/>
          </a:xfrm>
          <a:prstGeom prst="ellipse">
            <a:avLst/>
          </a:prstGeom>
          <a:solidFill>
            <a:srgbClr val="586A68">
              <a:alpha val="8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8001000" y="3238500"/>
            <a:ext cx="762000" cy="762000"/>
          </a:xfrm>
          <a:prstGeom prst="ellipse">
            <a:avLst/>
          </a:prstGeom>
          <a:solidFill>
            <a:srgbClr val="753438">
              <a:alpha val="1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9715500" y="1619250"/>
            <a:ext cx="571500" cy="571500"/>
          </a:xfrm>
          <a:prstGeom prst="ellipse">
            <a:avLst/>
          </a:prstGeom>
          <a:solidFill>
            <a:srgbClr val="C1856B">
              <a:alpha val="15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477500" y="2952750"/>
            <a:ext cx="952500" cy="952500"/>
          </a:xfrm>
          <a:prstGeom prst="ellipse">
            <a:avLst/>
          </a:prstGeom>
          <a:noFill/>
          <a:ln w="14288">
            <a:solidFill>
              <a:srgbClr val="B6ADA4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9096375" y="3762375"/>
            <a:ext cx="476250" cy="476250"/>
          </a:xfrm>
          <a:prstGeom prst="ellipse">
            <a:avLst/>
          </a:prstGeom>
          <a:solidFill>
            <a:srgbClr val="586A68">
              <a:alpha val="10000"/>
            </a:srgbClr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762000" y="6477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B6ADA4"/>
            </a:solidFill>
          </a:ln>
        </p:spPr>
      </p:sp>
      <p:sp>
        <p:nvSpPr>
          <p:cNvPr id="17" name="Line 17"/>
          <p:cNvSpPr/>
          <p:nvPr/>
        </p:nvSpPr>
        <p:spPr>
          <a:xfrm>
            <a:off x="4000500" y="6477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C1856B"/>
            </a:solidFill>
          </a:ln>
        </p:spPr>
      </p:sp>
      <p:sp>
        <p:nvSpPr>
          <p:cNvPr id="18" name="Line 18"/>
          <p:cNvSpPr/>
          <p:nvPr/>
        </p:nvSpPr>
        <p:spPr>
          <a:xfrm>
            <a:off x="4953000" y="6477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9525">
            <a:solidFill>
              <a:srgbClr val="B6ADA4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1569636" y="6522720"/>
            <a:ext cx="622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01 / Overview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364940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Phase 1 — Foundation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9665" y="1982152"/>
            <a:ext cx="686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TIMELINE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249805"/>
            <a:ext cx="18084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3-4 months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7760" y="2680335"/>
            <a:ext cx="4184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From kickoff to production-ready core platform</a:t>
            </a:r>
          </a:p>
        </p:txBody>
      </p:sp>
      <p:sp>
        <p:nvSpPr>
          <p:cNvPr id="10" name="Line 10"/>
          <p:cNvSpPr/>
          <p:nvPr/>
        </p:nvSpPr>
        <p:spPr>
          <a:xfrm>
            <a:off x="1143000" y="31432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9525">
            <a:solidFill>
              <a:srgbClr val="B6ADA4">
                <a:alpha val="5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129665" y="3506152"/>
            <a:ext cx="4131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TEAM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6330" y="3773805"/>
            <a:ext cx="237203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3-4 developers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7760" y="4204335"/>
            <a:ext cx="38599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1 senior lead + 2 mid-level + 1 junior developer</a:t>
            </a:r>
          </a:p>
        </p:txBody>
      </p:sp>
      <p:sp>
        <p:nvSpPr>
          <p:cNvPr id="14" name="Line 14"/>
          <p:cNvSpPr/>
          <p:nvPr/>
        </p:nvSpPr>
        <p:spPr>
          <a:xfrm>
            <a:off x="1143000" y="46672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9525">
            <a:solidFill>
              <a:srgbClr val="B6ADA4">
                <a:alpha val="5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29665" y="5030152"/>
            <a:ext cx="4131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GOAL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6330" y="5297805"/>
            <a:ext cx="386951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Core PIM infrastructure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7760" y="5728335"/>
            <a:ext cx="53583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Sync, store, transform, and publish product data end-to-end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02 / Architecture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379662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System Architecture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2095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75343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11085" y="2394585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D365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9132" y="2665095"/>
            <a:ext cx="7392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ERP System</a:t>
            </a:r>
          </a:p>
        </p:txBody>
      </p:sp>
      <p:sp>
        <p:nvSpPr>
          <p:cNvPr id="10" name="Line 10"/>
          <p:cNvSpPr/>
          <p:nvPr/>
        </p:nvSpPr>
        <p:spPr>
          <a:xfrm>
            <a:off x="2286000" y="2571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11" name="Polygon 11"/>
          <p:cNvSpPr/>
          <p:nvPr/>
        </p:nvSpPr>
        <p:spPr>
          <a:xfrm>
            <a:off x="3238500" y="2524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333750" y="1714500"/>
            <a:ext cx="4762500" cy="2667000"/>
          </a:xfrm>
          <a:prstGeom prst="roundRect">
            <a:avLst>
              <a:gd name="adj" fmla="val 2857"/>
            </a:avLst>
          </a:prstGeom>
          <a:solidFill>
            <a:srgbClr val="586A68">
              <a:alpha val="8000"/>
            </a:srgbClr>
          </a:solidFill>
          <a:ln w="19050">
            <a:solidFill>
              <a:srgbClr val="586A6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55472" y="1886902"/>
            <a:ext cx="719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586A68"/>
                </a:solidFill>
                <a:latin typeface="Segoe UI"/>
                <a:ea typeface="Microsoft YaHei"/>
                <a:cs typeface="Segoe UI"/>
              </a:rPr>
              <a:t>PIM CORE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619500" y="2190750"/>
            <a:ext cx="13335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900071" y="23712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Product DB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143500" y="2190750"/>
            <a:ext cx="13335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666149" y="2371249"/>
            <a:ext cx="2882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DAM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667500" y="2190750"/>
            <a:ext cx="11430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795861" y="2371249"/>
            <a:ext cx="8862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Image Engine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619500" y="2952750"/>
            <a:ext cx="13335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935670" y="3133249"/>
            <a:ext cx="7011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AI Service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0" y="2952750"/>
            <a:ext cx="13335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320832" y="3133249"/>
            <a:ext cx="9788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Publish Engine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667500" y="2952750"/>
            <a:ext cx="11430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952500" y="3133249"/>
            <a:ext cx="573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Admin UI</a:t>
            </a:r>
          </a:p>
        </p:txBody>
      </p:sp>
      <p:sp>
        <p:nvSpPr>
          <p:cNvPr id="26" name="Line 26"/>
          <p:cNvSpPr/>
          <p:nvPr/>
        </p:nvSpPr>
        <p:spPr>
          <a:xfrm>
            <a:off x="8096250" y="2190750"/>
            <a:ext cx="857250" cy="381000"/>
          </a:xfrm>
          <a:custGeom>
            <a:avLst/>
            <a:gdLst/>
            <a:ahLst/>
            <a:cxnLst/>
            <a:rect l="l" t="t" r="r" b="b"/>
            <a:pathLst>
              <a:path w="857250" h="381000">
                <a:moveTo>
                  <a:pt x="0" y="381000"/>
                </a:moveTo>
                <a:lnTo>
                  <a:pt x="85725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924925" y="2143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9525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8096250" y="3048000"/>
            <a:ext cx="857250" cy="190500"/>
          </a:xfrm>
          <a:custGeom>
            <a:avLst/>
            <a:gdLst/>
            <a:ahLst/>
            <a:cxnLst/>
            <a:rect l="l" t="t" r="r" b="b"/>
            <a:pathLst>
              <a:path w="857250" h="190500">
                <a:moveTo>
                  <a:pt x="0" y="0"/>
                </a:moveTo>
                <a:lnTo>
                  <a:pt x="857250" y="19050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8924925" y="3190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9525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9048750" y="1905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471349" y="2125028"/>
            <a:ext cx="678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Webshop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048750" y="29527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551859" y="3172778"/>
            <a:ext cx="5177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iPaper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953000"/>
            <a:ext cx="10477500" cy="762000"/>
          </a:xfrm>
          <a:prstGeom prst="roundRect">
            <a:avLst>
              <a:gd name="adj" fmla="val 10000"/>
            </a:avLst>
          </a:prstGeom>
          <a:solidFill>
            <a:srgbClr val="586A68">
              <a:alpha val="5000"/>
            </a:srgbClr>
          </a:solidFill>
          <a:ln w="9525">
            <a:solidFill>
              <a:srgbClr val="B6ADA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31570" y="51225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INFRASTRUCTURE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52500" y="5334000"/>
            <a:ext cx="12382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185577" y="5427345"/>
            <a:ext cx="772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PostgreSQL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381250" y="5334000"/>
            <a:ext cx="952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681764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Redis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524250" y="5334000"/>
            <a:ext cx="11430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785283" y="5427345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RabbitMQ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857750" y="5334000"/>
            <a:ext cx="1333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184458" y="54273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Azure Blob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381750" y="5334000"/>
            <a:ext cx="952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521244" y="542734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Typesense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524750" y="5334000"/>
            <a:ext cx="952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881128" y="54273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CDN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2228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03 / Integration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3318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D365 Product Sync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905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75343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06335" y="2204085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D365</a:t>
            </a:r>
          </a:p>
        </p:txBody>
      </p:sp>
      <p:sp>
        <p:nvSpPr>
          <p:cNvPr id="9" name="Line 9"/>
          <p:cNvSpPr/>
          <p:nvPr/>
        </p:nvSpPr>
        <p:spPr>
          <a:xfrm>
            <a:off x="2286000" y="22860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10" name="Polygon 10"/>
          <p:cNvSpPr/>
          <p:nvPr/>
        </p:nvSpPr>
        <p:spPr>
          <a:xfrm>
            <a:off x="2952750" y="2238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048000" y="1905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430344" y="2220278"/>
            <a:ext cx="7593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RabbitMQ</a:t>
            </a:r>
          </a:p>
        </p:txBody>
      </p:sp>
      <p:sp>
        <p:nvSpPr>
          <p:cNvPr id="13" name="Line 13"/>
          <p:cNvSpPr/>
          <p:nvPr/>
        </p:nvSpPr>
        <p:spPr>
          <a:xfrm>
            <a:off x="4572000" y="22860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5238750" y="2238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334000" y="190500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847824" y="2144078"/>
            <a:ext cx="686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PIM Sync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96130" y="2334578"/>
            <a:ext cx="5902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Worker</a:t>
            </a:r>
          </a:p>
        </p:txBody>
      </p:sp>
      <p:sp>
        <p:nvSpPr>
          <p:cNvPr id="18" name="Line 18"/>
          <p:cNvSpPr/>
          <p:nvPr/>
        </p:nvSpPr>
        <p:spPr>
          <a:xfrm>
            <a:off x="7048500" y="22860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7715250" y="2238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810500" y="1905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00258" y="2220278"/>
            <a:ext cx="9444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PostgreSQL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8665" y="3410902"/>
            <a:ext cx="10491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KEY FEATURES</a:t>
            </a:r>
          </a:p>
        </p:txBody>
      </p:sp>
      <p:sp>
        <p:nvSpPr>
          <p:cNvPr id="23" name="Ellipse 23"/>
          <p:cNvSpPr/>
          <p:nvPr/>
        </p:nvSpPr>
        <p:spPr>
          <a:xfrm>
            <a:off x="914400" y="391477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27760" y="3870960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Every 15 min automatic sync</a:t>
            </a:r>
          </a:p>
        </p:txBody>
      </p:sp>
      <p:sp>
        <p:nvSpPr>
          <p:cNvPr id="25" name="Ellipse 25"/>
          <p:cNvSpPr/>
          <p:nvPr/>
        </p:nvSpPr>
        <p:spPr>
          <a:xfrm>
            <a:off x="914400" y="4343400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27760" y="4299585"/>
            <a:ext cx="39563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Product hierarchy (Range - Master - Variant)</a:t>
            </a:r>
          </a:p>
        </p:txBody>
      </p:sp>
      <p:sp>
        <p:nvSpPr>
          <p:cNvPr id="27" name="Ellipse 27"/>
          <p:cNvSpPr/>
          <p:nvPr/>
        </p:nvSpPr>
        <p:spPr>
          <a:xfrm>
            <a:off x="914400" y="4772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127760" y="4728210"/>
            <a:ext cx="2860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Price &amp; spec change notifications</a:t>
            </a:r>
          </a:p>
        </p:txBody>
      </p:sp>
      <p:sp>
        <p:nvSpPr>
          <p:cNvPr id="29" name="Ellipse 29"/>
          <p:cNvSpPr/>
          <p:nvPr/>
        </p:nvSpPr>
        <p:spPr>
          <a:xfrm>
            <a:off x="914400" y="5200650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27760" y="5156835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Delta sync (only changed records)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572500" y="3524250"/>
            <a:ext cx="2667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751570" y="3712845"/>
            <a:ext cx="8233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SYNC STATUS</a:t>
            </a:r>
          </a:p>
        </p:txBody>
      </p:sp>
      <p:sp>
        <p:nvSpPr>
          <p:cNvPr id="33" name="Ellipse 33"/>
          <p:cNvSpPr/>
          <p:nvPr/>
        </p:nvSpPr>
        <p:spPr>
          <a:xfrm>
            <a:off x="8848725" y="4086225"/>
            <a:ext cx="114300" cy="11430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083040" y="4077652"/>
            <a:ext cx="18515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Products synced: 12,847</a:t>
            </a:r>
          </a:p>
        </p:txBody>
      </p:sp>
      <p:sp>
        <p:nvSpPr>
          <p:cNvPr id="35" name="Ellipse 35"/>
          <p:cNvSpPr/>
          <p:nvPr/>
        </p:nvSpPr>
        <p:spPr>
          <a:xfrm>
            <a:off x="8848725" y="4419600"/>
            <a:ext cx="114300" cy="11430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83040" y="4411028"/>
            <a:ext cx="15525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Last sync: 2 min ago</a:t>
            </a:r>
          </a:p>
        </p:txBody>
      </p:sp>
      <p:sp>
        <p:nvSpPr>
          <p:cNvPr id="37" name="Ellipse 37"/>
          <p:cNvSpPr/>
          <p:nvPr/>
        </p:nvSpPr>
        <p:spPr>
          <a:xfrm>
            <a:off x="8848725" y="4752975"/>
            <a:ext cx="114300" cy="11430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083040" y="474440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Delta changes: 23</a:t>
            </a:r>
          </a:p>
        </p:txBody>
      </p:sp>
      <p:sp>
        <p:nvSpPr>
          <p:cNvPr id="39" name="Ellipse 39"/>
          <p:cNvSpPr/>
          <p:nvPr/>
        </p:nvSpPr>
        <p:spPr>
          <a:xfrm>
            <a:off x="8848725" y="5086350"/>
            <a:ext cx="114300" cy="1143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083040" y="50777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Pending: 5 items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877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04 / Assets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339177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DAM &amp; Image Engine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619250"/>
            <a:ext cx="4953000" cy="38100"/>
          </a:xfrm>
          <a:prstGeom prst="roundRect">
            <a:avLst>
              <a:gd name="adj" fmla="val 50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3950" y="1885950"/>
            <a:ext cx="28789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586A68"/>
                </a:solidFill>
                <a:latin typeface="Segoe UI"/>
                <a:ea typeface="Microsoft YaHei"/>
                <a:cs typeface="Segoe UI"/>
              </a:rPr>
              <a:t>Digital Asset Management</a:t>
            </a:r>
          </a:p>
        </p:txBody>
      </p:sp>
      <p:sp>
        <p:nvSpPr>
          <p:cNvPr id="10" name="Ellipse 10"/>
          <p:cNvSpPr/>
          <p:nvPr/>
        </p:nvSpPr>
        <p:spPr>
          <a:xfrm>
            <a:off x="1057275" y="2486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71588" y="2450306"/>
            <a:ext cx="2805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Upload &amp; manage all product assets</a:t>
            </a:r>
          </a:p>
        </p:txBody>
      </p:sp>
      <p:sp>
        <p:nvSpPr>
          <p:cNvPr id="12" name="Ellipse 12"/>
          <p:cNvSpPr/>
          <p:nvPr/>
        </p:nvSpPr>
        <p:spPr>
          <a:xfrm>
            <a:off x="1057275" y="2867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71588" y="2831306"/>
            <a:ext cx="3076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Folder structure by product category</a:t>
            </a:r>
          </a:p>
        </p:txBody>
      </p:sp>
      <p:sp>
        <p:nvSpPr>
          <p:cNvPr id="14" name="Ellipse 14"/>
          <p:cNvSpPr/>
          <p:nvPr/>
        </p:nvSpPr>
        <p:spPr>
          <a:xfrm>
            <a:off x="1057275" y="3248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71588" y="3212306"/>
            <a:ext cx="31914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Metadata tagging (alt text, keywords)</a:t>
            </a:r>
          </a:p>
        </p:txBody>
      </p:sp>
      <p:sp>
        <p:nvSpPr>
          <p:cNvPr id="16" name="Ellipse 16"/>
          <p:cNvSpPr/>
          <p:nvPr/>
        </p:nvSpPr>
        <p:spPr>
          <a:xfrm>
            <a:off x="1057275" y="3629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71588" y="3593306"/>
            <a:ext cx="23042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Version control with history</a:t>
            </a:r>
          </a:p>
        </p:txBody>
      </p:sp>
      <p:sp>
        <p:nvSpPr>
          <p:cNvPr id="18" name="Ellipse 18"/>
          <p:cNvSpPr/>
          <p:nvPr/>
        </p:nvSpPr>
        <p:spPr>
          <a:xfrm>
            <a:off x="1057275" y="4010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71588" y="3974306"/>
            <a:ext cx="21234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Drag-and-drop bulk upload</a:t>
            </a:r>
          </a:p>
        </p:txBody>
      </p:sp>
      <p:sp>
        <p:nvSpPr>
          <p:cNvPr id="20" name="Ellipse 20"/>
          <p:cNvSpPr/>
          <p:nvPr/>
        </p:nvSpPr>
        <p:spPr>
          <a:xfrm>
            <a:off x="1057275" y="4391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271588" y="4355306"/>
            <a:ext cx="22138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Azure Blob Storage backend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161925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1619250"/>
            <a:ext cx="4953000" cy="38100"/>
          </a:xfrm>
          <a:prstGeom prst="roundRect">
            <a:avLst>
              <a:gd name="adj" fmla="val 50000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48450" y="1885950"/>
            <a:ext cx="14297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Image Engine</a:t>
            </a:r>
          </a:p>
        </p:txBody>
      </p:sp>
      <p:sp>
        <p:nvSpPr>
          <p:cNvPr id="25" name="Ellipse 25"/>
          <p:cNvSpPr/>
          <p:nvPr/>
        </p:nvSpPr>
        <p:spPr>
          <a:xfrm>
            <a:off x="6581775" y="2486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796088" y="2450306"/>
            <a:ext cx="2254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Auto-resize for all formats</a:t>
            </a:r>
          </a:p>
        </p:txBody>
      </p:sp>
      <p:sp>
        <p:nvSpPr>
          <p:cNvPr id="27" name="Ellipse 27"/>
          <p:cNvSpPr/>
          <p:nvPr/>
        </p:nvSpPr>
        <p:spPr>
          <a:xfrm>
            <a:off x="6581775" y="2867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96088" y="2831306"/>
            <a:ext cx="29778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Web, print, and social media presets</a:t>
            </a:r>
          </a:p>
        </p:txBody>
      </p:sp>
      <p:sp>
        <p:nvSpPr>
          <p:cNvPr id="29" name="Ellipse 29"/>
          <p:cNvSpPr/>
          <p:nvPr/>
        </p:nvSpPr>
        <p:spPr>
          <a:xfrm>
            <a:off x="6581775" y="3248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96088" y="3212306"/>
            <a:ext cx="2427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Format conversion on-the-fly</a:t>
            </a:r>
          </a:p>
        </p:txBody>
      </p:sp>
      <p:sp>
        <p:nvSpPr>
          <p:cNvPr id="31" name="Ellipse 31"/>
          <p:cNvSpPr/>
          <p:nvPr/>
        </p:nvSpPr>
        <p:spPr>
          <a:xfrm>
            <a:off x="6581775" y="3629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6088" y="3593306"/>
            <a:ext cx="20331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CDN delivery with caching</a:t>
            </a:r>
          </a:p>
        </p:txBody>
      </p:sp>
      <p:sp>
        <p:nvSpPr>
          <p:cNvPr id="33" name="Ellipse 33"/>
          <p:cNvSpPr/>
          <p:nvPr/>
        </p:nvSpPr>
        <p:spPr>
          <a:xfrm>
            <a:off x="6581775" y="4010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96088" y="3974306"/>
            <a:ext cx="1975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Background removal (AI)</a:t>
            </a:r>
          </a:p>
        </p:txBody>
      </p:sp>
      <p:sp>
        <p:nvSpPr>
          <p:cNvPr id="35" name="Ellipse 35"/>
          <p:cNvSpPr/>
          <p:nvPr/>
        </p:nvSpPr>
        <p:spPr>
          <a:xfrm>
            <a:off x="6581775" y="4391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796088" y="435530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Watermark and crop templates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0570" y="5427345"/>
            <a:ext cx="13616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SUPPORTED FORMATS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715000"/>
            <a:ext cx="666750" cy="304800"/>
          </a:xfrm>
          <a:prstGeom prst="roundRect">
            <a:avLst>
              <a:gd name="adj" fmla="val 125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59640" y="5809774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JPG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571625" y="5715000"/>
            <a:ext cx="666750" cy="304800"/>
          </a:xfrm>
          <a:prstGeom prst="roundRect">
            <a:avLst>
              <a:gd name="adj" fmla="val 125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769265" y="5809774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PNG</a:t>
            </a:r>
          </a:p>
        </p:txBody>
      </p:sp>
      <p:sp>
        <p:nvSpPr>
          <p:cNvPr id="42" name="Rectangle 42"/>
          <p:cNvSpPr/>
          <p:nvPr/>
        </p:nvSpPr>
        <p:spPr>
          <a:xfrm>
            <a:off x="2381250" y="5715000"/>
            <a:ext cx="762000" cy="304800"/>
          </a:xfrm>
          <a:prstGeom prst="roundRect">
            <a:avLst>
              <a:gd name="adj" fmla="val 125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2570445" y="5809774"/>
            <a:ext cx="3836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WebP</a:t>
            </a:r>
          </a:p>
        </p:txBody>
      </p:sp>
      <p:sp>
        <p:nvSpPr>
          <p:cNvPr id="44" name="Rectangle 44"/>
          <p:cNvSpPr/>
          <p:nvPr/>
        </p:nvSpPr>
        <p:spPr>
          <a:xfrm>
            <a:off x="3286125" y="5715000"/>
            <a:ext cx="666750" cy="304800"/>
          </a:xfrm>
          <a:prstGeom prst="roundRect">
            <a:avLst>
              <a:gd name="adj" fmla="val 125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461337" y="5809774"/>
            <a:ext cx="3163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TIFF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095750" y="5715000"/>
            <a:ext cx="666750" cy="304800"/>
          </a:xfrm>
          <a:prstGeom prst="roundRect">
            <a:avLst>
              <a:gd name="adj" fmla="val 125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293390" y="5809774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PDF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05 / AI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333656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AI Text Generation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714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586A6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96219" y="1894999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586A68"/>
                </a:solidFill>
                <a:latin typeface="Segoe UI"/>
                <a:ea typeface="Microsoft YaHei"/>
                <a:cs typeface="Segoe UI"/>
              </a:rPr>
              <a:t>INPUT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4415" y="2220278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Product name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4415" y="2458402"/>
            <a:ext cx="10924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Specifications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4415" y="269652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Materials &amp; dimensions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3812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4191000" y="2333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286250" y="1714500"/>
            <a:ext cx="3048000" cy="1333500"/>
          </a:xfrm>
          <a:prstGeom prst="roundRect">
            <a:avLst>
              <a:gd name="adj" fmla="val 5714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442761" y="1942624"/>
            <a:ext cx="7349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AI SERVICE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04460" y="2259806"/>
            <a:ext cx="12115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Python FastAPI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47356" y="2542699"/>
            <a:ext cx="1925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GPT-4o / Claude integration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04957" y="2780824"/>
            <a:ext cx="22105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Prompt templates per category</a:t>
            </a:r>
          </a:p>
        </p:txBody>
      </p:sp>
      <p:sp>
        <p:nvSpPr>
          <p:cNvPr id="19" name="Line 19"/>
          <p:cNvSpPr/>
          <p:nvPr/>
        </p:nvSpPr>
        <p:spPr>
          <a:xfrm>
            <a:off x="7334250" y="23812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8096250" y="2333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191500" y="1714500"/>
            <a:ext cx="3048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1856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41460" y="1894999"/>
            <a:ext cx="548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OUTPUT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63915" y="2220278"/>
            <a:ext cx="15985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Product descriptions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63915" y="2458402"/>
            <a:ext cx="15295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USPs &amp; selling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63915" y="2696528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SEO-optimized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8665" y="3506152"/>
            <a:ext cx="7351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FEATURES</a:t>
            </a:r>
          </a:p>
        </p:txBody>
      </p:sp>
      <p:sp>
        <p:nvSpPr>
          <p:cNvPr id="27" name="Ellipse 27"/>
          <p:cNvSpPr/>
          <p:nvPr/>
        </p:nvSpPr>
        <p:spPr>
          <a:xfrm>
            <a:off x="914400" y="391477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128712" y="3879056"/>
            <a:ext cx="36104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Multi-language support (DA, EN, DE, NO, SE)</a:t>
            </a:r>
          </a:p>
        </p:txBody>
      </p:sp>
      <p:sp>
        <p:nvSpPr>
          <p:cNvPr id="29" name="Ellipse 29"/>
          <p:cNvSpPr/>
          <p:nvPr/>
        </p:nvSpPr>
        <p:spPr>
          <a:xfrm>
            <a:off x="914400" y="4248150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28712" y="4212431"/>
            <a:ext cx="27149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Tone-of-voice settings per brand</a:t>
            </a:r>
          </a:p>
        </p:txBody>
      </p:sp>
      <p:sp>
        <p:nvSpPr>
          <p:cNvPr id="31" name="Ellipse 31"/>
          <p:cNvSpPr/>
          <p:nvPr/>
        </p:nvSpPr>
        <p:spPr>
          <a:xfrm>
            <a:off x="914400" y="45815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28712" y="4545806"/>
            <a:ext cx="3084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Human review workflow before publish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5048250"/>
            <a:ext cx="10477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31570" y="5236845"/>
            <a:ext cx="5818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EXAMPLE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0618" y="5514499"/>
            <a:ext cx="600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53438"/>
                </a:solidFill>
                <a:latin typeface="Segoe UI"/>
                <a:ea typeface="Microsoft YaHei"/>
                <a:cs typeface="Segoe UI"/>
              </a:rPr>
              <a:t>Before: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92618" y="5514499"/>
            <a:ext cx="41828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Steel bracket, 200mm, zinc-coated, M10 thread, load 500kg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0618" y="5895499"/>
            <a:ext cx="5181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After: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92618" y="5895499"/>
            <a:ext cx="62262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Heavy-duty zinc-coated steel bracket (200mm) with M10 threading. Supports up to 500kg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92618" y="6085999"/>
            <a:ext cx="50585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load capacity. Ideal for industrial mounting and structural applications.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1001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06 / Publishing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475354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Publish — Webshop &amp; iPaper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51435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61925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3950" y="1885950"/>
            <a:ext cx="9697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586A68"/>
                </a:solidFill>
                <a:latin typeface="Segoe UI"/>
                <a:ea typeface="Microsoft YaHei"/>
                <a:cs typeface="Segoe UI"/>
              </a:rPr>
              <a:t>Webshop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0618" y="2180749"/>
            <a:ext cx="19969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Real-time product publishing</a:t>
            </a:r>
          </a:p>
        </p:txBody>
      </p:sp>
      <p:sp>
        <p:nvSpPr>
          <p:cNvPr id="11" name="Ellipse 11"/>
          <p:cNvSpPr/>
          <p:nvPr/>
        </p:nvSpPr>
        <p:spPr>
          <a:xfrm>
            <a:off x="1057275" y="2628900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71588" y="2593181"/>
            <a:ext cx="22877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Real-time sync via webhooks</a:t>
            </a:r>
          </a:p>
        </p:txBody>
      </p:sp>
      <p:sp>
        <p:nvSpPr>
          <p:cNvPr id="13" name="Ellipse 13"/>
          <p:cNvSpPr/>
          <p:nvPr/>
        </p:nvSpPr>
        <p:spPr>
          <a:xfrm>
            <a:off x="1057275" y="296227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71588" y="2926556"/>
            <a:ext cx="2616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Product pages with rich content</a:t>
            </a:r>
          </a:p>
        </p:txBody>
      </p:sp>
      <p:sp>
        <p:nvSpPr>
          <p:cNvPr id="15" name="Ellipse 15"/>
          <p:cNvSpPr/>
          <p:nvPr/>
        </p:nvSpPr>
        <p:spPr>
          <a:xfrm>
            <a:off x="1057275" y="3295650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71588" y="3259931"/>
            <a:ext cx="3503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SEO metadata (title, description, schema)</a:t>
            </a:r>
          </a:p>
        </p:txBody>
      </p:sp>
      <p:sp>
        <p:nvSpPr>
          <p:cNvPr id="17" name="Ellipse 17"/>
          <p:cNvSpPr/>
          <p:nvPr/>
        </p:nvSpPr>
        <p:spPr>
          <a:xfrm>
            <a:off x="1057275" y="3629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71588" y="3593306"/>
            <a:ext cx="2238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Structured data (JSON-LD)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570" y="404622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COMPLETENESS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143000" y="4267200"/>
            <a:ext cx="3810000" cy="76200"/>
          </a:xfrm>
          <a:prstGeom prst="roundRect">
            <a:avLst>
              <a:gd name="adj" fmla="val 50000"/>
            </a:avLst>
          </a:prstGeom>
          <a:solidFill>
            <a:srgbClr val="B6ADA4">
              <a:alpha val="30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143000" y="42672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036820" y="42652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90%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1619250"/>
            <a:ext cx="51435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286500" y="161925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48450" y="1885950"/>
            <a:ext cx="7396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iPaper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5118" y="2180749"/>
            <a:ext cx="21322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Catalogue &amp; flipbook publishing</a:t>
            </a:r>
          </a:p>
        </p:txBody>
      </p:sp>
      <p:sp>
        <p:nvSpPr>
          <p:cNvPr id="27" name="Ellipse 27"/>
          <p:cNvSpPr/>
          <p:nvPr/>
        </p:nvSpPr>
        <p:spPr>
          <a:xfrm>
            <a:off x="6581775" y="2628900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96088" y="2593181"/>
            <a:ext cx="25917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Catalogue export (PDF + digital)</a:t>
            </a:r>
          </a:p>
        </p:txBody>
      </p:sp>
      <p:sp>
        <p:nvSpPr>
          <p:cNvPr id="29" name="Ellipse 29"/>
          <p:cNvSpPr/>
          <p:nvPr/>
        </p:nvSpPr>
        <p:spPr>
          <a:xfrm>
            <a:off x="6581775" y="296227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96088" y="2926556"/>
            <a:ext cx="25178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Layout templates per category</a:t>
            </a:r>
          </a:p>
        </p:txBody>
      </p:sp>
      <p:sp>
        <p:nvSpPr>
          <p:cNvPr id="31" name="Ellipse 31"/>
          <p:cNvSpPr/>
          <p:nvPr/>
        </p:nvSpPr>
        <p:spPr>
          <a:xfrm>
            <a:off x="6581775" y="3295650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6088" y="3259931"/>
            <a:ext cx="2542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Scheduled publishing (seasonal)</a:t>
            </a:r>
          </a:p>
        </p:txBody>
      </p:sp>
      <p:sp>
        <p:nvSpPr>
          <p:cNvPr id="33" name="Ellipse 33"/>
          <p:cNvSpPr/>
          <p:nvPr/>
        </p:nvSpPr>
        <p:spPr>
          <a:xfrm>
            <a:off x="6581775" y="3629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96088" y="3593306"/>
            <a:ext cx="264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Batch export with image presets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6070" y="404622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COMPLETENESS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667500" y="4267200"/>
            <a:ext cx="3810000" cy="76200"/>
          </a:xfrm>
          <a:prstGeom prst="roundRect">
            <a:avLst>
              <a:gd name="adj" fmla="val 50000"/>
            </a:avLst>
          </a:prstGeom>
          <a:solidFill>
            <a:srgbClr val="B6ADA4">
              <a:alpha val="30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667500" y="4267200"/>
            <a:ext cx="2857500" cy="76200"/>
          </a:xfrm>
          <a:prstGeom prst="roundRect">
            <a:avLst>
              <a:gd name="adj" fmla="val 50000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561320" y="42652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75%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62000" y="5238750"/>
            <a:ext cx="10477500" cy="666750"/>
          </a:xfrm>
          <a:prstGeom prst="roundRect">
            <a:avLst>
              <a:gd name="adj" fmla="val 11429"/>
            </a:avLst>
          </a:prstGeom>
          <a:solidFill>
            <a:srgbClr val="753438">
              <a:alpha val="6000"/>
            </a:srgbClr>
          </a:solidFill>
          <a:ln w="9525">
            <a:solidFill>
              <a:srgbClr val="75343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127760" y="5490210"/>
            <a:ext cx="51095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53438"/>
                </a:solidFill>
                <a:latin typeface="Segoe UI"/>
                <a:ea typeface="Microsoft YaHei"/>
                <a:cs typeface="Segoe UI"/>
              </a:rPr>
              <a:t>Rule: Only publish when completeness score reaches 100%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30618" y="5724049"/>
            <a:ext cx="5087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Prevents incomplete or incorrect product data from reaching customers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4681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07 / Administration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456952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Admin, Roles &amp; Audit Trail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9665" y="1791652"/>
            <a:ext cx="15241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ROLE-BASED ACCESS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140268"/>
            <a:ext cx="22701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Four permission levels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8712" y="2497931"/>
            <a:ext cx="45469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Admin - Full system control, user management, settings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8712" y="2736056"/>
            <a:ext cx="46209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Content Manager - Create, edit, publish product content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8712" y="2974181"/>
            <a:ext cx="3528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Reviewer - Approve content, quality checks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8712" y="3212306"/>
            <a:ext cx="34379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Viewer - Read-only access to product data</a:t>
            </a:r>
          </a:p>
        </p:txBody>
      </p:sp>
      <p:sp>
        <p:nvSpPr>
          <p:cNvPr id="13" name="Line 13"/>
          <p:cNvSpPr/>
          <p:nvPr/>
        </p:nvSpPr>
        <p:spPr>
          <a:xfrm>
            <a:off x="1143000" y="3667125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9525">
            <a:solidFill>
              <a:srgbClr val="B6ADA4">
                <a:alpha val="5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129665" y="3934778"/>
            <a:ext cx="16771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COMPLETENESS SCORE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5855" y="4283392"/>
            <a:ext cx="27359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Quality gate for publishing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8712" y="4641056"/>
            <a:ext cx="4579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Per product - track missing fields, images, translations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8712" y="4879181"/>
            <a:ext cx="42512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Per channel - webshop vs iPaper requirements differ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8712" y="5117306"/>
            <a:ext cx="39637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Dashboard view - team-wide progress at a glance</a:t>
            </a:r>
          </a:p>
        </p:txBody>
      </p:sp>
      <p:sp>
        <p:nvSpPr>
          <p:cNvPr id="19" name="Line 19"/>
          <p:cNvSpPr/>
          <p:nvPr/>
        </p:nvSpPr>
        <p:spPr>
          <a:xfrm>
            <a:off x="1143000" y="552450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9525">
            <a:solidFill>
              <a:srgbClr val="B6ADA4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129665" y="5744528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AUDIT TRAIL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8712" y="6069806"/>
            <a:ext cx="83096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Version history with full diff - Who changed what and when - One-click rollback to any previous version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08 / Impact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289491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Business Impact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714500"/>
            <a:ext cx="3238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673838" y="1960245"/>
            <a:ext cx="141482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753438"/>
                </a:solidFill>
                <a:latin typeface="Segoe UI"/>
                <a:ea typeface="Microsoft YaHei"/>
                <a:cs typeface="Segoe UI"/>
              </a:rPr>
              <a:t>Zero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9710" y="263271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shared drive uploads</a:t>
            </a:r>
          </a:p>
        </p:txBody>
      </p:sp>
      <p:sp>
        <p:nvSpPr>
          <p:cNvPr id="10" name="Line 10"/>
          <p:cNvSpPr/>
          <p:nvPr/>
        </p:nvSpPr>
        <p:spPr>
          <a:xfrm>
            <a:off x="1524000" y="3048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B6ADA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400556" y="3228499"/>
            <a:ext cx="19613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strike="sngStrike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Manual file sharing via email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5117" y="3466624"/>
            <a:ext cx="21322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Centralized asset management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1714500"/>
            <a:ext cx="3238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9156" y="1960245"/>
            <a:ext cx="192318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8+ hrs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50701" y="2632710"/>
            <a:ext cx="23000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saved per week per person</a:t>
            </a:r>
          </a:p>
        </p:txBody>
      </p:sp>
      <p:sp>
        <p:nvSpPr>
          <p:cNvPr id="16" name="Line 16"/>
          <p:cNvSpPr/>
          <p:nvPr/>
        </p:nvSpPr>
        <p:spPr>
          <a:xfrm>
            <a:off x="5143500" y="3048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B6ADA4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977336" y="3228499"/>
            <a:ext cx="20468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strike="sngStrike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Copy-paste between systems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44976" y="3466624"/>
            <a:ext cx="19115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Automated sync &amp; AI drafts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01000" y="1714500"/>
            <a:ext cx="3238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795272" y="1945958"/>
            <a:ext cx="164995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Always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50354" y="2326958"/>
            <a:ext cx="193979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correct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63762" y="2823210"/>
            <a:ext cx="17129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content on webshop</a:t>
            </a:r>
          </a:p>
        </p:txBody>
      </p:sp>
      <p:sp>
        <p:nvSpPr>
          <p:cNvPr id="23" name="Line 23"/>
          <p:cNvSpPr/>
          <p:nvPr/>
        </p:nvSpPr>
        <p:spPr>
          <a:xfrm>
            <a:off x="8763000" y="319087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B6ADA4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43437" y="3323749"/>
            <a:ext cx="2153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strike="sngStrike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Outdated prices &amp; specs online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35354" y="3561874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Single source of truth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4381500"/>
            <a:ext cx="10477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129665" y="4601528"/>
            <a:ext cx="1306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BEFORE vs AFTER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9665" y="4982528"/>
            <a:ext cx="12182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53438"/>
                </a:solidFill>
                <a:latin typeface="Segoe UI"/>
                <a:ea typeface="Microsoft YaHei"/>
                <a:cs typeface="Segoe UI"/>
              </a:rPr>
              <a:t>Manual Process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0618" y="5228749"/>
            <a:ext cx="18332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Export from D365 to Excel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0618" y="5419249"/>
            <a:ext cx="18688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Write descriptions in Word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0618" y="56097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Resize images in Photoshop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30618" y="5800249"/>
            <a:ext cx="19044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Upload to webshop manually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413486" y="5250180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63665" y="4982528"/>
            <a:ext cx="11618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Automated PIM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64618" y="5228749"/>
            <a:ext cx="23387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Auto-sync from D365 every 15 min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4618" y="5419249"/>
            <a:ext cx="18047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AI generates descriptions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64618" y="5609749"/>
            <a:ext cx="18332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Image engine auto-resizes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64618" y="5800249"/>
            <a:ext cx="18688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Publish when 100% complete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176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09 / Technology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199320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Tech Stack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35368" y="1809274"/>
            <a:ext cx="7125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FRONTEND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52712" y="1793081"/>
            <a:ext cx="18055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React 18 + TypeScript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2238375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>
              <a:alpha val="85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35368" y="2428399"/>
            <a:ext cx="600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BACKEND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52712" y="2412206"/>
            <a:ext cx="12707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ASP.NET Core 8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85750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35368" y="3047524"/>
            <a:ext cx="7349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AI 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52712" y="3031331"/>
            <a:ext cx="12707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Python FastAPI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3476625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>
              <a:alpha val="7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35368" y="3666649"/>
            <a:ext cx="6826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DATABASE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52712" y="3650456"/>
            <a:ext cx="26940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PostgreSQL - Redis - Typesense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409575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>
              <a:alpha val="5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35368" y="4285774"/>
            <a:ext cx="7574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MESSAGING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52712" y="4269581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RabbitMQ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4714875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>
              <a:alpha val="4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35368" y="4904899"/>
            <a:ext cx="630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STORAGE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52712" y="4888706"/>
            <a:ext cx="13742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Azure Blob + CDN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533400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>
              <a:alpha val="25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5368" y="5524024"/>
            <a:ext cx="11386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INFRASTRUCTURE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52712" y="5507831"/>
            <a:ext cx="17451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Docker / Kubernetes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32320" y="1817370"/>
            <a:ext cx="23757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Admin UI, DAM interface, dashboards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32320" y="2436495"/>
            <a:ext cx="25005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REST API, sync workers, publish engine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32320" y="3055620"/>
            <a:ext cx="22377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Text generation, image processing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32320" y="3674745"/>
            <a:ext cx="2244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Products, cache, full-text search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32320" y="4293870"/>
            <a:ext cx="21391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Event-driven sync, notifications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32320" y="4912995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3B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Images, documents, exports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32320" y="5532120"/>
            <a:ext cx="20273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3B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Container orchestration, CI/CD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973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AD2A1135A74646B46BFBA37F974AD2" ma:contentTypeVersion="13" ma:contentTypeDescription="Create a new document." ma:contentTypeScope="" ma:versionID="a3831cfc9077fcd28286dfef3dcdcc31">
  <xsd:schema xmlns:xsd="http://www.w3.org/2001/XMLSchema" xmlns:xs="http://www.w3.org/2001/XMLSchema" xmlns:p="http://schemas.microsoft.com/office/2006/metadata/properties" xmlns:ns2="a24c43b6-3851-42ae-a873-f7165c1824d9" xmlns:ns3="d6dabced-f658-4946-a86a-4fdcdc264f2c" targetNamespace="http://schemas.microsoft.com/office/2006/metadata/properties" ma:root="true" ma:fieldsID="1a473672182ee79e551d528f6ad6b87f" ns2:_="" ns3:_="">
    <xsd:import namespace="a24c43b6-3851-42ae-a873-f7165c1824d9"/>
    <xsd:import namespace="d6dabced-f658-4946-a86a-4fdcdc264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c43b6-3851-42ae-a873-f7165c1824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83e127b-0c24-4f06-ab68-326cea09e5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abced-f658-4946-a86a-4fdcdc264f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164b070-70b3-4b6e-b188-10deaef71793}" ma:internalName="TaxCatchAll" ma:showField="CatchAllData" ma:web="d6dabced-f658-4946-a86a-4fdcdc264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4c43b6-3851-42ae-a873-f7165c1824d9">
      <Terms xmlns="http://schemas.microsoft.com/office/infopath/2007/PartnerControls"/>
    </lcf76f155ced4ddcb4097134ff3c332f>
    <TaxCatchAll xmlns="d6dabced-f658-4946-a86a-4fdcdc264f2c" xsi:nil="true"/>
  </documentManagement>
</p:properties>
</file>

<file path=customXml/itemProps1.xml><?xml version="1.0" encoding="utf-8"?>
<ds:datastoreItem xmlns:ds="http://schemas.openxmlformats.org/officeDocument/2006/customXml" ds:itemID="{B59A01AC-F7BC-4DF9-998B-791345D15949}"/>
</file>

<file path=customXml/itemProps2.xml><?xml version="1.0" encoding="utf-8"?>
<ds:datastoreItem xmlns:ds="http://schemas.openxmlformats.org/officeDocument/2006/customXml" ds:itemID="{0ABAF409-790D-42C9-812B-50C7024D84EE}"/>
</file>

<file path=customXml/itemProps3.xml><?xml version="1.0" encoding="utf-8"?>
<ds:datastoreItem xmlns:ds="http://schemas.openxmlformats.org/officeDocument/2006/customXml" ds:itemID="{62B7132D-4561-4E33-BDDB-26C39458F6F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0x01010091AD2A1135A74646B46BFBA37F974AD2</vt:lpwstr>
  </property>
</Properties>
</file>