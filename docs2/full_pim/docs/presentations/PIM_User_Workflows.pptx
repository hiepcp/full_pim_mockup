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customXml" Target="../customXml/item3.xml"/><Relationship Id="rId2" Type="http://schemas.openxmlformats.org/officeDocument/2006/relationships/printerSettings" Target="printerSettings/printerSettings1.bin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5" Type="http://schemas.openxmlformats.org/officeDocument/2006/relationships/theme" Target="theme/theme1.xml"/><Relationship Id="rId15" Type="http://schemas.openxmlformats.org/officeDocument/2006/relationships/customXml" Target="../customXml/item1.xml"/><Relationship Id="rId10" Type="http://schemas.openxmlformats.org/officeDocument/2006/relationships/slide" Target="slides/slide4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0" y="0"/>
            <a:ext cx="12192000" cy="57150"/>
            <a:chOff x="0" y="0"/>
            <a:chExt cx="12192000" cy="5715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571500" y="1905000"/>
            <a:ext cx="76200" cy="1714500"/>
            <a:chOff x="571500" y="1905000"/>
            <a:chExt cx="76200" cy="1714500"/>
          </a:xfrm>
        </p:grpSpPr>
        <p:sp>
          <p:nvSpPr>
            <p:cNvPr id="5" name="Rectangle 5"/>
            <p:cNvSpPr/>
            <p:nvPr/>
          </p:nvSpPr>
          <p:spPr>
            <a:xfrm>
              <a:off x="571500" y="1905000"/>
              <a:ext cx="76200" cy="17145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906780" y="2373630"/>
            <a:ext cx="5805354" cy="731520"/>
            <a:chOff x="906780" y="2373630"/>
            <a:chExt cx="5805354" cy="731520"/>
          </a:xfrm>
        </p:grpSpPr>
        <p:sp>
          <p:nvSpPr>
            <p:cNvPr id="7" name="TextBox 7"/>
            <p:cNvSpPr txBox="1"/>
            <p:nvPr/>
          </p:nvSpPr>
          <p:spPr>
            <a:xfrm>
              <a:off x="906780" y="2373630"/>
              <a:ext cx="5805354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PIM — User Workflows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31545" y="3108008"/>
            <a:ext cx="5114592" cy="335280"/>
            <a:chOff x="931545" y="3108008"/>
            <a:chExt cx="5114592" cy="335280"/>
          </a:xfrm>
        </p:grpSpPr>
        <p:sp>
          <p:nvSpPr>
            <p:cNvPr id="9" name="TextBox 9"/>
            <p:cNvSpPr txBox="1"/>
            <p:nvPr/>
          </p:nvSpPr>
          <p:spPr>
            <a:xfrm>
              <a:off x="931545" y="3108008"/>
              <a:ext cx="51145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Quy trình làm việc thực tế của từng vai trò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52500" y="3476625"/>
            <a:ext cx="1905000" cy="28575"/>
            <a:chOff x="952500" y="3476625"/>
            <a:chExt cx="1905000" cy="28575"/>
          </a:xfrm>
        </p:grpSpPr>
        <p:sp>
          <p:nvSpPr>
            <p:cNvPr id="11" name="Rectangle 11"/>
            <p:cNvSpPr/>
            <p:nvPr/>
          </p:nvSpPr>
          <p:spPr>
            <a:xfrm>
              <a:off x="952500" y="3476625"/>
              <a:ext cx="1905000" cy="28575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952500" y="4000500"/>
            <a:ext cx="7429500" cy="476250"/>
            <a:chOff x="952500" y="4000500"/>
            <a:chExt cx="7429500" cy="476250"/>
          </a:xfrm>
        </p:grpSpPr>
        <p:sp>
          <p:nvSpPr>
            <p:cNvPr id="13" name="Rectangle 13"/>
            <p:cNvSpPr/>
            <p:nvPr/>
          </p:nvSpPr>
          <p:spPr>
            <a:xfrm>
              <a:off x="952500" y="4000500"/>
              <a:ext cx="1333500" cy="476250"/>
            </a:xfrm>
            <a:prstGeom prst="roundRect">
              <a:avLst>
                <a:gd name="adj" fmla="val 16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93768" y="4112895"/>
              <a:ext cx="8509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Product Mgr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38620" y="4281488"/>
              <a:ext cx="56126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Quản lý SP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476500" y="4000500"/>
              <a:ext cx="1333500" cy="476250"/>
            </a:xfrm>
            <a:prstGeom prst="roundRect">
              <a:avLst>
                <a:gd name="adj" fmla="val 16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793678" y="4112895"/>
              <a:ext cx="6991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Marketing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20127" y="4281488"/>
              <a:ext cx="44624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Nội dung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00500" y="4000500"/>
              <a:ext cx="1333500" cy="476250"/>
            </a:xfrm>
            <a:prstGeom prst="roundRect">
              <a:avLst>
                <a:gd name="adj" fmla="val 16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45344" y="4112895"/>
              <a:ext cx="443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Editor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76988" y="4281488"/>
              <a:ext cx="38052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Assets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524500" y="4000500"/>
              <a:ext cx="1333500" cy="476250"/>
            </a:xfrm>
            <a:prstGeom prst="roundRect">
              <a:avLst>
                <a:gd name="adj" fmla="val 16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07298" y="4112895"/>
              <a:ext cx="3679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Sales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984558" y="4281488"/>
              <a:ext cx="41338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Tra cứu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048500" y="4000500"/>
              <a:ext cx="1333500" cy="476250"/>
            </a:xfrm>
            <a:prstGeom prst="roundRect">
              <a:avLst>
                <a:gd name="adj" fmla="val 16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517497" y="4112895"/>
              <a:ext cx="3955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Admin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78435" y="4281488"/>
              <a:ext cx="47363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Cấu hình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39165" y="5982652"/>
            <a:ext cx="1598533" cy="213360"/>
            <a:chOff x="939165" y="5982652"/>
            <a:chExt cx="1598533" cy="213360"/>
          </a:xfrm>
        </p:grpSpPr>
        <p:sp>
          <p:nvSpPr>
            <p:cNvPr id="29" name="TextBox 29"/>
            <p:cNvSpPr txBox="1"/>
            <p:nvPr/>
          </p:nvSpPr>
          <p:spPr>
            <a:xfrm>
              <a:off x="939165" y="5982652"/>
              <a:ext cx="15985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E9E9E"/>
                  </a:solidFill>
                  <a:latin typeface="Arial"/>
                  <a:ea typeface="Microsoft YaHei"/>
                  <a:cs typeface="Arial"/>
                </a:rPr>
                <a:t>Cập nhật: 2026-05-19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15500" y="2095500"/>
            <a:ext cx="1714500" cy="2190750"/>
            <a:chOff x="9715500" y="2095500"/>
            <a:chExt cx="1714500" cy="2190750"/>
          </a:xfrm>
        </p:grpSpPr>
        <p:sp>
          <p:nvSpPr>
            <p:cNvPr id="31" name="Ellipse 31"/>
            <p:cNvSpPr/>
            <p:nvPr/>
          </p:nvSpPr>
          <p:spPr>
            <a:xfrm>
              <a:off x="9715500" y="2095500"/>
              <a:ext cx="1524000" cy="1524000"/>
            </a:xfrm>
            <a:prstGeom prst="ellipse">
              <a:avLst/>
            </a:prstGeom>
            <a:solidFill>
              <a:srgbClr val="1565C0">
                <a:alpha val="5000"/>
              </a:srgbClr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0477500" y="3143250"/>
              <a:ext cx="952500" cy="952500"/>
            </a:xfrm>
            <a:prstGeom prst="ellipse">
              <a:avLst/>
            </a:prstGeom>
            <a:solidFill>
              <a:srgbClr val="00897B">
                <a:alpha val="5000"/>
              </a:srgbClr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9810750" y="3714750"/>
              <a:ext cx="571500" cy="571500"/>
            </a:xfrm>
            <a:prstGeom prst="ellipse">
              <a:avLst/>
            </a:prstGeom>
            <a:solidFill>
              <a:srgbClr val="7C4DFF">
                <a:alpha val="50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500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50"/>
                            </p:stCondLst>
                            <p:childTnLst>
                              <p:par>
                                <p:cTn id="3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  <p:bldP spid="12" grpId="0"/>
      <p:bldP spid="28" grpId="0"/>
      <p:bldP spid="30" grpId="0"/>
      <p:bldP spid="3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502920"/>
            <a:ext cx="3207753" cy="487680"/>
            <a:chOff x="541020" y="502920"/>
            <a:chExt cx="3207753" cy="487680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502920"/>
              <a:ext cx="3207753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Tổng Quan Vai Trò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904875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71500" y="1238250"/>
            <a:ext cx="11049000" cy="381000"/>
            <a:chOff x="571500" y="1238250"/>
            <a:chExt cx="11049000" cy="381000"/>
          </a:xfrm>
        </p:grpSpPr>
        <p:sp>
          <p:nvSpPr>
            <p:cNvPr id="8" name="Rectangle 8"/>
            <p:cNvSpPr/>
            <p:nvPr/>
          </p:nvSpPr>
          <p:spPr>
            <a:xfrm>
              <a:off x="571500" y="1238250"/>
              <a:ext cx="11049000" cy="3810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8665" y="1372552"/>
              <a:ext cx="5660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Vai trò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844165" y="1372552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Việc chính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06665" y="1372552"/>
              <a:ext cx="6949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Tần suất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702165" y="1372552"/>
              <a:ext cx="4292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Tools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1619250"/>
            <a:ext cx="11049000" cy="666750"/>
            <a:chOff x="571500" y="1619250"/>
            <a:chExt cx="11049000" cy="666750"/>
          </a:xfrm>
        </p:grpSpPr>
        <p:sp>
          <p:nvSpPr>
            <p:cNvPr id="14" name="Rectangle 14"/>
            <p:cNvSpPr/>
            <p:nvPr/>
          </p:nvSpPr>
          <p:spPr>
            <a:xfrm>
              <a:off x="571500" y="1619250"/>
              <a:ext cx="11049000" cy="666750"/>
            </a:xfrm>
            <a:prstGeom prst="rect">
              <a:avLst/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23900" y="1819275"/>
              <a:ext cx="266700" cy="266700"/>
            </a:xfrm>
            <a:prstGeom prst="ellipse">
              <a:avLst/>
            </a:prstGeom>
            <a:solidFill>
              <a:srgbClr val="1565C0">
                <a:alpha val="15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39252" y="1886902"/>
              <a:ext cx="2359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PM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28712" y="1783556"/>
              <a:ext cx="14432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Product Manager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1570" y="2017395"/>
              <a:ext cx="23494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Quản lý cấu trúc sản phẩm, lifecycle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45118" y="1847374"/>
              <a:ext cx="2701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Gán metadata, assign task, duyệt cuối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07618" y="1847374"/>
              <a:ext cx="7275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Hàng ngày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704070" y="1855470"/>
              <a:ext cx="1403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Dashboard, D365 sync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2286000"/>
            <a:ext cx="11049000" cy="666750"/>
            <a:chOff x="571500" y="2286000"/>
            <a:chExt cx="11049000" cy="666750"/>
          </a:xfrm>
        </p:grpSpPr>
        <p:sp>
          <p:nvSpPr>
            <p:cNvPr id="23" name="Rectangle 23"/>
            <p:cNvSpPr/>
            <p:nvPr/>
          </p:nvSpPr>
          <p:spPr>
            <a:xfrm>
              <a:off x="571500" y="2286000"/>
              <a:ext cx="11049000" cy="666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723900" y="2486025"/>
              <a:ext cx="266700" cy="266700"/>
            </a:xfrm>
            <a:prstGeom prst="ellipse">
              <a:avLst/>
            </a:prstGeom>
            <a:solidFill>
              <a:srgbClr val="00897B">
                <a:alpha val="15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9252" y="2553652"/>
              <a:ext cx="2359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MK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28712" y="2450306"/>
              <a:ext cx="8739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Marketing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31570" y="2684145"/>
              <a:ext cx="21456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Viết nội dung, tạo caption, duyệt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45118" y="2514124"/>
              <a:ext cx="29724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AI generate text, review, submit approval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07618" y="2514124"/>
              <a:ext cx="7275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Hàng ngày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04070" y="2522220"/>
              <a:ext cx="11795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Claude Sonnet, QC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71500" y="2952750"/>
            <a:ext cx="11049000" cy="666750"/>
            <a:chOff x="571500" y="2952750"/>
            <a:chExt cx="11049000" cy="666750"/>
          </a:xfrm>
        </p:grpSpPr>
        <p:sp>
          <p:nvSpPr>
            <p:cNvPr id="32" name="Rectangle 32"/>
            <p:cNvSpPr/>
            <p:nvPr/>
          </p:nvSpPr>
          <p:spPr>
            <a:xfrm>
              <a:off x="571500" y="2952750"/>
              <a:ext cx="11049000" cy="666750"/>
            </a:xfrm>
            <a:prstGeom prst="rect">
              <a:avLst/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723900" y="3152775"/>
              <a:ext cx="266700" cy="266700"/>
            </a:xfrm>
            <a:prstGeom prst="ellipse">
              <a:avLst/>
            </a:prstGeom>
            <a:solidFill>
              <a:srgbClr val="7C4DFF">
                <a:alpha val="15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5354" y="32204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CE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8712" y="3117056"/>
              <a:ext cx="12707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Content Editor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31570" y="3350895"/>
              <a:ext cx="21917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Upload/quản lý ảnh, video, tài liệu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845118" y="3180874"/>
              <a:ext cx="30151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Upload assets, review auto-tags, gán type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07618" y="3180874"/>
              <a:ext cx="7275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Hàng ngày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704070" y="3188970"/>
              <a:ext cx="12255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tus.io, Florence-2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71500" y="3619500"/>
            <a:ext cx="11049000" cy="666750"/>
            <a:chOff x="571500" y="3619500"/>
            <a:chExt cx="11049000" cy="666750"/>
          </a:xfrm>
        </p:grpSpPr>
        <p:sp>
          <p:nvSpPr>
            <p:cNvPr id="41" name="Rectangle 41"/>
            <p:cNvSpPr/>
            <p:nvPr/>
          </p:nvSpPr>
          <p:spPr>
            <a:xfrm>
              <a:off x="571500" y="3619500"/>
              <a:ext cx="11049000" cy="666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723900" y="3819525"/>
              <a:ext cx="266700" cy="266700"/>
            </a:xfrm>
            <a:prstGeom prst="ellipse">
              <a:avLst/>
            </a:prstGeom>
            <a:solidFill>
              <a:srgbClr val="1565C0">
                <a:alpha val="15000"/>
              </a:srgbClr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55354" y="388715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SL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28712" y="3783806"/>
              <a:ext cx="4598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Sales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31570" y="4017645"/>
              <a:ext cx="20931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Tra cứu, tải tài liệu, chia sẻ link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845118" y="3847624"/>
              <a:ext cx="31432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Search, download, shareable link, export zip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07618" y="3847624"/>
              <a:ext cx="5018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Khi cần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704070" y="3855720"/>
              <a:ext cx="12913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Typesense, JWT link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4286250"/>
            <a:ext cx="11049000" cy="666750"/>
            <a:chOff x="571500" y="4286250"/>
            <a:chExt cx="11049000" cy="666750"/>
          </a:xfrm>
        </p:grpSpPr>
        <p:sp>
          <p:nvSpPr>
            <p:cNvPr id="50" name="Rectangle 50"/>
            <p:cNvSpPr/>
            <p:nvPr/>
          </p:nvSpPr>
          <p:spPr>
            <a:xfrm>
              <a:off x="571500" y="4286250"/>
              <a:ext cx="11049000" cy="666750"/>
            </a:xfrm>
            <a:prstGeom prst="rect">
              <a:avLst/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723900" y="4486275"/>
              <a:ext cx="266700" cy="266700"/>
            </a:xfrm>
            <a:prstGeom prst="ellipse">
              <a:avLst/>
            </a:prstGeom>
            <a:solidFill>
              <a:srgbClr val="00897B">
                <a:alpha val="15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55354" y="4553902"/>
              <a:ext cx="203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AD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28712" y="4450556"/>
              <a:ext cx="4943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Admin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31570" y="4684395"/>
              <a:ext cx="19551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Cấu hình hệ thống, user, sync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845118" y="4514374"/>
              <a:ext cx="31361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User/role, D365 sync config, webhook, rules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607618" y="4514374"/>
              <a:ext cx="6940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Hàng tuần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704070" y="4522470"/>
              <a:ext cx="8641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Entra ID, Seq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71500" y="5334000"/>
            <a:ext cx="11049000" cy="571500"/>
            <a:chOff x="571500" y="5334000"/>
            <a:chExt cx="11049000" cy="571500"/>
          </a:xfrm>
        </p:grpSpPr>
        <p:sp>
          <p:nvSpPr>
            <p:cNvPr id="59" name="Rectangle 59"/>
            <p:cNvSpPr/>
            <p:nvPr/>
          </p:nvSpPr>
          <p:spPr>
            <a:xfrm>
              <a:off x="571500" y="5334000"/>
              <a:ext cx="11049000" cy="571500"/>
            </a:xfrm>
            <a:prstGeom prst="roundRect">
              <a:avLst>
                <a:gd name="adj" fmla="val 20000"/>
              </a:avLst>
            </a:prstGeom>
            <a:solidFill>
              <a:srgbClr val="1565C0">
                <a:alpha val="4000"/>
              </a:srgbClr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424880" y="5555456"/>
              <a:ext cx="53422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5 vai trò · Mỗi người có workflow rõ ràng · AI hỗ trợ xuyên suốt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1477482" y="65784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500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2" grpId="0"/>
      <p:bldP spid="31" grpId="0"/>
      <p:bldP spid="40" grpId="0"/>
      <p:bldP spid="49" grpId="0"/>
      <p:bldP spid="58" grpId="0"/>
      <p:bldP spid="6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502920"/>
            <a:ext cx="5176799" cy="487680"/>
            <a:chOff x="541020" y="502920"/>
            <a:chExt cx="5176799" cy="487680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502920"/>
              <a:ext cx="517679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Product Manager — Workflow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904875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71500" y="1238250"/>
            <a:ext cx="11049000" cy="762000"/>
            <a:chOff x="571500" y="1238250"/>
            <a:chExt cx="11049000" cy="762000"/>
          </a:xfrm>
        </p:grpSpPr>
        <p:sp>
          <p:nvSpPr>
            <p:cNvPr id="8" name="Rectangle 8"/>
            <p:cNvSpPr/>
            <p:nvPr/>
          </p:nvSpPr>
          <p:spPr>
            <a:xfrm>
              <a:off x="571500" y="123825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238250"/>
              <a:ext cx="57150" cy="7620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3915" y="1391602"/>
              <a:ext cx="15966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1. D365 Sync tự động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4868" y="1609249"/>
              <a:ext cx="59770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Delta sync hourly pull master data → Products xuất hiện trong PIM (completeness 20%)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5820" y="1788795"/>
              <a:ext cx="18105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Tự động, không cần thao tác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24634" y="1997392"/>
            <a:ext cx="142732" cy="274320"/>
            <a:chOff x="6024634" y="1997392"/>
            <a:chExt cx="142732" cy="274320"/>
          </a:xfrm>
        </p:grpSpPr>
        <p:sp>
          <p:nvSpPr>
            <p:cNvPr id="14" name="TextBox 14"/>
            <p:cNvSpPr txBox="1"/>
            <p:nvPr/>
          </p:nvSpPr>
          <p:spPr>
            <a:xfrm>
              <a:off x="6024634" y="1997392"/>
              <a:ext cx="1427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▼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71500" y="2286000"/>
            <a:ext cx="11049000" cy="762000"/>
            <a:chOff x="571500" y="2286000"/>
            <a:chExt cx="11049000" cy="762000"/>
          </a:xfrm>
        </p:grpSpPr>
        <p:sp>
          <p:nvSpPr>
            <p:cNvPr id="16" name="Rectangle 16"/>
            <p:cNvSpPr/>
            <p:nvPr/>
          </p:nvSpPr>
          <p:spPr>
            <a:xfrm>
              <a:off x="571500" y="228600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71500" y="2286000"/>
              <a:ext cx="57150" cy="7620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3915" y="2439352"/>
              <a:ext cx="15402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2. Check Dashboard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4868" y="2656999"/>
              <a:ext cx="42611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PM mở Dashboard → thấy sản phẩm mới → Click vào xem thiếu gì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5820" y="2836545"/>
              <a:ext cx="24940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Completeness score hiển thị trực quan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24634" y="3045142"/>
            <a:ext cx="142732" cy="274320"/>
            <a:chOff x="6024634" y="3045142"/>
            <a:chExt cx="142732" cy="274320"/>
          </a:xfrm>
        </p:grpSpPr>
        <p:sp>
          <p:nvSpPr>
            <p:cNvPr id="22" name="TextBox 22"/>
            <p:cNvSpPr txBox="1"/>
            <p:nvPr/>
          </p:nvSpPr>
          <p:spPr>
            <a:xfrm>
              <a:off x="6024634" y="3045142"/>
              <a:ext cx="1427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▼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71500" y="3333750"/>
            <a:ext cx="11049000" cy="952500"/>
            <a:chOff x="571500" y="3333750"/>
            <a:chExt cx="11049000" cy="952500"/>
          </a:xfrm>
        </p:grpSpPr>
        <p:sp>
          <p:nvSpPr>
            <p:cNvPr id="24" name="Rectangle 24"/>
            <p:cNvSpPr/>
            <p:nvPr/>
          </p:nvSpPr>
          <p:spPr>
            <a:xfrm>
              <a:off x="571500" y="3333750"/>
              <a:ext cx="11049000" cy="952500"/>
            </a:xfrm>
            <a:prstGeom prst="roundRect">
              <a:avLst>
                <a:gd name="adj" fmla="val 12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71500" y="3333750"/>
              <a:ext cx="57150" cy="95250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3915" y="3487102"/>
              <a:ext cx="1306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3. Gán Metadata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4868" y="3704749"/>
              <a:ext cx="51724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Chọn Range / Category · Thêm dynamic attributes (Material, Designer...)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4868" y="3895249"/>
              <a:ext cx="29866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Set lifecycle status: Development → Active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5820" y="4093845"/>
              <a:ext cx="28752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EAV system cho phép thêm attribute runtime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024634" y="4283392"/>
            <a:ext cx="142732" cy="274320"/>
            <a:chOff x="6024634" y="4283392"/>
            <a:chExt cx="142732" cy="274320"/>
          </a:xfrm>
        </p:grpSpPr>
        <p:sp>
          <p:nvSpPr>
            <p:cNvPr id="31" name="TextBox 31"/>
            <p:cNvSpPr txBox="1"/>
            <p:nvPr/>
          </p:nvSpPr>
          <p:spPr>
            <a:xfrm>
              <a:off x="6024634" y="4283392"/>
              <a:ext cx="1427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▼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1500" y="4572000"/>
            <a:ext cx="11049000" cy="762000"/>
            <a:chOff x="571500" y="4572000"/>
            <a:chExt cx="11049000" cy="762000"/>
          </a:xfrm>
        </p:grpSpPr>
        <p:sp>
          <p:nvSpPr>
            <p:cNvPr id="33" name="Rectangle 33"/>
            <p:cNvSpPr/>
            <p:nvPr/>
          </p:nvSpPr>
          <p:spPr>
            <a:xfrm>
              <a:off x="571500" y="457200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71500" y="4572000"/>
              <a:ext cx="57150" cy="76200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3915" y="4725352"/>
              <a:ext cx="11457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4. Assign Task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4868" y="4942999"/>
              <a:ext cx="46456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Assign cho Marketing (viết text) + Content Editor (upload assets)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5820" y="5122545"/>
              <a:ext cx="2940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Notification tự động gửi đi → Workflow bắt đầu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71500" y="5619750"/>
            <a:ext cx="11049000" cy="571500"/>
            <a:chOff x="571500" y="5619750"/>
            <a:chExt cx="11049000" cy="571500"/>
          </a:xfrm>
        </p:grpSpPr>
        <p:sp>
          <p:nvSpPr>
            <p:cNvPr id="39" name="Rectangle 39"/>
            <p:cNvSpPr/>
            <p:nvPr/>
          </p:nvSpPr>
          <p:spPr>
            <a:xfrm>
              <a:off x="571500" y="5619750"/>
              <a:ext cx="11049000" cy="571500"/>
            </a:xfrm>
            <a:prstGeom prst="roundRect">
              <a:avLst>
                <a:gd name="adj" fmla="val 13333"/>
              </a:avLst>
            </a:prstGeom>
            <a:solidFill>
              <a:srgbClr val="1565C0">
                <a:alpha val="4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44868" y="5781199"/>
              <a:ext cx="14676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Hàng ngày kiểm tra: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940368" y="5781199"/>
              <a:ext cx="32999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Completeness score · Sync log · Approval queue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1477482" y="65784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500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5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200"/>
                            </p:stCondLst>
                            <p:childTnLst>
                              <p:par>
                                <p:cTn id="3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5" grpId="0"/>
      <p:bldP spid="21" grpId="0"/>
      <p:bldP spid="23" grpId="0"/>
      <p:bldP spid="30" grpId="0"/>
      <p:bldP spid="32" grpId="0"/>
      <p:bldP spid="38" grpId="0"/>
      <p:bldP spid="4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00897B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502920"/>
            <a:ext cx="3962248" cy="487680"/>
            <a:chOff x="541020" y="502920"/>
            <a:chExt cx="3962248" cy="487680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502920"/>
              <a:ext cx="396224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Marketing — Workflow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904875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71500" y="1190625"/>
            <a:ext cx="5334000" cy="1047750"/>
            <a:chOff x="571500" y="1190625"/>
            <a:chExt cx="5334000" cy="1047750"/>
          </a:xfrm>
        </p:grpSpPr>
        <p:sp>
          <p:nvSpPr>
            <p:cNvPr id="8" name="Rectangle 8"/>
            <p:cNvSpPr/>
            <p:nvPr/>
          </p:nvSpPr>
          <p:spPr>
            <a:xfrm>
              <a:off x="571500" y="1190625"/>
              <a:ext cx="5334000" cy="1047750"/>
            </a:xfrm>
            <a:prstGeom prst="roundRect">
              <a:avLst>
                <a:gd name="adj" fmla="val 10909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190625"/>
              <a:ext cx="57150" cy="10477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3915" y="1315402"/>
              <a:ext cx="15563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1. Nhận notification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4868" y="1533049"/>
              <a:ext cx="17264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"Product X cần nội dung"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4868" y="1723549"/>
              <a:ext cx="21465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Mở product → tab Text Content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5820" y="1979295"/>
              <a:ext cx="11467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Từ PM assign task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286500" y="1190625"/>
            <a:ext cx="5334000" cy="1047750"/>
            <a:chOff x="6286500" y="1190625"/>
            <a:chExt cx="5334000" cy="1047750"/>
          </a:xfrm>
        </p:grpSpPr>
        <p:sp>
          <p:nvSpPr>
            <p:cNvPr id="15" name="Rectangle 15"/>
            <p:cNvSpPr/>
            <p:nvPr/>
          </p:nvSpPr>
          <p:spPr>
            <a:xfrm>
              <a:off x="6286500" y="1190625"/>
              <a:ext cx="5334000" cy="1047750"/>
            </a:xfrm>
            <a:prstGeom prst="roundRect">
              <a:avLst>
                <a:gd name="adj" fmla="val 10909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286500" y="1190625"/>
              <a:ext cx="57150" cy="1047750"/>
            </a:xfrm>
            <a:prstGeom prst="roundRect">
              <a:avLst>
                <a:gd name="adj" fmla="val 50000"/>
              </a:avLst>
            </a:prstGeom>
            <a:solidFill>
              <a:srgbClr val="7C4D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58915" y="1315402"/>
              <a:ext cx="11457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2. AI Generate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59868" y="1533049"/>
              <a:ext cx="23316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Click "AI Generate" cho từng loại: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59868" y="1723549"/>
              <a:ext cx="24455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B2B · B2C · USP · Care Instructions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60820" y="1979295"/>
              <a:ext cx="28817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Claude Sonnet + few-shot → JSON structured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175063" y="2299335"/>
            <a:ext cx="5841874" cy="243840"/>
            <a:chOff x="3175063" y="2299335"/>
            <a:chExt cx="5841874" cy="243840"/>
          </a:xfrm>
        </p:grpSpPr>
        <p:sp>
          <p:nvSpPr>
            <p:cNvPr id="22" name="TextBox 22"/>
            <p:cNvSpPr txBox="1"/>
            <p:nvPr/>
          </p:nvSpPr>
          <p:spPr>
            <a:xfrm>
              <a:off x="3175063" y="2299335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▼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890064" y="2299335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▼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2571750"/>
            <a:ext cx="5334000" cy="1047750"/>
            <a:chOff x="571500" y="2571750"/>
            <a:chExt cx="5334000" cy="1047750"/>
          </a:xfrm>
        </p:grpSpPr>
        <p:sp>
          <p:nvSpPr>
            <p:cNvPr id="25" name="Rectangle 25"/>
            <p:cNvSpPr/>
            <p:nvPr/>
          </p:nvSpPr>
          <p:spPr>
            <a:xfrm>
              <a:off x="571500" y="2571750"/>
              <a:ext cx="5334000" cy="1047750"/>
            </a:xfrm>
            <a:prstGeom prst="roundRect">
              <a:avLst>
                <a:gd name="adj" fmla="val 10909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71500" y="2571750"/>
              <a:ext cx="57150" cy="10477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43915" y="2696528"/>
              <a:ext cx="12745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3. Review + Edit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4868" y="2914174"/>
              <a:ext cx="12921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Chỉnh sửa draft AI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4868" y="3104674"/>
              <a:ext cx="20824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Chọn ngôn ngữ (VI, EN, DA...)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5820" y="3360420"/>
              <a:ext cx="15541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Save → status = "Draft"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86500" y="2571750"/>
            <a:ext cx="5334000" cy="1047750"/>
            <a:chOff x="6286500" y="2571750"/>
            <a:chExt cx="5334000" cy="1047750"/>
          </a:xfrm>
        </p:grpSpPr>
        <p:sp>
          <p:nvSpPr>
            <p:cNvPr id="32" name="Rectangle 32"/>
            <p:cNvSpPr/>
            <p:nvPr/>
          </p:nvSpPr>
          <p:spPr>
            <a:xfrm>
              <a:off x="6286500" y="2571750"/>
              <a:ext cx="5334000" cy="1047750"/>
            </a:xfrm>
            <a:prstGeom prst="roundRect">
              <a:avLst>
                <a:gd name="adj" fmla="val 10909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86500" y="2571750"/>
              <a:ext cx="57150" cy="1047750"/>
            </a:xfrm>
            <a:prstGeom prst="roundRect">
              <a:avLst>
                <a:gd name="adj" fmla="val 50000"/>
              </a:avLst>
            </a:prstGeom>
            <a:solidFill>
              <a:srgbClr val="7C4D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58915" y="2696528"/>
              <a:ext cx="18945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4. Quality Check (auto)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59868" y="2914174"/>
              <a:ext cx="21180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Độ dài OK? · Brand voice ≥0.7?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59868" y="3104674"/>
              <a:ext cx="20112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Trùng SP khác? · Badge inline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60820" y="3360420"/>
              <a:ext cx="18762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Async — pgvector + LLM judge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32564" y="3680460"/>
            <a:ext cx="126873" cy="243840"/>
            <a:chOff x="6032564" y="3680460"/>
            <a:chExt cx="126873" cy="243840"/>
          </a:xfrm>
        </p:grpSpPr>
        <p:sp>
          <p:nvSpPr>
            <p:cNvPr id="39" name="TextBox 39"/>
            <p:cNvSpPr txBox="1"/>
            <p:nvPr/>
          </p:nvSpPr>
          <p:spPr>
            <a:xfrm>
              <a:off x="6032564" y="3680460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▼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3952875"/>
            <a:ext cx="11049000" cy="857250"/>
            <a:chOff x="571500" y="3952875"/>
            <a:chExt cx="11049000" cy="857250"/>
          </a:xfrm>
        </p:grpSpPr>
        <p:sp>
          <p:nvSpPr>
            <p:cNvPr id="41" name="Rectangle 41"/>
            <p:cNvSpPr/>
            <p:nvPr/>
          </p:nvSpPr>
          <p:spPr>
            <a:xfrm>
              <a:off x="571500" y="3952875"/>
              <a:ext cx="11049000" cy="857250"/>
            </a:xfrm>
            <a:prstGeom prst="roundRect">
              <a:avLst>
                <a:gd name="adj" fmla="val 13333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71500" y="3952875"/>
              <a:ext cx="57150" cy="85725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3915" y="4106228"/>
              <a:ext cx="16288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5. Submit → Approval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4868" y="4352449"/>
              <a:ext cx="46669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Marketing submit → status "InReview" → Approver nhận notification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4868" y="4561999"/>
              <a:ext cx="46242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Approver duyệt/reject + comment → Approved → status "Published"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71500" y="5095875"/>
            <a:ext cx="11049000" cy="762000"/>
            <a:chOff x="571500" y="5095875"/>
            <a:chExt cx="11049000" cy="762000"/>
          </a:xfrm>
        </p:grpSpPr>
        <p:sp>
          <p:nvSpPr>
            <p:cNvPr id="47" name="Rectangle 47"/>
            <p:cNvSpPr/>
            <p:nvPr/>
          </p:nvSpPr>
          <p:spPr>
            <a:xfrm>
              <a:off x="571500" y="5095875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00897B">
                <a:alpha val="4000"/>
              </a:srgbClr>
            </a:solidFill>
            <a:ln w="9525">
              <a:solidFill>
                <a:srgbClr val="00897B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43915" y="5249228"/>
              <a:ext cx="24822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Bonus: Tạo Caption Social Media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44868" y="5495449"/>
              <a:ext cx="75362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Chọn product + platform (FB/LinkedIn/TikTok) → "Generate Caption" → AI sinh caption + hashtags → Copy/push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1477482" y="65784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500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5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200"/>
                            </p:stCondLst>
                            <p:childTnLst>
                              <p:par>
                                <p:cTn id="3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  <p:bldP spid="21" grpId="0"/>
      <p:bldP spid="24" grpId="0"/>
      <p:bldP spid="31" grpId="0"/>
      <p:bldP spid="38" grpId="0"/>
      <p:bldP spid="40" grpId="0"/>
      <p:bldP spid="46" grpId="0"/>
      <p:bldP spid="5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7C4DFF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502920"/>
            <a:ext cx="4808753" cy="487680"/>
            <a:chOff x="541020" y="502920"/>
            <a:chExt cx="4808753" cy="487680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502920"/>
              <a:ext cx="4808753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Content Editor — Workflow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904875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7C4DFF"/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71500" y="1190625"/>
            <a:ext cx="5334000" cy="1238250"/>
            <a:chOff x="571500" y="1190625"/>
            <a:chExt cx="5334000" cy="1238250"/>
          </a:xfrm>
        </p:grpSpPr>
        <p:sp>
          <p:nvSpPr>
            <p:cNvPr id="8" name="Rectangle 8"/>
            <p:cNvSpPr/>
            <p:nvPr/>
          </p:nvSpPr>
          <p:spPr>
            <a:xfrm>
              <a:off x="571500" y="1190625"/>
              <a:ext cx="5334000" cy="1238250"/>
            </a:xfrm>
            <a:prstGeom prst="roundRect">
              <a:avLst>
                <a:gd name="adj" fmla="val 9231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190625"/>
              <a:ext cx="57150" cy="1238250"/>
            </a:xfrm>
            <a:prstGeom prst="roundRect">
              <a:avLst>
                <a:gd name="adj" fmla="val 50000"/>
              </a:avLst>
            </a:prstGeom>
            <a:solidFill>
              <a:srgbClr val="7C4D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3915" y="1343978"/>
              <a:ext cx="12826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1. Upload Assets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4868" y="1580674"/>
              <a:ext cx="21536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Mở product → tab Visual Assets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4868" y="1771174"/>
              <a:ext cx="19685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Drag &amp; drop hoặc bulk upload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5820" y="2026920"/>
              <a:ext cx="242173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Ảnh ≤50MB: direct upload (SAS token)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5820" y="2198370"/>
              <a:ext cx="27766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Video/3D &gt;50MB: resumable upload (tus.io)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86500" y="1190625"/>
            <a:ext cx="5334000" cy="1238250"/>
            <a:chOff x="6286500" y="1190625"/>
            <a:chExt cx="5334000" cy="1238250"/>
          </a:xfrm>
        </p:grpSpPr>
        <p:sp>
          <p:nvSpPr>
            <p:cNvPr id="16" name="Rectangle 16"/>
            <p:cNvSpPr/>
            <p:nvPr/>
          </p:nvSpPr>
          <p:spPr>
            <a:xfrm>
              <a:off x="6286500" y="1190625"/>
              <a:ext cx="5334000" cy="1238250"/>
            </a:xfrm>
            <a:prstGeom prst="roundRect">
              <a:avLst>
                <a:gd name="adj" fmla="val 9231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286500" y="1190625"/>
              <a:ext cx="57150" cy="123825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58915" y="1343978"/>
              <a:ext cx="23936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2. Auto Processing (Hangfire)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59868" y="1580674"/>
              <a:ext cx="14487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Virus scan (async)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59868" y="1771174"/>
              <a:ext cx="33782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Sinh thumbnail (400px) + web size (1024, 2048)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59868" y="1961674"/>
              <a:ext cx="22390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· Auto-tag bằng Florence-2 (AI)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59868" y="2152174"/>
              <a:ext cx="21821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Strip EXIF GPS, giữ ICC profile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32564" y="2489835"/>
            <a:ext cx="126873" cy="243840"/>
            <a:chOff x="6032564" y="2489835"/>
            <a:chExt cx="126873" cy="243840"/>
          </a:xfrm>
        </p:grpSpPr>
        <p:sp>
          <p:nvSpPr>
            <p:cNvPr id="24" name="TextBox 24"/>
            <p:cNvSpPr txBox="1"/>
            <p:nvPr/>
          </p:nvSpPr>
          <p:spPr>
            <a:xfrm>
              <a:off x="6032564" y="2489835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▼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2762250"/>
            <a:ext cx="7239000" cy="952500"/>
            <a:chOff x="571500" y="2762250"/>
            <a:chExt cx="7239000" cy="952500"/>
          </a:xfrm>
        </p:grpSpPr>
        <p:sp>
          <p:nvSpPr>
            <p:cNvPr id="26" name="Rectangle 26"/>
            <p:cNvSpPr/>
            <p:nvPr/>
          </p:nvSpPr>
          <p:spPr>
            <a:xfrm>
              <a:off x="571500" y="2762250"/>
              <a:ext cx="7239000" cy="952500"/>
            </a:xfrm>
            <a:prstGeom prst="roundRect">
              <a:avLst>
                <a:gd name="adj" fmla="val 12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71500" y="2762250"/>
              <a:ext cx="57150" cy="95250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3915" y="2915602"/>
              <a:ext cx="16610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3. Review &amp; Organize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4868" y="3152299"/>
              <a:ext cx="28869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Review auto-tags → sửa/thêm tag nếu cần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4868" y="3342799"/>
              <a:ext cx="47808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Gán asset type (packshot, lifestyle, line drawing) → Link với variant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5820" y="3522345"/>
              <a:ext cx="288836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Submit → status "InReview" → Approver duyệt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191500" y="2762250"/>
            <a:ext cx="3429000" cy="952500"/>
            <a:chOff x="8191500" y="2762250"/>
            <a:chExt cx="3429000" cy="952500"/>
          </a:xfrm>
        </p:grpSpPr>
        <p:sp>
          <p:nvSpPr>
            <p:cNvPr id="33" name="Rectangle 33"/>
            <p:cNvSpPr/>
            <p:nvPr/>
          </p:nvSpPr>
          <p:spPr>
            <a:xfrm>
              <a:off x="8191500" y="2762250"/>
              <a:ext cx="3429000" cy="952500"/>
            </a:xfrm>
            <a:prstGeom prst="roundRect">
              <a:avLst>
                <a:gd name="adj" fmla="val 12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191500" y="2762250"/>
              <a:ext cx="57150" cy="9525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63915" y="2915602"/>
              <a:ext cx="11538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Upload Tài Liệu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64868" y="3152299"/>
              <a:ext cx="20895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PDF/Word → extract metadata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64868" y="3342799"/>
              <a:ext cx="17193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Sinh thumbnail trang đầu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65820" y="3522345"/>
              <a:ext cx="16396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PdfPig + OpenXml + MuPDF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71500" y="4000500"/>
            <a:ext cx="11049000" cy="1714500"/>
            <a:chOff x="571500" y="4000500"/>
            <a:chExt cx="11049000" cy="1714500"/>
          </a:xfrm>
        </p:grpSpPr>
        <p:sp>
          <p:nvSpPr>
            <p:cNvPr id="40" name="Rectangle 40"/>
            <p:cNvSpPr/>
            <p:nvPr/>
          </p:nvSpPr>
          <p:spPr>
            <a:xfrm>
              <a:off x="571500" y="4000500"/>
              <a:ext cx="11049000" cy="1714500"/>
            </a:xfrm>
            <a:prstGeom prst="roundRect">
              <a:avLst>
                <a:gd name="adj" fmla="val 6667"/>
              </a:avLst>
            </a:prstGeom>
            <a:solidFill>
              <a:srgbClr val="7C4DFF">
                <a:alpha val="3000"/>
              </a:srgbClr>
            </a:solidFill>
            <a:ln w="9525">
              <a:solidFill>
                <a:srgbClr val="7C4DFF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112519" y="4172902"/>
              <a:ext cx="19669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Pipeline xử lý ảnh tự động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857250" y="4476750"/>
            <a:ext cx="10239375" cy="476250"/>
            <a:chOff x="857250" y="4476750"/>
            <a:chExt cx="10239375" cy="476250"/>
          </a:xfrm>
        </p:grpSpPr>
        <p:sp>
          <p:nvSpPr>
            <p:cNvPr id="43" name="Rectangle 43"/>
            <p:cNvSpPr/>
            <p:nvPr/>
          </p:nvSpPr>
          <p:spPr>
            <a:xfrm>
              <a:off x="857250" y="4476750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359741" y="4665345"/>
              <a:ext cx="4237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Upload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413635" y="4613910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2619375" y="4476750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993708" y="466534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Virus Scan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175760" y="4613910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381500" y="4476750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653963" y="4665345"/>
              <a:ext cx="8838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Resize/Thumb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937885" y="4613910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143625" y="4476750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7C4DFF">
                <a:alpha val="10000"/>
              </a:srgbClr>
            </a:solidFill>
            <a:ln w="9525">
              <a:solidFill>
                <a:srgbClr val="7C4DFF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53346" y="4665345"/>
              <a:ext cx="4093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AI Tag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00010" y="4613910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905750" y="4476750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296513" y="4665345"/>
              <a:ext cx="6472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Strip EXIF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462135" y="4613910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→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667875" y="4476750"/>
              <a:ext cx="1428750" cy="476250"/>
            </a:xfrm>
            <a:prstGeom prst="roundRect">
              <a:avLst>
                <a:gd name="adj" fmla="val 16000"/>
              </a:avLst>
            </a:prstGeom>
            <a:solidFill>
              <a:srgbClr val="00897B">
                <a:alpha val="10000"/>
              </a:srgbClr>
            </a:solidFill>
            <a:ln w="9525">
              <a:solidFill>
                <a:srgbClr val="00897B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181046" y="4665345"/>
              <a:ext cx="4024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Ready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126039" y="5284470"/>
            <a:ext cx="3939921" cy="182880"/>
            <a:chOff x="4126039" y="5284470"/>
            <a:chExt cx="3939921" cy="182880"/>
          </a:xfrm>
        </p:grpSpPr>
        <p:sp>
          <p:nvSpPr>
            <p:cNvPr id="61" name="TextBox 61"/>
            <p:cNvSpPr txBox="1"/>
            <p:nvPr/>
          </p:nvSpPr>
          <p:spPr>
            <a:xfrm>
              <a:off x="4126039" y="5284470"/>
              <a:ext cx="39399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Toàn bộ pipeline chạy async qua Hangfire — user không cần chờ</a:t>
              </a: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11477482" y="65784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500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5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200"/>
                            </p:stCondLst>
                            <p:childTnLst>
                              <p:par>
                                <p:cTn id="3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/>
      <p:bldP spid="23" grpId="0"/>
      <p:bldP spid="25" grpId="0"/>
      <p:bldP spid="32" grpId="0"/>
      <p:bldP spid="39" grpId="0"/>
      <p:bldP spid="42" grpId="0"/>
      <p:bldP spid="60" grpId="0"/>
      <p:bldP spid="6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41020" y="502920"/>
            <a:ext cx="4495914" cy="487680"/>
            <a:chOff x="541020" y="502920"/>
            <a:chExt cx="4495914" cy="487680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502920"/>
              <a:ext cx="449591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Sales &amp; Admin — Workflow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904875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54355" y="1187768"/>
            <a:ext cx="2466844" cy="274320"/>
            <a:chOff x="554355" y="1187768"/>
            <a:chExt cx="2466844" cy="274320"/>
          </a:xfrm>
        </p:grpSpPr>
        <p:sp>
          <p:nvSpPr>
            <p:cNvPr id="8" name="TextBox 8"/>
            <p:cNvSpPr txBox="1"/>
            <p:nvPr/>
          </p:nvSpPr>
          <p:spPr>
            <a:xfrm>
              <a:off x="554355" y="1187768"/>
              <a:ext cx="246684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Sales — Tra Cứu &amp; Chia Sẻ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1500" y="1524000"/>
            <a:ext cx="3524250" cy="1240631"/>
            <a:chOff x="571500" y="1524000"/>
            <a:chExt cx="3524250" cy="1240631"/>
          </a:xfrm>
        </p:grpSpPr>
        <p:sp>
          <p:nvSpPr>
            <p:cNvPr id="10" name="Rectangle 10"/>
            <p:cNvSpPr/>
            <p:nvPr/>
          </p:nvSpPr>
          <p:spPr>
            <a:xfrm>
              <a:off x="571500" y="1524000"/>
              <a:ext cx="3524250" cy="1238250"/>
            </a:xfrm>
            <a:prstGeom prst="roundRect">
              <a:avLst>
                <a:gd name="adj" fmla="val 9231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71500" y="1524000"/>
              <a:ext cx="57150" cy="123825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4868" y="1656874"/>
              <a:ext cx="5181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Search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5820" y="1874520"/>
              <a:ext cx="8509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Gõ tên/mã SP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5820" y="2045970"/>
              <a:ext cx="10744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(typo-tolerant)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5820" y="2265045"/>
              <a:ext cx="9364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Filter: Range,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5820" y="2436495"/>
              <a:ext cx="12190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Material, Designer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6772" y="2596991"/>
              <a:ext cx="11897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Typesense full-text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333875" y="1524000"/>
            <a:ext cx="3524250" cy="1240631"/>
            <a:chOff x="4333875" y="1524000"/>
            <a:chExt cx="3524250" cy="1240631"/>
          </a:xfrm>
        </p:grpSpPr>
        <p:sp>
          <p:nvSpPr>
            <p:cNvPr id="19" name="Rectangle 19"/>
            <p:cNvSpPr/>
            <p:nvPr/>
          </p:nvSpPr>
          <p:spPr>
            <a:xfrm>
              <a:off x="4333875" y="1524000"/>
              <a:ext cx="3524250" cy="1238250"/>
            </a:xfrm>
            <a:prstGeom prst="roundRect">
              <a:avLst>
                <a:gd name="adj" fmla="val 9231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333875" y="1524000"/>
              <a:ext cx="57150" cy="123825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07242" y="1656874"/>
              <a:ext cx="7648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Xem Detail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08195" y="1874520"/>
              <a:ext cx="21391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D365 info (dimensions, pricing)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08195" y="2045970"/>
              <a:ext cx="22968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Ảnh gallery (packshot + lifestyle)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08195" y="2217420"/>
              <a:ext cx="17710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Text content (desc, USP)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08195" y="2388870"/>
              <a:ext cx="16856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Documents (tech sheet)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09148" y="2596991"/>
              <a:ext cx="17921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+ SP tương tự (vector search)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096250" y="1524000"/>
            <a:ext cx="3524250" cy="1240631"/>
            <a:chOff x="8096250" y="1524000"/>
            <a:chExt cx="3524250" cy="1240631"/>
          </a:xfrm>
        </p:grpSpPr>
        <p:sp>
          <p:nvSpPr>
            <p:cNvPr id="28" name="Rectangle 28"/>
            <p:cNvSpPr/>
            <p:nvPr/>
          </p:nvSpPr>
          <p:spPr>
            <a:xfrm>
              <a:off x="8096250" y="1524000"/>
              <a:ext cx="3524250" cy="1238250"/>
            </a:xfrm>
            <a:prstGeom prst="roundRect">
              <a:avLst>
                <a:gd name="adj" fmla="val 9231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8096250" y="1524000"/>
              <a:ext cx="57150" cy="123825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369618" y="1656874"/>
              <a:ext cx="5630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Actions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70570" y="1874520"/>
              <a:ext cx="17907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Download ảnh (web/print)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70570" y="2045970"/>
              <a:ext cx="169221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Download tech sheet PDF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70570" y="2217420"/>
              <a:ext cx="19551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Shareable link (JWT, 7 ngày)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70570" y="2388870"/>
              <a:ext cx="14818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· Export package (zip)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71522" y="2596991"/>
              <a:ext cx="14246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Signed URL, auto-expire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1500" y="3048000"/>
            <a:ext cx="11049000" cy="9525"/>
            <a:chOff x="571500" y="3048000"/>
            <a:chExt cx="11049000" cy="9525"/>
          </a:xfrm>
        </p:grpSpPr>
        <p:sp>
          <p:nvSpPr>
            <p:cNvPr id="37" name="Rectangle 37"/>
            <p:cNvSpPr/>
            <p:nvPr/>
          </p:nvSpPr>
          <p:spPr>
            <a:xfrm>
              <a:off x="571500" y="3048000"/>
              <a:ext cx="110490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554355" y="3283268"/>
            <a:ext cx="2777383" cy="274320"/>
            <a:chOff x="554355" y="3283268"/>
            <a:chExt cx="2777383" cy="274320"/>
          </a:xfrm>
        </p:grpSpPr>
        <p:sp>
          <p:nvSpPr>
            <p:cNvPr id="39" name="TextBox 39"/>
            <p:cNvSpPr txBox="1"/>
            <p:nvPr/>
          </p:nvSpPr>
          <p:spPr>
            <a:xfrm>
              <a:off x="554355" y="3283268"/>
              <a:ext cx="27773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Admin — Cấu Hình &amp; Giám Sát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71500" y="3619500"/>
            <a:ext cx="11049000" cy="1143000"/>
            <a:chOff x="571500" y="3619500"/>
            <a:chExt cx="11049000" cy="1143000"/>
          </a:xfrm>
        </p:grpSpPr>
        <p:sp>
          <p:nvSpPr>
            <p:cNvPr id="41" name="Rectangle 41"/>
            <p:cNvSpPr/>
            <p:nvPr/>
          </p:nvSpPr>
          <p:spPr>
            <a:xfrm>
              <a:off x="571500" y="3619500"/>
              <a:ext cx="2571750" cy="1143000"/>
            </a:xfrm>
            <a:prstGeom prst="roundRect">
              <a:avLst>
                <a:gd name="adj" fmla="val 10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71500" y="3619500"/>
              <a:ext cx="2571750" cy="3810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49618" y="3799999"/>
              <a:ext cx="8172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User &amp; Role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0570" y="4017645"/>
              <a:ext cx="104813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Sync từ Entra ID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0570" y="4189095"/>
              <a:ext cx="17250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5 roles + JSONB permission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0570" y="4360545"/>
              <a:ext cx="12978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Granular per-entity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381375" y="3619500"/>
              <a:ext cx="2571750" cy="1143000"/>
            </a:xfrm>
            <a:prstGeom prst="roundRect">
              <a:avLst>
                <a:gd name="adj" fmla="val 10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3381375" y="3619500"/>
              <a:ext cx="2571750" cy="381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559492" y="3799999"/>
              <a:ext cx="12283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D365 Sync Config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560445" y="4017645"/>
              <a:ext cx="10809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Chọn entity sync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560445" y="4189095"/>
              <a:ext cx="18433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Schedule: 15min/hourly/daily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560445" y="4360545"/>
              <a:ext cx="16593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Dashboard + force resync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191250" y="3619500"/>
              <a:ext cx="2571750" cy="1143000"/>
            </a:xfrm>
            <a:prstGeom prst="roundRect">
              <a:avLst>
                <a:gd name="adj" fmla="val 10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191250" y="3619500"/>
              <a:ext cx="2571750" cy="38100"/>
            </a:xfrm>
            <a:prstGeom prst="roundRect">
              <a:avLst>
                <a:gd name="adj" fmla="val 50000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69368" y="3799999"/>
              <a:ext cx="14227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Completeness Rules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370320" y="4017645"/>
              <a:ext cx="14096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Rule per product type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370320" y="4189095"/>
              <a:ext cx="10415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Weight per field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370320" y="4360545"/>
              <a:ext cx="18893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Threshold block publish (80%)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001125" y="3619500"/>
              <a:ext cx="2619375" cy="1143000"/>
            </a:xfrm>
            <a:prstGeom prst="roundRect">
              <a:avLst>
                <a:gd name="adj" fmla="val 10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9001125" y="3619500"/>
              <a:ext cx="2619375" cy="38100"/>
            </a:xfrm>
            <a:prstGeom prst="roundRect">
              <a:avLst>
                <a:gd name="adj" fmla="val 50000"/>
              </a:avLst>
            </a:prstGeom>
            <a:solidFill>
              <a:srgbClr val="7C4D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179242" y="3799999"/>
              <a:ext cx="630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Webhook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180195" y="4017645"/>
              <a:ext cx="18565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Thêm endpoint (webshop...)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180195" y="4189095"/>
              <a:ext cx="12255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Secret + rate limit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180195" y="4360545"/>
              <a:ext cx="12715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Delivery log + retry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71500" y="5048250"/>
            <a:ext cx="11049000" cy="476250"/>
            <a:chOff x="571500" y="5048250"/>
            <a:chExt cx="11049000" cy="476250"/>
          </a:xfrm>
        </p:grpSpPr>
        <p:sp>
          <p:nvSpPr>
            <p:cNvPr id="66" name="Rectangle 66"/>
            <p:cNvSpPr/>
            <p:nvPr/>
          </p:nvSpPr>
          <p:spPr>
            <a:xfrm>
              <a:off x="571500" y="5048250"/>
              <a:ext cx="11049000" cy="476250"/>
            </a:xfrm>
            <a:prstGeom prst="roundRect">
              <a:avLst>
                <a:gd name="adj" fmla="val 16000"/>
              </a:avLst>
            </a:prstGeom>
            <a:solidFill>
              <a:srgbClr val="1565C0">
                <a:alpha val="4000"/>
              </a:srgb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3571704" y="5228749"/>
              <a:ext cx="50485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Sales: self-service tra cứu · Admin: config-driven, không cần deploy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477482" y="65784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500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5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200"/>
                            </p:stCondLst>
                            <p:childTnLst>
                              <p:par>
                                <p:cTn id="3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8" grpId="0"/>
      <p:bldP spid="27" grpId="0"/>
      <p:bldP spid="36" grpId="0"/>
      <p:bldP spid="38" grpId="0"/>
      <p:bldP spid="40" grpId="0"/>
      <p:bldP spid="65" grpId="0"/>
      <p:bldP spid="6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41020" y="502920"/>
            <a:ext cx="3907041" cy="802005"/>
            <a:chOff x="541020" y="502920"/>
            <a:chExt cx="3907041" cy="802005"/>
          </a:xfrm>
        </p:grpSpPr>
        <p:sp>
          <p:nvSpPr>
            <p:cNvPr id="5" name="TextBox 5"/>
            <p:cNvSpPr txBox="1"/>
            <p:nvPr/>
          </p:nvSpPr>
          <p:spPr>
            <a:xfrm>
              <a:off x="541020" y="502920"/>
              <a:ext cx="390704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Quy Trình Xuyên Suốt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904875"/>
              <a:ext cx="571500" cy="28575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6260" y="1061085"/>
              <a:ext cx="32377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Từ D365 đến Publish — End-to-End Flow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65196" y="1505902"/>
            <a:ext cx="9759756" cy="213360"/>
            <a:chOff x="1065196" y="1505902"/>
            <a:chExt cx="9759756" cy="213360"/>
          </a:xfrm>
        </p:grpSpPr>
        <p:sp>
          <p:nvSpPr>
            <p:cNvPr id="9" name="TextBox 9"/>
            <p:cNvSpPr txBox="1"/>
            <p:nvPr/>
          </p:nvSpPr>
          <p:spPr>
            <a:xfrm>
              <a:off x="1065196" y="1505902"/>
              <a:ext cx="7271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D365 F&amp;O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53849" y="1505902"/>
              <a:ext cx="2843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PIM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30048" y="1505902"/>
              <a:ext cx="6949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Channels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333750" y="1524000"/>
            <a:ext cx="5248275" cy="4572000"/>
            <a:chOff x="3333750" y="1524000"/>
            <a:chExt cx="5248275" cy="4572000"/>
          </a:xfrm>
        </p:grpSpPr>
        <p:sp>
          <p:nvSpPr>
            <p:cNvPr id="13" name="Rectangle 13"/>
            <p:cNvSpPr/>
            <p:nvPr/>
          </p:nvSpPr>
          <p:spPr>
            <a:xfrm>
              <a:off x="3333750" y="1524000"/>
              <a:ext cx="9525" cy="4572000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8572500" y="1524000"/>
              <a:ext cx="9525" cy="4572000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66750" y="1905000"/>
            <a:ext cx="2476500" cy="571500"/>
            <a:chOff x="666750" y="1905000"/>
            <a:chExt cx="2476500" cy="571500"/>
          </a:xfrm>
        </p:grpSpPr>
        <p:sp>
          <p:nvSpPr>
            <p:cNvPr id="16" name="Rectangle 16"/>
            <p:cNvSpPr/>
            <p:nvPr/>
          </p:nvSpPr>
          <p:spPr>
            <a:xfrm>
              <a:off x="666750" y="1905000"/>
              <a:ext cx="2476500" cy="571500"/>
            </a:xfrm>
            <a:prstGeom prst="roundRect">
              <a:avLst>
                <a:gd name="adj" fmla="val 16667"/>
              </a:avLst>
            </a:prstGeom>
            <a:solidFill>
              <a:srgbClr val="1565C0">
                <a:alpha val="8000"/>
              </a:srgbClr>
            </a:solidFill>
            <a:ln w="14288">
              <a:solidFill>
                <a:srgbClr val="1565C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94543" y="2037874"/>
              <a:ext cx="12209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Product Created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3152" y="2244566"/>
              <a:ext cx="118369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Master data in D365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320415" y="2125028"/>
            <a:ext cx="785765" cy="213360"/>
            <a:chOff x="3320415" y="2125028"/>
            <a:chExt cx="785765" cy="213360"/>
          </a:xfrm>
        </p:grpSpPr>
        <p:sp>
          <p:nvSpPr>
            <p:cNvPr id="20" name="TextBox 20"/>
            <p:cNvSpPr txBox="1"/>
            <p:nvPr/>
          </p:nvSpPr>
          <p:spPr>
            <a:xfrm>
              <a:off x="3320415" y="2125028"/>
              <a:ext cx="7857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──sync──▶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810000" y="1905000"/>
            <a:ext cx="4286250" cy="476250"/>
            <a:chOff x="3810000" y="1905000"/>
            <a:chExt cx="4286250" cy="476250"/>
          </a:xfrm>
        </p:grpSpPr>
        <p:sp>
          <p:nvSpPr>
            <p:cNvPr id="22" name="Rectangle 22"/>
            <p:cNvSpPr/>
            <p:nvPr/>
          </p:nvSpPr>
          <p:spPr>
            <a:xfrm>
              <a:off x="3810000" y="1905000"/>
              <a:ext cx="4286250" cy="476250"/>
            </a:xfrm>
            <a:prstGeom prst="roundRect">
              <a:avLst>
                <a:gd name="adj" fmla="val 20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66274" y="2009299"/>
              <a:ext cx="25737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Product appears (completeness 20%)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439597" y="2196941"/>
              <a:ext cx="10270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Delta sync hourly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810000" y="2439352"/>
            <a:ext cx="4286250" cy="2989898"/>
            <a:chOff x="3810000" y="2439352"/>
            <a:chExt cx="4286250" cy="2989898"/>
          </a:xfrm>
        </p:grpSpPr>
        <p:sp>
          <p:nvSpPr>
            <p:cNvPr id="26" name="TextBox 26"/>
            <p:cNvSpPr txBox="1"/>
            <p:nvPr/>
          </p:nvSpPr>
          <p:spPr>
            <a:xfrm>
              <a:off x="5897618" y="243935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▼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810000" y="2667000"/>
              <a:ext cx="4286250" cy="476250"/>
            </a:xfrm>
            <a:prstGeom prst="roundRect">
              <a:avLst>
                <a:gd name="adj" fmla="val 20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053959" y="2771299"/>
              <a:ext cx="37983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PM gán metadata + Editor upload + Marketing viết text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397425" y="2958941"/>
              <a:ext cx="11114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Parallel workflows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897618" y="320135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▼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810000" y="3429000"/>
              <a:ext cx="4286250" cy="476250"/>
            </a:xfrm>
            <a:prstGeom prst="roundRect">
              <a:avLst>
                <a:gd name="adj" fmla="val 20000"/>
              </a:avLst>
            </a:prstGeom>
            <a:solidFill>
              <a:srgbClr val="7C4DFF">
                <a:alpha val="6000"/>
              </a:srgbClr>
            </a:solidFill>
            <a:ln w="9525">
              <a:solidFill>
                <a:srgbClr val="7C4DF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946443" y="3533299"/>
              <a:ext cx="20133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AI auto-tag + Quality Check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78717" y="3720941"/>
              <a:ext cx="194881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Florence-2, pgvector, LLM judge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897618" y="396335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▼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810000" y="4191000"/>
              <a:ext cx="4286250" cy="476250"/>
            </a:xfrm>
            <a:prstGeom prst="roundRect">
              <a:avLst>
                <a:gd name="adj" fmla="val 20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619994" y="4295299"/>
              <a:ext cx="26662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Approval: Draft → InReview → Approved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150418" y="4482941"/>
              <a:ext cx="160541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Stateless workflow (.NET)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897618" y="4725352"/>
              <a:ext cx="11101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▼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810000" y="4953000"/>
              <a:ext cx="4286250" cy="476250"/>
            </a:xfrm>
            <a:prstGeom prst="roundRect">
              <a:avLst>
                <a:gd name="adj" fmla="val 20000"/>
              </a:avLst>
            </a:prstGeom>
            <a:solidFill>
              <a:srgbClr val="00897B">
                <a:alpha val="8000"/>
              </a:srgbClr>
            </a:solidFill>
            <a:ln w="14288">
              <a:solidFill>
                <a:srgbClr val="00897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845518" y="5057299"/>
              <a:ext cx="22152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Completeness ≥80% → Published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126319" y="5244941"/>
              <a:ext cx="16536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Event fired via MassTransit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275320" y="5046345"/>
            <a:ext cx="916686" cy="182880"/>
            <a:chOff x="8275320" y="5046345"/>
            <a:chExt cx="916686" cy="182880"/>
          </a:xfrm>
        </p:grpSpPr>
        <p:sp>
          <p:nvSpPr>
            <p:cNvPr id="43" name="TextBox 43"/>
            <p:cNvSpPr txBox="1"/>
            <p:nvPr/>
          </p:nvSpPr>
          <p:spPr>
            <a:xfrm>
              <a:off x="8275320" y="5046345"/>
              <a:ext cx="9166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──webhook──▶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953500" y="4667250"/>
            <a:ext cx="2476500" cy="1333500"/>
            <a:chOff x="8953500" y="4667250"/>
            <a:chExt cx="2476500" cy="1333500"/>
          </a:xfrm>
        </p:grpSpPr>
        <p:sp>
          <p:nvSpPr>
            <p:cNvPr id="45" name="Rectangle 45"/>
            <p:cNvSpPr/>
            <p:nvPr/>
          </p:nvSpPr>
          <p:spPr>
            <a:xfrm>
              <a:off x="8953500" y="4667250"/>
              <a:ext cx="2476500" cy="381000"/>
            </a:xfrm>
            <a:prstGeom prst="roundRect">
              <a:avLst>
                <a:gd name="adj" fmla="val 20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876592" y="4800124"/>
              <a:ext cx="630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Webshop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953500" y="5143500"/>
              <a:ext cx="2476500" cy="381000"/>
            </a:xfrm>
            <a:prstGeom prst="roundRect">
              <a:avLst>
                <a:gd name="adj" fmla="val 20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577555" y="5276374"/>
              <a:ext cx="12283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iPaper Catalogue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953500" y="5619750"/>
              <a:ext cx="2476500" cy="381000"/>
            </a:xfrm>
            <a:prstGeom prst="roundRect">
              <a:avLst>
                <a:gd name="adj" fmla="val 20000"/>
              </a:avLst>
            </a:prstGeom>
            <a:solidFill>
              <a:srgbClr val="F4F7FA"/>
            </a:solidFill>
            <a:ln w="9525">
              <a:solidFill>
                <a:srgbClr val="E0E0E0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469154" y="5752624"/>
              <a:ext cx="14451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Social / Sales Share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1477482" y="65784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500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5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200"/>
                            </p:stCondLst>
                            <p:childTnLst>
                              <p:par>
                                <p:cTn id="3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5" grpId="0"/>
      <p:bldP spid="19" grpId="0"/>
      <p:bldP spid="21" grpId="0"/>
      <p:bldP spid="25" grpId="0"/>
      <p:bldP spid="42" grpId="0"/>
      <p:bldP spid="44" grpId="0"/>
      <p:bldP spid="5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3581209" y="502920"/>
            <a:ext cx="5029581" cy="487680"/>
            <a:chOff x="3581209" y="502920"/>
            <a:chExt cx="5029581" cy="487680"/>
          </a:xfrm>
        </p:grpSpPr>
        <p:sp>
          <p:nvSpPr>
            <p:cNvPr id="5" name="TextBox 5"/>
            <p:cNvSpPr txBox="1"/>
            <p:nvPr/>
          </p:nvSpPr>
          <p:spPr>
            <a:xfrm>
              <a:off x="3581209" y="502920"/>
              <a:ext cx="502958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Một Ngày Làm Việc Điển Hình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0" y="904875"/>
              <a:ext cx="762000" cy="28575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71500" y="1238250"/>
            <a:ext cx="11049000" cy="390525"/>
            <a:chOff x="571500" y="1238250"/>
            <a:chExt cx="11049000" cy="390525"/>
          </a:xfrm>
        </p:grpSpPr>
        <p:sp>
          <p:nvSpPr>
            <p:cNvPr id="8" name="Rectangle 8"/>
            <p:cNvSpPr/>
            <p:nvPr/>
          </p:nvSpPr>
          <p:spPr>
            <a:xfrm>
              <a:off x="571500" y="1238250"/>
              <a:ext cx="952500" cy="342900"/>
            </a:xfrm>
            <a:prstGeom prst="roundRect">
              <a:avLst>
                <a:gd name="adj" fmla="val 16667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70897" y="1352074"/>
              <a:ext cx="353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8:00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2118" y="1304449"/>
              <a:ext cx="6157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Hệ thống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26118" y="1304449"/>
              <a:ext cx="27445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D365 delta sync chạy, pull sản phẩm mới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71500" y="1619250"/>
              <a:ext cx="110490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71500" y="1714500"/>
            <a:ext cx="11049000" cy="390525"/>
            <a:chOff x="571500" y="1714500"/>
            <a:chExt cx="11049000" cy="390525"/>
          </a:xfrm>
        </p:grpSpPr>
        <p:sp>
          <p:nvSpPr>
            <p:cNvPr id="14" name="Rectangle 14"/>
            <p:cNvSpPr/>
            <p:nvPr/>
          </p:nvSpPr>
          <p:spPr>
            <a:xfrm>
              <a:off x="571500" y="1714500"/>
              <a:ext cx="952500" cy="342900"/>
            </a:xfrm>
            <a:prstGeom prst="roundRect">
              <a:avLst>
                <a:gd name="adj" fmla="val 16667"/>
              </a:avLst>
            </a:prstGeom>
            <a:solidFill>
              <a:srgbClr val="1565C0">
                <a:alpha val="80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70897" y="1828324"/>
              <a:ext cx="353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8:30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2118" y="1780699"/>
              <a:ext cx="2191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PM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26118" y="1780699"/>
              <a:ext cx="38766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Check dashboard, gán metadata cho SP mới, assign task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2095500"/>
              <a:ext cx="110490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571500" y="2190750"/>
            <a:ext cx="11049000" cy="390525"/>
            <a:chOff x="571500" y="2190750"/>
            <a:chExt cx="11049000" cy="390525"/>
          </a:xfrm>
        </p:grpSpPr>
        <p:sp>
          <p:nvSpPr>
            <p:cNvPr id="20" name="Rectangle 20"/>
            <p:cNvSpPr/>
            <p:nvPr/>
          </p:nvSpPr>
          <p:spPr>
            <a:xfrm>
              <a:off x="571500" y="2190750"/>
              <a:ext cx="952500" cy="342900"/>
            </a:xfrm>
            <a:prstGeom prst="roundRect">
              <a:avLst>
                <a:gd name="adj" fmla="val 16667"/>
              </a:avLst>
            </a:prstGeom>
            <a:solidFill>
              <a:srgbClr val="7C4D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0897" y="2304574"/>
              <a:ext cx="353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9:00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02118" y="2256949"/>
              <a:ext cx="480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Editor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26118" y="2256949"/>
              <a:ext cx="29581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Upload packshot + video cho SP được assign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71500" y="2571750"/>
              <a:ext cx="110490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571500" y="2667000"/>
            <a:ext cx="11049000" cy="390525"/>
            <a:chOff x="571500" y="2667000"/>
            <a:chExt cx="11049000" cy="390525"/>
          </a:xfrm>
        </p:grpSpPr>
        <p:sp>
          <p:nvSpPr>
            <p:cNvPr id="26" name="Rectangle 26"/>
            <p:cNvSpPr/>
            <p:nvPr/>
          </p:nvSpPr>
          <p:spPr>
            <a:xfrm>
              <a:off x="571500" y="2667000"/>
              <a:ext cx="952500" cy="342900"/>
            </a:xfrm>
            <a:prstGeom prst="roundRect">
              <a:avLst>
                <a:gd name="adj" fmla="val 16667"/>
              </a:avLst>
            </a:prstGeom>
            <a:solidFill>
              <a:srgbClr val="7C4DFF">
                <a:alpha val="60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70897" y="2780824"/>
              <a:ext cx="353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9:30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02118" y="2733199"/>
              <a:ext cx="6157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Hệ thống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226118" y="2733199"/>
              <a:ext cx="36559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Auto-tag (Florence-2), sinh thumbnail, quality scan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71500" y="3048000"/>
              <a:ext cx="110490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571500" y="3143250"/>
            <a:ext cx="11049000" cy="390525"/>
            <a:chOff x="571500" y="3143250"/>
            <a:chExt cx="11049000" cy="390525"/>
          </a:xfrm>
        </p:grpSpPr>
        <p:sp>
          <p:nvSpPr>
            <p:cNvPr id="32" name="Rectangle 32"/>
            <p:cNvSpPr/>
            <p:nvPr/>
          </p:nvSpPr>
          <p:spPr>
            <a:xfrm>
              <a:off x="571500" y="3143250"/>
              <a:ext cx="952500" cy="342900"/>
            </a:xfrm>
            <a:prstGeom prst="roundRect">
              <a:avLst>
                <a:gd name="adj" fmla="val 16667"/>
              </a:avLst>
            </a:prstGeom>
            <a:solidFill>
              <a:srgbClr val="00897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8469" y="3257074"/>
              <a:ext cx="398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10:00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702118" y="3209449"/>
              <a:ext cx="7574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897B"/>
                  </a:solidFill>
                  <a:latin typeface="Arial"/>
                  <a:ea typeface="Microsoft YaHei"/>
                  <a:cs typeface="Arial"/>
                </a:rPr>
                <a:t>Marketing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226118" y="3209449"/>
              <a:ext cx="28585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AI generate text → review → submit duyệt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71500" y="3524250"/>
              <a:ext cx="110490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571500" y="3619500"/>
            <a:ext cx="11049000" cy="390525"/>
            <a:chOff x="571500" y="3619500"/>
            <a:chExt cx="11049000" cy="390525"/>
          </a:xfrm>
        </p:grpSpPr>
        <p:sp>
          <p:nvSpPr>
            <p:cNvPr id="38" name="Rectangle 38"/>
            <p:cNvSpPr/>
            <p:nvPr/>
          </p:nvSpPr>
          <p:spPr>
            <a:xfrm>
              <a:off x="571500" y="3619500"/>
              <a:ext cx="952500" cy="342900"/>
            </a:xfrm>
            <a:prstGeom prst="roundRect">
              <a:avLst>
                <a:gd name="adj" fmla="val 16667"/>
              </a:avLst>
            </a:prstGeom>
            <a:solidFill>
              <a:srgbClr val="1565C0">
                <a:alpha val="70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8469" y="3733324"/>
              <a:ext cx="398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10:30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702118" y="3685699"/>
              <a:ext cx="6826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Approver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226118" y="3685699"/>
              <a:ext cx="21963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Duyệt text + assets → Approved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71500" y="4000500"/>
              <a:ext cx="110490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571500" y="4095750"/>
            <a:ext cx="11049000" cy="390525"/>
            <a:chOff x="571500" y="4095750"/>
            <a:chExt cx="11049000" cy="390525"/>
          </a:xfrm>
        </p:grpSpPr>
        <p:sp>
          <p:nvSpPr>
            <p:cNvPr id="44" name="Rectangle 44"/>
            <p:cNvSpPr/>
            <p:nvPr/>
          </p:nvSpPr>
          <p:spPr>
            <a:xfrm>
              <a:off x="571500" y="4095750"/>
              <a:ext cx="952500" cy="342900"/>
            </a:xfrm>
            <a:prstGeom prst="roundRect">
              <a:avLst>
                <a:gd name="adj" fmla="val 16667"/>
              </a:avLst>
            </a:prstGeom>
            <a:solidFill>
              <a:srgbClr val="00897B">
                <a:alpha val="80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67159" y="4209574"/>
              <a:ext cx="36118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11:00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702118" y="4161949"/>
              <a:ext cx="6157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Hệ thống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226118" y="4161949"/>
              <a:ext cx="34067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Completeness ≥80% → auto-publish → webhook fire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71500" y="4476750"/>
              <a:ext cx="110490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571500" y="4572000"/>
            <a:ext cx="11049000" cy="390525"/>
            <a:chOff x="571500" y="4572000"/>
            <a:chExt cx="11049000" cy="390525"/>
          </a:xfrm>
        </p:grpSpPr>
        <p:sp>
          <p:nvSpPr>
            <p:cNvPr id="50" name="Rectangle 50"/>
            <p:cNvSpPr/>
            <p:nvPr/>
          </p:nvSpPr>
          <p:spPr>
            <a:xfrm>
              <a:off x="571500" y="4572000"/>
              <a:ext cx="952500" cy="342900"/>
            </a:xfrm>
            <a:prstGeom prst="roundRect">
              <a:avLst>
                <a:gd name="adj" fmla="val 16667"/>
              </a:avLst>
            </a:prstGeom>
            <a:solidFill>
              <a:srgbClr val="7C4DFF">
                <a:alpha val="70000"/>
              </a:srgb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67159" y="4685824"/>
              <a:ext cx="36118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11:05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702118" y="4638199"/>
              <a:ext cx="630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Webshop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226118" y="4638199"/>
              <a:ext cx="26235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Nhận event → hiển thị SP mới trên web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71500" y="4953000"/>
              <a:ext cx="110490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571500" y="5048250"/>
            <a:ext cx="11049000" cy="390525"/>
            <a:chOff x="571500" y="5048250"/>
            <a:chExt cx="11049000" cy="390525"/>
          </a:xfrm>
        </p:grpSpPr>
        <p:sp>
          <p:nvSpPr>
            <p:cNvPr id="56" name="Rectangle 56"/>
            <p:cNvSpPr/>
            <p:nvPr/>
          </p:nvSpPr>
          <p:spPr>
            <a:xfrm>
              <a:off x="571500" y="5048250"/>
              <a:ext cx="952500" cy="342900"/>
            </a:xfrm>
            <a:prstGeom prst="roundRect">
              <a:avLst>
                <a:gd name="adj" fmla="val 16667"/>
              </a:avLst>
            </a:prstGeom>
            <a:solidFill>
              <a:srgbClr val="1565C0">
                <a:alpha val="50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48469" y="5162074"/>
              <a:ext cx="398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14:00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702118" y="5114449"/>
              <a:ext cx="398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Sales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226118" y="5114449"/>
              <a:ext cx="28086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Tra cứu SP → tạo shareable link gửi khách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71500" y="5429250"/>
              <a:ext cx="11049000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571500" y="5524500"/>
            <a:ext cx="5470399" cy="342900"/>
            <a:chOff x="571500" y="5524500"/>
            <a:chExt cx="5470399" cy="342900"/>
          </a:xfrm>
        </p:grpSpPr>
        <p:sp>
          <p:nvSpPr>
            <p:cNvPr id="62" name="Rectangle 62"/>
            <p:cNvSpPr/>
            <p:nvPr/>
          </p:nvSpPr>
          <p:spPr>
            <a:xfrm>
              <a:off x="571500" y="5524500"/>
              <a:ext cx="952500" cy="342900"/>
            </a:xfrm>
            <a:prstGeom prst="roundRect">
              <a:avLst>
                <a:gd name="adj" fmla="val 16667"/>
              </a:avLst>
            </a:prstGeom>
            <a:solidFill>
              <a:srgbClr val="00897B">
                <a:alpha val="60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48469" y="5638324"/>
              <a:ext cx="398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16:00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702118" y="5590699"/>
              <a:ext cx="4092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16161"/>
                  </a:solidFill>
                  <a:latin typeface="Arial"/>
                  <a:ea typeface="Microsoft YaHei"/>
                  <a:cs typeface="Arial"/>
                </a:rPr>
                <a:t>Admin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226118" y="5590699"/>
              <a:ext cx="28157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12121"/>
                  </a:solidFill>
                  <a:latin typeface="Arial"/>
                  <a:ea typeface="Microsoft YaHei"/>
                  <a:cs typeface="Arial"/>
                </a:rPr>
                <a:t>Check sync log, review webhook delivery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71500" y="6096000"/>
            <a:ext cx="11049000" cy="381000"/>
            <a:chOff x="571500" y="6096000"/>
            <a:chExt cx="11049000" cy="381000"/>
          </a:xfrm>
        </p:grpSpPr>
        <p:sp>
          <p:nvSpPr>
            <p:cNvPr id="67" name="Rectangle 67"/>
            <p:cNvSpPr/>
            <p:nvPr/>
          </p:nvSpPr>
          <p:spPr>
            <a:xfrm>
              <a:off x="571500" y="6096000"/>
              <a:ext cx="11049000" cy="381000"/>
            </a:xfrm>
            <a:prstGeom prst="roundRect">
              <a:avLst>
                <a:gd name="adj" fmla="val 20000"/>
              </a:avLst>
            </a:prstGeom>
            <a:solidFill>
              <a:srgbClr val="1565C0">
                <a:alpha val="4000"/>
              </a:srgbClr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3792154" y="6220778"/>
              <a:ext cx="46076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565C0"/>
                  </a:solidFill>
                  <a:latin typeface="Arial"/>
                  <a:ea typeface="Microsoft YaHei"/>
                  <a:cs typeface="Arial"/>
                </a:rPr>
                <a:t>Từ D365 sync → Publish lên webshop: chỉ ~3 giờ với AI hỗ trợ</a:t>
              </a:r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11477482" y="6578441"/>
            <a:ext cx="1534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E9E9E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500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5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900"/>
                            </p:stCondLst>
                            <p:childTnLst>
                              <p:par>
                                <p:cTn id="2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5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200"/>
                            </p:stCondLst>
                            <p:childTnLst>
                              <p:par>
                                <p:cTn id="3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85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500"/>
                            </p:stCondLst>
                            <p:childTnLst>
                              <p:par>
                                <p:cTn id="45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150"/>
                            </p:stCondLst>
                            <p:childTnLst>
                              <p:par>
                                <p:cTn id="4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5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9" grpId="0"/>
      <p:bldP spid="25" grpId="0"/>
      <p:bldP spid="31" grpId="0"/>
      <p:bldP spid="37" grpId="0"/>
      <p:bldP spid="43" grpId="0"/>
      <p:bldP spid="49" grpId="0"/>
      <p:bldP spid="55" grpId="0"/>
      <p:bldP spid="61" grpId="0"/>
      <p:bldP spid="66" grpId="0"/>
      <p:bldP spid="6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AD2A1135A74646B46BFBA37F974AD2" ma:contentTypeVersion="13" ma:contentTypeDescription="Create a new document." ma:contentTypeScope="" ma:versionID="a3831cfc9077fcd28286dfef3dcdcc31">
  <xsd:schema xmlns:xsd="http://www.w3.org/2001/XMLSchema" xmlns:xs="http://www.w3.org/2001/XMLSchema" xmlns:p="http://schemas.microsoft.com/office/2006/metadata/properties" xmlns:ns2="a24c43b6-3851-42ae-a873-f7165c1824d9" xmlns:ns3="d6dabced-f658-4946-a86a-4fdcdc264f2c" targetNamespace="http://schemas.microsoft.com/office/2006/metadata/properties" ma:root="true" ma:fieldsID="1a473672182ee79e551d528f6ad6b87f" ns2:_="" ns3:_="">
    <xsd:import namespace="a24c43b6-3851-42ae-a873-f7165c1824d9"/>
    <xsd:import namespace="d6dabced-f658-4946-a86a-4fdcdc264f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4c43b6-3851-42ae-a873-f7165c1824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883e127b-0c24-4f06-ab68-326cea09e5e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dabced-f658-4946-a86a-4fdcdc264f2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6164b070-70b3-4b6e-b188-10deaef71793}" ma:internalName="TaxCatchAll" ma:showField="CatchAllData" ma:web="d6dabced-f658-4946-a86a-4fdcdc264f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24c43b6-3851-42ae-a873-f7165c1824d9">
      <Terms xmlns="http://schemas.microsoft.com/office/infopath/2007/PartnerControls"/>
    </lcf76f155ced4ddcb4097134ff3c332f>
    <TaxCatchAll xmlns="d6dabced-f658-4946-a86a-4fdcdc264f2c" xsi:nil="true"/>
  </documentManagement>
</p:properties>
</file>

<file path=customXml/itemProps1.xml><?xml version="1.0" encoding="utf-8"?>
<ds:datastoreItem xmlns:ds="http://schemas.openxmlformats.org/officeDocument/2006/customXml" ds:itemID="{92196BE3-CDEA-40B7-969A-771241C23D60}"/>
</file>

<file path=customXml/itemProps2.xml><?xml version="1.0" encoding="utf-8"?>
<ds:datastoreItem xmlns:ds="http://schemas.openxmlformats.org/officeDocument/2006/customXml" ds:itemID="{09AAEB94-FA20-48BD-839D-D828CE2648BF}"/>
</file>

<file path=customXml/itemProps3.xml><?xml version="1.0" encoding="utf-8"?>
<ds:datastoreItem xmlns:ds="http://schemas.openxmlformats.org/officeDocument/2006/customXml" ds:itemID="{22425624-9EB8-4186-AAE9-9971FCD8D95C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0x01010091AD2A1135A74646B46BFBA37F974AD2</vt:lpwstr>
  </property>
</Properties>
</file>