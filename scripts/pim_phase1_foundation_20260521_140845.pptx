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EE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586A68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476250" y="1714500"/>
            <a:ext cx="57150" cy="1905000"/>
          </a:xfrm>
          <a:prstGeom prst="roundRect">
            <a:avLst>
              <a:gd name="adj" fmla="val 50000"/>
            </a:avLst>
          </a:prstGeom>
          <a:solidFill>
            <a:srgbClr val="C1856B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0090" y="1929765"/>
            <a:ext cx="5093846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PIM System — Phase 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0090" y="2501265"/>
            <a:ext cx="2740652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Foundation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2950" y="3267075"/>
            <a:ext cx="306133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3-4 months - 3-4 developers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8665" y="6077902"/>
            <a:ext cx="41978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6ADA4"/>
                </a:solidFill>
                <a:latin typeface="Segoe UI"/>
                <a:ea typeface="Microsoft YaHei"/>
                <a:cs typeface="Segoe UI"/>
              </a:rPr>
              <a:t>Product Information Management — Core Infrastructure</a:t>
            </a:r>
          </a:p>
        </p:txBody>
      </p:sp>
      <p:sp>
        <p:nvSpPr>
          <p:cNvPr id="9" name="Ellipse 9"/>
          <p:cNvSpPr/>
          <p:nvPr/>
        </p:nvSpPr>
        <p:spPr>
          <a:xfrm>
            <a:off x="7905750" y="1524000"/>
            <a:ext cx="2286000" cy="2286000"/>
          </a:xfrm>
          <a:prstGeom prst="ellipse">
            <a:avLst/>
          </a:prstGeom>
          <a:noFill/>
          <a:ln w="19050">
            <a:solidFill>
              <a:srgbClr val="586A68"/>
            </a:solidFill>
          </a:ln>
        </p:spPr>
      </p:sp>
      <p:sp>
        <p:nvSpPr>
          <p:cNvPr id="10" name="Ellipse 10"/>
          <p:cNvSpPr/>
          <p:nvPr/>
        </p:nvSpPr>
        <p:spPr>
          <a:xfrm>
            <a:off x="8953500" y="2571750"/>
            <a:ext cx="1524000" cy="1524000"/>
          </a:xfrm>
          <a:prstGeom prst="ellipse">
            <a:avLst/>
          </a:prstGeom>
          <a:solidFill>
            <a:srgbClr val="C1856B">
              <a:alpha val="12000"/>
            </a:srgbClr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9906000" y="1809750"/>
            <a:ext cx="1143000" cy="1143000"/>
          </a:xfrm>
          <a:prstGeom prst="ellipse">
            <a:avLst/>
          </a:prstGeom>
          <a:solidFill>
            <a:srgbClr val="586A68">
              <a:alpha val="8000"/>
            </a:srgbClr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8001000" y="3238500"/>
            <a:ext cx="762000" cy="762000"/>
          </a:xfrm>
          <a:prstGeom prst="ellipse">
            <a:avLst/>
          </a:prstGeom>
          <a:solidFill>
            <a:srgbClr val="753438">
              <a:alpha val="10000"/>
            </a:srgbClr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9715500" y="1619250"/>
            <a:ext cx="571500" cy="571500"/>
          </a:xfrm>
          <a:prstGeom prst="ellipse">
            <a:avLst/>
          </a:prstGeom>
          <a:solidFill>
            <a:srgbClr val="C1856B">
              <a:alpha val="15000"/>
            </a:srgbClr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10477500" y="2952750"/>
            <a:ext cx="952500" cy="952500"/>
          </a:xfrm>
          <a:prstGeom prst="ellipse">
            <a:avLst/>
          </a:prstGeom>
          <a:noFill/>
          <a:ln w="14288">
            <a:solidFill>
              <a:srgbClr val="B6ADA4"/>
            </a:solidFill>
          </a:ln>
        </p:spPr>
      </p:sp>
      <p:sp>
        <p:nvSpPr>
          <p:cNvPr id="15" name="Ellipse 15"/>
          <p:cNvSpPr/>
          <p:nvPr/>
        </p:nvSpPr>
        <p:spPr>
          <a:xfrm>
            <a:off x="9096375" y="3762375"/>
            <a:ext cx="476250" cy="476250"/>
          </a:xfrm>
          <a:prstGeom prst="ellipse">
            <a:avLst/>
          </a:prstGeom>
          <a:solidFill>
            <a:srgbClr val="586A68">
              <a:alpha val="10000"/>
            </a:srgbClr>
          </a:solidFill>
          <a:ln>
            <a:noFill/>
          </a:ln>
        </p:spPr>
      </p:sp>
      <p:sp>
        <p:nvSpPr>
          <p:cNvPr id="16" name="Line 16"/>
          <p:cNvSpPr/>
          <p:nvPr/>
        </p:nvSpPr>
        <p:spPr>
          <a:xfrm>
            <a:off x="762000" y="64770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9525">
            <a:solidFill>
              <a:srgbClr val="B6ADA4"/>
            </a:solidFill>
          </a:ln>
        </p:spPr>
      </p:sp>
      <p:sp>
        <p:nvSpPr>
          <p:cNvPr id="17" name="Line 17"/>
          <p:cNvSpPr/>
          <p:nvPr/>
        </p:nvSpPr>
        <p:spPr>
          <a:xfrm>
            <a:off x="4000500" y="6477000"/>
            <a:ext cx="762000" cy="9525"/>
          </a:xfrm>
          <a:custGeom>
            <a:avLst/>
            <a:gdLst/>
            <a:ahLst/>
            <a:cxnLst/>
            <a:rect l="l" t="t" r="r" b="b"/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/>
          <a:ln w="19050">
            <a:solidFill>
              <a:srgbClr val="C1856B"/>
            </a:solidFill>
          </a:ln>
        </p:spPr>
      </p:sp>
      <p:sp>
        <p:nvSpPr>
          <p:cNvPr id="18" name="Line 18"/>
          <p:cNvSpPr/>
          <p:nvPr/>
        </p:nvSpPr>
        <p:spPr>
          <a:xfrm>
            <a:off x="4953000" y="6477000"/>
            <a:ext cx="762000" cy="9525"/>
          </a:xfrm>
          <a:custGeom>
            <a:avLst/>
            <a:gdLst/>
            <a:ahLst/>
            <a:cxnLst/>
            <a:rect l="l" t="t" r="r" b="b"/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/>
          <a:ln w="9525">
            <a:solidFill>
              <a:srgbClr val="B6ADA4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11569636" y="6522720"/>
            <a:ext cx="622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6ADA4"/>
                </a:solidFill>
                <a:latin typeface="Segoe UI"/>
                <a:ea typeface="Microsoft YaHei"/>
                <a:cs typeface="Segoe UI"/>
              </a:rPr>
              <a:t>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EE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586A6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10311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6ADA4"/>
                </a:solidFill>
                <a:latin typeface="Segoe UI"/>
                <a:ea typeface="Microsoft YaHei"/>
                <a:cs typeface="Segoe UI"/>
              </a:rPr>
              <a:t>01 / Overview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781050"/>
            <a:ext cx="38100" cy="304800"/>
          </a:xfrm>
          <a:prstGeom prst="rect">
            <a:avLst/>
          </a:prstGeom>
          <a:solidFill>
            <a:srgbClr val="C1856B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1520" y="788670"/>
            <a:ext cx="364940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Phase 1 — Foundation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9665" y="1982152"/>
            <a:ext cx="6868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TIMELINE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16330" y="2249805"/>
            <a:ext cx="180845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3-4 months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7760" y="2680335"/>
            <a:ext cx="418414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From kickoff to production-ready core platform</a:t>
            </a:r>
          </a:p>
        </p:txBody>
      </p:sp>
      <p:sp>
        <p:nvSpPr>
          <p:cNvPr id="10" name="Line 10"/>
          <p:cNvSpPr/>
          <p:nvPr/>
        </p:nvSpPr>
        <p:spPr>
          <a:xfrm>
            <a:off x="1143000" y="3143250"/>
            <a:ext cx="9334500" cy="9525"/>
          </a:xfrm>
          <a:custGeom>
            <a:avLst/>
            <a:gdLst/>
            <a:ahLst/>
            <a:cxnLst/>
            <a:rect l="l" t="t" r="r" b="b"/>
            <a:pathLst>
              <a:path w="9334500" h="9525">
                <a:moveTo>
                  <a:pt x="0" y="0"/>
                </a:moveTo>
                <a:lnTo>
                  <a:pt x="9334500" y="0"/>
                </a:lnTo>
              </a:path>
            </a:pathLst>
          </a:custGeom>
          <a:noFill/>
          <a:ln w="9525">
            <a:solidFill>
              <a:srgbClr val="B6ADA4">
                <a:alpha val="50000"/>
              </a:srgbClr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129665" y="3506152"/>
            <a:ext cx="4131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TEAM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16330" y="3773805"/>
            <a:ext cx="237203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3-4 developers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27760" y="4204335"/>
            <a:ext cx="38599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1 senior lead + 2 mid-level + 1 junior developer</a:t>
            </a:r>
          </a:p>
        </p:txBody>
      </p:sp>
      <p:sp>
        <p:nvSpPr>
          <p:cNvPr id="14" name="Line 14"/>
          <p:cNvSpPr/>
          <p:nvPr/>
        </p:nvSpPr>
        <p:spPr>
          <a:xfrm>
            <a:off x="1143000" y="4667250"/>
            <a:ext cx="9334500" cy="9525"/>
          </a:xfrm>
          <a:custGeom>
            <a:avLst/>
            <a:gdLst/>
            <a:ahLst/>
            <a:cxnLst/>
            <a:rect l="l" t="t" r="r" b="b"/>
            <a:pathLst>
              <a:path w="9334500" h="9525">
                <a:moveTo>
                  <a:pt x="0" y="0"/>
                </a:moveTo>
                <a:lnTo>
                  <a:pt x="9334500" y="0"/>
                </a:lnTo>
              </a:path>
            </a:pathLst>
          </a:custGeom>
          <a:noFill/>
          <a:ln w="9525">
            <a:solidFill>
              <a:srgbClr val="B6ADA4">
                <a:alpha val="50000"/>
              </a:srgbClr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1129665" y="5030152"/>
            <a:ext cx="4131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GOAL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16330" y="5297805"/>
            <a:ext cx="386951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Core PIM infrastructure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27760" y="5728335"/>
            <a:ext cx="535838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Sync, store, transform, and publish product data end-to-end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536775" y="6522720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6ADA4"/>
                </a:solidFill>
                <a:latin typeface="Segoe UI"/>
                <a:ea typeface="Microsoft YaHei"/>
                <a:cs typeface="Segoe UI"/>
              </a:rPr>
              <a:t>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EE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586A6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13455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6ADA4"/>
                </a:solidFill>
                <a:latin typeface="Segoe UI"/>
                <a:ea typeface="Microsoft YaHei"/>
                <a:cs typeface="Segoe UI"/>
              </a:rPr>
              <a:t>02 / Architecture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781050"/>
            <a:ext cx="38100" cy="304800"/>
          </a:xfrm>
          <a:prstGeom prst="rect">
            <a:avLst/>
          </a:prstGeom>
          <a:solidFill>
            <a:srgbClr val="C1856B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1520" y="788670"/>
            <a:ext cx="3796627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System Architecture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2095500"/>
            <a:ext cx="1714500" cy="952500"/>
          </a:xfrm>
          <a:prstGeom prst="roundRect">
            <a:avLst>
              <a:gd name="adj" fmla="val 8000"/>
            </a:avLst>
          </a:prstGeom>
          <a:solidFill>
            <a:srgbClr val="753438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211085" y="2394585"/>
            <a:ext cx="4353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D365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59132" y="2665095"/>
            <a:ext cx="7392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>
                    <a:alphaMod val="80000"/>
                  </a:srgbClr>
                </a:solidFill>
                <a:latin typeface="Segoe UI"/>
                <a:ea typeface="Microsoft YaHei"/>
                <a:cs typeface="Segoe UI"/>
              </a:rPr>
              <a:t>ERP System</a:t>
            </a:r>
          </a:p>
        </p:txBody>
      </p:sp>
      <p:sp>
        <p:nvSpPr>
          <p:cNvPr id="10" name="Line 10"/>
          <p:cNvSpPr/>
          <p:nvPr/>
        </p:nvSpPr>
        <p:spPr>
          <a:xfrm>
            <a:off x="2286000" y="257175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19050">
            <a:solidFill>
              <a:srgbClr val="586A68"/>
            </a:solidFill>
          </a:ln>
        </p:spPr>
      </p:sp>
      <p:sp>
        <p:nvSpPr>
          <p:cNvPr id="11" name="Polygon 11"/>
          <p:cNvSpPr/>
          <p:nvPr/>
        </p:nvSpPr>
        <p:spPr>
          <a:xfrm>
            <a:off x="3238500" y="25241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586A68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3333750" y="1714500"/>
            <a:ext cx="4762500" cy="2667000"/>
          </a:xfrm>
          <a:prstGeom prst="roundRect">
            <a:avLst>
              <a:gd name="adj" fmla="val 2857"/>
            </a:avLst>
          </a:prstGeom>
          <a:solidFill>
            <a:srgbClr val="586A68">
              <a:alpha val="8000"/>
            </a:srgbClr>
          </a:solidFill>
          <a:ln w="19050">
            <a:solidFill>
              <a:srgbClr val="586A68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5355472" y="1886902"/>
            <a:ext cx="7190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586A68"/>
                </a:solidFill>
                <a:latin typeface="Segoe UI"/>
                <a:ea typeface="Microsoft YaHei"/>
                <a:cs typeface="Segoe UI"/>
              </a:rPr>
              <a:t>PIM CORE</a:t>
            </a:r>
          </a:p>
        </p:txBody>
      </p:sp>
      <p:sp>
        <p:nvSpPr>
          <p:cNvPr id="14" name="Rectangle 14"/>
          <p:cNvSpPr/>
          <p:nvPr/>
        </p:nvSpPr>
        <p:spPr>
          <a:xfrm>
            <a:off x="3619500" y="2190750"/>
            <a:ext cx="1333500" cy="476250"/>
          </a:xfrm>
          <a:prstGeom prst="roundRect">
            <a:avLst>
              <a:gd name="adj" fmla="val 12000"/>
            </a:avLst>
          </a:prstGeom>
          <a:solidFill>
            <a:srgbClr val="586A68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900071" y="2371249"/>
            <a:ext cx="7723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Product DB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143500" y="2190750"/>
            <a:ext cx="1333500" cy="476250"/>
          </a:xfrm>
          <a:prstGeom prst="roundRect">
            <a:avLst>
              <a:gd name="adj" fmla="val 12000"/>
            </a:avLst>
          </a:prstGeom>
          <a:solidFill>
            <a:srgbClr val="586A68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666149" y="2371249"/>
            <a:ext cx="28820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DAM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667500" y="2190750"/>
            <a:ext cx="1143000" cy="476250"/>
          </a:xfrm>
          <a:prstGeom prst="roundRect">
            <a:avLst>
              <a:gd name="adj" fmla="val 12000"/>
            </a:avLst>
          </a:prstGeom>
          <a:solidFill>
            <a:srgbClr val="586A68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6795861" y="2371249"/>
            <a:ext cx="8862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Image Engine</a:t>
            </a:r>
          </a:p>
        </p:txBody>
      </p:sp>
      <p:sp>
        <p:nvSpPr>
          <p:cNvPr id="20" name="Rectangle 20"/>
          <p:cNvSpPr/>
          <p:nvPr/>
        </p:nvSpPr>
        <p:spPr>
          <a:xfrm>
            <a:off x="3619500" y="2952750"/>
            <a:ext cx="1333500" cy="476250"/>
          </a:xfrm>
          <a:prstGeom prst="roundRect">
            <a:avLst>
              <a:gd name="adj" fmla="val 12000"/>
            </a:avLst>
          </a:prstGeom>
          <a:solidFill>
            <a:srgbClr val="586A68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3935670" y="3133249"/>
            <a:ext cx="7011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AI Service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143500" y="2952750"/>
            <a:ext cx="1333500" cy="476250"/>
          </a:xfrm>
          <a:prstGeom prst="roundRect">
            <a:avLst>
              <a:gd name="adj" fmla="val 12000"/>
            </a:avLst>
          </a:prstGeom>
          <a:solidFill>
            <a:srgbClr val="586A68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5320832" y="3133249"/>
            <a:ext cx="97883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Publish Engine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667500" y="2952750"/>
            <a:ext cx="1143000" cy="476250"/>
          </a:xfrm>
          <a:prstGeom prst="roundRect">
            <a:avLst>
              <a:gd name="adj" fmla="val 12000"/>
            </a:avLst>
          </a:prstGeom>
          <a:solidFill>
            <a:srgbClr val="586A68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952500" y="3133249"/>
            <a:ext cx="5730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Admin UI</a:t>
            </a:r>
          </a:p>
        </p:txBody>
      </p:sp>
      <p:sp>
        <p:nvSpPr>
          <p:cNvPr id="26" name="Line 26"/>
          <p:cNvSpPr/>
          <p:nvPr/>
        </p:nvSpPr>
        <p:spPr>
          <a:xfrm>
            <a:off x="8096250" y="2190750"/>
            <a:ext cx="857250" cy="381000"/>
          </a:xfrm>
          <a:custGeom>
            <a:avLst/>
            <a:gdLst/>
            <a:ahLst/>
            <a:cxnLst/>
            <a:rect l="l" t="t" r="r" b="b"/>
            <a:pathLst>
              <a:path w="857250" h="381000">
                <a:moveTo>
                  <a:pt x="0" y="381000"/>
                </a:moveTo>
                <a:lnTo>
                  <a:pt x="857250" y="0"/>
                </a:lnTo>
              </a:path>
            </a:pathLst>
          </a:custGeom>
          <a:noFill/>
          <a:ln w="19050">
            <a:solidFill>
              <a:srgbClr val="586A68"/>
            </a:solidFill>
          </a:ln>
        </p:spPr>
      </p:sp>
      <p:sp>
        <p:nvSpPr>
          <p:cNvPr id="27" name="Polygon 27"/>
          <p:cNvSpPr/>
          <p:nvPr/>
        </p:nvSpPr>
        <p:spPr>
          <a:xfrm>
            <a:off x="8924925" y="21431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47625"/>
                </a:lnTo>
                <a:lnTo>
                  <a:pt x="9525" y="95250"/>
                </a:lnTo>
                <a:close/>
              </a:path>
            </a:pathLst>
          </a:custGeom>
          <a:solidFill>
            <a:srgbClr val="586A68"/>
          </a:solidFill>
          <a:ln>
            <a:noFill/>
          </a:ln>
        </p:spPr>
      </p:sp>
      <p:sp>
        <p:nvSpPr>
          <p:cNvPr id="28" name="Line 28"/>
          <p:cNvSpPr/>
          <p:nvPr/>
        </p:nvSpPr>
        <p:spPr>
          <a:xfrm>
            <a:off x="8096250" y="3048000"/>
            <a:ext cx="857250" cy="190500"/>
          </a:xfrm>
          <a:custGeom>
            <a:avLst/>
            <a:gdLst/>
            <a:ahLst/>
            <a:cxnLst/>
            <a:rect l="l" t="t" r="r" b="b"/>
            <a:pathLst>
              <a:path w="857250" h="190500">
                <a:moveTo>
                  <a:pt x="0" y="0"/>
                </a:moveTo>
                <a:lnTo>
                  <a:pt x="857250" y="190500"/>
                </a:lnTo>
              </a:path>
            </a:pathLst>
          </a:custGeom>
          <a:noFill/>
          <a:ln w="19050">
            <a:solidFill>
              <a:srgbClr val="586A68"/>
            </a:solidFill>
          </a:ln>
        </p:spPr>
      </p:sp>
      <p:sp>
        <p:nvSpPr>
          <p:cNvPr id="29" name="Polygon 29"/>
          <p:cNvSpPr/>
          <p:nvPr/>
        </p:nvSpPr>
        <p:spPr>
          <a:xfrm>
            <a:off x="8924925" y="31908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47625"/>
                </a:lnTo>
                <a:lnTo>
                  <a:pt x="9525" y="95250"/>
                </a:lnTo>
                <a:close/>
              </a:path>
            </a:pathLst>
          </a:custGeom>
          <a:solidFill>
            <a:srgbClr val="586A68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9048750" y="19050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C1856B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9471349" y="2125028"/>
            <a:ext cx="6788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Webshop</a:t>
            </a:r>
          </a:p>
        </p:txBody>
      </p:sp>
      <p:sp>
        <p:nvSpPr>
          <p:cNvPr id="32" name="Rectangle 32"/>
          <p:cNvSpPr/>
          <p:nvPr/>
        </p:nvSpPr>
        <p:spPr>
          <a:xfrm>
            <a:off x="9048750" y="295275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C1856B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551859" y="3172778"/>
            <a:ext cx="51778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iPaper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71500" y="4953000"/>
            <a:ext cx="10477500" cy="762000"/>
          </a:xfrm>
          <a:prstGeom prst="roundRect">
            <a:avLst>
              <a:gd name="adj" fmla="val 10000"/>
            </a:avLst>
          </a:prstGeom>
          <a:solidFill>
            <a:srgbClr val="586A68">
              <a:alpha val="5000"/>
            </a:srgbClr>
          </a:solidFill>
          <a:ln w="9525">
            <a:solidFill>
              <a:srgbClr val="B6ADA4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1131570" y="5122545"/>
            <a:ext cx="105108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INFRASTRUCTURE</a:t>
            </a:r>
          </a:p>
        </p:txBody>
      </p:sp>
      <p:sp>
        <p:nvSpPr>
          <p:cNvPr id="36" name="Rectangle 36"/>
          <p:cNvSpPr/>
          <p:nvPr/>
        </p:nvSpPr>
        <p:spPr>
          <a:xfrm>
            <a:off x="952500" y="5334000"/>
            <a:ext cx="123825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B6ADA4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1185577" y="5427345"/>
            <a:ext cx="77209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PostgreSQL</a:t>
            </a:r>
          </a:p>
        </p:txBody>
      </p:sp>
      <p:sp>
        <p:nvSpPr>
          <p:cNvPr id="38" name="Rectangle 38"/>
          <p:cNvSpPr/>
          <p:nvPr/>
        </p:nvSpPr>
        <p:spPr>
          <a:xfrm>
            <a:off x="2381250" y="5334000"/>
            <a:ext cx="95250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B6ADA4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2681764" y="5427345"/>
            <a:ext cx="3514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Redis</a:t>
            </a:r>
          </a:p>
        </p:txBody>
      </p:sp>
      <p:sp>
        <p:nvSpPr>
          <p:cNvPr id="40" name="Rectangle 40"/>
          <p:cNvSpPr/>
          <p:nvPr/>
        </p:nvSpPr>
        <p:spPr>
          <a:xfrm>
            <a:off x="3524250" y="5334000"/>
            <a:ext cx="114300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B6ADA4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3785283" y="5427345"/>
            <a:ext cx="6209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RabbitMQ</a:t>
            </a:r>
          </a:p>
        </p:txBody>
      </p:sp>
      <p:sp>
        <p:nvSpPr>
          <p:cNvPr id="42" name="Rectangle 42"/>
          <p:cNvSpPr/>
          <p:nvPr/>
        </p:nvSpPr>
        <p:spPr>
          <a:xfrm>
            <a:off x="4857750" y="5334000"/>
            <a:ext cx="133350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B6ADA4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5184458" y="5427345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Azure Blob</a:t>
            </a:r>
          </a:p>
        </p:txBody>
      </p:sp>
      <p:sp>
        <p:nvSpPr>
          <p:cNvPr id="44" name="Rectangle 44"/>
          <p:cNvSpPr/>
          <p:nvPr/>
        </p:nvSpPr>
        <p:spPr>
          <a:xfrm>
            <a:off x="6381750" y="5334000"/>
            <a:ext cx="95250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B6ADA4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6521244" y="5427345"/>
            <a:ext cx="6735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Typesense</a:t>
            </a:r>
          </a:p>
        </p:txBody>
      </p:sp>
      <p:sp>
        <p:nvSpPr>
          <p:cNvPr id="46" name="Rectangle 46"/>
          <p:cNvSpPr/>
          <p:nvPr/>
        </p:nvSpPr>
        <p:spPr>
          <a:xfrm>
            <a:off x="7524750" y="5334000"/>
            <a:ext cx="95250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B6ADA4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7881128" y="5427345"/>
            <a:ext cx="2397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CDN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536775" y="6522720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6ADA4"/>
                </a:solidFill>
                <a:latin typeface="Segoe UI"/>
                <a:ea typeface="Microsoft YaHei"/>
                <a:cs typeface="Segoe UI"/>
              </a:rPr>
              <a:t>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EE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586A6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12228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6ADA4"/>
                </a:solidFill>
                <a:latin typeface="Segoe UI"/>
                <a:ea typeface="Microsoft YaHei"/>
                <a:cs typeface="Segoe UI"/>
              </a:rPr>
              <a:t>03 / Integration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781050"/>
            <a:ext cx="38100" cy="304800"/>
          </a:xfrm>
          <a:prstGeom prst="rect">
            <a:avLst/>
          </a:prstGeom>
          <a:solidFill>
            <a:srgbClr val="C1856B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1520" y="788670"/>
            <a:ext cx="3318167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D365 Product Sync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1905000"/>
            <a:ext cx="1524000" cy="762000"/>
          </a:xfrm>
          <a:prstGeom prst="roundRect">
            <a:avLst>
              <a:gd name="adj" fmla="val 10000"/>
            </a:avLst>
          </a:prstGeom>
          <a:solidFill>
            <a:srgbClr val="753438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306335" y="2204085"/>
            <a:ext cx="4353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D365</a:t>
            </a:r>
          </a:p>
        </p:txBody>
      </p:sp>
      <p:sp>
        <p:nvSpPr>
          <p:cNvPr id="9" name="Line 9"/>
          <p:cNvSpPr/>
          <p:nvPr/>
        </p:nvSpPr>
        <p:spPr>
          <a:xfrm>
            <a:off x="2286000" y="2286000"/>
            <a:ext cx="666750" cy="9525"/>
          </a:xfrm>
          <a:custGeom>
            <a:avLst/>
            <a:gdLst/>
            <a:ahLst/>
            <a:cxnLst/>
            <a:rect l="l" t="t" r="r" b="b"/>
            <a:pathLst>
              <a:path w="666750" h="9525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/>
          <a:ln w="19050">
            <a:solidFill>
              <a:srgbClr val="586A68"/>
            </a:solidFill>
          </a:ln>
        </p:spPr>
      </p:sp>
      <p:sp>
        <p:nvSpPr>
          <p:cNvPr id="10" name="Polygon 10"/>
          <p:cNvSpPr/>
          <p:nvPr/>
        </p:nvSpPr>
        <p:spPr>
          <a:xfrm>
            <a:off x="2952750" y="22383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586A68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3048000" y="1905000"/>
            <a:ext cx="1524000" cy="762000"/>
          </a:xfrm>
          <a:prstGeom prst="roundRect">
            <a:avLst>
              <a:gd name="adj" fmla="val 10000"/>
            </a:avLst>
          </a:prstGeom>
          <a:solidFill>
            <a:srgbClr val="586A68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3430344" y="2220278"/>
            <a:ext cx="75931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RabbitMQ</a:t>
            </a:r>
          </a:p>
        </p:txBody>
      </p:sp>
      <p:sp>
        <p:nvSpPr>
          <p:cNvPr id="13" name="Line 13"/>
          <p:cNvSpPr/>
          <p:nvPr/>
        </p:nvSpPr>
        <p:spPr>
          <a:xfrm>
            <a:off x="4572000" y="2286000"/>
            <a:ext cx="666750" cy="9525"/>
          </a:xfrm>
          <a:custGeom>
            <a:avLst/>
            <a:gdLst/>
            <a:ahLst/>
            <a:cxnLst/>
            <a:rect l="l" t="t" r="r" b="b"/>
            <a:pathLst>
              <a:path w="666750" h="9525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/>
          <a:ln w="19050">
            <a:solidFill>
              <a:srgbClr val="586A68"/>
            </a:solidFill>
          </a:ln>
        </p:spPr>
      </p:sp>
      <p:sp>
        <p:nvSpPr>
          <p:cNvPr id="14" name="Polygon 14"/>
          <p:cNvSpPr/>
          <p:nvPr/>
        </p:nvSpPr>
        <p:spPr>
          <a:xfrm>
            <a:off x="5238750" y="22383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586A68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5334000" y="1905000"/>
            <a:ext cx="1714500" cy="762000"/>
          </a:xfrm>
          <a:prstGeom prst="roundRect">
            <a:avLst>
              <a:gd name="adj" fmla="val 10000"/>
            </a:avLst>
          </a:prstGeom>
          <a:solidFill>
            <a:srgbClr val="C1856B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5847824" y="2144078"/>
            <a:ext cx="6868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PIM Sync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896130" y="2334578"/>
            <a:ext cx="5902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Worker</a:t>
            </a:r>
          </a:p>
        </p:txBody>
      </p:sp>
      <p:sp>
        <p:nvSpPr>
          <p:cNvPr id="18" name="Line 18"/>
          <p:cNvSpPr/>
          <p:nvPr/>
        </p:nvSpPr>
        <p:spPr>
          <a:xfrm>
            <a:off x="7048500" y="2286000"/>
            <a:ext cx="666750" cy="9525"/>
          </a:xfrm>
          <a:custGeom>
            <a:avLst/>
            <a:gdLst/>
            <a:ahLst/>
            <a:cxnLst/>
            <a:rect l="l" t="t" r="r" b="b"/>
            <a:pathLst>
              <a:path w="666750" h="9525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/>
          <a:ln w="19050">
            <a:solidFill>
              <a:srgbClr val="586A68"/>
            </a:solidFill>
          </a:ln>
        </p:spPr>
      </p:sp>
      <p:sp>
        <p:nvSpPr>
          <p:cNvPr id="19" name="Polygon 19"/>
          <p:cNvSpPr/>
          <p:nvPr/>
        </p:nvSpPr>
        <p:spPr>
          <a:xfrm>
            <a:off x="7715250" y="22383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586A68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7810500" y="1905000"/>
            <a:ext cx="1524000" cy="762000"/>
          </a:xfrm>
          <a:prstGeom prst="roundRect">
            <a:avLst>
              <a:gd name="adj" fmla="val 10000"/>
            </a:avLst>
          </a:prstGeom>
          <a:solidFill>
            <a:srgbClr val="586A68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100258" y="2220278"/>
            <a:ext cx="9444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PostgreSQL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48665" y="3410902"/>
            <a:ext cx="10491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KEY FEATURES</a:t>
            </a:r>
          </a:p>
        </p:txBody>
      </p:sp>
      <p:sp>
        <p:nvSpPr>
          <p:cNvPr id="23" name="Ellipse 23"/>
          <p:cNvSpPr/>
          <p:nvPr/>
        </p:nvSpPr>
        <p:spPr>
          <a:xfrm>
            <a:off x="914400" y="3914775"/>
            <a:ext cx="76200" cy="76200"/>
          </a:xfrm>
          <a:prstGeom prst="ellipse">
            <a:avLst/>
          </a:prstGeom>
          <a:solidFill>
            <a:srgbClr val="C1856B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127760" y="3870960"/>
            <a:ext cx="23964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Every 15 min automatic sync</a:t>
            </a:r>
          </a:p>
        </p:txBody>
      </p:sp>
      <p:sp>
        <p:nvSpPr>
          <p:cNvPr id="25" name="Ellipse 25"/>
          <p:cNvSpPr/>
          <p:nvPr/>
        </p:nvSpPr>
        <p:spPr>
          <a:xfrm>
            <a:off x="914400" y="4343400"/>
            <a:ext cx="76200" cy="76200"/>
          </a:xfrm>
          <a:prstGeom prst="ellipse">
            <a:avLst/>
          </a:prstGeom>
          <a:solidFill>
            <a:srgbClr val="C1856B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27760" y="4299585"/>
            <a:ext cx="395630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Product hierarchy (Range - Master - Variant)</a:t>
            </a:r>
          </a:p>
        </p:txBody>
      </p:sp>
      <p:sp>
        <p:nvSpPr>
          <p:cNvPr id="27" name="Ellipse 27"/>
          <p:cNvSpPr/>
          <p:nvPr/>
        </p:nvSpPr>
        <p:spPr>
          <a:xfrm>
            <a:off x="914400" y="4772025"/>
            <a:ext cx="76200" cy="76200"/>
          </a:xfrm>
          <a:prstGeom prst="ellipse">
            <a:avLst/>
          </a:prstGeom>
          <a:solidFill>
            <a:srgbClr val="C1856B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127760" y="4728210"/>
            <a:ext cx="286092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Price &amp; spec change notifications</a:t>
            </a:r>
          </a:p>
        </p:txBody>
      </p:sp>
      <p:sp>
        <p:nvSpPr>
          <p:cNvPr id="29" name="Ellipse 29"/>
          <p:cNvSpPr/>
          <p:nvPr/>
        </p:nvSpPr>
        <p:spPr>
          <a:xfrm>
            <a:off x="914400" y="5200650"/>
            <a:ext cx="76200" cy="76200"/>
          </a:xfrm>
          <a:prstGeom prst="ellipse">
            <a:avLst/>
          </a:prstGeom>
          <a:solidFill>
            <a:srgbClr val="C1856B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127760" y="5156835"/>
            <a:ext cx="294855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Delta sync (only changed records)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572500" y="3524250"/>
            <a:ext cx="266700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B6ADA4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8751570" y="3712845"/>
            <a:ext cx="82336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SYNC STATUS</a:t>
            </a:r>
          </a:p>
        </p:txBody>
      </p:sp>
      <p:sp>
        <p:nvSpPr>
          <p:cNvPr id="33" name="Ellipse 33"/>
          <p:cNvSpPr/>
          <p:nvPr/>
        </p:nvSpPr>
        <p:spPr>
          <a:xfrm>
            <a:off x="8848725" y="4086225"/>
            <a:ext cx="114300" cy="114300"/>
          </a:xfrm>
          <a:prstGeom prst="ellipse">
            <a:avLst/>
          </a:prstGeom>
          <a:solidFill>
            <a:srgbClr val="4A7C59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9083040" y="4077652"/>
            <a:ext cx="185156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Products synced: 12,847</a:t>
            </a:r>
          </a:p>
        </p:txBody>
      </p:sp>
      <p:sp>
        <p:nvSpPr>
          <p:cNvPr id="35" name="Ellipse 35"/>
          <p:cNvSpPr/>
          <p:nvPr/>
        </p:nvSpPr>
        <p:spPr>
          <a:xfrm>
            <a:off x="8848725" y="4419600"/>
            <a:ext cx="114300" cy="114300"/>
          </a:xfrm>
          <a:prstGeom prst="ellipse">
            <a:avLst/>
          </a:prstGeom>
          <a:solidFill>
            <a:srgbClr val="4A7C59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9083040" y="4411028"/>
            <a:ext cx="15525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Last sync: 2 min ago</a:t>
            </a:r>
          </a:p>
        </p:txBody>
      </p:sp>
      <p:sp>
        <p:nvSpPr>
          <p:cNvPr id="37" name="Ellipse 37"/>
          <p:cNvSpPr/>
          <p:nvPr/>
        </p:nvSpPr>
        <p:spPr>
          <a:xfrm>
            <a:off x="8848725" y="4752975"/>
            <a:ext cx="114300" cy="114300"/>
          </a:xfrm>
          <a:prstGeom prst="ellipse">
            <a:avLst/>
          </a:prstGeom>
          <a:solidFill>
            <a:srgbClr val="4A7C59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9083040" y="4744402"/>
            <a:ext cx="13455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Delta changes: 23</a:t>
            </a:r>
          </a:p>
        </p:txBody>
      </p:sp>
      <p:sp>
        <p:nvSpPr>
          <p:cNvPr id="39" name="Ellipse 39"/>
          <p:cNvSpPr/>
          <p:nvPr/>
        </p:nvSpPr>
        <p:spPr>
          <a:xfrm>
            <a:off x="8848725" y="5086350"/>
            <a:ext cx="114300" cy="114300"/>
          </a:xfrm>
          <a:prstGeom prst="ellipse">
            <a:avLst/>
          </a:prstGeom>
          <a:solidFill>
            <a:srgbClr val="C1856B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9083040" y="5077778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Pending: 5 items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536775" y="6522720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6ADA4"/>
                </a:solidFill>
                <a:latin typeface="Segoe UI"/>
                <a:ea typeface="Microsoft YaHei"/>
                <a:cs typeface="Segoe UI"/>
              </a:rPr>
              <a:t>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EE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586A6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8777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6ADA4"/>
                </a:solidFill>
                <a:latin typeface="Segoe UI"/>
                <a:ea typeface="Microsoft YaHei"/>
                <a:cs typeface="Segoe UI"/>
              </a:rPr>
              <a:t>04 / Assets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781050"/>
            <a:ext cx="38100" cy="304800"/>
          </a:xfrm>
          <a:prstGeom prst="rect">
            <a:avLst/>
          </a:prstGeom>
          <a:solidFill>
            <a:srgbClr val="C1856B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1520" y="788670"/>
            <a:ext cx="339177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DAM &amp; Image Engine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1619250"/>
            <a:ext cx="495300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B6ADA4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1619250"/>
            <a:ext cx="4953000" cy="38100"/>
          </a:xfrm>
          <a:prstGeom prst="roundRect">
            <a:avLst>
              <a:gd name="adj" fmla="val 50000"/>
            </a:avLst>
          </a:prstGeom>
          <a:solidFill>
            <a:srgbClr val="586A6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123950" y="1885950"/>
            <a:ext cx="287895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586A68"/>
                </a:solidFill>
                <a:latin typeface="Segoe UI"/>
                <a:ea typeface="Microsoft YaHei"/>
                <a:cs typeface="Segoe UI"/>
              </a:rPr>
              <a:t>Digital Asset Management</a:t>
            </a:r>
          </a:p>
        </p:txBody>
      </p:sp>
      <p:sp>
        <p:nvSpPr>
          <p:cNvPr id="10" name="Ellipse 10"/>
          <p:cNvSpPr/>
          <p:nvPr/>
        </p:nvSpPr>
        <p:spPr>
          <a:xfrm>
            <a:off x="1057275" y="2486025"/>
            <a:ext cx="76200" cy="76200"/>
          </a:xfrm>
          <a:prstGeom prst="ellipse">
            <a:avLst/>
          </a:prstGeom>
          <a:solidFill>
            <a:srgbClr val="586A6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271588" y="2450306"/>
            <a:ext cx="280535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Upload &amp; manage all product assets</a:t>
            </a:r>
          </a:p>
        </p:txBody>
      </p:sp>
      <p:sp>
        <p:nvSpPr>
          <p:cNvPr id="12" name="Ellipse 12"/>
          <p:cNvSpPr/>
          <p:nvPr/>
        </p:nvSpPr>
        <p:spPr>
          <a:xfrm>
            <a:off x="1057275" y="2867025"/>
            <a:ext cx="76200" cy="76200"/>
          </a:xfrm>
          <a:prstGeom prst="ellipse">
            <a:avLst/>
          </a:prstGeom>
          <a:solidFill>
            <a:srgbClr val="586A68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271588" y="2831306"/>
            <a:ext cx="30764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Folder structure by product category</a:t>
            </a:r>
          </a:p>
        </p:txBody>
      </p:sp>
      <p:sp>
        <p:nvSpPr>
          <p:cNvPr id="14" name="Ellipse 14"/>
          <p:cNvSpPr/>
          <p:nvPr/>
        </p:nvSpPr>
        <p:spPr>
          <a:xfrm>
            <a:off x="1057275" y="3248025"/>
            <a:ext cx="76200" cy="76200"/>
          </a:xfrm>
          <a:prstGeom prst="ellipse">
            <a:avLst/>
          </a:prstGeom>
          <a:solidFill>
            <a:srgbClr val="586A68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271588" y="3212306"/>
            <a:ext cx="319147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Metadata tagging (alt text, keywords)</a:t>
            </a:r>
          </a:p>
        </p:txBody>
      </p:sp>
      <p:sp>
        <p:nvSpPr>
          <p:cNvPr id="16" name="Ellipse 16"/>
          <p:cNvSpPr/>
          <p:nvPr/>
        </p:nvSpPr>
        <p:spPr>
          <a:xfrm>
            <a:off x="1057275" y="3629025"/>
            <a:ext cx="76200" cy="76200"/>
          </a:xfrm>
          <a:prstGeom prst="ellipse">
            <a:avLst/>
          </a:prstGeom>
          <a:solidFill>
            <a:srgbClr val="586A68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271588" y="3593306"/>
            <a:ext cx="230421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Version control with history</a:t>
            </a:r>
          </a:p>
        </p:txBody>
      </p:sp>
      <p:sp>
        <p:nvSpPr>
          <p:cNvPr id="18" name="Ellipse 18"/>
          <p:cNvSpPr/>
          <p:nvPr/>
        </p:nvSpPr>
        <p:spPr>
          <a:xfrm>
            <a:off x="1057275" y="4010025"/>
            <a:ext cx="76200" cy="76200"/>
          </a:xfrm>
          <a:prstGeom prst="ellipse">
            <a:avLst/>
          </a:prstGeom>
          <a:solidFill>
            <a:srgbClr val="586A68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271588" y="3974306"/>
            <a:ext cx="212348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Drag-and-drop bulk upload</a:t>
            </a:r>
          </a:p>
        </p:txBody>
      </p:sp>
      <p:sp>
        <p:nvSpPr>
          <p:cNvPr id="20" name="Ellipse 20"/>
          <p:cNvSpPr/>
          <p:nvPr/>
        </p:nvSpPr>
        <p:spPr>
          <a:xfrm>
            <a:off x="1057275" y="4391025"/>
            <a:ext cx="76200" cy="76200"/>
          </a:xfrm>
          <a:prstGeom prst="ellipse">
            <a:avLst/>
          </a:prstGeom>
          <a:solidFill>
            <a:srgbClr val="586A68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271588" y="4355306"/>
            <a:ext cx="221384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Azure Blob Storage backend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286500" y="1619250"/>
            <a:ext cx="495300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B6ADA4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6286500" y="1619250"/>
            <a:ext cx="4953000" cy="38100"/>
          </a:xfrm>
          <a:prstGeom prst="roundRect">
            <a:avLst>
              <a:gd name="adj" fmla="val 50000"/>
            </a:avLst>
          </a:prstGeom>
          <a:solidFill>
            <a:srgbClr val="C1856B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648450" y="1885950"/>
            <a:ext cx="142977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1856B"/>
                </a:solidFill>
                <a:latin typeface="Segoe UI"/>
                <a:ea typeface="Microsoft YaHei"/>
                <a:cs typeface="Segoe UI"/>
              </a:rPr>
              <a:t>Image Engine</a:t>
            </a:r>
          </a:p>
        </p:txBody>
      </p:sp>
      <p:sp>
        <p:nvSpPr>
          <p:cNvPr id="25" name="Ellipse 25"/>
          <p:cNvSpPr/>
          <p:nvPr/>
        </p:nvSpPr>
        <p:spPr>
          <a:xfrm>
            <a:off x="6581775" y="2486025"/>
            <a:ext cx="76200" cy="76200"/>
          </a:xfrm>
          <a:prstGeom prst="ellipse">
            <a:avLst/>
          </a:prstGeom>
          <a:solidFill>
            <a:srgbClr val="C1856B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6796088" y="2450306"/>
            <a:ext cx="22549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Auto-resize for all formats</a:t>
            </a:r>
          </a:p>
        </p:txBody>
      </p:sp>
      <p:sp>
        <p:nvSpPr>
          <p:cNvPr id="27" name="Ellipse 27"/>
          <p:cNvSpPr/>
          <p:nvPr/>
        </p:nvSpPr>
        <p:spPr>
          <a:xfrm>
            <a:off x="6581775" y="2867025"/>
            <a:ext cx="76200" cy="76200"/>
          </a:xfrm>
          <a:prstGeom prst="ellipse">
            <a:avLst/>
          </a:prstGeom>
          <a:solidFill>
            <a:srgbClr val="C1856B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796088" y="2831306"/>
            <a:ext cx="297787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Web, print, and social media presets</a:t>
            </a:r>
          </a:p>
        </p:txBody>
      </p:sp>
      <p:sp>
        <p:nvSpPr>
          <p:cNvPr id="29" name="Ellipse 29"/>
          <p:cNvSpPr/>
          <p:nvPr/>
        </p:nvSpPr>
        <p:spPr>
          <a:xfrm>
            <a:off x="6581775" y="3248025"/>
            <a:ext cx="76200" cy="76200"/>
          </a:xfrm>
          <a:prstGeom prst="ellipse">
            <a:avLst/>
          </a:prstGeom>
          <a:solidFill>
            <a:srgbClr val="C1856B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796088" y="3212306"/>
            <a:ext cx="242744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Format conversion on-the-fly</a:t>
            </a:r>
          </a:p>
        </p:txBody>
      </p:sp>
      <p:sp>
        <p:nvSpPr>
          <p:cNvPr id="31" name="Ellipse 31"/>
          <p:cNvSpPr/>
          <p:nvPr/>
        </p:nvSpPr>
        <p:spPr>
          <a:xfrm>
            <a:off x="6581775" y="3629025"/>
            <a:ext cx="76200" cy="76200"/>
          </a:xfrm>
          <a:prstGeom prst="ellipse">
            <a:avLst/>
          </a:prstGeom>
          <a:solidFill>
            <a:srgbClr val="C1856B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796088" y="3593306"/>
            <a:ext cx="203311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CDN delivery with caching</a:t>
            </a:r>
          </a:p>
        </p:txBody>
      </p:sp>
      <p:sp>
        <p:nvSpPr>
          <p:cNvPr id="33" name="Ellipse 33"/>
          <p:cNvSpPr/>
          <p:nvPr/>
        </p:nvSpPr>
        <p:spPr>
          <a:xfrm>
            <a:off x="6581775" y="4010025"/>
            <a:ext cx="76200" cy="76200"/>
          </a:xfrm>
          <a:prstGeom prst="ellipse">
            <a:avLst/>
          </a:prstGeom>
          <a:solidFill>
            <a:srgbClr val="C1856B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796088" y="3974306"/>
            <a:ext cx="19756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Background removal (AI)</a:t>
            </a:r>
          </a:p>
        </p:txBody>
      </p:sp>
      <p:sp>
        <p:nvSpPr>
          <p:cNvPr id="35" name="Ellipse 35"/>
          <p:cNvSpPr/>
          <p:nvPr/>
        </p:nvSpPr>
        <p:spPr>
          <a:xfrm>
            <a:off x="6581775" y="4391025"/>
            <a:ext cx="76200" cy="76200"/>
          </a:xfrm>
          <a:prstGeom prst="ellipse">
            <a:avLst/>
          </a:prstGeom>
          <a:solidFill>
            <a:srgbClr val="C1856B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6796088" y="4355306"/>
            <a:ext cx="24931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Watermark and crop templates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50570" y="5427345"/>
            <a:ext cx="136162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SUPPORTED FORMATS</a:t>
            </a:r>
          </a:p>
        </p:txBody>
      </p:sp>
      <p:sp>
        <p:nvSpPr>
          <p:cNvPr id="38" name="Rectangle 38"/>
          <p:cNvSpPr/>
          <p:nvPr/>
        </p:nvSpPr>
        <p:spPr>
          <a:xfrm>
            <a:off x="762000" y="5715000"/>
            <a:ext cx="666750" cy="304800"/>
          </a:xfrm>
          <a:prstGeom prst="roundRect">
            <a:avLst>
              <a:gd name="adj" fmla="val 12500"/>
            </a:avLst>
          </a:prstGeom>
          <a:solidFill>
            <a:srgbClr val="586A68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59640" y="5809774"/>
            <a:ext cx="2714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JPG</a:t>
            </a:r>
          </a:p>
        </p:txBody>
      </p:sp>
      <p:sp>
        <p:nvSpPr>
          <p:cNvPr id="40" name="Rectangle 40"/>
          <p:cNvSpPr/>
          <p:nvPr/>
        </p:nvSpPr>
        <p:spPr>
          <a:xfrm>
            <a:off x="1571625" y="5715000"/>
            <a:ext cx="666750" cy="304800"/>
          </a:xfrm>
          <a:prstGeom prst="roundRect">
            <a:avLst>
              <a:gd name="adj" fmla="val 12500"/>
            </a:avLst>
          </a:prstGeom>
          <a:solidFill>
            <a:srgbClr val="586A68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1769265" y="5809774"/>
            <a:ext cx="2714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PNG</a:t>
            </a:r>
          </a:p>
        </p:txBody>
      </p:sp>
      <p:sp>
        <p:nvSpPr>
          <p:cNvPr id="42" name="Rectangle 42"/>
          <p:cNvSpPr/>
          <p:nvPr/>
        </p:nvSpPr>
        <p:spPr>
          <a:xfrm>
            <a:off x="2381250" y="5715000"/>
            <a:ext cx="762000" cy="304800"/>
          </a:xfrm>
          <a:prstGeom prst="roundRect">
            <a:avLst>
              <a:gd name="adj" fmla="val 12500"/>
            </a:avLst>
          </a:prstGeom>
          <a:solidFill>
            <a:srgbClr val="586A68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2570445" y="5809774"/>
            <a:ext cx="3836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WebP</a:t>
            </a:r>
          </a:p>
        </p:txBody>
      </p:sp>
      <p:sp>
        <p:nvSpPr>
          <p:cNvPr id="44" name="Rectangle 44"/>
          <p:cNvSpPr/>
          <p:nvPr/>
        </p:nvSpPr>
        <p:spPr>
          <a:xfrm>
            <a:off x="3286125" y="5715000"/>
            <a:ext cx="666750" cy="304800"/>
          </a:xfrm>
          <a:prstGeom prst="roundRect">
            <a:avLst>
              <a:gd name="adj" fmla="val 12500"/>
            </a:avLst>
          </a:prstGeom>
          <a:solidFill>
            <a:srgbClr val="586A68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3461337" y="5809774"/>
            <a:ext cx="31632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TIFF</a:t>
            </a:r>
          </a:p>
        </p:txBody>
      </p:sp>
      <p:sp>
        <p:nvSpPr>
          <p:cNvPr id="46" name="Rectangle 46"/>
          <p:cNvSpPr/>
          <p:nvPr/>
        </p:nvSpPr>
        <p:spPr>
          <a:xfrm>
            <a:off x="4095750" y="5715000"/>
            <a:ext cx="666750" cy="304800"/>
          </a:xfrm>
          <a:prstGeom prst="roundRect">
            <a:avLst>
              <a:gd name="adj" fmla="val 12500"/>
            </a:avLst>
          </a:prstGeom>
          <a:solidFill>
            <a:srgbClr val="586A68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4293390" y="5809774"/>
            <a:ext cx="2714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PDF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536775" y="6522720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6ADA4"/>
                </a:solidFill>
                <a:latin typeface="Segoe UI"/>
                <a:ea typeface="Microsoft YaHei"/>
                <a:cs typeface="Segoe UI"/>
              </a:rPr>
              <a:t>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EE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586A6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6ADA4"/>
                </a:solidFill>
                <a:latin typeface="Segoe UI"/>
                <a:ea typeface="Microsoft YaHei"/>
                <a:cs typeface="Segoe UI"/>
              </a:rPr>
              <a:t>05 / AI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781050"/>
            <a:ext cx="38100" cy="304800"/>
          </a:xfrm>
          <a:prstGeom prst="rect">
            <a:avLst/>
          </a:prstGeom>
          <a:solidFill>
            <a:srgbClr val="C1856B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1520" y="788670"/>
            <a:ext cx="3336569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AI Text Generation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1714500"/>
            <a:ext cx="26670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586A68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896219" y="1894999"/>
            <a:ext cx="3985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586A68"/>
                </a:solidFill>
                <a:latin typeface="Segoe UI"/>
                <a:ea typeface="Microsoft YaHei"/>
                <a:cs typeface="Segoe UI"/>
              </a:rPr>
              <a:t>INPUT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34415" y="2220278"/>
            <a:ext cx="10311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Product name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4415" y="2458402"/>
            <a:ext cx="109247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Specifications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34415" y="2696528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Materials &amp; dimensions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381250"/>
            <a:ext cx="762000" cy="9525"/>
          </a:xfrm>
          <a:custGeom>
            <a:avLst/>
            <a:gdLst/>
            <a:ahLst/>
            <a:cxnLst/>
            <a:rect l="l" t="t" r="r" b="b"/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/>
          <a:ln w="19050">
            <a:solidFill>
              <a:srgbClr val="586A68"/>
            </a:solidFill>
          </a:ln>
        </p:spPr>
      </p:sp>
      <p:sp>
        <p:nvSpPr>
          <p:cNvPr id="13" name="Polygon 13"/>
          <p:cNvSpPr/>
          <p:nvPr/>
        </p:nvSpPr>
        <p:spPr>
          <a:xfrm>
            <a:off x="4191000" y="23336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586A68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4286250" y="1714500"/>
            <a:ext cx="3048000" cy="1333500"/>
          </a:xfrm>
          <a:prstGeom prst="roundRect">
            <a:avLst>
              <a:gd name="adj" fmla="val 5714"/>
            </a:avLst>
          </a:prstGeom>
          <a:solidFill>
            <a:srgbClr val="586A68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442761" y="1942624"/>
            <a:ext cx="7349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AI SERVICE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204460" y="2259806"/>
            <a:ext cx="121158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Python FastAPI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847356" y="2542699"/>
            <a:ext cx="19257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>
                    <a:alphaMod val="80000"/>
                  </a:srgbClr>
                </a:solidFill>
                <a:latin typeface="Segoe UI"/>
                <a:ea typeface="Microsoft YaHei"/>
                <a:cs typeface="Segoe UI"/>
              </a:rPr>
              <a:t>GPT-4o / Claude integration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704957" y="2780824"/>
            <a:ext cx="22105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>
                    <a:alphaMod val="80000"/>
                  </a:srgbClr>
                </a:solidFill>
                <a:latin typeface="Segoe UI"/>
                <a:ea typeface="Microsoft YaHei"/>
                <a:cs typeface="Segoe UI"/>
              </a:rPr>
              <a:t>Prompt templates per category</a:t>
            </a:r>
          </a:p>
        </p:txBody>
      </p:sp>
      <p:sp>
        <p:nvSpPr>
          <p:cNvPr id="19" name="Line 19"/>
          <p:cNvSpPr/>
          <p:nvPr/>
        </p:nvSpPr>
        <p:spPr>
          <a:xfrm>
            <a:off x="7334250" y="2381250"/>
            <a:ext cx="762000" cy="9525"/>
          </a:xfrm>
          <a:custGeom>
            <a:avLst/>
            <a:gdLst/>
            <a:ahLst/>
            <a:cxnLst/>
            <a:rect l="l" t="t" r="r" b="b"/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/>
          <a:ln w="19050">
            <a:solidFill>
              <a:srgbClr val="586A68"/>
            </a:solidFill>
          </a:ln>
        </p:spPr>
      </p:sp>
      <p:sp>
        <p:nvSpPr>
          <p:cNvPr id="20" name="Polygon 20"/>
          <p:cNvSpPr/>
          <p:nvPr/>
        </p:nvSpPr>
        <p:spPr>
          <a:xfrm>
            <a:off x="8096250" y="23336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586A68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8191500" y="1714500"/>
            <a:ext cx="30480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C1856B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9441460" y="1894999"/>
            <a:ext cx="5480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C1856B"/>
                </a:solidFill>
                <a:latin typeface="Segoe UI"/>
                <a:ea typeface="Microsoft YaHei"/>
                <a:cs typeface="Segoe UI"/>
              </a:rPr>
              <a:t>OUTPUT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63915" y="2220278"/>
            <a:ext cx="159853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Product descriptions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63915" y="2458402"/>
            <a:ext cx="15295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USPs &amp; selling points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463915" y="2696528"/>
            <a:ext cx="149118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SEO-optimized text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48665" y="3506152"/>
            <a:ext cx="73515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FEATURES</a:t>
            </a:r>
          </a:p>
        </p:txBody>
      </p:sp>
      <p:sp>
        <p:nvSpPr>
          <p:cNvPr id="27" name="Ellipse 27"/>
          <p:cNvSpPr/>
          <p:nvPr/>
        </p:nvSpPr>
        <p:spPr>
          <a:xfrm>
            <a:off x="914400" y="3914775"/>
            <a:ext cx="76200" cy="76200"/>
          </a:xfrm>
          <a:prstGeom prst="ellipse">
            <a:avLst/>
          </a:prstGeom>
          <a:solidFill>
            <a:srgbClr val="C1856B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128712" y="3879056"/>
            <a:ext cx="361045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Multi-language support (DA, EN, DE, NO, SE)</a:t>
            </a:r>
          </a:p>
        </p:txBody>
      </p:sp>
      <p:sp>
        <p:nvSpPr>
          <p:cNvPr id="29" name="Ellipse 29"/>
          <p:cNvSpPr/>
          <p:nvPr/>
        </p:nvSpPr>
        <p:spPr>
          <a:xfrm>
            <a:off x="914400" y="4248150"/>
            <a:ext cx="76200" cy="76200"/>
          </a:xfrm>
          <a:prstGeom prst="ellipse">
            <a:avLst/>
          </a:prstGeom>
          <a:solidFill>
            <a:srgbClr val="C1856B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128712" y="4212431"/>
            <a:ext cx="271498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Tone-of-voice settings per brand</a:t>
            </a:r>
          </a:p>
        </p:txBody>
      </p:sp>
      <p:sp>
        <p:nvSpPr>
          <p:cNvPr id="31" name="Ellipse 31"/>
          <p:cNvSpPr/>
          <p:nvPr/>
        </p:nvSpPr>
        <p:spPr>
          <a:xfrm>
            <a:off x="914400" y="4581525"/>
            <a:ext cx="76200" cy="76200"/>
          </a:xfrm>
          <a:prstGeom prst="ellipse">
            <a:avLst/>
          </a:prstGeom>
          <a:solidFill>
            <a:srgbClr val="C1856B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128712" y="4545806"/>
            <a:ext cx="308467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Human review workflow before publish</a:t>
            </a:r>
          </a:p>
        </p:txBody>
      </p:sp>
      <p:sp>
        <p:nvSpPr>
          <p:cNvPr id="33" name="Rectangle 33"/>
          <p:cNvSpPr/>
          <p:nvPr/>
        </p:nvSpPr>
        <p:spPr>
          <a:xfrm>
            <a:off x="762000" y="5048250"/>
            <a:ext cx="1047750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B6ADA4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1131570" y="5236845"/>
            <a:ext cx="5818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EXAMPLE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30618" y="5514499"/>
            <a:ext cx="60041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753438"/>
                </a:solidFill>
                <a:latin typeface="Segoe UI"/>
                <a:ea typeface="Microsoft YaHei"/>
                <a:cs typeface="Segoe UI"/>
              </a:rPr>
              <a:t>Before: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892618" y="5514499"/>
            <a:ext cx="418280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Steel bracket, 200mm, zinc-coated, M10 thread, load 500kg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30618" y="5895499"/>
            <a:ext cx="5181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4A7C59"/>
                </a:solidFill>
                <a:latin typeface="Segoe UI"/>
                <a:ea typeface="Microsoft YaHei"/>
                <a:cs typeface="Segoe UI"/>
              </a:rPr>
              <a:t>After: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892618" y="5895499"/>
            <a:ext cx="622623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Heavy-duty zinc-coated steel bracket (200mm) with M10 threading. Supports up to 500kg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892618" y="6085999"/>
            <a:ext cx="50585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load capacity. Ideal for industrial mounting and structural applications.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536775" y="6522720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6ADA4"/>
                </a:solidFill>
                <a:latin typeface="Segoe UI"/>
                <a:ea typeface="Microsoft YaHei"/>
                <a:cs typeface="Segoe UI"/>
              </a:rPr>
              <a:t>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EE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586A6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110013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6ADA4"/>
                </a:solidFill>
                <a:latin typeface="Segoe UI"/>
                <a:ea typeface="Microsoft YaHei"/>
                <a:cs typeface="Segoe UI"/>
              </a:rPr>
              <a:t>06 / Publishing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781050"/>
            <a:ext cx="38100" cy="304800"/>
          </a:xfrm>
          <a:prstGeom prst="rect">
            <a:avLst/>
          </a:prstGeom>
          <a:solidFill>
            <a:srgbClr val="C1856B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1520" y="788670"/>
            <a:ext cx="4753547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Publish — Webshop &amp; iPaper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1619250"/>
            <a:ext cx="5143500" cy="3048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6ADA4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1619250"/>
            <a:ext cx="5143500" cy="38100"/>
          </a:xfrm>
          <a:prstGeom prst="roundRect">
            <a:avLst>
              <a:gd name="adj" fmla="val 50000"/>
            </a:avLst>
          </a:prstGeom>
          <a:solidFill>
            <a:srgbClr val="586A6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123950" y="1885950"/>
            <a:ext cx="96971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586A68"/>
                </a:solidFill>
                <a:latin typeface="Segoe UI"/>
                <a:ea typeface="Microsoft YaHei"/>
                <a:cs typeface="Segoe UI"/>
              </a:rPr>
              <a:t>Webshop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30618" y="2180749"/>
            <a:ext cx="19969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Real-time product publishing</a:t>
            </a:r>
          </a:p>
        </p:txBody>
      </p:sp>
      <p:sp>
        <p:nvSpPr>
          <p:cNvPr id="11" name="Ellipse 11"/>
          <p:cNvSpPr/>
          <p:nvPr/>
        </p:nvSpPr>
        <p:spPr>
          <a:xfrm>
            <a:off x="1057275" y="2628900"/>
            <a:ext cx="76200" cy="76200"/>
          </a:xfrm>
          <a:prstGeom prst="ellipse">
            <a:avLst/>
          </a:prstGeom>
          <a:solidFill>
            <a:srgbClr val="586A68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271588" y="2593181"/>
            <a:ext cx="228778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Real-time sync via webhooks</a:t>
            </a:r>
          </a:p>
        </p:txBody>
      </p:sp>
      <p:sp>
        <p:nvSpPr>
          <p:cNvPr id="13" name="Ellipse 13"/>
          <p:cNvSpPr/>
          <p:nvPr/>
        </p:nvSpPr>
        <p:spPr>
          <a:xfrm>
            <a:off x="1057275" y="2962275"/>
            <a:ext cx="76200" cy="76200"/>
          </a:xfrm>
          <a:prstGeom prst="ellipse">
            <a:avLst/>
          </a:prstGeom>
          <a:solidFill>
            <a:srgbClr val="586A68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271588" y="2926556"/>
            <a:ext cx="261639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Product pages with rich content</a:t>
            </a:r>
          </a:p>
        </p:txBody>
      </p:sp>
      <p:sp>
        <p:nvSpPr>
          <p:cNvPr id="15" name="Ellipse 15"/>
          <p:cNvSpPr/>
          <p:nvPr/>
        </p:nvSpPr>
        <p:spPr>
          <a:xfrm>
            <a:off x="1057275" y="3295650"/>
            <a:ext cx="76200" cy="76200"/>
          </a:xfrm>
          <a:prstGeom prst="ellipse">
            <a:avLst/>
          </a:prstGeom>
          <a:solidFill>
            <a:srgbClr val="586A68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271588" y="3259931"/>
            <a:ext cx="35036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SEO metadata (title, description, schema)</a:t>
            </a:r>
          </a:p>
        </p:txBody>
      </p:sp>
      <p:sp>
        <p:nvSpPr>
          <p:cNvPr id="17" name="Ellipse 17"/>
          <p:cNvSpPr/>
          <p:nvPr/>
        </p:nvSpPr>
        <p:spPr>
          <a:xfrm>
            <a:off x="1057275" y="3629025"/>
            <a:ext cx="76200" cy="76200"/>
          </a:xfrm>
          <a:prstGeom prst="ellipse">
            <a:avLst/>
          </a:prstGeom>
          <a:solidFill>
            <a:srgbClr val="586A68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271588" y="3593306"/>
            <a:ext cx="223849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Structured data (JSON-LD)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31570" y="4046220"/>
            <a:ext cx="9889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COMPLETENESS</a:t>
            </a:r>
          </a:p>
        </p:txBody>
      </p:sp>
      <p:sp>
        <p:nvSpPr>
          <p:cNvPr id="20" name="Rectangle 20"/>
          <p:cNvSpPr/>
          <p:nvPr/>
        </p:nvSpPr>
        <p:spPr>
          <a:xfrm>
            <a:off x="1143000" y="4267200"/>
            <a:ext cx="3810000" cy="76200"/>
          </a:xfrm>
          <a:prstGeom prst="roundRect">
            <a:avLst>
              <a:gd name="adj" fmla="val 50000"/>
            </a:avLst>
          </a:prstGeom>
          <a:solidFill>
            <a:srgbClr val="B6ADA4">
              <a:alpha val="30000"/>
            </a:srgbClr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1143000" y="4267200"/>
            <a:ext cx="3429000" cy="76200"/>
          </a:xfrm>
          <a:prstGeom prst="roundRect">
            <a:avLst>
              <a:gd name="adj" fmla="val 50000"/>
            </a:avLst>
          </a:prstGeom>
          <a:solidFill>
            <a:srgbClr val="4A7C59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5036820" y="4265295"/>
            <a:ext cx="2397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7C59"/>
                </a:solidFill>
                <a:latin typeface="Segoe UI"/>
                <a:ea typeface="Microsoft YaHei"/>
                <a:cs typeface="Segoe UI"/>
              </a:rPr>
              <a:t>90%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286500" y="1619250"/>
            <a:ext cx="5143500" cy="3048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6ADA4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6286500" y="1619250"/>
            <a:ext cx="5143500" cy="38100"/>
          </a:xfrm>
          <a:prstGeom prst="roundRect">
            <a:avLst>
              <a:gd name="adj" fmla="val 50000"/>
            </a:avLst>
          </a:prstGeom>
          <a:solidFill>
            <a:srgbClr val="C1856B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648450" y="1885950"/>
            <a:ext cx="73968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1856B"/>
                </a:solidFill>
                <a:latin typeface="Segoe UI"/>
                <a:ea typeface="Microsoft YaHei"/>
                <a:cs typeface="Segoe UI"/>
              </a:rPr>
              <a:t>iPaper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55118" y="2180749"/>
            <a:ext cx="21322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Catalogue &amp; flipbook publishing</a:t>
            </a:r>
          </a:p>
        </p:txBody>
      </p:sp>
      <p:sp>
        <p:nvSpPr>
          <p:cNvPr id="27" name="Ellipse 27"/>
          <p:cNvSpPr/>
          <p:nvPr/>
        </p:nvSpPr>
        <p:spPr>
          <a:xfrm>
            <a:off x="6581775" y="2628900"/>
            <a:ext cx="76200" cy="76200"/>
          </a:xfrm>
          <a:prstGeom prst="ellipse">
            <a:avLst/>
          </a:prstGeom>
          <a:solidFill>
            <a:srgbClr val="C1856B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796088" y="2593181"/>
            <a:ext cx="25917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Catalogue export (PDF + digital)</a:t>
            </a:r>
          </a:p>
        </p:txBody>
      </p:sp>
      <p:sp>
        <p:nvSpPr>
          <p:cNvPr id="29" name="Ellipse 29"/>
          <p:cNvSpPr/>
          <p:nvPr/>
        </p:nvSpPr>
        <p:spPr>
          <a:xfrm>
            <a:off x="6581775" y="2962275"/>
            <a:ext cx="76200" cy="76200"/>
          </a:xfrm>
          <a:prstGeom prst="ellipse">
            <a:avLst/>
          </a:prstGeom>
          <a:solidFill>
            <a:srgbClr val="C1856B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796088" y="2926556"/>
            <a:ext cx="251781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Layout templates per category</a:t>
            </a:r>
          </a:p>
        </p:txBody>
      </p:sp>
      <p:sp>
        <p:nvSpPr>
          <p:cNvPr id="31" name="Ellipse 31"/>
          <p:cNvSpPr/>
          <p:nvPr/>
        </p:nvSpPr>
        <p:spPr>
          <a:xfrm>
            <a:off x="6581775" y="3295650"/>
            <a:ext cx="76200" cy="76200"/>
          </a:xfrm>
          <a:prstGeom prst="ellipse">
            <a:avLst/>
          </a:prstGeom>
          <a:solidFill>
            <a:srgbClr val="C1856B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796088" y="3259931"/>
            <a:ext cx="25424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Scheduled publishing (seasonal)</a:t>
            </a:r>
          </a:p>
        </p:txBody>
      </p:sp>
      <p:sp>
        <p:nvSpPr>
          <p:cNvPr id="33" name="Ellipse 33"/>
          <p:cNvSpPr/>
          <p:nvPr/>
        </p:nvSpPr>
        <p:spPr>
          <a:xfrm>
            <a:off x="6581775" y="3629025"/>
            <a:ext cx="76200" cy="76200"/>
          </a:xfrm>
          <a:prstGeom prst="ellipse">
            <a:avLst/>
          </a:prstGeom>
          <a:solidFill>
            <a:srgbClr val="C1856B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796088" y="3593306"/>
            <a:ext cx="264926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Batch export with image presets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656070" y="4046220"/>
            <a:ext cx="9889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COMPLETENESS</a:t>
            </a:r>
          </a:p>
        </p:txBody>
      </p:sp>
      <p:sp>
        <p:nvSpPr>
          <p:cNvPr id="36" name="Rectangle 36"/>
          <p:cNvSpPr/>
          <p:nvPr/>
        </p:nvSpPr>
        <p:spPr>
          <a:xfrm>
            <a:off x="6667500" y="4267200"/>
            <a:ext cx="3810000" cy="76200"/>
          </a:xfrm>
          <a:prstGeom prst="roundRect">
            <a:avLst>
              <a:gd name="adj" fmla="val 50000"/>
            </a:avLst>
          </a:prstGeom>
          <a:solidFill>
            <a:srgbClr val="B6ADA4">
              <a:alpha val="30000"/>
            </a:srgbClr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6667500" y="4267200"/>
            <a:ext cx="2857500" cy="76200"/>
          </a:xfrm>
          <a:prstGeom prst="roundRect">
            <a:avLst>
              <a:gd name="adj" fmla="val 50000"/>
            </a:avLst>
          </a:prstGeom>
          <a:solidFill>
            <a:srgbClr val="C1856B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10561320" y="4265295"/>
            <a:ext cx="2397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1856B"/>
                </a:solidFill>
                <a:latin typeface="Segoe UI"/>
                <a:ea typeface="Microsoft YaHei"/>
                <a:cs typeface="Segoe UI"/>
              </a:rPr>
              <a:t>75%</a:t>
            </a:r>
          </a:p>
        </p:txBody>
      </p:sp>
      <p:sp>
        <p:nvSpPr>
          <p:cNvPr id="39" name="Rectangle 39"/>
          <p:cNvSpPr/>
          <p:nvPr/>
        </p:nvSpPr>
        <p:spPr>
          <a:xfrm>
            <a:off x="762000" y="5238750"/>
            <a:ext cx="10477500" cy="666750"/>
          </a:xfrm>
          <a:prstGeom prst="roundRect">
            <a:avLst>
              <a:gd name="adj" fmla="val 11429"/>
            </a:avLst>
          </a:prstGeom>
          <a:solidFill>
            <a:srgbClr val="753438">
              <a:alpha val="6000"/>
            </a:srgbClr>
          </a:solidFill>
          <a:ln w="9525">
            <a:solidFill>
              <a:srgbClr val="753438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1127760" y="5490210"/>
            <a:ext cx="51095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753438"/>
                </a:solidFill>
                <a:latin typeface="Segoe UI"/>
                <a:ea typeface="Microsoft YaHei"/>
                <a:cs typeface="Segoe UI"/>
              </a:rPr>
              <a:t>Rule: Only publish when completeness score reaches 100%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30618" y="5724049"/>
            <a:ext cx="50870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Prevents incomplete or incorrect product data from reaching customers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536775" y="6522720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6ADA4"/>
                </a:solidFill>
                <a:latin typeface="Segoe UI"/>
                <a:ea typeface="Microsoft YaHei"/>
                <a:cs typeface="Segoe UI"/>
              </a:rPr>
              <a:t>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EE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586A6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146818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6ADA4"/>
                </a:solidFill>
                <a:latin typeface="Segoe UI"/>
                <a:ea typeface="Microsoft YaHei"/>
                <a:cs typeface="Segoe UI"/>
              </a:rPr>
              <a:t>07 / Administration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781050"/>
            <a:ext cx="38100" cy="304800"/>
          </a:xfrm>
          <a:prstGeom prst="rect">
            <a:avLst/>
          </a:prstGeom>
          <a:solidFill>
            <a:srgbClr val="C1856B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1520" y="788670"/>
            <a:ext cx="456952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Admin, Roles &amp; Audit Trail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9665" y="1791652"/>
            <a:ext cx="15241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ROLE-BASED ACCESS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5855" y="2140268"/>
            <a:ext cx="227016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Four permission levels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8712" y="2497931"/>
            <a:ext cx="454699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Admin - Full system control, user management, settings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8712" y="2736056"/>
            <a:ext cx="462093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Content Manager - Create, edit, publish product content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8712" y="2974181"/>
            <a:ext cx="352829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Reviewer - Approve content, quality checks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28712" y="3212306"/>
            <a:ext cx="343793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Viewer - Read-only access to product data</a:t>
            </a:r>
          </a:p>
        </p:txBody>
      </p:sp>
      <p:sp>
        <p:nvSpPr>
          <p:cNvPr id="13" name="Line 13"/>
          <p:cNvSpPr/>
          <p:nvPr/>
        </p:nvSpPr>
        <p:spPr>
          <a:xfrm>
            <a:off x="1143000" y="3667125"/>
            <a:ext cx="9334500" cy="9525"/>
          </a:xfrm>
          <a:custGeom>
            <a:avLst/>
            <a:gdLst/>
            <a:ahLst/>
            <a:cxnLst/>
            <a:rect l="l" t="t" r="r" b="b"/>
            <a:pathLst>
              <a:path w="9334500" h="9525">
                <a:moveTo>
                  <a:pt x="0" y="0"/>
                </a:moveTo>
                <a:lnTo>
                  <a:pt x="9334500" y="0"/>
                </a:lnTo>
              </a:path>
            </a:pathLst>
          </a:custGeom>
          <a:noFill/>
          <a:ln w="9525">
            <a:solidFill>
              <a:srgbClr val="B6ADA4">
                <a:alpha val="50000"/>
              </a:srgbClr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1129665" y="3934778"/>
            <a:ext cx="16771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COMPLETENESS SCORE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25855" y="4283392"/>
            <a:ext cx="273597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Quality gate for publishing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28712" y="4641056"/>
            <a:ext cx="457985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Per product - track missing fields, images, translations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28712" y="4879181"/>
            <a:ext cx="425124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Per channel - webshop vs iPaper requirements differ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8712" y="5117306"/>
            <a:ext cx="396371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Dashboard view - team-wide progress at a glance</a:t>
            </a:r>
          </a:p>
        </p:txBody>
      </p:sp>
      <p:sp>
        <p:nvSpPr>
          <p:cNvPr id="19" name="Line 19"/>
          <p:cNvSpPr/>
          <p:nvPr/>
        </p:nvSpPr>
        <p:spPr>
          <a:xfrm>
            <a:off x="1143000" y="5524500"/>
            <a:ext cx="9334500" cy="9525"/>
          </a:xfrm>
          <a:custGeom>
            <a:avLst/>
            <a:gdLst/>
            <a:ahLst/>
            <a:cxnLst/>
            <a:rect l="l" t="t" r="r" b="b"/>
            <a:pathLst>
              <a:path w="9334500" h="9525">
                <a:moveTo>
                  <a:pt x="0" y="0"/>
                </a:moveTo>
                <a:lnTo>
                  <a:pt x="9334500" y="0"/>
                </a:lnTo>
              </a:path>
            </a:pathLst>
          </a:custGeom>
          <a:noFill/>
          <a:ln w="9525">
            <a:solidFill>
              <a:srgbClr val="B6ADA4">
                <a:alpha val="50000"/>
              </a:srgbClr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1129665" y="5744528"/>
            <a:ext cx="8800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AUDIT TRAIL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28712" y="6069806"/>
            <a:ext cx="830961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Version history with full diff - Who changed what and when - One-click rollback to any previous version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536775" y="6522720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6ADA4"/>
                </a:solidFill>
                <a:latin typeface="Segoe UI"/>
                <a:ea typeface="Microsoft YaHei"/>
                <a:cs typeface="Segoe UI"/>
              </a:rPr>
              <a:t>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EE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586A6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87010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6ADA4"/>
                </a:solidFill>
                <a:latin typeface="Segoe UI"/>
                <a:ea typeface="Microsoft YaHei"/>
                <a:cs typeface="Segoe UI"/>
              </a:rPr>
              <a:t>08 / Impact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781050"/>
            <a:ext cx="38100" cy="304800"/>
          </a:xfrm>
          <a:prstGeom prst="rect">
            <a:avLst/>
          </a:prstGeom>
          <a:solidFill>
            <a:srgbClr val="C1856B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1520" y="788670"/>
            <a:ext cx="289491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Business Impact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1714500"/>
            <a:ext cx="323850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B6ADA4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673838" y="1960245"/>
            <a:ext cx="1414824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900" b="1" dirty="0">
                <a:solidFill>
                  <a:srgbClr val="753438"/>
                </a:solidFill>
                <a:latin typeface="Segoe UI"/>
                <a:ea typeface="Microsoft YaHei"/>
                <a:cs typeface="Segoe UI"/>
              </a:rPr>
              <a:t>Zero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89710" y="2632710"/>
            <a:ext cx="17830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shared drive uploads</a:t>
            </a:r>
          </a:p>
        </p:txBody>
      </p:sp>
      <p:sp>
        <p:nvSpPr>
          <p:cNvPr id="10" name="Line 10"/>
          <p:cNvSpPr/>
          <p:nvPr/>
        </p:nvSpPr>
        <p:spPr>
          <a:xfrm>
            <a:off x="1524000" y="3048000"/>
            <a:ext cx="1714500" cy="9525"/>
          </a:xfrm>
          <a:custGeom>
            <a:avLst/>
            <a:gdLst/>
            <a:ahLst/>
            <a:cxnLst/>
            <a:rect l="l" t="t" r="r" b="b"/>
            <a:pathLst>
              <a:path w="1714500" h="9525">
                <a:moveTo>
                  <a:pt x="0" y="0"/>
                </a:moveTo>
                <a:lnTo>
                  <a:pt x="1714500" y="0"/>
                </a:lnTo>
              </a:path>
            </a:pathLst>
          </a:custGeom>
          <a:noFill/>
          <a:ln w="9525">
            <a:solidFill>
              <a:srgbClr val="B6ADA4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400556" y="3228499"/>
            <a:ext cx="19613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strike="sngStrike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Manual file sharing via email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15117" y="3466624"/>
            <a:ext cx="21322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A7C59"/>
                </a:solidFill>
                <a:latin typeface="Segoe UI"/>
                <a:ea typeface="Microsoft YaHei"/>
                <a:cs typeface="Segoe UI"/>
              </a:rPr>
              <a:t>Centralized asset management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381500" y="1714500"/>
            <a:ext cx="323850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B6ADA4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5039156" y="1960245"/>
            <a:ext cx="1923188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900" b="1" dirty="0">
                <a:solidFill>
                  <a:srgbClr val="C1856B"/>
                </a:solidFill>
                <a:latin typeface="Segoe UI"/>
                <a:ea typeface="Microsoft YaHei"/>
                <a:cs typeface="Segoe UI"/>
              </a:rPr>
              <a:t>8+ hrs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850701" y="2632710"/>
            <a:ext cx="230009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saved per week per person</a:t>
            </a:r>
          </a:p>
        </p:txBody>
      </p:sp>
      <p:sp>
        <p:nvSpPr>
          <p:cNvPr id="16" name="Line 16"/>
          <p:cNvSpPr/>
          <p:nvPr/>
        </p:nvSpPr>
        <p:spPr>
          <a:xfrm>
            <a:off x="5143500" y="3048000"/>
            <a:ext cx="1714500" cy="9525"/>
          </a:xfrm>
          <a:custGeom>
            <a:avLst/>
            <a:gdLst/>
            <a:ahLst/>
            <a:cxnLst/>
            <a:rect l="l" t="t" r="r" b="b"/>
            <a:pathLst>
              <a:path w="1714500" h="9525">
                <a:moveTo>
                  <a:pt x="0" y="0"/>
                </a:moveTo>
                <a:lnTo>
                  <a:pt x="1714500" y="0"/>
                </a:lnTo>
              </a:path>
            </a:pathLst>
          </a:custGeom>
          <a:noFill/>
          <a:ln w="9525">
            <a:solidFill>
              <a:srgbClr val="B6ADA4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4977336" y="3228499"/>
            <a:ext cx="204682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strike="sngStrike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Copy-paste between systems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044976" y="3466624"/>
            <a:ext cx="191154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A7C59"/>
                </a:solidFill>
                <a:latin typeface="Segoe UI"/>
                <a:ea typeface="Microsoft YaHei"/>
                <a:cs typeface="Segoe UI"/>
              </a:rPr>
              <a:t>Automated sync &amp; AI drafts</a:t>
            </a:r>
          </a:p>
        </p:txBody>
      </p:sp>
      <p:sp>
        <p:nvSpPr>
          <p:cNvPr id="19" name="Rectangle 19"/>
          <p:cNvSpPr/>
          <p:nvPr/>
        </p:nvSpPr>
        <p:spPr>
          <a:xfrm>
            <a:off x="8001000" y="1714500"/>
            <a:ext cx="323850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B6ADA4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8795272" y="1945958"/>
            <a:ext cx="1649956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4A7C59"/>
                </a:solidFill>
                <a:latin typeface="Segoe UI"/>
                <a:ea typeface="Microsoft YaHei"/>
                <a:cs typeface="Segoe UI"/>
              </a:rPr>
              <a:t>Always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650354" y="2326958"/>
            <a:ext cx="1939792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4A7C59"/>
                </a:solidFill>
                <a:latin typeface="Segoe UI"/>
                <a:ea typeface="Microsoft YaHei"/>
                <a:cs typeface="Segoe UI"/>
              </a:rPr>
              <a:t>correct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763762" y="2823210"/>
            <a:ext cx="171297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content on webshop</a:t>
            </a:r>
          </a:p>
        </p:txBody>
      </p:sp>
      <p:sp>
        <p:nvSpPr>
          <p:cNvPr id="23" name="Line 23"/>
          <p:cNvSpPr/>
          <p:nvPr/>
        </p:nvSpPr>
        <p:spPr>
          <a:xfrm>
            <a:off x="8763000" y="3190875"/>
            <a:ext cx="1714500" cy="9525"/>
          </a:xfrm>
          <a:custGeom>
            <a:avLst/>
            <a:gdLst/>
            <a:ahLst/>
            <a:cxnLst/>
            <a:rect l="l" t="t" r="r" b="b"/>
            <a:pathLst>
              <a:path w="1714500" h="9525">
                <a:moveTo>
                  <a:pt x="0" y="0"/>
                </a:moveTo>
                <a:lnTo>
                  <a:pt x="1714500" y="0"/>
                </a:lnTo>
              </a:path>
            </a:pathLst>
          </a:custGeom>
          <a:noFill/>
          <a:ln w="9525">
            <a:solidFill>
              <a:srgbClr val="B6ADA4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8543437" y="3323749"/>
            <a:ext cx="215362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strike="sngStrike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Outdated prices &amp; specs online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835354" y="3561874"/>
            <a:ext cx="156979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A7C59"/>
                </a:solidFill>
                <a:latin typeface="Segoe UI"/>
                <a:ea typeface="Microsoft YaHei"/>
                <a:cs typeface="Segoe UI"/>
              </a:rPr>
              <a:t>Single source of truth</a:t>
            </a:r>
          </a:p>
        </p:txBody>
      </p:sp>
      <p:sp>
        <p:nvSpPr>
          <p:cNvPr id="26" name="Rectangle 26"/>
          <p:cNvSpPr/>
          <p:nvPr/>
        </p:nvSpPr>
        <p:spPr>
          <a:xfrm>
            <a:off x="762000" y="4381500"/>
            <a:ext cx="104775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B6ADA4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1129665" y="4601528"/>
            <a:ext cx="1306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BEFORE vs AFTER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29665" y="4982528"/>
            <a:ext cx="12182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753438"/>
                </a:solidFill>
                <a:latin typeface="Segoe UI"/>
                <a:ea typeface="Microsoft YaHei"/>
                <a:cs typeface="Segoe UI"/>
              </a:rPr>
              <a:t>Manual Process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30618" y="5228749"/>
            <a:ext cx="183322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Export from D365 to Excel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30618" y="5419249"/>
            <a:ext cx="186882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Write descriptions in Word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30618" y="5609749"/>
            <a:ext cx="18759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Resize images in Photoshop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30618" y="5800249"/>
            <a:ext cx="190442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817E"/>
                </a:solidFill>
                <a:latin typeface="Segoe UI"/>
                <a:ea typeface="Microsoft YaHei"/>
                <a:cs typeface="Segoe UI"/>
              </a:rPr>
              <a:t>Upload to webshop manually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413486" y="5250180"/>
            <a:ext cx="22202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C1856B"/>
                </a:solidFill>
                <a:latin typeface="Segoe UI"/>
                <a:ea typeface="Microsoft YaHei"/>
                <a:cs typeface="Segoe UI"/>
              </a:rPr>
              <a:t>→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463665" y="4982528"/>
            <a:ext cx="11618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4A7C59"/>
                </a:solidFill>
                <a:latin typeface="Segoe UI"/>
                <a:ea typeface="Microsoft YaHei"/>
                <a:cs typeface="Segoe UI"/>
              </a:rPr>
              <a:t>Automated PIM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464618" y="5228749"/>
            <a:ext cx="23387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Auto-sync from D365 every 15 min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464618" y="5419249"/>
            <a:ext cx="18047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AI generates descriptions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464618" y="5609749"/>
            <a:ext cx="183322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Image engine auto-resizes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464618" y="5800249"/>
            <a:ext cx="186882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Publish when 100% complete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536775" y="6522720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6ADA4"/>
                </a:solidFill>
                <a:latin typeface="Segoe UI"/>
                <a:ea typeface="Microsoft YaHei"/>
                <a:cs typeface="Segoe UI"/>
              </a:rPr>
              <a:t>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EE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586A6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11768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6ADA4"/>
                </a:solidFill>
                <a:latin typeface="Segoe UI"/>
                <a:ea typeface="Microsoft YaHei"/>
                <a:cs typeface="Segoe UI"/>
              </a:rPr>
              <a:t>09 / Technology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781050"/>
            <a:ext cx="38100" cy="304800"/>
          </a:xfrm>
          <a:prstGeom prst="rect">
            <a:avLst/>
          </a:prstGeom>
          <a:solidFill>
            <a:srgbClr val="C1856B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1520" y="788670"/>
            <a:ext cx="1993201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Tech Stack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1619250"/>
            <a:ext cx="10477500" cy="495300"/>
          </a:xfrm>
          <a:prstGeom prst="roundRect">
            <a:avLst>
              <a:gd name="adj" fmla="val 11538"/>
            </a:avLst>
          </a:prstGeom>
          <a:solidFill>
            <a:srgbClr val="586A68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35368" y="1809274"/>
            <a:ext cx="7125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>
                    <a:alphaMod val="70000"/>
                  </a:srgbClr>
                </a:solidFill>
                <a:latin typeface="Segoe UI"/>
                <a:ea typeface="Microsoft YaHei"/>
                <a:cs typeface="Segoe UI"/>
              </a:rPr>
              <a:t>FRONTEND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652712" y="1793081"/>
            <a:ext cx="180554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React 18 + TypeScript</a:t>
            </a:r>
          </a:p>
        </p:txBody>
      </p:sp>
      <p:sp>
        <p:nvSpPr>
          <p:cNvPr id="10" name="Rectangle 10"/>
          <p:cNvSpPr/>
          <p:nvPr/>
        </p:nvSpPr>
        <p:spPr>
          <a:xfrm>
            <a:off x="762000" y="2238375"/>
            <a:ext cx="10477500" cy="495300"/>
          </a:xfrm>
          <a:prstGeom prst="roundRect">
            <a:avLst>
              <a:gd name="adj" fmla="val 11538"/>
            </a:avLst>
          </a:prstGeom>
          <a:solidFill>
            <a:srgbClr val="586A68">
              <a:alpha val="85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35368" y="2428399"/>
            <a:ext cx="60041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>
                    <a:alphaMod val="70000"/>
                  </a:srgbClr>
                </a:solidFill>
                <a:latin typeface="Segoe UI"/>
                <a:ea typeface="Microsoft YaHei"/>
                <a:cs typeface="Segoe UI"/>
              </a:rPr>
              <a:t>BACKEND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652712" y="2412206"/>
            <a:ext cx="127073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ASP.NET Core 8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62000" y="2857500"/>
            <a:ext cx="10477500" cy="495300"/>
          </a:xfrm>
          <a:prstGeom prst="roundRect">
            <a:avLst>
              <a:gd name="adj" fmla="val 11538"/>
            </a:avLst>
          </a:prstGeom>
          <a:solidFill>
            <a:srgbClr val="C1856B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035368" y="3047524"/>
            <a:ext cx="7349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>
                    <a:alphaMod val="70000"/>
                  </a:srgbClr>
                </a:solidFill>
                <a:latin typeface="Segoe UI"/>
                <a:ea typeface="Microsoft YaHei"/>
                <a:cs typeface="Segoe UI"/>
              </a:rPr>
              <a:t>AI SERVICE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652712" y="3031331"/>
            <a:ext cx="127073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Python FastAPI</a:t>
            </a:r>
          </a:p>
        </p:txBody>
      </p:sp>
      <p:sp>
        <p:nvSpPr>
          <p:cNvPr id="16" name="Rectangle 16"/>
          <p:cNvSpPr/>
          <p:nvPr/>
        </p:nvSpPr>
        <p:spPr>
          <a:xfrm>
            <a:off x="762000" y="3476625"/>
            <a:ext cx="10477500" cy="495300"/>
          </a:xfrm>
          <a:prstGeom prst="roundRect">
            <a:avLst>
              <a:gd name="adj" fmla="val 11538"/>
            </a:avLst>
          </a:prstGeom>
          <a:solidFill>
            <a:srgbClr val="586A68">
              <a:alpha val="70000"/>
            </a:srgbClr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035368" y="3666649"/>
            <a:ext cx="68264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>
                    <a:alphaMod val="70000"/>
                  </a:srgbClr>
                </a:solidFill>
                <a:latin typeface="Segoe UI"/>
                <a:ea typeface="Microsoft YaHei"/>
                <a:cs typeface="Segoe UI"/>
              </a:rPr>
              <a:t>DATABASE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652712" y="3650456"/>
            <a:ext cx="269403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PostgreSQL - Redis - Typesense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62000" y="4095750"/>
            <a:ext cx="10477500" cy="495300"/>
          </a:xfrm>
          <a:prstGeom prst="roundRect">
            <a:avLst>
              <a:gd name="adj" fmla="val 11538"/>
            </a:avLst>
          </a:prstGeom>
          <a:solidFill>
            <a:srgbClr val="586A68">
              <a:alpha val="55000"/>
            </a:srgbClr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035368" y="4285774"/>
            <a:ext cx="75740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>
                    <a:alphaMod val="70000"/>
                  </a:srgbClr>
                </a:solidFill>
                <a:latin typeface="Segoe UI"/>
                <a:ea typeface="Microsoft YaHei"/>
                <a:cs typeface="Segoe UI"/>
              </a:rPr>
              <a:t>MESSAGING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652712" y="4269581"/>
            <a:ext cx="81354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RabbitMQ</a:t>
            </a:r>
          </a:p>
        </p:txBody>
      </p:sp>
      <p:sp>
        <p:nvSpPr>
          <p:cNvPr id="22" name="Rectangle 22"/>
          <p:cNvSpPr/>
          <p:nvPr/>
        </p:nvSpPr>
        <p:spPr>
          <a:xfrm>
            <a:off x="762000" y="4714875"/>
            <a:ext cx="10477500" cy="495300"/>
          </a:xfrm>
          <a:prstGeom prst="roundRect">
            <a:avLst>
              <a:gd name="adj" fmla="val 11538"/>
            </a:avLst>
          </a:prstGeom>
          <a:solidFill>
            <a:srgbClr val="586A68">
              <a:alpha val="40000"/>
            </a:srgbClr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035368" y="4904899"/>
            <a:ext cx="63031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STORAGE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652712" y="4888706"/>
            <a:ext cx="137424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Azure Blob + CDN</a:t>
            </a:r>
          </a:p>
        </p:txBody>
      </p:sp>
      <p:sp>
        <p:nvSpPr>
          <p:cNvPr id="25" name="Rectangle 25"/>
          <p:cNvSpPr/>
          <p:nvPr/>
        </p:nvSpPr>
        <p:spPr>
          <a:xfrm>
            <a:off x="762000" y="5334000"/>
            <a:ext cx="10477500" cy="495300"/>
          </a:xfrm>
          <a:prstGeom prst="roundRect">
            <a:avLst>
              <a:gd name="adj" fmla="val 11538"/>
            </a:avLst>
          </a:prstGeom>
          <a:solidFill>
            <a:srgbClr val="586A68">
              <a:alpha val="25000"/>
            </a:srgbClr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035368" y="5524024"/>
            <a:ext cx="11386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INFRASTRUCTURE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652712" y="5507831"/>
            <a:ext cx="174516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3C3C3B"/>
                </a:solidFill>
                <a:latin typeface="Segoe UI"/>
                <a:ea typeface="Microsoft YaHei"/>
                <a:cs typeface="Segoe UI"/>
              </a:rPr>
              <a:t>Docker / Kubernetes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132320" y="1817370"/>
            <a:ext cx="23757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60000"/>
                  </a:srgbClr>
                </a:solidFill>
                <a:latin typeface="Segoe UI"/>
                <a:ea typeface="Microsoft YaHei"/>
                <a:cs typeface="Segoe UI"/>
              </a:rPr>
              <a:t>Admin UI, DAM interface, dashboards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132320" y="2436495"/>
            <a:ext cx="25005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60000"/>
                  </a:srgbClr>
                </a:solidFill>
                <a:latin typeface="Segoe UI"/>
                <a:ea typeface="Microsoft YaHei"/>
                <a:cs typeface="Segoe UI"/>
              </a:rPr>
              <a:t>REST API, sync workers, publish engine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132320" y="3055620"/>
            <a:ext cx="22377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60000"/>
                  </a:srgbClr>
                </a:solidFill>
                <a:latin typeface="Segoe UI"/>
                <a:ea typeface="Microsoft YaHei"/>
                <a:cs typeface="Segoe UI"/>
              </a:rPr>
              <a:t>Text generation, image processing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132320" y="3674745"/>
            <a:ext cx="22442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60000"/>
                  </a:srgbClr>
                </a:solidFill>
                <a:latin typeface="Segoe UI"/>
                <a:ea typeface="Microsoft YaHei"/>
                <a:cs typeface="Segoe UI"/>
              </a:rPr>
              <a:t>Products, cache, full-text search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132320" y="4293870"/>
            <a:ext cx="213912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60000"/>
                  </a:srgbClr>
                </a:solidFill>
                <a:latin typeface="Segoe UI"/>
                <a:ea typeface="Microsoft YaHei"/>
                <a:cs typeface="Segoe UI"/>
              </a:rPr>
              <a:t>Event-driven sync, notifications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132320" y="4912995"/>
            <a:ext cx="18565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C3C3B">
                    <a:alphaMod val="60000"/>
                  </a:srgbClr>
                </a:solidFill>
                <a:latin typeface="Segoe UI"/>
                <a:ea typeface="Microsoft YaHei"/>
                <a:cs typeface="Segoe UI"/>
              </a:rPr>
              <a:t>Images, documents, exports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132320" y="5532120"/>
            <a:ext cx="202739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C3C3B">
                    <a:alphaMod val="60000"/>
                  </a:srgbClr>
                </a:solidFill>
                <a:latin typeface="Segoe UI"/>
                <a:ea typeface="Microsoft YaHei"/>
                <a:cs typeface="Segoe UI"/>
              </a:rPr>
              <a:t>Container orchestration, CI/CD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973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6ADA4"/>
                </a:solidFill>
                <a:latin typeface="Segoe UI"/>
                <a:ea typeface="Microsoft YaHei"/>
                <a:cs typeface="Segoe UI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