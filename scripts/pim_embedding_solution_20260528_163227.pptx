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Chào mừng đến với bài trình bày về giải pháp tích hợp Vector Embeddings và LLM vào hệ thống PIM. Hôm nay chúng ta sẽ đi qua kiến trúc, chiến lược chunking, lựa chọn model, các use cases và lộ trình triển khai.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Có 3 lý do chính cần embeddings cho PIM. Thứ nhất, Semantic Search cho phép tìm sản phẩm bằng ngôn ngữ tự nhiên thay vì chỉ keyword. Thứ hai, Auto-Enrichment giúp LLM tự động bổ sung content dựa trên sản phẩm tương tự. Thứ ba, Similarity Detection phát hiện trùng lặp và gợi ý cross-sell thông qua vector distance.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Kiến trúc gồm 5 thành phần chính: PIM Database PostgreSQL, Chunking layer phân đoạn dữ liệu, Embedding Model tạo vector, ChromaDB lưu trữ vector, và LLM layer xử lý RAG queries. Orchestration qua RabbitMQ event-driven và AI Service FastAPI.</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Dữ liệu PIM được chia thành 3 loại chunk. Product Chunk khoảng 300 tokens chứa name, description, USP, range, material. Asset Chunk khoảng 150 tokens chứa tags, captions, usage channels. Material Chunk khoảng 200 tokens chứa properties, care instructions, linked products. Chunk size tối ưu 200-500 tokens.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Đề xuất dùng OpenAI text-embedding-3-large với dimensions giảm từ 3072 xuống 1536 để tiết kiệm storage. Model này hỗ trợ multilingual tốt cho Vietnamese và English. Fallback sang bge-m3 open source nếu cần on-premise.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Tích hợp theo 2 luồng. Write Path: Product create/update → PIM API emit event → RabbitMQ → AI Service chunk và embed → ChromaDB upsert. Read Path: User search → API Gateway → AI Service embed query → ChromaDB similarity search → Claude LLM generate response. Không cần infrastructure mới vì ChromaDB, RabbitMQ, AI Service đều đã có sẵn.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4 use cases chính. Semantic Product Search tìm bằng ngôn ngữ tự nhiên, cross-language. Auto-Generate Descriptions dùng RAG tìm 5 sản phẩm tương tự rồi LLM generate draft. Duplicate Detection alert khi cosine similarity cao. Smart Recommendations gợi ý cross-sell dựa trên material và product similarity.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Luồng đồng bộ: D365 sync → PIM DB updated → event triggered → AI Service fetch, chunk, embed → ChromaDB upsert. Strategy incremental: hash-based change detection, batch processing 100 embeddings/call, retry with backoff. Cost estimate: full index 5K products chỉ $0.65, daily update ~$0.007.</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Lộ trình 12 tuần chia 4 phase. Phase 1 (2 tuần): ChromaDB setup và basic embedding. Phase 2 (3 tuần): Semantic search API và UI. Phase 3 (4 tuần): LLM enrichment với approval workflow. Phase 4 (3 tuần): Similarity detection và recommendations. Tổng cost infrastructure $0 vì đã có sẵn, API cost ~$20/tháng.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100000">
                <a:srgbClr val="2E86AB"/>
              </a:gs>
            </a:gsLst>
            <a:lin ang="2700000" scaled="1"/>
          </a:gradFill>
          <a:ln>
            <a:noFill/>
          </a:ln>
        </p:spPr>
      </p:sp>
      <p:sp>
        <p:nvSpPr>
          <p:cNvPr id="3" name="Ellipse 3"/>
          <p:cNvSpPr/>
          <p:nvPr/>
        </p:nvSpPr>
        <p:spPr>
          <a:xfrm>
            <a:off x="8572500" y="-476250"/>
            <a:ext cx="3810000" cy="3810000"/>
          </a:xfrm>
          <a:prstGeom prst="ellipse">
            <a:avLst/>
          </a:prstGeom>
          <a:solidFill>
            <a:srgbClr val="FFFFFF">
              <a:alpha val="3000"/>
            </a:srgbClr>
          </a:solidFill>
          <a:ln>
            <a:noFill/>
          </a:ln>
        </p:spPr>
      </p:sp>
      <p:sp>
        <p:nvSpPr>
          <p:cNvPr id="4" name="Ellipse 4"/>
          <p:cNvSpPr/>
          <p:nvPr/>
        </p:nvSpPr>
        <p:spPr>
          <a:xfrm>
            <a:off x="9620250" y="381000"/>
            <a:ext cx="2667000" cy="2667000"/>
          </a:xfrm>
          <a:prstGeom prst="ellipse">
            <a:avLst/>
          </a:prstGeom>
          <a:solidFill>
            <a:srgbClr val="FFFFFF">
              <a:alpha val="4000"/>
            </a:srgbClr>
          </a:solidFill>
          <a:ln>
            <a:noFill/>
          </a:ln>
        </p:spPr>
      </p:sp>
      <p:sp>
        <p:nvSpPr>
          <p:cNvPr id="5" name="Ellipse 5"/>
          <p:cNvSpPr/>
          <p:nvPr/>
        </p:nvSpPr>
        <p:spPr>
          <a:xfrm>
            <a:off x="381000" y="4191000"/>
            <a:ext cx="3048000" cy="3048000"/>
          </a:xfrm>
          <a:prstGeom prst="ellipse">
            <a:avLst/>
          </a:prstGeom>
          <a:solidFill>
            <a:srgbClr val="FFFFFF">
              <a:alpha val="3000"/>
            </a:srgbClr>
          </a:solidFill>
          <a:ln>
            <a:noFill/>
          </a:ln>
        </p:spPr>
      </p:sp>
      <p:grpSp>
        <p:nvGrpSpPr>
          <p:cNvPr id="18" name="Group 18"/>
          <p:cNvGrpSpPr/>
          <p:nvPr/>
        </p:nvGrpSpPr>
        <p:grpSpPr>
          <a:xfrm>
            <a:off x="8543925" y="4733925"/>
            <a:ext cx="914400" cy="628650"/>
            <a:chOff x="8543925" y="4733925"/>
            <a:chExt cx="914400" cy="628650"/>
          </a:xfrm>
        </p:grpSpPr>
        <p:sp>
          <p:nvSpPr>
            <p:cNvPr id="6" name="Ellipse 6"/>
            <p:cNvSpPr/>
            <p:nvPr/>
          </p:nvSpPr>
          <p:spPr>
            <a:xfrm>
              <a:off x="8543925" y="4733925"/>
              <a:ext cx="57150" cy="57150"/>
            </a:xfrm>
            <a:prstGeom prst="ellipse">
              <a:avLst/>
            </a:prstGeom>
            <a:solidFill>
              <a:srgbClr val="FFFFFF">
                <a:alpha val="8000"/>
              </a:srgbClr>
            </a:solidFill>
            <a:ln>
              <a:noFill/>
            </a:ln>
          </p:spPr>
        </p:sp>
        <p:sp>
          <p:nvSpPr>
            <p:cNvPr id="7" name="Ellipse 7"/>
            <p:cNvSpPr/>
            <p:nvPr/>
          </p:nvSpPr>
          <p:spPr>
            <a:xfrm>
              <a:off x="8829675" y="4733925"/>
              <a:ext cx="57150" cy="57150"/>
            </a:xfrm>
            <a:prstGeom prst="ellipse">
              <a:avLst/>
            </a:prstGeom>
            <a:solidFill>
              <a:srgbClr val="FFFFFF">
                <a:alpha val="8000"/>
              </a:srgbClr>
            </a:solidFill>
            <a:ln>
              <a:noFill/>
            </a:ln>
          </p:spPr>
        </p:sp>
        <p:sp>
          <p:nvSpPr>
            <p:cNvPr id="8" name="Ellipse 8"/>
            <p:cNvSpPr/>
            <p:nvPr/>
          </p:nvSpPr>
          <p:spPr>
            <a:xfrm>
              <a:off x="9115425" y="4733925"/>
              <a:ext cx="57150" cy="57150"/>
            </a:xfrm>
            <a:prstGeom prst="ellipse">
              <a:avLst/>
            </a:prstGeom>
            <a:solidFill>
              <a:srgbClr val="FFFFFF">
                <a:alpha val="8000"/>
              </a:srgbClr>
            </a:solidFill>
            <a:ln>
              <a:noFill/>
            </a:ln>
          </p:spPr>
        </p:sp>
        <p:sp>
          <p:nvSpPr>
            <p:cNvPr id="9" name="Ellipse 9"/>
            <p:cNvSpPr/>
            <p:nvPr/>
          </p:nvSpPr>
          <p:spPr>
            <a:xfrm>
              <a:off x="9401175" y="4733925"/>
              <a:ext cx="57150" cy="57150"/>
            </a:xfrm>
            <a:prstGeom prst="ellipse">
              <a:avLst/>
            </a:prstGeom>
            <a:solidFill>
              <a:srgbClr val="FFFFFF">
                <a:alpha val="8000"/>
              </a:srgbClr>
            </a:solidFill>
            <a:ln>
              <a:noFill/>
            </a:ln>
          </p:spPr>
        </p:sp>
        <p:sp>
          <p:nvSpPr>
            <p:cNvPr id="10" name="Ellipse 10"/>
            <p:cNvSpPr/>
            <p:nvPr/>
          </p:nvSpPr>
          <p:spPr>
            <a:xfrm>
              <a:off x="8543925" y="5019675"/>
              <a:ext cx="57150" cy="57150"/>
            </a:xfrm>
            <a:prstGeom prst="ellipse">
              <a:avLst/>
            </a:prstGeom>
            <a:solidFill>
              <a:srgbClr val="FFFFFF">
                <a:alpha val="8000"/>
              </a:srgbClr>
            </a:solidFill>
            <a:ln>
              <a:noFill/>
            </a:ln>
          </p:spPr>
        </p:sp>
        <p:sp>
          <p:nvSpPr>
            <p:cNvPr id="11" name="Ellipse 11"/>
            <p:cNvSpPr/>
            <p:nvPr/>
          </p:nvSpPr>
          <p:spPr>
            <a:xfrm>
              <a:off x="8829675" y="5019675"/>
              <a:ext cx="57150" cy="57150"/>
            </a:xfrm>
            <a:prstGeom prst="ellipse">
              <a:avLst/>
            </a:prstGeom>
            <a:solidFill>
              <a:srgbClr val="FFFFFF">
                <a:alpha val="8000"/>
              </a:srgbClr>
            </a:solidFill>
            <a:ln>
              <a:noFill/>
            </a:ln>
          </p:spPr>
        </p:sp>
        <p:sp>
          <p:nvSpPr>
            <p:cNvPr id="12" name="Ellipse 12"/>
            <p:cNvSpPr/>
            <p:nvPr/>
          </p:nvSpPr>
          <p:spPr>
            <a:xfrm>
              <a:off x="9115425" y="5019675"/>
              <a:ext cx="57150" cy="57150"/>
            </a:xfrm>
            <a:prstGeom prst="ellipse">
              <a:avLst/>
            </a:prstGeom>
            <a:solidFill>
              <a:srgbClr val="FFFFFF">
                <a:alpha val="8000"/>
              </a:srgbClr>
            </a:solidFill>
            <a:ln>
              <a:noFill/>
            </a:ln>
          </p:spPr>
        </p:sp>
        <p:sp>
          <p:nvSpPr>
            <p:cNvPr id="13" name="Ellipse 13"/>
            <p:cNvSpPr/>
            <p:nvPr/>
          </p:nvSpPr>
          <p:spPr>
            <a:xfrm>
              <a:off x="9401175" y="5019675"/>
              <a:ext cx="57150" cy="57150"/>
            </a:xfrm>
            <a:prstGeom prst="ellipse">
              <a:avLst/>
            </a:prstGeom>
            <a:solidFill>
              <a:srgbClr val="FFFFFF">
                <a:alpha val="8000"/>
              </a:srgbClr>
            </a:solidFill>
            <a:ln>
              <a:noFill/>
            </a:ln>
          </p:spPr>
        </p:sp>
        <p:sp>
          <p:nvSpPr>
            <p:cNvPr id="14" name="Ellipse 14"/>
            <p:cNvSpPr/>
            <p:nvPr/>
          </p:nvSpPr>
          <p:spPr>
            <a:xfrm>
              <a:off x="8543925" y="5305425"/>
              <a:ext cx="57150" cy="57150"/>
            </a:xfrm>
            <a:prstGeom prst="ellipse">
              <a:avLst/>
            </a:prstGeom>
            <a:solidFill>
              <a:srgbClr val="FFFFFF">
                <a:alpha val="8000"/>
              </a:srgbClr>
            </a:solidFill>
            <a:ln>
              <a:noFill/>
            </a:ln>
          </p:spPr>
        </p:sp>
        <p:sp>
          <p:nvSpPr>
            <p:cNvPr id="15" name="Ellipse 15"/>
            <p:cNvSpPr/>
            <p:nvPr/>
          </p:nvSpPr>
          <p:spPr>
            <a:xfrm>
              <a:off x="8829675" y="5305425"/>
              <a:ext cx="57150" cy="57150"/>
            </a:xfrm>
            <a:prstGeom prst="ellipse">
              <a:avLst/>
            </a:prstGeom>
            <a:solidFill>
              <a:srgbClr val="FFFFFF">
                <a:alpha val="8000"/>
              </a:srgbClr>
            </a:solidFill>
            <a:ln>
              <a:noFill/>
            </a:ln>
          </p:spPr>
        </p:sp>
        <p:sp>
          <p:nvSpPr>
            <p:cNvPr id="16" name="Ellipse 16"/>
            <p:cNvSpPr/>
            <p:nvPr/>
          </p:nvSpPr>
          <p:spPr>
            <a:xfrm>
              <a:off x="9115425" y="5305425"/>
              <a:ext cx="57150" cy="57150"/>
            </a:xfrm>
            <a:prstGeom prst="ellipse">
              <a:avLst/>
            </a:prstGeom>
            <a:solidFill>
              <a:srgbClr val="FFFFFF">
                <a:alpha val="8000"/>
              </a:srgbClr>
            </a:solidFill>
            <a:ln>
              <a:noFill/>
            </a:ln>
          </p:spPr>
        </p:sp>
        <p:sp>
          <p:nvSpPr>
            <p:cNvPr id="17" name="Ellipse 17"/>
            <p:cNvSpPr/>
            <p:nvPr/>
          </p:nvSpPr>
          <p:spPr>
            <a:xfrm>
              <a:off x="9401175" y="5305425"/>
              <a:ext cx="57150" cy="57150"/>
            </a:xfrm>
            <a:prstGeom prst="ellipse">
              <a:avLst/>
            </a:prstGeom>
            <a:solidFill>
              <a:srgbClr val="FFFFFF">
                <a:alpha val="8000"/>
              </a:srgbClr>
            </a:solidFill>
            <a:ln>
              <a:noFill/>
            </a:ln>
          </p:spPr>
        </p:sp>
      </p:grpSp>
      <p:sp>
        <p:nvSpPr>
          <p:cNvPr id="19" name="TextBox 19"/>
          <p:cNvSpPr txBox="1"/>
          <p:nvPr/>
        </p:nvSpPr>
        <p:spPr>
          <a:xfrm>
            <a:off x="3013901" y="2278380"/>
            <a:ext cx="6164199"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PIM Embedding Solution</a:t>
            </a:r>
          </a:p>
        </p:txBody>
      </p:sp>
      <p:sp>
        <p:nvSpPr>
          <p:cNvPr id="20" name="Rectangle 20"/>
          <p:cNvSpPr/>
          <p:nvPr/>
        </p:nvSpPr>
        <p:spPr>
          <a:xfrm>
            <a:off x="4667250" y="2952750"/>
            <a:ext cx="2857500" cy="38100"/>
          </a:xfrm>
          <a:prstGeom prst="roundRect">
            <a:avLst>
              <a:gd name="adj" fmla="val 50000"/>
            </a:avLst>
          </a:prstGeom>
          <a:gradFill>
            <a:gsLst>
              <a:gs pos="0">
                <a:srgbClr val="45B69C"/>
              </a:gs>
              <a:gs pos="100000">
                <a:srgbClr val="2E86AB"/>
              </a:gs>
            </a:gsLst>
            <a:lin ang="0" scaled="1"/>
          </a:gradFill>
          <a:ln>
            <a:noFill/>
          </a:ln>
        </p:spPr>
      </p:sp>
      <p:sp>
        <p:nvSpPr>
          <p:cNvPr id="21" name="TextBox 21"/>
          <p:cNvSpPr txBox="1"/>
          <p:nvPr/>
        </p:nvSpPr>
        <p:spPr>
          <a:xfrm>
            <a:off x="3086862" y="3346132"/>
            <a:ext cx="6018276" cy="335280"/>
          </a:xfrm>
          <a:prstGeom prst="rect">
            <a:avLst/>
          </a:prstGeom>
          <a:noFill/>
          <a:ln>
            <a:noFill/>
          </a:ln>
        </p:spPr>
        <p:txBody>
          <a:bodyPr wrap="none" lIns="0" tIns="0" rIns="0" bIns="0" anchor="t" anchorCtr="0">
            <a:spAutoFit/>
          </a:bodyPr>
          <a:lstStyle/>
          <a:p>
            <a:pPr algn="ctr"/>
            <a:r>
              <a:rPr lang="zh-CN" sz="1650" dirty="0">
                <a:solidFill>
                  <a:srgbClr val="FFFFFF">
                    <a:alphaMod val="90000"/>
                  </a:srgbClr>
                </a:solidFill>
                <a:latin typeface="Arial"/>
                <a:ea typeface="Microsoft YaHei"/>
                <a:cs typeface="Arial"/>
              </a:rPr>
              <a:t>Tích hợp Vector Embeddings &amp; LLM vào hệ thống PIM</a:t>
            </a:r>
          </a:p>
        </p:txBody>
      </p:sp>
      <p:sp>
        <p:nvSpPr>
          <p:cNvPr id="22" name="TextBox 22"/>
          <p:cNvSpPr txBox="1"/>
          <p:nvPr/>
        </p:nvSpPr>
        <p:spPr>
          <a:xfrm>
            <a:off x="3214568" y="3879056"/>
            <a:ext cx="5762863" cy="228600"/>
          </a:xfrm>
          <a:prstGeom prst="rect">
            <a:avLst/>
          </a:prstGeom>
          <a:noFill/>
          <a:ln>
            <a:noFill/>
          </a:ln>
        </p:spPr>
        <p:txBody>
          <a:bodyPr wrap="none" lIns="0" tIns="0" rIns="0" bIns="0" anchor="t" anchorCtr="0">
            <a:spAutoFit/>
          </a:bodyPr>
          <a:lstStyle/>
          <a:p>
            <a:pPr algn="ctr"/>
            <a:r>
              <a:rPr lang="zh-CN" sz="1125" dirty="0">
                <a:solidFill>
                  <a:srgbClr val="45B69C"/>
                </a:solidFill>
                <a:latin typeface="Arial"/>
                <a:ea typeface="Microsoft YaHei"/>
                <a:cs typeface="Arial"/>
              </a:rPr>
              <a:t>Semantic Search · Auto-Enrichment · Similarity Detection · RAG Pipeline</a:t>
            </a:r>
          </a:p>
        </p:txBody>
      </p:sp>
      <p:sp>
        <p:nvSpPr>
          <p:cNvPr id="23" name="TextBox 23"/>
          <p:cNvSpPr txBox="1"/>
          <p:nvPr/>
        </p:nvSpPr>
        <p:spPr>
          <a:xfrm>
            <a:off x="4917186" y="5792152"/>
            <a:ext cx="2357628" cy="213360"/>
          </a:xfrm>
          <a:prstGeom prst="rect">
            <a:avLst/>
          </a:prstGeom>
          <a:noFill/>
          <a:ln>
            <a:noFill/>
          </a:ln>
        </p:spPr>
        <p:txBody>
          <a:bodyPr wrap="none" lIns="0" tIns="0" rIns="0" bIns="0" anchor="t" anchorCtr="0">
            <a:spAutoFit/>
          </a:bodyPr>
          <a:lstStyle/>
          <a:p>
            <a:pPr algn="ctr"/>
            <a:r>
              <a:rPr lang="zh-CN" sz="1050" dirty="0">
                <a:solidFill>
                  <a:srgbClr val="FFFFFF">
                    <a:alphaMod val="60000"/>
                  </a:srgbClr>
                </a:solidFill>
                <a:latin typeface="Arial"/>
                <a:ea typeface="Microsoft YaHei"/>
                <a:cs typeface="Arial"/>
              </a:rPr>
              <a:t>Architecture Design — May 2026</a:t>
            </a:r>
          </a:p>
        </p:txBody>
      </p:sp>
      <p:grpSp>
        <p:nvGrpSpPr>
          <p:cNvPr id="33" name="Group 33"/>
          <p:cNvGrpSpPr/>
          <p:nvPr/>
        </p:nvGrpSpPr>
        <p:grpSpPr>
          <a:xfrm>
            <a:off x="5638800" y="4324350"/>
            <a:ext cx="904875" cy="495300"/>
            <a:chOff x="5638800" y="4324350"/>
            <a:chExt cx="904875" cy="495300"/>
          </a:xfrm>
        </p:grpSpPr>
        <p:sp>
          <p:nvSpPr>
            <p:cNvPr id="24" name="Ellipse 24"/>
            <p:cNvSpPr/>
            <p:nvPr/>
          </p:nvSpPr>
          <p:spPr>
            <a:xfrm>
              <a:off x="5638800" y="4400550"/>
              <a:ext cx="152400" cy="152400"/>
            </a:xfrm>
            <a:prstGeom prst="ellipse">
              <a:avLst/>
            </a:prstGeom>
            <a:noFill/>
            <a:ln w="14288">
              <a:solidFill>
                <a:srgbClr val="45B69C">
                  <a:alpha val="50000"/>
                </a:srgbClr>
              </a:solidFill>
            </a:ln>
          </p:spPr>
        </p:sp>
        <p:sp>
          <p:nvSpPr>
            <p:cNvPr id="25" name="Ellipse 25"/>
            <p:cNvSpPr/>
            <p:nvPr/>
          </p:nvSpPr>
          <p:spPr>
            <a:xfrm>
              <a:off x="6038850" y="4324350"/>
              <a:ext cx="114300" cy="114300"/>
            </a:xfrm>
            <a:prstGeom prst="ellipse">
              <a:avLst/>
            </a:prstGeom>
            <a:noFill/>
            <a:ln w="14288">
              <a:solidFill>
                <a:srgbClr val="45B69C">
                  <a:alpha val="50000"/>
                </a:srgbClr>
              </a:solidFill>
            </a:ln>
          </p:spPr>
        </p:sp>
        <p:sp>
          <p:nvSpPr>
            <p:cNvPr id="26" name="Ellipse 26"/>
            <p:cNvSpPr/>
            <p:nvPr/>
          </p:nvSpPr>
          <p:spPr>
            <a:xfrm>
              <a:off x="6410325" y="4457700"/>
              <a:ext cx="133350" cy="133350"/>
            </a:xfrm>
            <a:prstGeom prst="ellipse">
              <a:avLst/>
            </a:prstGeom>
            <a:noFill/>
            <a:ln w="14288">
              <a:solidFill>
                <a:srgbClr val="45B69C">
                  <a:alpha val="50000"/>
                </a:srgbClr>
              </a:solidFill>
            </a:ln>
          </p:spPr>
        </p:sp>
        <p:sp>
          <p:nvSpPr>
            <p:cNvPr id="27" name="Ellipse 27"/>
            <p:cNvSpPr/>
            <p:nvPr/>
          </p:nvSpPr>
          <p:spPr>
            <a:xfrm>
              <a:off x="5953125" y="4667250"/>
              <a:ext cx="95250" cy="95250"/>
            </a:xfrm>
            <a:prstGeom prst="ellipse">
              <a:avLst/>
            </a:prstGeom>
            <a:noFill/>
            <a:ln w="14288">
              <a:solidFill>
                <a:srgbClr val="45B69C">
                  <a:alpha val="50000"/>
                </a:srgbClr>
              </a:solidFill>
            </a:ln>
          </p:spPr>
        </p:sp>
        <p:sp>
          <p:nvSpPr>
            <p:cNvPr id="28" name="Ellipse 28"/>
            <p:cNvSpPr/>
            <p:nvPr/>
          </p:nvSpPr>
          <p:spPr>
            <a:xfrm>
              <a:off x="6324600" y="4705350"/>
              <a:ext cx="114300" cy="114300"/>
            </a:xfrm>
            <a:prstGeom prst="ellipse">
              <a:avLst/>
            </a:prstGeom>
            <a:noFill/>
            <a:ln w="14288">
              <a:solidFill>
                <a:srgbClr val="45B69C">
                  <a:alpha val="50000"/>
                </a:srgbClr>
              </a:solidFill>
            </a:ln>
          </p:spPr>
        </p:sp>
        <p:sp>
          <p:nvSpPr>
            <p:cNvPr id="29" name="Line 29"/>
            <p:cNvSpPr/>
            <p:nvPr/>
          </p:nvSpPr>
          <p:spPr>
            <a:xfrm>
              <a:off x="5791200" y="4400550"/>
              <a:ext cx="247650" cy="57150"/>
            </a:xfrm>
            <a:custGeom>
              <a:avLst/>
              <a:gdLst/>
              <a:ahLst/>
              <a:cxnLst/>
              <a:rect l="l" t="t" r="r" b="b"/>
              <a:pathLst>
                <a:path w="247650" h="57150">
                  <a:moveTo>
                    <a:pt x="0" y="57150"/>
                  </a:moveTo>
                  <a:lnTo>
                    <a:pt x="247650" y="0"/>
                  </a:lnTo>
                </a:path>
              </a:pathLst>
            </a:custGeom>
            <a:noFill/>
            <a:ln w="14288">
              <a:solidFill>
                <a:srgbClr val="45B69C">
                  <a:alpha val="50000"/>
                </a:srgbClr>
              </a:solidFill>
            </a:ln>
          </p:spPr>
        </p:sp>
        <p:sp>
          <p:nvSpPr>
            <p:cNvPr id="30" name="Line 30"/>
            <p:cNvSpPr/>
            <p:nvPr/>
          </p:nvSpPr>
          <p:spPr>
            <a:xfrm>
              <a:off x="6153150" y="4400550"/>
              <a:ext cx="257175" cy="95250"/>
            </a:xfrm>
            <a:custGeom>
              <a:avLst/>
              <a:gdLst/>
              <a:ahLst/>
              <a:cxnLst/>
              <a:rect l="l" t="t" r="r" b="b"/>
              <a:pathLst>
                <a:path w="257175" h="95250">
                  <a:moveTo>
                    <a:pt x="0" y="0"/>
                  </a:moveTo>
                  <a:lnTo>
                    <a:pt x="257175" y="95250"/>
                  </a:lnTo>
                </a:path>
              </a:pathLst>
            </a:custGeom>
            <a:noFill/>
            <a:ln w="14288">
              <a:solidFill>
                <a:srgbClr val="45B69C">
                  <a:alpha val="50000"/>
                </a:srgbClr>
              </a:solidFill>
            </a:ln>
          </p:spPr>
        </p:sp>
        <p:sp>
          <p:nvSpPr>
            <p:cNvPr id="31" name="Line 31"/>
            <p:cNvSpPr/>
            <p:nvPr/>
          </p:nvSpPr>
          <p:spPr>
            <a:xfrm>
              <a:off x="5762625" y="4543425"/>
              <a:ext cx="190500" cy="142875"/>
            </a:xfrm>
            <a:custGeom>
              <a:avLst/>
              <a:gdLst/>
              <a:ahLst/>
              <a:cxnLst/>
              <a:rect l="l" t="t" r="r" b="b"/>
              <a:pathLst>
                <a:path w="190500" h="142875">
                  <a:moveTo>
                    <a:pt x="0" y="0"/>
                  </a:moveTo>
                  <a:lnTo>
                    <a:pt x="190500" y="142875"/>
                  </a:lnTo>
                </a:path>
              </a:pathLst>
            </a:custGeom>
            <a:noFill/>
            <a:ln w="14288">
              <a:solidFill>
                <a:srgbClr val="45B69C">
                  <a:alpha val="50000"/>
                </a:srgbClr>
              </a:solidFill>
            </a:ln>
          </p:spPr>
        </p:sp>
        <p:sp>
          <p:nvSpPr>
            <p:cNvPr id="32" name="Line 32"/>
            <p:cNvSpPr/>
            <p:nvPr/>
          </p:nvSpPr>
          <p:spPr>
            <a:xfrm>
              <a:off x="6048375" y="4714875"/>
              <a:ext cx="276225" cy="28575"/>
            </a:xfrm>
            <a:custGeom>
              <a:avLst/>
              <a:gdLst/>
              <a:ahLst/>
              <a:cxnLst/>
              <a:rect l="l" t="t" r="r" b="b"/>
              <a:pathLst>
                <a:path w="276225" h="28575">
                  <a:moveTo>
                    <a:pt x="0" y="0"/>
                  </a:moveTo>
                  <a:lnTo>
                    <a:pt x="276225" y="28575"/>
                  </a:lnTo>
                </a:path>
              </a:pathLst>
            </a:custGeom>
            <a:noFill/>
            <a:ln w="14288">
              <a:solidFill>
                <a:srgbClr val="45B69C">
                  <a:alpha val="50000"/>
                </a:srgbClr>
              </a:solidFill>
            </a:ln>
          </p:spPr>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5747271"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Tại sao cần Embeddings cho PIM?</a:t>
            </a:r>
          </a:p>
        </p:txBody>
      </p:sp>
      <p:sp>
        <p:nvSpPr>
          <p:cNvPr id="6" name="Rectangle 6"/>
          <p:cNvSpPr/>
          <p:nvPr/>
        </p:nvSpPr>
        <p:spPr>
          <a:xfrm>
            <a:off x="571500" y="1619250"/>
            <a:ext cx="3429000" cy="4000500"/>
          </a:xfrm>
          <a:prstGeom prst="roundRect">
            <a:avLst>
              <a:gd name="adj" fmla="val 3333"/>
            </a:avLst>
          </a:prstGeom>
          <a:solidFill>
            <a:srgbClr val="F4F7FA"/>
          </a:solidFill>
          <a:ln w="9525">
            <a:solidFill>
              <a:srgbClr val="E2E8F0"/>
            </a:solidFill>
          </a:ln>
        </p:spPr>
      </p:sp>
      <p:sp>
        <p:nvSpPr>
          <p:cNvPr id="7" name="Ellipse 7"/>
          <p:cNvSpPr/>
          <p:nvPr/>
        </p:nvSpPr>
        <p:spPr>
          <a:xfrm>
            <a:off x="1943100" y="1943100"/>
            <a:ext cx="685800" cy="685800"/>
          </a:xfrm>
          <a:prstGeom prst="ellipse">
            <a:avLst/>
          </a:prstGeom>
          <a:solidFill>
            <a:srgbClr val="2E86AB">
              <a:alpha val="10000"/>
            </a:srgbClr>
          </a:solidFill>
          <a:ln>
            <a:noFill/>
          </a:ln>
        </p:spPr>
      </p:sp>
      <p:sp>
        <p:nvSpPr>
          <p:cNvPr id="8" name="TextBox 8"/>
          <p:cNvSpPr txBox="1"/>
          <p:nvPr/>
        </p:nvSpPr>
        <p:spPr>
          <a:xfrm>
            <a:off x="2174986" y="2135505"/>
            <a:ext cx="222028" cy="426720"/>
          </a:xfrm>
          <a:prstGeom prst="rect">
            <a:avLst/>
          </a:prstGeom>
          <a:noFill/>
          <a:ln>
            <a:noFill/>
          </a:ln>
        </p:spPr>
        <p:txBody>
          <a:bodyPr wrap="none" lIns="0" tIns="0" rIns="0" bIns="0" anchor="t" anchorCtr="0">
            <a:spAutoFit/>
          </a:bodyPr>
          <a:lstStyle/>
          <a:p>
            <a:pPr algn="ctr"/>
            <a:r>
              <a:rPr lang="zh-CN" sz="2100" dirty="0">
                <a:solidFill>
                  <a:srgbClr val="2E86AB"/>
                </a:solidFill>
                <a:latin typeface="Arial"/>
                <a:ea typeface="Microsoft YaHei"/>
                <a:cs typeface="Arial"/>
              </a:rPr>
              <a:t>🔍</a:t>
            </a:r>
          </a:p>
        </p:txBody>
      </p:sp>
      <p:sp>
        <p:nvSpPr>
          <p:cNvPr id="9" name="TextBox 9"/>
          <p:cNvSpPr txBox="1"/>
          <p:nvPr/>
        </p:nvSpPr>
        <p:spPr>
          <a:xfrm>
            <a:off x="1352586" y="2790825"/>
            <a:ext cx="1866829"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Arial"/>
                <a:ea typeface="Microsoft YaHei"/>
                <a:cs typeface="Arial"/>
              </a:rPr>
              <a:t>Semantic Search</a:t>
            </a:r>
          </a:p>
        </p:txBody>
      </p:sp>
      <p:sp>
        <p:nvSpPr>
          <p:cNvPr id="10" name="TextBox 10"/>
          <p:cNvSpPr txBox="1"/>
          <p:nvPr/>
        </p:nvSpPr>
        <p:spPr>
          <a:xfrm>
            <a:off x="1532334" y="3212306"/>
            <a:ext cx="1507331"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Tìm sản phẩm bằng</a:t>
            </a:r>
          </a:p>
        </p:txBody>
      </p:sp>
      <p:sp>
        <p:nvSpPr>
          <p:cNvPr id="11" name="TextBox 11"/>
          <p:cNvSpPr txBox="1"/>
          <p:nvPr/>
        </p:nvSpPr>
        <p:spPr>
          <a:xfrm>
            <a:off x="1585734" y="3450431"/>
            <a:ext cx="140053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ngôn ngữ tự nhiên</a:t>
            </a:r>
          </a:p>
        </p:txBody>
      </p:sp>
      <p:sp>
        <p:nvSpPr>
          <p:cNvPr id="12" name="TextBox 12"/>
          <p:cNvSpPr txBox="1"/>
          <p:nvPr/>
        </p:nvSpPr>
        <p:spPr>
          <a:xfrm>
            <a:off x="1561624" y="3895249"/>
            <a:ext cx="1448753"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"Ghế gỗ Scandinavian</a:t>
            </a:r>
          </a:p>
        </p:txBody>
      </p:sp>
      <p:sp>
        <p:nvSpPr>
          <p:cNvPr id="13" name="TextBox 13"/>
          <p:cNvSpPr txBox="1"/>
          <p:nvPr/>
        </p:nvSpPr>
        <p:spPr>
          <a:xfrm>
            <a:off x="1543824" y="4114324"/>
            <a:ext cx="1484352"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cho phòng khách nhỏ"</a:t>
            </a:r>
          </a:p>
        </p:txBody>
      </p:sp>
      <p:sp>
        <p:nvSpPr>
          <p:cNvPr id="14" name="Rectangle 14"/>
          <p:cNvSpPr/>
          <p:nvPr/>
        </p:nvSpPr>
        <p:spPr>
          <a:xfrm>
            <a:off x="1524000" y="4572000"/>
            <a:ext cx="1524000" cy="342900"/>
          </a:xfrm>
          <a:prstGeom prst="roundRect">
            <a:avLst>
              <a:gd name="adj" fmla="val 50000"/>
            </a:avLst>
          </a:prstGeom>
          <a:solidFill>
            <a:srgbClr val="2E86AB">
              <a:alpha val="10000"/>
            </a:srgbClr>
          </a:solidFill>
          <a:ln>
            <a:noFill/>
          </a:ln>
        </p:spPr>
      </p:sp>
      <p:sp>
        <p:nvSpPr>
          <p:cNvPr id="15" name="TextBox 15"/>
          <p:cNvSpPr txBox="1"/>
          <p:nvPr/>
        </p:nvSpPr>
        <p:spPr>
          <a:xfrm>
            <a:off x="1497544" y="4685824"/>
            <a:ext cx="1576911" cy="198120"/>
          </a:xfrm>
          <a:prstGeom prst="rect">
            <a:avLst/>
          </a:prstGeom>
          <a:noFill/>
          <a:ln>
            <a:noFill/>
          </a:ln>
        </p:spPr>
        <p:txBody>
          <a:bodyPr wrap="none" lIns="0" tIns="0" rIns="0" bIns="0" anchor="t" anchorCtr="0">
            <a:spAutoFit/>
          </a:bodyPr>
          <a:lstStyle/>
          <a:p>
            <a:pPr algn="ctr"/>
            <a:r>
              <a:rPr lang="zh-CN" sz="975" dirty="0">
                <a:solidFill>
                  <a:srgbClr val="2E86AB"/>
                </a:solidFill>
                <a:latin typeface="Arial"/>
                <a:ea typeface="Microsoft YaHei"/>
                <a:cs typeface="Arial"/>
              </a:rPr>
              <a:t>Beyond keyword match</a:t>
            </a:r>
          </a:p>
        </p:txBody>
      </p:sp>
      <p:sp>
        <p:nvSpPr>
          <p:cNvPr id="16" name="Rectangle 16"/>
          <p:cNvSpPr/>
          <p:nvPr/>
        </p:nvSpPr>
        <p:spPr>
          <a:xfrm>
            <a:off x="4381500" y="1619250"/>
            <a:ext cx="3429000" cy="4000500"/>
          </a:xfrm>
          <a:prstGeom prst="roundRect">
            <a:avLst>
              <a:gd name="adj" fmla="val 3333"/>
            </a:avLst>
          </a:prstGeom>
          <a:solidFill>
            <a:srgbClr val="F4F7FA"/>
          </a:solidFill>
          <a:ln w="9525">
            <a:solidFill>
              <a:srgbClr val="E2E8F0"/>
            </a:solidFill>
          </a:ln>
        </p:spPr>
      </p:sp>
      <p:sp>
        <p:nvSpPr>
          <p:cNvPr id="17" name="Ellipse 17"/>
          <p:cNvSpPr/>
          <p:nvPr/>
        </p:nvSpPr>
        <p:spPr>
          <a:xfrm>
            <a:off x="5753100" y="1943100"/>
            <a:ext cx="685800" cy="685800"/>
          </a:xfrm>
          <a:prstGeom prst="ellipse">
            <a:avLst/>
          </a:prstGeom>
          <a:solidFill>
            <a:srgbClr val="45B69C">
              <a:alpha val="10000"/>
            </a:srgbClr>
          </a:solidFill>
          <a:ln>
            <a:noFill/>
          </a:ln>
        </p:spPr>
      </p:sp>
      <p:sp>
        <p:nvSpPr>
          <p:cNvPr id="18" name="TextBox 18"/>
          <p:cNvSpPr txBox="1"/>
          <p:nvPr/>
        </p:nvSpPr>
        <p:spPr>
          <a:xfrm>
            <a:off x="5984986" y="2135505"/>
            <a:ext cx="222028" cy="426720"/>
          </a:xfrm>
          <a:prstGeom prst="rect">
            <a:avLst/>
          </a:prstGeom>
          <a:noFill/>
          <a:ln>
            <a:noFill/>
          </a:ln>
        </p:spPr>
        <p:txBody>
          <a:bodyPr wrap="none" lIns="0" tIns="0" rIns="0" bIns="0" anchor="t" anchorCtr="0">
            <a:spAutoFit/>
          </a:bodyPr>
          <a:lstStyle/>
          <a:p>
            <a:pPr algn="ctr"/>
            <a:r>
              <a:rPr lang="zh-CN" sz="2100" dirty="0">
                <a:solidFill>
                  <a:srgbClr val="45B69C"/>
                </a:solidFill>
                <a:latin typeface="Arial"/>
                <a:ea typeface="Microsoft YaHei"/>
                <a:cs typeface="Arial"/>
              </a:rPr>
              <a:t>✨</a:t>
            </a:r>
          </a:p>
        </p:txBody>
      </p:sp>
      <p:sp>
        <p:nvSpPr>
          <p:cNvPr id="19" name="TextBox 19"/>
          <p:cNvSpPr txBox="1"/>
          <p:nvPr/>
        </p:nvSpPr>
        <p:spPr>
          <a:xfrm>
            <a:off x="5133832" y="2790825"/>
            <a:ext cx="192433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Arial"/>
                <a:ea typeface="Microsoft YaHei"/>
                <a:cs typeface="Arial"/>
              </a:rPr>
              <a:t>Auto-Enrichment</a:t>
            </a:r>
          </a:p>
        </p:txBody>
      </p:sp>
      <p:sp>
        <p:nvSpPr>
          <p:cNvPr id="20" name="TextBox 20"/>
          <p:cNvSpPr txBox="1"/>
          <p:nvPr/>
        </p:nvSpPr>
        <p:spPr>
          <a:xfrm>
            <a:off x="5288935" y="3212306"/>
            <a:ext cx="1614130"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LLM tự động bổ sung</a:t>
            </a:r>
          </a:p>
        </p:txBody>
      </p:sp>
      <p:sp>
        <p:nvSpPr>
          <p:cNvPr id="21" name="TextBox 21"/>
          <p:cNvSpPr txBox="1"/>
          <p:nvPr/>
        </p:nvSpPr>
        <p:spPr>
          <a:xfrm>
            <a:off x="5079444" y="3450431"/>
            <a:ext cx="2033111"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descriptions, USPs, tags</a:t>
            </a:r>
          </a:p>
        </p:txBody>
      </p:sp>
      <p:sp>
        <p:nvSpPr>
          <p:cNvPr id="22" name="TextBox 22"/>
          <p:cNvSpPr txBox="1"/>
          <p:nvPr/>
        </p:nvSpPr>
        <p:spPr>
          <a:xfrm>
            <a:off x="5457063" y="3895249"/>
            <a:ext cx="1277874"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Dựa trên sản phẩm</a:t>
            </a:r>
          </a:p>
        </p:txBody>
      </p:sp>
      <p:sp>
        <p:nvSpPr>
          <p:cNvPr id="23" name="TextBox 23"/>
          <p:cNvSpPr txBox="1"/>
          <p:nvPr/>
        </p:nvSpPr>
        <p:spPr>
          <a:xfrm>
            <a:off x="5293304" y="4114324"/>
            <a:ext cx="1605391"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tương tự đã có content</a:t>
            </a:r>
          </a:p>
        </p:txBody>
      </p:sp>
      <p:sp>
        <p:nvSpPr>
          <p:cNvPr id="24" name="Rectangle 24"/>
          <p:cNvSpPr/>
          <p:nvPr/>
        </p:nvSpPr>
        <p:spPr>
          <a:xfrm>
            <a:off x="5334000" y="4572000"/>
            <a:ext cx="1524000" cy="342900"/>
          </a:xfrm>
          <a:prstGeom prst="roundRect">
            <a:avLst>
              <a:gd name="adj" fmla="val 50000"/>
            </a:avLst>
          </a:prstGeom>
          <a:solidFill>
            <a:srgbClr val="45B69C">
              <a:alpha val="10000"/>
            </a:srgbClr>
          </a:solidFill>
          <a:ln>
            <a:noFill/>
          </a:ln>
        </p:spPr>
      </p:sp>
      <p:sp>
        <p:nvSpPr>
          <p:cNvPr id="25" name="TextBox 25"/>
          <p:cNvSpPr txBox="1"/>
          <p:nvPr/>
        </p:nvSpPr>
        <p:spPr>
          <a:xfrm>
            <a:off x="5610142" y="4685824"/>
            <a:ext cx="971717" cy="198120"/>
          </a:xfrm>
          <a:prstGeom prst="rect">
            <a:avLst/>
          </a:prstGeom>
          <a:noFill/>
          <a:ln>
            <a:noFill/>
          </a:ln>
        </p:spPr>
        <p:txBody>
          <a:bodyPr wrap="none" lIns="0" tIns="0" rIns="0" bIns="0" anchor="t" anchorCtr="0">
            <a:spAutoFit/>
          </a:bodyPr>
          <a:lstStyle/>
          <a:p>
            <a:pPr algn="ctr"/>
            <a:r>
              <a:rPr lang="zh-CN" sz="975" dirty="0">
                <a:solidFill>
                  <a:srgbClr val="45B69C"/>
                </a:solidFill>
                <a:latin typeface="Arial"/>
                <a:ea typeface="Microsoft YaHei"/>
                <a:cs typeface="Arial"/>
              </a:rPr>
              <a:t>RAG + Context</a:t>
            </a:r>
          </a:p>
        </p:txBody>
      </p:sp>
      <p:sp>
        <p:nvSpPr>
          <p:cNvPr id="26" name="Rectangle 26"/>
          <p:cNvSpPr/>
          <p:nvPr/>
        </p:nvSpPr>
        <p:spPr>
          <a:xfrm>
            <a:off x="8191500" y="1619250"/>
            <a:ext cx="3429000" cy="4000500"/>
          </a:xfrm>
          <a:prstGeom prst="roundRect">
            <a:avLst>
              <a:gd name="adj" fmla="val 3333"/>
            </a:avLst>
          </a:prstGeom>
          <a:solidFill>
            <a:srgbClr val="F4F7FA"/>
          </a:solidFill>
          <a:ln w="9525">
            <a:solidFill>
              <a:srgbClr val="E2E8F0"/>
            </a:solidFill>
          </a:ln>
        </p:spPr>
      </p:sp>
      <p:sp>
        <p:nvSpPr>
          <p:cNvPr id="27" name="Ellipse 27"/>
          <p:cNvSpPr/>
          <p:nvPr/>
        </p:nvSpPr>
        <p:spPr>
          <a:xfrm>
            <a:off x="9563100" y="1943100"/>
            <a:ext cx="685800" cy="685800"/>
          </a:xfrm>
          <a:prstGeom prst="ellipse">
            <a:avLst/>
          </a:prstGeom>
          <a:solidFill>
            <a:srgbClr val="1A3A5C">
              <a:alpha val="10000"/>
            </a:srgbClr>
          </a:solidFill>
          <a:ln>
            <a:noFill/>
          </a:ln>
        </p:spPr>
      </p:sp>
      <p:sp>
        <p:nvSpPr>
          <p:cNvPr id="28" name="TextBox 28"/>
          <p:cNvSpPr txBox="1"/>
          <p:nvPr/>
        </p:nvSpPr>
        <p:spPr>
          <a:xfrm>
            <a:off x="9794986" y="2135505"/>
            <a:ext cx="222028" cy="426720"/>
          </a:xfrm>
          <a:prstGeom prst="rect">
            <a:avLst/>
          </a:prstGeom>
          <a:noFill/>
          <a:ln>
            <a:noFill/>
          </a:ln>
        </p:spPr>
        <p:txBody>
          <a:bodyPr wrap="none" lIns="0" tIns="0" rIns="0" bIns="0" anchor="t" anchorCtr="0">
            <a:spAutoFit/>
          </a:bodyPr>
          <a:lstStyle/>
          <a:p>
            <a:pPr algn="ctr"/>
            <a:r>
              <a:rPr lang="zh-CN" sz="2100" dirty="0">
                <a:solidFill>
                  <a:srgbClr val="1A3A5C"/>
                </a:solidFill>
                <a:latin typeface="Arial"/>
                <a:ea typeface="Microsoft YaHei"/>
                <a:cs typeface="Arial"/>
              </a:rPr>
              <a:t>🔗</a:t>
            </a:r>
          </a:p>
        </p:txBody>
      </p:sp>
      <p:sp>
        <p:nvSpPr>
          <p:cNvPr id="29" name="TextBox 29"/>
          <p:cNvSpPr txBox="1"/>
          <p:nvPr/>
        </p:nvSpPr>
        <p:spPr>
          <a:xfrm>
            <a:off x="8771311" y="2790825"/>
            <a:ext cx="2269379"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Arial"/>
                <a:ea typeface="Microsoft YaHei"/>
                <a:cs typeface="Arial"/>
              </a:rPr>
              <a:t>Similarity Detection</a:t>
            </a:r>
          </a:p>
        </p:txBody>
      </p:sp>
      <p:sp>
        <p:nvSpPr>
          <p:cNvPr id="30" name="TextBox 30"/>
          <p:cNvSpPr txBox="1"/>
          <p:nvPr/>
        </p:nvSpPr>
        <p:spPr>
          <a:xfrm>
            <a:off x="9135904" y="3212306"/>
            <a:ext cx="1540192"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Phát hiện trùng lặp</a:t>
            </a:r>
          </a:p>
        </p:txBody>
      </p:sp>
      <p:sp>
        <p:nvSpPr>
          <p:cNvPr id="31" name="TextBox 31"/>
          <p:cNvSpPr txBox="1"/>
          <p:nvPr/>
        </p:nvSpPr>
        <p:spPr>
          <a:xfrm>
            <a:off x="9271456" y="3450431"/>
            <a:ext cx="1269087" cy="228600"/>
          </a:xfrm>
          <a:prstGeom prst="rect">
            <a:avLst/>
          </a:prstGeom>
          <a:noFill/>
          <a:ln>
            <a:noFill/>
          </a:ln>
        </p:spPr>
        <p:txBody>
          <a:bodyPr wrap="none" lIns="0" tIns="0" rIns="0" bIns="0" anchor="t" anchorCtr="0">
            <a:spAutoFit/>
          </a:bodyPr>
          <a:lstStyle/>
          <a:p>
            <a:pPr algn="ctr"/>
            <a:r>
              <a:rPr lang="zh-CN" sz="1125" dirty="0">
                <a:solidFill>
                  <a:srgbClr val="2D3748"/>
                </a:solidFill>
                <a:latin typeface="Arial"/>
                <a:ea typeface="Microsoft YaHei"/>
                <a:cs typeface="Arial"/>
              </a:rPr>
              <a:t>Gợi ý cross-sell</a:t>
            </a:r>
          </a:p>
        </p:txBody>
      </p:sp>
      <p:sp>
        <p:nvSpPr>
          <p:cNvPr id="32" name="TextBox 32"/>
          <p:cNvSpPr txBox="1"/>
          <p:nvPr/>
        </p:nvSpPr>
        <p:spPr>
          <a:xfrm>
            <a:off x="9081945" y="3895249"/>
            <a:ext cx="1648111"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Cosine similarity &gt; 0.85</a:t>
            </a:r>
          </a:p>
        </p:txBody>
      </p:sp>
      <p:sp>
        <p:nvSpPr>
          <p:cNvPr id="33" name="TextBox 33"/>
          <p:cNvSpPr txBox="1"/>
          <p:nvPr/>
        </p:nvSpPr>
        <p:spPr>
          <a:xfrm>
            <a:off x="9178064" y="4114324"/>
            <a:ext cx="1455872"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 potential duplicate</a:t>
            </a:r>
          </a:p>
        </p:txBody>
      </p:sp>
      <p:sp>
        <p:nvSpPr>
          <p:cNvPr id="34" name="Rectangle 34"/>
          <p:cNvSpPr/>
          <p:nvPr/>
        </p:nvSpPr>
        <p:spPr>
          <a:xfrm>
            <a:off x="9144000" y="4572000"/>
            <a:ext cx="1524000" cy="342900"/>
          </a:xfrm>
          <a:prstGeom prst="roundRect">
            <a:avLst>
              <a:gd name="adj" fmla="val 50000"/>
            </a:avLst>
          </a:prstGeom>
          <a:solidFill>
            <a:srgbClr val="1A3A5C">
              <a:alpha val="10000"/>
            </a:srgbClr>
          </a:solidFill>
          <a:ln>
            <a:noFill/>
          </a:ln>
        </p:spPr>
      </p:sp>
      <p:sp>
        <p:nvSpPr>
          <p:cNvPr id="35" name="TextBox 35"/>
          <p:cNvSpPr txBox="1"/>
          <p:nvPr/>
        </p:nvSpPr>
        <p:spPr>
          <a:xfrm>
            <a:off x="9341822" y="4685824"/>
            <a:ext cx="1128355" cy="198120"/>
          </a:xfrm>
          <a:prstGeom prst="rect">
            <a:avLst/>
          </a:prstGeom>
          <a:noFill/>
          <a:ln>
            <a:noFill/>
          </a:ln>
        </p:spPr>
        <p:txBody>
          <a:bodyPr wrap="none" lIns="0" tIns="0" rIns="0" bIns="0" anchor="t" anchorCtr="0">
            <a:spAutoFit/>
          </a:bodyPr>
          <a:lstStyle/>
          <a:p>
            <a:pPr algn="ctr"/>
            <a:r>
              <a:rPr lang="zh-CN" sz="975" dirty="0">
                <a:solidFill>
                  <a:srgbClr val="1A3A5C"/>
                </a:solidFill>
                <a:latin typeface="Arial"/>
                <a:ea typeface="Microsoft YaHei"/>
                <a:cs typeface="Arial"/>
              </a:rPr>
              <a:t>Vector distance</a:t>
            </a:r>
          </a:p>
        </p:txBody>
      </p:sp>
      <p:sp>
        <p:nvSpPr>
          <p:cNvPr id="36" name="Rectangle 36"/>
          <p:cNvSpPr/>
          <p:nvPr/>
        </p:nvSpPr>
        <p:spPr>
          <a:xfrm>
            <a:off x="571500" y="5905500"/>
            <a:ext cx="11049000" cy="476250"/>
          </a:xfrm>
          <a:prstGeom prst="roundRect">
            <a:avLst>
              <a:gd name="adj" fmla="val 16000"/>
            </a:avLst>
          </a:prstGeom>
          <a:solidFill>
            <a:srgbClr val="F4F7FA"/>
          </a:solidFill>
          <a:ln>
            <a:noFill/>
          </a:ln>
        </p:spPr>
      </p:sp>
      <p:sp>
        <p:nvSpPr>
          <p:cNvPr id="37" name="TextBox 37"/>
          <p:cNvSpPr txBox="1"/>
          <p:nvPr/>
        </p:nvSpPr>
        <p:spPr>
          <a:xfrm>
            <a:off x="2114669" y="6077902"/>
            <a:ext cx="7962662"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Embeddings biến dữ liệu PIM thành vector space — cho phép so sánh ngữ nghĩa thay vì chỉ keyword matching</a:t>
            </a:r>
          </a:p>
        </p:txBody>
      </p:sp>
      <p:sp>
        <p:nvSpPr>
          <p:cNvPr id="38" name="TextBox 38"/>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7017029"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Kiến trúc tổng thể — Embedding Pipeline</a:t>
            </a:r>
          </a:p>
        </p:txBody>
      </p:sp>
      <p:sp>
        <p:nvSpPr>
          <p:cNvPr id="6" name="Rectangle 6"/>
          <p:cNvSpPr/>
          <p:nvPr/>
        </p:nvSpPr>
        <p:spPr>
          <a:xfrm>
            <a:off x="571500" y="2095500"/>
            <a:ext cx="1524000" cy="762000"/>
          </a:xfrm>
          <a:prstGeom prst="roundRect">
            <a:avLst>
              <a:gd name="adj" fmla="val 12500"/>
            </a:avLst>
          </a:prstGeom>
          <a:solidFill>
            <a:srgbClr val="1A3A5C"/>
          </a:solidFill>
          <a:ln>
            <a:noFill/>
          </a:ln>
        </p:spPr>
      </p:sp>
      <p:sp>
        <p:nvSpPr>
          <p:cNvPr id="7" name="TextBox 7"/>
          <p:cNvSpPr txBox="1"/>
          <p:nvPr/>
        </p:nvSpPr>
        <p:spPr>
          <a:xfrm>
            <a:off x="812952" y="2315528"/>
            <a:ext cx="104109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PIM Database</a:t>
            </a:r>
          </a:p>
        </p:txBody>
      </p:sp>
      <p:sp>
        <p:nvSpPr>
          <p:cNvPr id="8" name="TextBox 8"/>
          <p:cNvSpPr txBox="1"/>
          <p:nvPr/>
        </p:nvSpPr>
        <p:spPr>
          <a:xfrm>
            <a:off x="947452" y="2550795"/>
            <a:ext cx="772096" cy="182880"/>
          </a:xfrm>
          <a:prstGeom prst="rect">
            <a:avLst/>
          </a:prstGeom>
          <a:noFill/>
          <a:ln>
            <a:noFill/>
          </a:ln>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PostgreSQL</a:t>
            </a:r>
          </a:p>
        </p:txBody>
      </p:sp>
      <p:sp>
        <p:nvSpPr>
          <p:cNvPr id="9" name="Freeform 9"/>
          <p:cNvSpPr/>
          <p:nvPr/>
        </p:nvSpPr>
        <p:spPr>
          <a:xfrm>
            <a:off x="2095500" y="2476500"/>
            <a:ext cx="476250" cy="9525"/>
          </a:xfrm>
          <a:custGeom>
            <a:avLst/>
            <a:gdLst/>
            <a:ahLst/>
            <a:cxnLst/>
            <a:rect l="l" t="t" r="r" b="b"/>
            <a:pathLst>
              <a:path w="476250" h="9525">
                <a:moveTo>
                  <a:pt x="0" y="0"/>
                </a:moveTo>
                <a:lnTo>
                  <a:pt x="476250" y="0"/>
                </a:lnTo>
              </a:path>
            </a:pathLst>
          </a:custGeom>
          <a:noFill/>
          <a:ln w="19050">
            <a:solidFill>
              <a:srgbClr val="2E86AB"/>
            </a:solidFill>
          </a:ln>
        </p:spPr>
      </p:sp>
      <p:sp>
        <p:nvSpPr>
          <p:cNvPr id="10" name="Polygon 10"/>
          <p:cNvSpPr/>
          <p:nvPr/>
        </p:nvSpPr>
        <p:spPr>
          <a:xfrm>
            <a:off x="2552700" y="2428875"/>
            <a:ext cx="95250" cy="95250"/>
          </a:xfrm>
          <a:custGeom>
            <a:avLst/>
            <a:gdLst/>
            <a:ahLst/>
            <a:cxnLst/>
            <a:rect l="l" t="t" r="r" b="b"/>
            <a:pathLst>
              <a:path w="95250" h="95250">
                <a:moveTo>
                  <a:pt x="0" y="0"/>
                </a:moveTo>
                <a:lnTo>
                  <a:pt x="95250" y="47625"/>
                </a:lnTo>
                <a:lnTo>
                  <a:pt x="0" y="95250"/>
                </a:lnTo>
                <a:close/>
              </a:path>
            </a:pathLst>
          </a:custGeom>
          <a:solidFill>
            <a:srgbClr val="2E86AB"/>
          </a:solidFill>
          <a:ln>
            <a:noFill/>
          </a:ln>
        </p:spPr>
      </p:sp>
      <p:sp>
        <p:nvSpPr>
          <p:cNvPr id="11" name="Rectangle 11"/>
          <p:cNvSpPr/>
          <p:nvPr/>
        </p:nvSpPr>
        <p:spPr>
          <a:xfrm>
            <a:off x="2667000" y="2095500"/>
            <a:ext cx="1524000" cy="762000"/>
          </a:xfrm>
          <a:prstGeom prst="roundRect">
            <a:avLst>
              <a:gd name="adj" fmla="val 12500"/>
            </a:avLst>
          </a:prstGeom>
          <a:solidFill>
            <a:srgbClr val="F4F7FA"/>
          </a:solidFill>
          <a:ln w="19050">
            <a:solidFill>
              <a:srgbClr val="2E86AB"/>
            </a:solidFill>
          </a:ln>
        </p:spPr>
      </p:sp>
      <p:sp>
        <p:nvSpPr>
          <p:cNvPr id="12" name="TextBox 12"/>
          <p:cNvSpPr txBox="1"/>
          <p:nvPr/>
        </p:nvSpPr>
        <p:spPr>
          <a:xfrm>
            <a:off x="3081548" y="2315528"/>
            <a:ext cx="694904"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a:ea typeface="Microsoft YaHei"/>
                <a:cs typeface="Arial"/>
              </a:rPr>
              <a:t>Chunking</a:t>
            </a:r>
          </a:p>
        </p:txBody>
      </p:sp>
      <p:sp>
        <p:nvSpPr>
          <p:cNvPr id="13" name="TextBox 13"/>
          <p:cNvSpPr txBox="1"/>
          <p:nvPr/>
        </p:nvSpPr>
        <p:spPr>
          <a:xfrm>
            <a:off x="2563178" y="2550795"/>
            <a:ext cx="1731645"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Product / Asset / Material</a:t>
            </a:r>
          </a:p>
        </p:txBody>
      </p:sp>
      <p:sp>
        <p:nvSpPr>
          <p:cNvPr id="14" name="Freeform 14"/>
          <p:cNvSpPr/>
          <p:nvPr/>
        </p:nvSpPr>
        <p:spPr>
          <a:xfrm>
            <a:off x="4191000" y="2476500"/>
            <a:ext cx="476250" cy="9525"/>
          </a:xfrm>
          <a:custGeom>
            <a:avLst/>
            <a:gdLst/>
            <a:ahLst/>
            <a:cxnLst/>
            <a:rect l="l" t="t" r="r" b="b"/>
            <a:pathLst>
              <a:path w="476250" h="9525">
                <a:moveTo>
                  <a:pt x="0" y="0"/>
                </a:moveTo>
                <a:lnTo>
                  <a:pt x="476250" y="0"/>
                </a:lnTo>
              </a:path>
            </a:pathLst>
          </a:custGeom>
          <a:noFill/>
          <a:ln w="19050">
            <a:solidFill>
              <a:srgbClr val="2E86AB"/>
            </a:solidFill>
          </a:ln>
        </p:spPr>
      </p:sp>
      <p:sp>
        <p:nvSpPr>
          <p:cNvPr id="15" name="Polygon 15"/>
          <p:cNvSpPr/>
          <p:nvPr/>
        </p:nvSpPr>
        <p:spPr>
          <a:xfrm>
            <a:off x="4648200" y="2428875"/>
            <a:ext cx="95250" cy="95250"/>
          </a:xfrm>
          <a:custGeom>
            <a:avLst/>
            <a:gdLst/>
            <a:ahLst/>
            <a:cxnLst/>
            <a:rect l="l" t="t" r="r" b="b"/>
            <a:pathLst>
              <a:path w="95250" h="95250">
                <a:moveTo>
                  <a:pt x="0" y="0"/>
                </a:moveTo>
                <a:lnTo>
                  <a:pt x="95250" y="47625"/>
                </a:lnTo>
                <a:lnTo>
                  <a:pt x="0" y="95250"/>
                </a:lnTo>
                <a:close/>
              </a:path>
            </a:pathLst>
          </a:custGeom>
          <a:solidFill>
            <a:srgbClr val="2E86AB"/>
          </a:solidFill>
          <a:ln>
            <a:noFill/>
          </a:ln>
        </p:spPr>
      </p:sp>
      <p:sp>
        <p:nvSpPr>
          <p:cNvPr id="16" name="Rectangle 16"/>
          <p:cNvSpPr/>
          <p:nvPr/>
        </p:nvSpPr>
        <p:spPr>
          <a:xfrm>
            <a:off x="4762500" y="2095500"/>
            <a:ext cx="1524000" cy="762000"/>
          </a:xfrm>
          <a:prstGeom prst="roundRect">
            <a:avLst>
              <a:gd name="adj" fmla="val 12500"/>
            </a:avLst>
          </a:prstGeom>
          <a:solidFill>
            <a:srgbClr val="2E86AB"/>
          </a:solidFill>
          <a:ln>
            <a:noFill/>
          </a:ln>
        </p:spPr>
      </p:sp>
      <p:sp>
        <p:nvSpPr>
          <p:cNvPr id="17" name="TextBox 17"/>
          <p:cNvSpPr txBox="1"/>
          <p:nvPr/>
        </p:nvSpPr>
        <p:spPr>
          <a:xfrm>
            <a:off x="4875136" y="2315528"/>
            <a:ext cx="129872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Embedding Model</a:t>
            </a:r>
          </a:p>
        </p:txBody>
      </p:sp>
      <p:sp>
        <p:nvSpPr>
          <p:cNvPr id="18" name="TextBox 18"/>
          <p:cNvSpPr txBox="1"/>
          <p:nvPr/>
        </p:nvSpPr>
        <p:spPr>
          <a:xfrm>
            <a:off x="4937998" y="2550795"/>
            <a:ext cx="1173004" cy="182880"/>
          </a:xfrm>
          <a:prstGeom prst="rect">
            <a:avLst/>
          </a:prstGeom>
          <a:noFill/>
          <a:ln>
            <a:noFill/>
          </a:ln>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text-embedding-3</a:t>
            </a:r>
          </a:p>
        </p:txBody>
      </p:sp>
      <p:sp>
        <p:nvSpPr>
          <p:cNvPr id="19" name="Freeform 19"/>
          <p:cNvSpPr/>
          <p:nvPr/>
        </p:nvSpPr>
        <p:spPr>
          <a:xfrm>
            <a:off x="6286500" y="2476500"/>
            <a:ext cx="476250" cy="9525"/>
          </a:xfrm>
          <a:custGeom>
            <a:avLst/>
            <a:gdLst/>
            <a:ahLst/>
            <a:cxnLst/>
            <a:rect l="l" t="t" r="r" b="b"/>
            <a:pathLst>
              <a:path w="476250" h="9525">
                <a:moveTo>
                  <a:pt x="0" y="0"/>
                </a:moveTo>
                <a:lnTo>
                  <a:pt x="476250" y="0"/>
                </a:lnTo>
              </a:path>
            </a:pathLst>
          </a:custGeom>
          <a:noFill/>
          <a:ln w="19050">
            <a:solidFill>
              <a:srgbClr val="2E86AB"/>
            </a:solidFill>
          </a:ln>
        </p:spPr>
      </p:sp>
      <p:sp>
        <p:nvSpPr>
          <p:cNvPr id="20" name="Polygon 20"/>
          <p:cNvSpPr/>
          <p:nvPr/>
        </p:nvSpPr>
        <p:spPr>
          <a:xfrm>
            <a:off x="6743700" y="2428875"/>
            <a:ext cx="95250" cy="95250"/>
          </a:xfrm>
          <a:custGeom>
            <a:avLst/>
            <a:gdLst/>
            <a:ahLst/>
            <a:cxnLst/>
            <a:rect l="l" t="t" r="r" b="b"/>
            <a:pathLst>
              <a:path w="95250" h="95250">
                <a:moveTo>
                  <a:pt x="0" y="0"/>
                </a:moveTo>
                <a:lnTo>
                  <a:pt x="95250" y="47625"/>
                </a:lnTo>
                <a:lnTo>
                  <a:pt x="0" y="95250"/>
                </a:lnTo>
                <a:close/>
              </a:path>
            </a:pathLst>
          </a:custGeom>
          <a:solidFill>
            <a:srgbClr val="2E86AB"/>
          </a:solidFill>
          <a:ln>
            <a:noFill/>
          </a:ln>
        </p:spPr>
      </p:sp>
      <p:sp>
        <p:nvSpPr>
          <p:cNvPr id="21" name="Rectangle 21"/>
          <p:cNvSpPr/>
          <p:nvPr/>
        </p:nvSpPr>
        <p:spPr>
          <a:xfrm>
            <a:off x="6858000" y="2095500"/>
            <a:ext cx="1524000" cy="762000"/>
          </a:xfrm>
          <a:prstGeom prst="roundRect">
            <a:avLst>
              <a:gd name="adj" fmla="val 12500"/>
            </a:avLst>
          </a:prstGeom>
          <a:solidFill>
            <a:srgbClr val="45B69C"/>
          </a:solidFill>
          <a:ln>
            <a:noFill/>
          </a:ln>
        </p:spPr>
      </p:sp>
      <p:sp>
        <p:nvSpPr>
          <p:cNvPr id="22" name="TextBox 22"/>
          <p:cNvSpPr txBox="1"/>
          <p:nvPr/>
        </p:nvSpPr>
        <p:spPr>
          <a:xfrm>
            <a:off x="7095426" y="2315528"/>
            <a:ext cx="1049148"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Vector Store</a:t>
            </a:r>
          </a:p>
        </p:txBody>
      </p:sp>
      <p:sp>
        <p:nvSpPr>
          <p:cNvPr id="23" name="TextBox 23"/>
          <p:cNvSpPr txBox="1"/>
          <p:nvPr/>
        </p:nvSpPr>
        <p:spPr>
          <a:xfrm>
            <a:off x="7306246" y="2550795"/>
            <a:ext cx="627507" cy="182880"/>
          </a:xfrm>
          <a:prstGeom prst="rect">
            <a:avLst/>
          </a:prstGeom>
          <a:noFill/>
          <a:ln>
            <a:noFill/>
          </a:ln>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ChromaDB</a:t>
            </a:r>
          </a:p>
        </p:txBody>
      </p:sp>
      <p:sp>
        <p:nvSpPr>
          <p:cNvPr id="24" name="Freeform 24"/>
          <p:cNvSpPr/>
          <p:nvPr/>
        </p:nvSpPr>
        <p:spPr>
          <a:xfrm>
            <a:off x="8382000" y="2476500"/>
            <a:ext cx="476250" cy="9525"/>
          </a:xfrm>
          <a:custGeom>
            <a:avLst/>
            <a:gdLst/>
            <a:ahLst/>
            <a:cxnLst/>
            <a:rect l="l" t="t" r="r" b="b"/>
            <a:pathLst>
              <a:path w="476250" h="9525">
                <a:moveTo>
                  <a:pt x="0" y="0"/>
                </a:moveTo>
                <a:lnTo>
                  <a:pt x="476250" y="0"/>
                </a:lnTo>
              </a:path>
            </a:pathLst>
          </a:custGeom>
          <a:noFill/>
          <a:ln w="19050">
            <a:solidFill>
              <a:srgbClr val="2E86AB"/>
            </a:solidFill>
          </a:ln>
        </p:spPr>
      </p:sp>
      <p:sp>
        <p:nvSpPr>
          <p:cNvPr id="25" name="Polygon 25"/>
          <p:cNvSpPr/>
          <p:nvPr/>
        </p:nvSpPr>
        <p:spPr>
          <a:xfrm>
            <a:off x="8839200" y="2428875"/>
            <a:ext cx="95250" cy="95250"/>
          </a:xfrm>
          <a:custGeom>
            <a:avLst/>
            <a:gdLst/>
            <a:ahLst/>
            <a:cxnLst/>
            <a:rect l="l" t="t" r="r" b="b"/>
            <a:pathLst>
              <a:path w="95250" h="95250">
                <a:moveTo>
                  <a:pt x="0" y="0"/>
                </a:moveTo>
                <a:lnTo>
                  <a:pt x="95250" y="47625"/>
                </a:lnTo>
                <a:lnTo>
                  <a:pt x="0" y="95250"/>
                </a:lnTo>
                <a:close/>
              </a:path>
            </a:pathLst>
          </a:custGeom>
          <a:solidFill>
            <a:srgbClr val="2E86AB"/>
          </a:solidFill>
          <a:ln>
            <a:noFill/>
          </a:ln>
        </p:spPr>
      </p:sp>
      <p:sp>
        <p:nvSpPr>
          <p:cNvPr id="26" name="Rectangle 26"/>
          <p:cNvSpPr/>
          <p:nvPr/>
        </p:nvSpPr>
        <p:spPr>
          <a:xfrm>
            <a:off x="8953500" y="2095500"/>
            <a:ext cx="1524000" cy="762000"/>
          </a:xfrm>
          <a:prstGeom prst="roundRect">
            <a:avLst>
              <a:gd name="adj" fmla="val 12500"/>
            </a:avLst>
          </a:prstGeom>
          <a:solidFill>
            <a:srgbClr val="1A3A5C"/>
          </a:solidFill>
          <a:ln>
            <a:noFill/>
          </a:ln>
        </p:spPr>
      </p:sp>
      <p:sp>
        <p:nvSpPr>
          <p:cNvPr id="27" name="TextBox 27"/>
          <p:cNvSpPr txBox="1"/>
          <p:nvPr/>
        </p:nvSpPr>
        <p:spPr>
          <a:xfrm>
            <a:off x="9327793" y="2315528"/>
            <a:ext cx="77541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LLM + RAG</a:t>
            </a:r>
          </a:p>
        </p:txBody>
      </p:sp>
      <p:sp>
        <p:nvSpPr>
          <p:cNvPr id="28" name="TextBox 28"/>
          <p:cNvSpPr txBox="1"/>
          <p:nvPr/>
        </p:nvSpPr>
        <p:spPr>
          <a:xfrm>
            <a:off x="9391888" y="2550795"/>
            <a:ext cx="647224" cy="182880"/>
          </a:xfrm>
          <a:prstGeom prst="rect">
            <a:avLst/>
          </a:prstGeom>
          <a:noFill/>
          <a:ln>
            <a:noFill/>
          </a:ln>
        </p:spPr>
        <p:txBody>
          <a:bodyPr wrap="none" lIns="0" tIns="0" rIns="0" bIns="0" anchor="t" anchorCtr="0">
            <a:spAutoFit/>
          </a:bodyPr>
          <a:lstStyle/>
          <a:p>
            <a:pPr algn="ctr"/>
            <a:r>
              <a:rPr lang="zh-CN" sz="900" dirty="0">
                <a:solidFill>
                  <a:srgbClr val="FFFFFF">
                    <a:alphaMod val="70000"/>
                  </a:srgbClr>
                </a:solidFill>
                <a:latin typeface="Arial"/>
                <a:ea typeface="Microsoft YaHei"/>
                <a:cs typeface="Arial"/>
              </a:rPr>
              <a:t>Claude API</a:t>
            </a:r>
          </a:p>
        </p:txBody>
      </p:sp>
      <p:sp>
        <p:nvSpPr>
          <p:cNvPr id="29" name="TextBox 29"/>
          <p:cNvSpPr txBox="1"/>
          <p:nvPr/>
        </p:nvSpPr>
        <p:spPr>
          <a:xfrm>
            <a:off x="4709789" y="3299460"/>
            <a:ext cx="2772423"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Arial"/>
                <a:ea typeface="Microsoft YaHei"/>
                <a:cs typeface="Arial"/>
              </a:rPr>
              <a:t>Trigger &amp; Orchestration Layer</a:t>
            </a:r>
          </a:p>
        </p:txBody>
      </p:sp>
      <p:sp>
        <p:nvSpPr>
          <p:cNvPr id="30" name="Rectangle 30"/>
          <p:cNvSpPr/>
          <p:nvPr/>
        </p:nvSpPr>
        <p:spPr>
          <a:xfrm>
            <a:off x="1714500" y="3714750"/>
            <a:ext cx="1905000" cy="571500"/>
          </a:xfrm>
          <a:prstGeom prst="roundRect">
            <a:avLst>
              <a:gd name="adj" fmla="val 13333"/>
            </a:avLst>
          </a:prstGeom>
          <a:solidFill>
            <a:srgbClr val="F4F7FA"/>
          </a:solidFill>
          <a:ln w="9525">
            <a:solidFill>
              <a:srgbClr val="E2E8F0"/>
            </a:solidFill>
          </a:ln>
        </p:spPr>
      </p:sp>
      <p:sp>
        <p:nvSpPr>
          <p:cNvPr id="31" name="TextBox 31"/>
          <p:cNvSpPr txBox="1"/>
          <p:nvPr/>
        </p:nvSpPr>
        <p:spPr>
          <a:xfrm>
            <a:off x="2314462" y="3876199"/>
            <a:ext cx="705075"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RabbitMQ</a:t>
            </a:r>
          </a:p>
        </p:txBody>
      </p:sp>
      <p:sp>
        <p:nvSpPr>
          <p:cNvPr id="32" name="TextBox 32"/>
          <p:cNvSpPr txBox="1"/>
          <p:nvPr/>
        </p:nvSpPr>
        <p:spPr>
          <a:xfrm>
            <a:off x="2005870" y="4082891"/>
            <a:ext cx="132226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Event-driven triggers</a:t>
            </a:r>
          </a:p>
        </p:txBody>
      </p:sp>
      <p:sp>
        <p:nvSpPr>
          <p:cNvPr id="33" name="Rectangle 33"/>
          <p:cNvSpPr/>
          <p:nvPr/>
        </p:nvSpPr>
        <p:spPr>
          <a:xfrm>
            <a:off x="4191000" y="3714750"/>
            <a:ext cx="1905000" cy="571500"/>
          </a:xfrm>
          <a:prstGeom prst="roundRect">
            <a:avLst>
              <a:gd name="adj" fmla="val 13333"/>
            </a:avLst>
          </a:prstGeom>
          <a:solidFill>
            <a:srgbClr val="F4F7FA"/>
          </a:solidFill>
          <a:ln w="9525">
            <a:solidFill>
              <a:srgbClr val="E2E8F0"/>
            </a:solidFill>
          </a:ln>
        </p:spPr>
      </p:sp>
      <p:sp>
        <p:nvSpPr>
          <p:cNvPr id="34" name="TextBox 34"/>
          <p:cNvSpPr txBox="1"/>
          <p:nvPr/>
        </p:nvSpPr>
        <p:spPr>
          <a:xfrm>
            <a:off x="4402214" y="3876199"/>
            <a:ext cx="1482572"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AI Service (FastAPI)</a:t>
            </a:r>
          </a:p>
        </p:txBody>
      </p:sp>
      <p:sp>
        <p:nvSpPr>
          <p:cNvPr id="35" name="TextBox 35"/>
          <p:cNvSpPr txBox="1"/>
          <p:nvPr/>
        </p:nvSpPr>
        <p:spPr>
          <a:xfrm>
            <a:off x="4319707" y="4082891"/>
            <a:ext cx="164758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Orchestration + Processing</a:t>
            </a:r>
          </a:p>
        </p:txBody>
      </p:sp>
      <p:sp>
        <p:nvSpPr>
          <p:cNvPr id="36" name="Rectangle 36"/>
          <p:cNvSpPr/>
          <p:nvPr/>
        </p:nvSpPr>
        <p:spPr>
          <a:xfrm>
            <a:off x="6667500" y="3714750"/>
            <a:ext cx="1905000" cy="571500"/>
          </a:xfrm>
          <a:prstGeom prst="roundRect">
            <a:avLst>
              <a:gd name="adj" fmla="val 13333"/>
            </a:avLst>
          </a:prstGeom>
          <a:solidFill>
            <a:srgbClr val="F4F7FA"/>
          </a:solidFill>
          <a:ln w="9525">
            <a:solidFill>
              <a:srgbClr val="E2E8F0"/>
            </a:solidFill>
          </a:ln>
        </p:spPr>
      </p:sp>
      <p:sp>
        <p:nvSpPr>
          <p:cNvPr id="37" name="TextBox 37"/>
          <p:cNvSpPr txBox="1"/>
          <p:nvPr/>
        </p:nvSpPr>
        <p:spPr>
          <a:xfrm>
            <a:off x="7177751" y="3876199"/>
            <a:ext cx="884497"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API Gateway</a:t>
            </a:r>
          </a:p>
        </p:txBody>
      </p:sp>
      <p:sp>
        <p:nvSpPr>
          <p:cNvPr id="38" name="TextBox 38"/>
          <p:cNvSpPr txBox="1"/>
          <p:nvPr/>
        </p:nvSpPr>
        <p:spPr>
          <a:xfrm>
            <a:off x="6862477" y="4082891"/>
            <a:ext cx="1515046"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REST / GraphQL endpoints</a:t>
            </a:r>
          </a:p>
        </p:txBody>
      </p:sp>
      <p:sp>
        <p:nvSpPr>
          <p:cNvPr id="39" name="Freeform 39"/>
          <p:cNvSpPr/>
          <p:nvPr/>
        </p:nvSpPr>
        <p:spPr>
          <a:xfrm>
            <a:off x="2667000" y="2857500"/>
            <a:ext cx="9525" cy="857250"/>
          </a:xfrm>
          <a:custGeom>
            <a:avLst/>
            <a:gdLst/>
            <a:ahLst/>
            <a:cxnLst/>
            <a:rect l="l" t="t" r="r" b="b"/>
            <a:pathLst>
              <a:path w="9525" h="857250">
                <a:moveTo>
                  <a:pt x="0" y="857250"/>
                </a:moveTo>
                <a:lnTo>
                  <a:pt x="0" y="0"/>
                </a:lnTo>
              </a:path>
            </a:pathLst>
          </a:custGeom>
          <a:noFill/>
          <a:ln w="14288">
            <a:solidFill>
              <a:srgbClr val="E2E8F0"/>
            </a:solidFill>
            <a:prstDash val="dash"/>
          </a:ln>
        </p:spPr>
      </p:sp>
      <p:sp>
        <p:nvSpPr>
          <p:cNvPr id="40" name="Freeform 40"/>
          <p:cNvSpPr/>
          <p:nvPr/>
        </p:nvSpPr>
        <p:spPr>
          <a:xfrm>
            <a:off x="5143500" y="2857500"/>
            <a:ext cx="9525" cy="857250"/>
          </a:xfrm>
          <a:custGeom>
            <a:avLst/>
            <a:gdLst/>
            <a:ahLst/>
            <a:cxnLst/>
            <a:rect l="l" t="t" r="r" b="b"/>
            <a:pathLst>
              <a:path w="9525" h="857250">
                <a:moveTo>
                  <a:pt x="0" y="857250"/>
                </a:moveTo>
                <a:lnTo>
                  <a:pt x="0" y="0"/>
                </a:lnTo>
              </a:path>
            </a:pathLst>
          </a:custGeom>
          <a:noFill/>
          <a:ln w="14288">
            <a:solidFill>
              <a:srgbClr val="E2E8F0"/>
            </a:solidFill>
            <a:prstDash val="dash"/>
          </a:ln>
        </p:spPr>
      </p:sp>
      <p:sp>
        <p:nvSpPr>
          <p:cNvPr id="41" name="Freeform 41"/>
          <p:cNvSpPr/>
          <p:nvPr/>
        </p:nvSpPr>
        <p:spPr>
          <a:xfrm>
            <a:off x="7620000" y="2857500"/>
            <a:ext cx="9525" cy="857250"/>
          </a:xfrm>
          <a:custGeom>
            <a:avLst/>
            <a:gdLst/>
            <a:ahLst/>
            <a:cxnLst/>
            <a:rect l="l" t="t" r="r" b="b"/>
            <a:pathLst>
              <a:path w="9525" h="857250">
                <a:moveTo>
                  <a:pt x="0" y="857250"/>
                </a:moveTo>
                <a:lnTo>
                  <a:pt x="0" y="0"/>
                </a:lnTo>
              </a:path>
            </a:pathLst>
          </a:custGeom>
          <a:noFill/>
          <a:ln w="14288">
            <a:solidFill>
              <a:srgbClr val="E2E8F0"/>
            </a:solidFill>
            <a:prstDash val="dash"/>
          </a:ln>
        </p:spPr>
      </p:sp>
      <p:sp>
        <p:nvSpPr>
          <p:cNvPr id="42" name="TextBox 42"/>
          <p:cNvSpPr txBox="1"/>
          <p:nvPr/>
        </p:nvSpPr>
        <p:spPr>
          <a:xfrm>
            <a:off x="558165" y="4839652"/>
            <a:ext cx="1049148"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Data Sources</a:t>
            </a:r>
          </a:p>
        </p:txBody>
      </p:sp>
      <p:sp>
        <p:nvSpPr>
          <p:cNvPr id="43" name="Rectangle 43"/>
          <p:cNvSpPr/>
          <p:nvPr/>
        </p:nvSpPr>
        <p:spPr>
          <a:xfrm>
            <a:off x="571500" y="5143500"/>
            <a:ext cx="1333500" cy="381000"/>
          </a:xfrm>
          <a:prstGeom prst="roundRect">
            <a:avLst>
              <a:gd name="adj" fmla="val 15000"/>
            </a:avLst>
          </a:prstGeom>
          <a:solidFill>
            <a:srgbClr val="F4F7FA"/>
          </a:solidFill>
          <a:ln w="9525">
            <a:solidFill>
              <a:srgbClr val="E2E8F0"/>
            </a:solidFill>
          </a:ln>
        </p:spPr>
      </p:sp>
      <p:sp>
        <p:nvSpPr>
          <p:cNvPr id="44" name="TextBox 44"/>
          <p:cNvSpPr txBox="1"/>
          <p:nvPr/>
        </p:nvSpPr>
        <p:spPr>
          <a:xfrm>
            <a:off x="937641" y="5284470"/>
            <a:ext cx="601218" cy="182880"/>
          </a:xfrm>
          <a:prstGeom prst="rect">
            <a:avLst/>
          </a:prstGeom>
          <a:noFill/>
          <a:ln>
            <a:noFill/>
          </a:ln>
        </p:spPr>
        <p:txBody>
          <a:bodyPr wrap="none" lIns="0" tIns="0" rIns="0" bIns="0" anchor="t" anchorCtr="0">
            <a:spAutoFit/>
          </a:bodyPr>
          <a:lstStyle/>
          <a:p>
            <a:pPr algn="ctr"/>
            <a:r>
              <a:rPr lang="zh-CN" sz="900" dirty="0">
                <a:solidFill>
                  <a:srgbClr val="2D3748"/>
                </a:solidFill>
                <a:latin typeface="Arial"/>
                <a:ea typeface="Microsoft YaHei"/>
                <a:cs typeface="Arial"/>
              </a:rPr>
              <a:t>Products</a:t>
            </a:r>
          </a:p>
        </p:txBody>
      </p:sp>
      <p:sp>
        <p:nvSpPr>
          <p:cNvPr id="45" name="Rectangle 45"/>
          <p:cNvSpPr/>
          <p:nvPr/>
        </p:nvSpPr>
        <p:spPr>
          <a:xfrm>
            <a:off x="2095500" y="5143500"/>
            <a:ext cx="1333500" cy="381000"/>
          </a:xfrm>
          <a:prstGeom prst="roundRect">
            <a:avLst>
              <a:gd name="adj" fmla="val 15000"/>
            </a:avLst>
          </a:prstGeom>
          <a:solidFill>
            <a:srgbClr val="F4F7FA"/>
          </a:solidFill>
          <a:ln w="9525">
            <a:solidFill>
              <a:srgbClr val="E2E8F0"/>
            </a:solidFill>
          </a:ln>
        </p:spPr>
      </p:sp>
      <p:sp>
        <p:nvSpPr>
          <p:cNvPr id="46" name="TextBox 46"/>
          <p:cNvSpPr txBox="1"/>
          <p:nvPr/>
        </p:nvSpPr>
        <p:spPr>
          <a:xfrm>
            <a:off x="2297335" y="5284470"/>
            <a:ext cx="929830" cy="182880"/>
          </a:xfrm>
          <a:prstGeom prst="rect">
            <a:avLst/>
          </a:prstGeom>
          <a:noFill/>
          <a:ln>
            <a:noFill/>
          </a:ln>
        </p:spPr>
        <p:txBody>
          <a:bodyPr wrap="none" lIns="0" tIns="0" rIns="0" bIns="0" anchor="t" anchorCtr="0">
            <a:spAutoFit/>
          </a:bodyPr>
          <a:lstStyle/>
          <a:p>
            <a:pPr algn="ctr"/>
            <a:r>
              <a:rPr lang="zh-CN" sz="900" dirty="0">
                <a:solidFill>
                  <a:srgbClr val="2D3748"/>
                </a:solidFill>
                <a:latin typeface="Arial"/>
                <a:ea typeface="Microsoft YaHei"/>
                <a:cs typeface="Arial"/>
              </a:rPr>
              <a:t>Text Contents</a:t>
            </a:r>
          </a:p>
        </p:txBody>
      </p:sp>
      <p:sp>
        <p:nvSpPr>
          <p:cNvPr id="47" name="Rectangle 47"/>
          <p:cNvSpPr/>
          <p:nvPr/>
        </p:nvSpPr>
        <p:spPr>
          <a:xfrm>
            <a:off x="3619500" y="5143500"/>
            <a:ext cx="1333500" cy="381000"/>
          </a:xfrm>
          <a:prstGeom prst="roundRect">
            <a:avLst>
              <a:gd name="adj" fmla="val 15000"/>
            </a:avLst>
          </a:prstGeom>
          <a:solidFill>
            <a:srgbClr val="F4F7FA"/>
          </a:solidFill>
          <a:ln w="9525">
            <a:solidFill>
              <a:srgbClr val="E2E8F0"/>
            </a:solidFill>
          </a:ln>
        </p:spPr>
      </p:sp>
      <p:sp>
        <p:nvSpPr>
          <p:cNvPr id="48" name="TextBox 48"/>
          <p:cNvSpPr txBox="1"/>
          <p:nvPr/>
        </p:nvSpPr>
        <p:spPr>
          <a:xfrm>
            <a:off x="3854196" y="5284470"/>
            <a:ext cx="864108" cy="182880"/>
          </a:xfrm>
          <a:prstGeom prst="rect">
            <a:avLst/>
          </a:prstGeom>
          <a:noFill/>
          <a:ln>
            <a:noFill/>
          </a:ln>
        </p:spPr>
        <p:txBody>
          <a:bodyPr wrap="none" lIns="0" tIns="0" rIns="0" bIns="0" anchor="t" anchorCtr="0">
            <a:spAutoFit/>
          </a:bodyPr>
          <a:lstStyle/>
          <a:p>
            <a:pPr algn="ctr"/>
            <a:r>
              <a:rPr lang="zh-CN" sz="900" dirty="0">
                <a:solidFill>
                  <a:srgbClr val="2D3748"/>
                </a:solidFill>
                <a:latin typeface="Arial"/>
                <a:ea typeface="Microsoft YaHei"/>
                <a:cs typeface="Arial"/>
              </a:rPr>
              <a:t>Visual Assets</a:t>
            </a:r>
          </a:p>
        </p:txBody>
      </p:sp>
      <p:sp>
        <p:nvSpPr>
          <p:cNvPr id="49" name="Rectangle 49"/>
          <p:cNvSpPr/>
          <p:nvPr/>
        </p:nvSpPr>
        <p:spPr>
          <a:xfrm>
            <a:off x="5143500" y="5143500"/>
            <a:ext cx="1333500" cy="381000"/>
          </a:xfrm>
          <a:prstGeom prst="roundRect">
            <a:avLst>
              <a:gd name="adj" fmla="val 15000"/>
            </a:avLst>
          </a:prstGeom>
          <a:solidFill>
            <a:srgbClr val="F4F7FA"/>
          </a:solidFill>
          <a:ln w="9525">
            <a:solidFill>
              <a:srgbClr val="E2E8F0"/>
            </a:solidFill>
          </a:ln>
        </p:spPr>
      </p:sp>
      <p:sp>
        <p:nvSpPr>
          <p:cNvPr id="50" name="TextBox 50"/>
          <p:cNvSpPr txBox="1"/>
          <p:nvPr/>
        </p:nvSpPr>
        <p:spPr>
          <a:xfrm>
            <a:off x="5493210" y="5284470"/>
            <a:ext cx="634079" cy="182880"/>
          </a:xfrm>
          <a:prstGeom prst="rect">
            <a:avLst/>
          </a:prstGeom>
          <a:noFill/>
          <a:ln>
            <a:noFill/>
          </a:ln>
        </p:spPr>
        <p:txBody>
          <a:bodyPr wrap="none" lIns="0" tIns="0" rIns="0" bIns="0" anchor="t" anchorCtr="0">
            <a:spAutoFit/>
          </a:bodyPr>
          <a:lstStyle/>
          <a:p>
            <a:pPr algn="ctr"/>
            <a:r>
              <a:rPr lang="zh-CN" sz="900" dirty="0">
                <a:solidFill>
                  <a:srgbClr val="2D3748"/>
                </a:solidFill>
                <a:latin typeface="Arial"/>
                <a:ea typeface="Microsoft YaHei"/>
                <a:cs typeface="Arial"/>
              </a:rPr>
              <a:t>Materials</a:t>
            </a:r>
          </a:p>
        </p:txBody>
      </p:sp>
      <p:sp>
        <p:nvSpPr>
          <p:cNvPr id="51" name="TextBox 51"/>
          <p:cNvSpPr txBox="1"/>
          <p:nvPr/>
        </p:nvSpPr>
        <p:spPr>
          <a:xfrm>
            <a:off x="7225665" y="4839652"/>
            <a:ext cx="1540259"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a:ea typeface="Microsoft YaHei"/>
                <a:cs typeface="Arial"/>
              </a:rPr>
              <a:t>Output Capabilities</a:t>
            </a:r>
          </a:p>
        </p:txBody>
      </p:sp>
      <p:sp>
        <p:nvSpPr>
          <p:cNvPr id="52" name="Rectangle 52"/>
          <p:cNvSpPr/>
          <p:nvPr/>
        </p:nvSpPr>
        <p:spPr>
          <a:xfrm>
            <a:off x="7239000" y="5143500"/>
            <a:ext cx="1428750" cy="381000"/>
          </a:xfrm>
          <a:prstGeom prst="roundRect">
            <a:avLst>
              <a:gd name="adj" fmla="val 15000"/>
            </a:avLst>
          </a:prstGeom>
          <a:solidFill>
            <a:srgbClr val="2E86AB">
              <a:alpha val="10000"/>
            </a:srgbClr>
          </a:solidFill>
          <a:ln w="9525">
            <a:solidFill>
              <a:srgbClr val="2E86AB"/>
            </a:solidFill>
          </a:ln>
        </p:spPr>
      </p:sp>
      <p:sp>
        <p:nvSpPr>
          <p:cNvPr id="53" name="TextBox 53"/>
          <p:cNvSpPr txBox="1"/>
          <p:nvPr/>
        </p:nvSpPr>
        <p:spPr>
          <a:xfrm>
            <a:off x="7419451" y="5284470"/>
            <a:ext cx="1067848" cy="182880"/>
          </a:xfrm>
          <a:prstGeom prst="rect">
            <a:avLst/>
          </a:prstGeom>
          <a:noFill/>
          <a:ln>
            <a:noFill/>
          </a:ln>
        </p:spPr>
        <p:txBody>
          <a:bodyPr wrap="none" lIns="0" tIns="0" rIns="0" bIns="0" anchor="t" anchorCtr="0">
            <a:spAutoFit/>
          </a:bodyPr>
          <a:lstStyle/>
          <a:p>
            <a:pPr algn="ctr"/>
            <a:r>
              <a:rPr lang="zh-CN" sz="900" dirty="0">
                <a:solidFill>
                  <a:srgbClr val="2E86AB"/>
                </a:solidFill>
                <a:latin typeface="Arial"/>
                <a:ea typeface="Microsoft YaHei"/>
                <a:cs typeface="Arial"/>
              </a:rPr>
              <a:t>Semantic Search</a:t>
            </a:r>
          </a:p>
        </p:txBody>
      </p:sp>
      <p:sp>
        <p:nvSpPr>
          <p:cNvPr id="54" name="Rectangle 54"/>
          <p:cNvSpPr/>
          <p:nvPr/>
        </p:nvSpPr>
        <p:spPr>
          <a:xfrm>
            <a:off x="8858250" y="5143500"/>
            <a:ext cx="1428750" cy="381000"/>
          </a:xfrm>
          <a:prstGeom prst="roundRect">
            <a:avLst>
              <a:gd name="adj" fmla="val 15000"/>
            </a:avLst>
          </a:prstGeom>
          <a:solidFill>
            <a:srgbClr val="45B69C">
              <a:alpha val="10000"/>
            </a:srgbClr>
          </a:solidFill>
          <a:ln w="9525">
            <a:solidFill>
              <a:srgbClr val="45B69C"/>
            </a:solidFill>
          </a:ln>
        </p:spPr>
      </p:sp>
      <p:sp>
        <p:nvSpPr>
          <p:cNvPr id="55" name="TextBox 55"/>
          <p:cNvSpPr txBox="1"/>
          <p:nvPr/>
        </p:nvSpPr>
        <p:spPr>
          <a:xfrm>
            <a:off x="9022270" y="5284470"/>
            <a:ext cx="1100709" cy="182880"/>
          </a:xfrm>
          <a:prstGeom prst="rect">
            <a:avLst/>
          </a:prstGeom>
          <a:noFill/>
          <a:ln>
            <a:noFill/>
          </a:ln>
        </p:spPr>
        <p:txBody>
          <a:bodyPr wrap="none" lIns="0" tIns="0" rIns="0" bIns="0" anchor="t" anchorCtr="0">
            <a:spAutoFit/>
          </a:bodyPr>
          <a:lstStyle/>
          <a:p>
            <a:pPr algn="ctr"/>
            <a:r>
              <a:rPr lang="zh-CN" sz="900" dirty="0">
                <a:solidFill>
                  <a:srgbClr val="45B69C"/>
                </a:solidFill>
                <a:latin typeface="Arial"/>
                <a:ea typeface="Microsoft YaHei"/>
                <a:cs typeface="Arial"/>
              </a:rPr>
              <a:t>Auto-Enrichment</a:t>
            </a:r>
          </a:p>
        </p:txBody>
      </p:sp>
      <p:sp>
        <p:nvSpPr>
          <p:cNvPr id="56" name="Rectangle 56"/>
          <p:cNvSpPr/>
          <p:nvPr/>
        </p:nvSpPr>
        <p:spPr>
          <a:xfrm>
            <a:off x="10477500" y="5143500"/>
            <a:ext cx="1428750" cy="381000"/>
          </a:xfrm>
          <a:prstGeom prst="roundRect">
            <a:avLst>
              <a:gd name="adj" fmla="val 15000"/>
            </a:avLst>
          </a:prstGeom>
          <a:solidFill>
            <a:srgbClr val="1A3A5C">
              <a:alpha val="10000"/>
            </a:srgbClr>
          </a:solidFill>
          <a:ln w="9525">
            <a:solidFill>
              <a:srgbClr val="1A3A5C"/>
            </a:solidFill>
          </a:ln>
        </p:spPr>
      </p:sp>
      <p:sp>
        <p:nvSpPr>
          <p:cNvPr id="57" name="TextBox 57"/>
          <p:cNvSpPr txBox="1"/>
          <p:nvPr/>
        </p:nvSpPr>
        <p:spPr>
          <a:xfrm>
            <a:off x="10628376" y="5284470"/>
            <a:ext cx="1126998" cy="182880"/>
          </a:xfrm>
          <a:prstGeom prst="rect">
            <a:avLst/>
          </a:prstGeom>
          <a:noFill/>
          <a:ln>
            <a:noFill/>
          </a:ln>
        </p:spPr>
        <p:txBody>
          <a:bodyPr wrap="none" lIns="0" tIns="0" rIns="0" bIns="0" anchor="t" anchorCtr="0">
            <a:spAutoFit/>
          </a:bodyPr>
          <a:lstStyle/>
          <a:p>
            <a:pPr algn="ctr"/>
            <a:r>
              <a:rPr lang="zh-CN" sz="900" dirty="0">
                <a:solidFill>
                  <a:srgbClr val="1A3A5C"/>
                </a:solidFill>
                <a:latin typeface="Arial"/>
                <a:ea typeface="Microsoft YaHei"/>
                <a:cs typeface="Arial"/>
              </a:rPr>
              <a:t>Recommendations</a:t>
            </a:r>
          </a:p>
        </p:txBody>
      </p:sp>
      <p:sp>
        <p:nvSpPr>
          <p:cNvPr id="58" name="Rectangle 58"/>
          <p:cNvSpPr/>
          <p:nvPr/>
        </p:nvSpPr>
        <p:spPr>
          <a:xfrm>
            <a:off x="571500" y="5905500"/>
            <a:ext cx="11049000" cy="476250"/>
          </a:xfrm>
          <a:prstGeom prst="roundRect">
            <a:avLst>
              <a:gd name="adj" fmla="val 16000"/>
            </a:avLst>
          </a:prstGeom>
          <a:solidFill>
            <a:srgbClr val="F4F7FA"/>
          </a:solidFill>
          <a:ln>
            <a:noFill/>
          </a:ln>
        </p:spPr>
      </p:sp>
      <p:sp>
        <p:nvSpPr>
          <p:cNvPr id="59" name="TextBox 59"/>
          <p:cNvSpPr txBox="1"/>
          <p:nvPr/>
        </p:nvSpPr>
        <p:spPr>
          <a:xfrm>
            <a:off x="2413706" y="6077902"/>
            <a:ext cx="7364587"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Event-driven: Mỗi khi product data thay đổi trong PIM → tự động re-embed → ChromaDB luôn đồng bộ</a:t>
            </a:r>
          </a:p>
        </p:txBody>
      </p:sp>
      <p:sp>
        <p:nvSpPr>
          <p:cNvPr id="60" name="TextBox 60"/>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6943420"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Chiến lược phân đoạn dữ liệu (Chunking)</a:t>
            </a:r>
          </a:p>
        </p:txBody>
      </p:sp>
      <p:sp>
        <p:nvSpPr>
          <p:cNvPr id="6" name="Rectangle 6"/>
          <p:cNvSpPr/>
          <p:nvPr/>
        </p:nvSpPr>
        <p:spPr>
          <a:xfrm>
            <a:off x="571500" y="1524000"/>
            <a:ext cx="3619500" cy="2667000"/>
          </a:xfrm>
          <a:prstGeom prst="roundRect">
            <a:avLst>
              <a:gd name="adj" fmla="val 4286"/>
            </a:avLst>
          </a:prstGeom>
          <a:solidFill>
            <a:srgbClr val="F4F7FA"/>
          </a:solidFill>
          <a:ln w="19050">
            <a:solidFill>
              <a:srgbClr val="2E86AB"/>
            </a:solidFill>
          </a:ln>
        </p:spPr>
      </p:sp>
      <p:sp>
        <p:nvSpPr>
          <p:cNvPr id="7" name="Rectangle 7"/>
          <p:cNvSpPr/>
          <p:nvPr/>
        </p:nvSpPr>
        <p:spPr>
          <a:xfrm>
            <a:off x="571500" y="1524000"/>
            <a:ext cx="3619500" cy="419100"/>
          </a:xfrm>
          <a:prstGeom prst="roundRect">
            <a:avLst>
              <a:gd name="adj" fmla="val 27273"/>
            </a:avLst>
          </a:prstGeom>
          <a:solidFill>
            <a:srgbClr val="2E86AB"/>
          </a:solidFill>
          <a:ln>
            <a:noFill/>
          </a:ln>
        </p:spPr>
      </p:sp>
      <p:sp>
        <p:nvSpPr>
          <p:cNvPr id="8" name="Rectangle 8"/>
          <p:cNvSpPr/>
          <p:nvPr/>
        </p:nvSpPr>
        <p:spPr>
          <a:xfrm>
            <a:off x="571500" y="1762125"/>
            <a:ext cx="3619500" cy="180975"/>
          </a:xfrm>
          <a:prstGeom prst="rect">
            <a:avLst/>
          </a:prstGeom>
          <a:solidFill>
            <a:srgbClr val="2E86AB"/>
          </a:solidFill>
          <a:ln>
            <a:noFill/>
          </a:ln>
        </p:spPr>
      </p:sp>
      <p:sp>
        <p:nvSpPr>
          <p:cNvPr id="9" name="TextBox 9"/>
          <p:cNvSpPr txBox="1"/>
          <p:nvPr/>
        </p:nvSpPr>
        <p:spPr>
          <a:xfrm>
            <a:off x="1771763" y="1678781"/>
            <a:ext cx="121897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Product Chunk</a:t>
            </a:r>
          </a:p>
        </p:txBody>
      </p:sp>
      <p:sp>
        <p:nvSpPr>
          <p:cNvPr id="10" name="TextBox 10"/>
          <p:cNvSpPr txBox="1"/>
          <p:nvPr/>
        </p:nvSpPr>
        <p:spPr>
          <a:xfrm>
            <a:off x="749618" y="2133124"/>
            <a:ext cx="10998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Fields included:</a:t>
            </a:r>
          </a:p>
        </p:txBody>
      </p:sp>
      <p:sp>
        <p:nvSpPr>
          <p:cNvPr id="11" name="TextBox 11"/>
          <p:cNvSpPr txBox="1"/>
          <p:nvPr/>
        </p:nvSpPr>
        <p:spPr>
          <a:xfrm>
            <a:off x="940118" y="2371249"/>
            <a:ext cx="1114115"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product_name</a:t>
            </a:r>
          </a:p>
        </p:txBody>
      </p:sp>
      <p:sp>
        <p:nvSpPr>
          <p:cNvPr id="12" name="TextBox 12"/>
          <p:cNvSpPr txBox="1"/>
          <p:nvPr/>
        </p:nvSpPr>
        <p:spPr>
          <a:xfrm>
            <a:off x="940118" y="2590324"/>
            <a:ext cx="176915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description (B2B + B2C)</a:t>
            </a:r>
          </a:p>
        </p:txBody>
      </p:sp>
      <p:sp>
        <p:nvSpPr>
          <p:cNvPr id="13" name="TextBox 13"/>
          <p:cNvSpPr txBox="1"/>
          <p:nvPr/>
        </p:nvSpPr>
        <p:spPr>
          <a:xfrm>
            <a:off x="940118" y="2809399"/>
            <a:ext cx="45908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USPs</a:t>
            </a:r>
          </a:p>
        </p:txBody>
      </p:sp>
      <p:sp>
        <p:nvSpPr>
          <p:cNvPr id="14" name="TextBox 14"/>
          <p:cNvSpPr txBox="1"/>
          <p:nvPr/>
        </p:nvSpPr>
        <p:spPr>
          <a:xfrm>
            <a:off x="940118" y="3028474"/>
            <a:ext cx="174779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range_name + category</a:t>
            </a:r>
          </a:p>
        </p:txBody>
      </p:sp>
      <p:sp>
        <p:nvSpPr>
          <p:cNvPr id="15" name="TextBox 15"/>
          <p:cNvSpPr txBox="1"/>
          <p:nvPr/>
        </p:nvSpPr>
        <p:spPr>
          <a:xfrm>
            <a:off x="940118" y="3247549"/>
            <a:ext cx="205394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dimensions + material_name</a:t>
            </a:r>
          </a:p>
        </p:txBody>
      </p:sp>
      <p:sp>
        <p:nvSpPr>
          <p:cNvPr id="16" name="TextBox 16"/>
          <p:cNvSpPr txBox="1"/>
          <p:nvPr/>
        </p:nvSpPr>
        <p:spPr>
          <a:xfrm>
            <a:off x="940118" y="3466624"/>
            <a:ext cx="140603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care_instructions</a:t>
            </a:r>
          </a:p>
        </p:txBody>
      </p:sp>
      <p:sp>
        <p:nvSpPr>
          <p:cNvPr id="17" name="Rectangle 17"/>
          <p:cNvSpPr/>
          <p:nvPr/>
        </p:nvSpPr>
        <p:spPr>
          <a:xfrm>
            <a:off x="762000" y="3810000"/>
            <a:ext cx="762000" cy="228600"/>
          </a:xfrm>
          <a:prstGeom prst="roundRect">
            <a:avLst>
              <a:gd name="adj" fmla="val 50000"/>
            </a:avLst>
          </a:prstGeom>
          <a:solidFill>
            <a:srgbClr val="2E86AB">
              <a:alpha val="10000"/>
            </a:srgbClr>
          </a:solidFill>
          <a:ln>
            <a:noFill/>
          </a:ln>
        </p:spPr>
      </p:sp>
      <p:sp>
        <p:nvSpPr>
          <p:cNvPr id="18" name="TextBox 18"/>
          <p:cNvSpPr txBox="1"/>
          <p:nvPr/>
        </p:nvSpPr>
        <p:spPr>
          <a:xfrm>
            <a:off x="783098" y="3873341"/>
            <a:ext cx="719804" cy="167640"/>
          </a:xfrm>
          <a:prstGeom prst="rect">
            <a:avLst/>
          </a:prstGeom>
          <a:noFill/>
          <a:ln>
            <a:noFill/>
          </a:ln>
        </p:spPr>
        <p:txBody>
          <a:bodyPr wrap="none" lIns="0" tIns="0" rIns="0" bIns="0" anchor="t" anchorCtr="0">
            <a:spAutoFit/>
          </a:bodyPr>
          <a:lstStyle/>
          <a:p>
            <a:pPr algn="ctr"/>
            <a:r>
              <a:rPr lang="zh-CN" sz="825" dirty="0">
                <a:solidFill>
                  <a:srgbClr val="2E86AB"/>
                </a:solidFill>
                <a:latin typeface="Arial"/>
                <a:ea typeface="Microsoft YaHei"/>
                <a:cs typeface="Arial"/>
              </a:rPr>
              <a:t>~300 tokens</a:t>
            </a:r>
          </a:p>
        </p:txBody>
      </p:sp>
      <p:sp>
        <p:nvSpPr>
          <p:cNvPr id="19" name="Rectangle 19"/>
          <p:cNvSpPr/>
          <p:nvPr/>
        </p:nvSpPr>
        <p:spPr>
          <a:xfrm>
            <a:off x="4476750" y="1524000"/>
            <a:ext cx="3238500" cy="2667000"/>
          </a:xfrm>
          <a:prstGeom prst="roundRect">
            <a:avLst>
              <a:gd name="adj" fmla="val 4286"/>
            </a:avLst>
          </a:prstGeom>
          <a:solidFill>
            <a:srgbClr val="F4F7FA"/>
          </a:solidFill>
          <a:ln w="19050">
            <a:solidFill>
              <a:srgbClr val="45B69C"/>
            </a:solidFill>
          </a:ln>
        </p:spPr>
      </p:sp>
      <p:sp>
        <p:nvSpPr>
          <p:cNvPr id="20" name="Rectangle 20"/>
          <p:cNvSpPr/>
          <p:nvPr/>
        </p:nvSpPr>
        <p:spPr>
          <a:xfrm>
            <a:off x="4476750" y="1524000"/>
            <a:ext cx="3238500" cy="419100"/>
          </a:xfrm>
          <a:prstGeom prst="roundRect">
            <a:avLst>
              <a:gd name="adj" fmla="val 27273"/>
            </a:avLst>
          </a:prstGeom>
          <a:solidFill>
            <a:srgbClr val="45B69C"/>
          </a:solidFill>
          <a:ln>
            <a:noFill/>
          </a:ln>
        </p:spPr>
      </p:sp>
      <p:sp>
        <p:nvSpPr>
          <p:cNvPr id="21" name="Rectangle 21"/>
          <p:cNvSpPr/>
          <p:nvPr/>
        </p:nvSpPr>
        <p:spPr>
          <a:xfrm>
            <a:off x="4476750" y="1762125"/>
            <a:ext cx="3238500" cy="180975"/>
          </a:xfrm>
          <a:prstGeom prst="rect">
            <a:avLst/>
          </a:prstGeom>
          <a:solidFill>
            <a:srgbClr val="45B69C"/>
          </a:solidFill>
          <a:ln>
            <a:noFill/>
          </a:ln>
        </p:spPr>
      </p:sp>
      <p:sp>
        <p:nvSpPr>
          <p:cNvPr id="22" name="TextBox 22"/>
          <p:cNvSpPr txBox="1"/>
          <p:nvPr/>
        </p:nvSpPr>
        <p:spPr>
          <a:xfrm>
            <a:off x="5581400" y="1678781"/>
            <a:ext cx="1029200"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Asset Chunk</a:t>
            </a:r>
          </a:p>
        </p:txBody>
      </p:sp>
      <p:sp>
        <p:nvSpPr>
          <p:cNvPr id="23" name="TextBox 23"/>
          <p:cNvSpPr txBox="1"/>
          <p:nvPr/>
        </p:nvSpPr>
        <p:spPr>
          <a:xfrm>
            <a:off x="4654868" y="2133124"/>
            <a:ext cx="10998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Fields included:</a:t>
            </a:r>
          </a:p>
        </p:txBody>
      </p:sp>
      <p:sp>
        <p:nvSpPr>
          <p:cNvPr id="24" name="TextBox 24"/>
          <p:cNvSpPr txBox="1"/>
          <p:nvPr/>
        </p:nvSpPr>
        <p:spPr>
          <a:xfrm>
            <a:off x="4845368" y="2371249"/>
            <a:ext cx="17549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file_name + asset_type</a:t>
            </a:r>
          </a:p>
        </p:txBody>
      </p:sp>
      <p:sp>
        <p:nvSpPr>
          <p:cNvPr id="25" name="TextBox 25"/>
          <p:cNvSpPr txBox="1"/>
          <p:nvPr/>
        </p:nvSpPr>
        <p:spPr>
          <a:xfrm>
            <a:off x="4845368" y="2590324"/>
            <a:ext cx="171931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tags[] (AI-generated)</a:t>
            </a:r>
          </a:p>
        </p:txBody>
      </p:sp>
      <p:sp>
        <p:nvSpPr>
          <p:cNvPr id="26" name="TextBox 26"/>
          <p:cNvSpPr txBox="1"/>
          <p:nvPr/>
        </p:nvSpPr>
        <p:spPr>
          <a:xfrm>
            <a:off x="4845368" y="2809399"/>
            <a:ext cx="17264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linked product context</a:t>
            </a:r>
          </a:p>
        </p:txBody>
      </p:sp>
      <p:sp>
        <p:nvSpPr>
          <p:cNvPr id="27" name="TextBox 27"/>
          <p:cNvSpPr txBox="1"/>
          <p:nvPr/>
        </p:nvSpPr>
        <p:spPr>
          <a:xfrm>
            <a:off x="4845368" y="3028474"/>
            <a:ext cx="136331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usage_channels[]</a:t>
            </a:r>
          </a:p>
        </p:txBody>
      </p:sp>
      <p:sp>
        <p:nvSpPr>
          <p:cNvPr id="28" name="TextBox 28"/>
          <p:cNvSpPr txBox="1"/>
          <p:nvPr/>
        </p:nvSpPr>
        <p:spPr>
          <a:xfrm>
            <a:off x="4845368" y="3247549"/>
            <a:ext cx="141315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caption / alt_text</a:t>
            </a:r>
          </a:p>
        </p:txBody>
      </p:sp>
      <p:sp>
        <p:nvSpPr>
          <p:cNvPr id="29" name="Rectangle 29"/>
          <p:cNvSpPr/>
          <p:nvPr/>
        </p:nvSpPr>
        <p:spPr>
          <a:xfrm>
            <a:off x="4667250" y="3810000"/>
            <a:ext cx="762000" cy="228600"/>
          </a:xfrm>
          <a:prstGeom prst="roundRect">
            <a:avLst>
              <a:gd name="adj" fmla="val 50000"/>
            </a:avLst>
          </a:prstGeom>
          <a:solidFill>
            <a:srgbClr val="45B69C">
              <a:alpha val="10000"/>
            </a:srgbClr>
          </a:solidFill>
          <a:ln>
            <a:noFill/>
          </a:ln>
        </p:spPr>
      </p:sp>
      <p:sp>
        <p:nvSpPr>
          <p:cNvPr id="30" name="TextBox 30"/>
          <p:cNvSpPr txBox="1"/>
          <p:nvPr/>
        </p:nvSpPr>
        <p:spPr>
          <a:xfrm>
            <a:off x="4703409" y="3873341"/>
            <a:ext cx="689681" cy="167640"/>
          </a:xfrm>
          <a:prstGeom prst="rect">
            <a:avLst/>
          </a:prstGeom>
          <a:noFill/>
          <a:ln>
            <a:noFill/>
          </a:ln>
        </p:spPr>
        <p:txBody>
          <a:bodyPr wrap="none" lIns="0" tIns="0" rIns="0" bIns="0" anchor="t" anchorCtr="0">
            <a:spAutoFit/>
          </a:bodyPr>
          <a:lstStyle/>
          <a:p>
            <a:pPr algn="ctr"/>
            <a:r>
              <a:rPr lang="zh-CN" sz="825" dirty="0">
                <a:solidFill>
                  <a:srgbClr val="45B69C"/>
                </a:solidFill>
                <a:latin typeface="Arial"/>
                <a:ea typeface="Microsoft YaHei"/>
                <a:cs typeface="Arial"/>
              </a:rPr>
              <a:t>~150 tokens</a:t>
            </a:r>
          </a:p>
        </p:txBody>
      </p:sp>
      <p:sp>
        <p:nvSpPr>
          <p:cNvPr id="31" name="Rectangle 31"/>
          <p:cNvSpPr/>
          <p:nvPr/>
        </p:nvSpPr>
        <p:spPr>
          <a:xfrm>
            <a:off x="8001000" y="1524000"/>
            <a:ext cx="3619500" cy="2667000"/>
          </a:xfrm>
          <a:prstGeom prst="roundRect">
            <a:avLst>
              <a:gd name="adj" fmla="val 4286"/>
            </a:avLst>
          </a:prstGeom>
          <a:solidFill>
            <a:srgbClr val="F4F7FA"/>
          </a:solidFill>
          <a:ln w="19050">
            <a:solidFill>
              <a:srgbClr val="1A3A5C"/>
            </a:solidFill>
          </a:ln>
        </p:spPr>
      </p:sp>
      <p:sp>
        <p:nvSpPr>
          <p:cNvPr id="32" name="Rectangle 32"/>
          <p:cNvSpPr/>
          <p:nvPr/>
        </p:nvSpPr>
        <p:spPr>
          <a:xfrm>
            <a:off x="8001000" y="1524000"/>
            <a:ext cx="3619500" cy="419100"/>
          </a:xfrm>
          <a:prstGeom prst="roundRect">
            <a:avLst>
              <a:gd name="adj" fmla="val 27273"/>
            </a:avLst>
          </a:prstGeom>
          <a:solidFill>
            <a:srgbClr val="1A3A5C"/>
          </a:solidFill>
          <a:ln>
            <a:noFill/>
          </a:ln>
        </p:spPr>
      </p:sp>
      <p:sp>
        <p:nvSpPr>
          <p:cNvPr id="33" name="Rectangle 33"/>
          <p:cNvSpPr/>
          <p:nvPr/>
        </p:nvSpPr>
        <p:spPr>
          <a:xfrm>
            <a:off x="8001000" y="1762125"/>
            <a:ext cx="3619500" cy="180975"/>
          </a:xfrm>
          <a:prstGeom prst="rect">
            <a:avLst/>
          </a:prstGeom>
          <a:solidFill>
            <a:srgbClr val="1A3A5C"/>
          </a:solidFill>
          <a:ln>
            <a:noFill/>
          </a:ln>
        </p:spPr>
      </p:sp>
      <p:sp>
        <p:nvSpPr>
          <p:cNvPr id="34" name="TextBox 34"/>
          <p:cNvSpPr txBox="1"/>
          <p:nvPr/>
        </p:nvSpPr>
        <p:spPr>
          <a:xfrm>
            <a:off x="9179698" y="1678781"/>
            <a:ext cx="126210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Material Chunk</a:t>
            </a:r>
          </a:p>
        </p:txBody>
      </p:sp>
      <p:sp>
        <p:nvSpPr>
          <p:cNvPr id="35" name="TextBox 35"/>
          <p:cNvSpPr txBox="1"/>
          <p:nvPr/>
        </p:nvSpPr>
        <p:spPr>
          <a:xfrm>
            <a:off x="8179118" y="2133124"/>
            <a:ext cx="109987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Fields included:</a:t>
            </a:r>
          </a:p>
        </p:txBody>
      </p:sp>
      <p:sp>
        <p:nvSpPr>
          <p:cNvPr id="36" name="TextBox 36"/>
          <p:cNvSpPr txBox="1"/>
          <p:nvPr/>
        </p:nvSpPr>
        <p:spPr>
          <a:xfrm>
            <a:off x="8369618" y="2371249"/>
            <a:ext cx="162675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material_name + type</a:t>
            </a:r>
          </a:p>
        </p:txBody>
      </p:sp>
      <p:sp>
        <p:nvSpPr>
          <p:cNvPr id="37" name="TextBox 37"/>
          <p:cNvSpPr txBox="1"/>
          <p:nvPr/>
        </p:nvSpPr>
        <p:spPr>
          <a:xfrm>
            <a:off x="8369618" y="2590324"/>
            <a:ext cx="211802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properties (color, texture)</a:t>
            </a:r>
          </a:p>
        </p:txBody>
      </p:sp>
      <p:sp>
        <p:nvSpPr>
          <p:cNvPr id="38" name="TextBox 38"/>
          <p:cNvSpPr txBox="1"/>
          <p:nvPr/>
        </p:nvSpPr>
        <p:spPr>
          <a:xfrm>
            <a:off x="8369618" y="2809399"/>
            <a:ext cx="140603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care_instructions</a:t>
            </a:r>
          </a:p>
        </p:txBody>
      </p:sp>
      <p:sp>
        <p:nvSpPr>
          <p:cNvPr id="39" name="TextBox 39"/>
          <p:cNvSpPr txBox="1"/>
          <p:nvPr/>
        </p:nvSpPr>
        <p:spPr>
          <a:xfrm>
            <a:off x="8369618" y="3028474"/>
            <a:ext cx="202546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linked_products[] (names)</a:t>
            </a:r>
          </a:p>
        </p:txBody>
      </p:sp>
      <p:sp>
        <p:nvSpPr>
          <p:cNvPr id="40" name="TextBox 40"/>
          <p:cNvSpPr txBox="1"/>
          <p:nvPr/>
        </p:nvSpPr>
        <p:spPr>
          <a:xfrm>
            <a:off x="8369618" y="3247549"/>
            <a:ext cx="1263634"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supplier + origin</a:t>
            </a:r>
          </a:p>
        </p:txBody>
      </p:sp>
      <p:sp>
        <p:nvSpPr>
          <p:cNvPr id="41" name="Rectangle 41"/>
          <p:cNvSpPr/>
          <p:nvPr/>
        </p:nvSpPr>
        <p:spPr>
          <a:xfrm>
            <a:off x="8191500" y="3810000"/>
            <a:ext cx="762000" cy="228600"/>
          </a:xfrm>
          <a:prstGeom prst="roundRect">
            <a:avLst>
              <a:gd name="adj" fmla="val 50000"/>
            </a:avLst>
          </a:prstGeom>
          <a:solidFill>
            <a:srgbClr val="1A3A5C">
              <a:alpha val="10000"/>
            </a:srgbClr>
          </a:solidFill>
          <a:ln>
            <a:noFill/>
          </a:ln>
        </p:spPr>
      </p:sp>
      <p:sp>
        <p:nvSpPr>
          <p:cNvPr id="42" name="TextBox 42"/>
          <p:cNvSpPr txBox="1"/>
          <p:nvPr/>
        </p:nvSpPr>
        <p:spPr>
          <a:xfrm>
            <a:off x="8212598" y="3873341"/>
            <a:ext cx="719804" cy="167640"/>
          </a:xfrm>
          <a:prstGeom prst="rect">
            <a:avLst/>
          </a:prstGeom>
          <a:noFill/>
          <a:ln>
            <a:noFill/>
          </a:ln>
        </p:spPr>
        <p:txBody>
          <a:bodyPr wrap="none" lIns="0" tIns="0" rIns="0" bIns="0" anchor="t" anchorCtr="0">
            <a:spAutoFit/>
          </a:bodyPr>
          <a:lstStyle/>
          <a:p>
            <a:pPr algn="ctr"/>
            <a:r>
              <a:rPr lang="zh-CN" sz="825" dirty="0">
                <a:solidFill>
                  <a:srgbClr val="1A3A5C"/>
                </a:solidFill>
                <a:latin typeface="Arial"/>
                <a:ea typeface="Microsoft YaHei"/>
                <a:cs typeface="Arial"/>
              </a:rPr>
              <a:t>~200 tokens</a:t>
            </a:r>
          </a:p>
        </p:txBody>
      </p:sp>
      <p:sp>
        <p:nvSpPr>
          <p:cNvPr id="43" name="Rectangle 43"/>
          <p:cNvSpPr/>
          <p:nvPr/>
        </p:nvSpPr>
        <p:spPr>
          <a:xfrm>
            <a:off x="571500" y="4476750"/>
            <a:ext cx="11049000" cy="1143000"/>
          </a:xfrm>
          <a:prstGeom prst="roundRect">
            <a:avLst>
              <a:gd name="adj" fmla="val 10000"/>
            </a:avLst>
          </a:prstGeom>
          <a:solidFill>
            <a:srgbClr val="F4F7FA"/>
          </a:solidFill>
          <a:ln>
            <a:noFill/>
          </a:ln>
        </p:spPr>
      </p:sp>
      <p:sp>
        <p:nvSpPr>
          <p:cNvPr id="44" name="TextBox 44"/>
          <p:cNvSpPr txBox="1"/>
          <p:nvPr/>
        </p:nvSpPr>
        <p:spPr>
          <a:xfrm>
            <a:off x="5188248" y="4680585"/>
            <a:ext cx="1815503"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Arial"/>
                <a:ea typeface="Microsoft YaHei"/>
                <a:cs typeface="Arial"/>
              </a:rPr>
              <a:t>Nguyên tắc Chunking</a:t>
            </a:r>
          </a:p>
        </p:txBody>
      </p:sp>
      <p:sp>
        <p:nvSpPr>
          <p:cNvPr id="45" name="TextBox 45"/>
          <p:cNvSpPr txBox="1"/>
          <p:nvPr/>
        </p:nvSpPr>
        <p:spPr>
          <a:xfrm>
            <a:off x="1702118" y="5038249"/>
            <a:ext cx="2253305"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1. Mỗi entity = 1 chunk riêng biệt</a:t>
            </a:r>
          </a:p>
        </p:txBody>
      </p:sp>
      <p:sp>
        <p:nvSpPr>
          <p:cNvPr id="46" name="TextBox 46"/>
          <p:cNvSpPr txBox="1"/>
          <p:nvPr/>
        </p:nvSpPr>
        <p:spPr>
          <a:xfrm>
            <a:off x="1702118" y="5276374"/>
            <a:ext cx="4318087"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2. Include context: product chunk chứa range + material name</a:t>
            </a:r>
          </a:p>
        </p:txBody>
      </p:sp>
      <p:sp>
        <p:nvSpPr>
          <p:cNvPr id="47" name="TextBox 47"/>
          <p:cNvSpPr txBox="1"/>
          <p:nvPr/>
        </p:nvSpPr>
        <p:spPr>
          <a:xfrm>
            <a:off x="6083618" y="5038249"/>
            <a:ext cx="403329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3. Metadata lưu kèm: entity_id, entity_type, updated_at</a:t>
            </a:r>
          </a:p>
        </p:txBody>
      </p:sp>
      <p:sp>
        <p:nvSpPr>
          <p:cNvPr id="48" name="TextBox 48"/>
          <p:cNvSpPr txBox="1"/>
          <p:nvPr/>
        </p:nvSpPr>
        <p:spPr>
          <a:xfrm>
            <a:off x="6083618" y="5276374"/>
            <a:ext cx="357761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4. Re-chunk khi source data thay đổi (incremental)</a:t>
            </a:r>
          </a:p>
        </p:txBody>
      </p:sp>
      <p:sp>
        <p:nvSpPr>
          <p:cNvPr id="49" name="Rectangle 49"/>
          <p:cNvSpPr/>
          <p:nvPr/>
        </p:nvSpPr>
        <p:spPr>
          <a:xfrm>
            <a:off x="571500" y="5905500"/>
            <a:ext cx="11049000" cy="476250"/>
          </a:xfrm>
          <a:prstGeom prst="roundRect">
            <a:avLst>
              <a:gd name="adj" fmla="val 16000"/>
            </a:avLst>
          </a:prstGeom>
          <a:solidFill>
            <a:srgbClr val="FFFFFF"/>
          </a:solidFill>
          <a:ln w="9525">
            <a:solidFill>
              <a:srgbClr val="45B69C"/>
            </a:solidFill>
          </a:ln>
        </p:spPr>
      </p:sp>
      <p:sp>
        <p:nvSpPr>
          <p:cNvPr id="50" name="TextBox 50"/>
          <p:cNvSpPr txBox="1"/>
          <p:nvPr/>
        </p:nvSpPr>
        <p:spPr>
          <a:xfrm>
            <a:off x="2636068" y="6077902"/>
            <a:ext cx="6919865" cy="213360"/>
          </a:xfrm>
          <a:prstGeom prst="rect">
            <a:avLst/>
          </a:prstGeom>
          <a:noFill/>
          <a:ln>
            <a:noFill/>
          </a:ln>
        </p:spPr>
        <p:txBody>
          <a:bodyPr wrap="none" lIns="0" tIns="0" rIns="0" bIns="0" anchor="t" anchorCtr="0">
            <a:spAutoFit/>
          </a:bodyPr>
          <a:lstStyle/>
          <a:p>
            <a:pPr algn="ctr"/>
            <a:r>
              <a:rPr lang="zh-CN" sz="1050" dirty="0">
                <a:solidFill>
                  <a:srgbClr val="45B69C"/>
                </a:solidFill>
                <a:latin typeface="Arial"/>
                <a:ea typeface="Microsoft YaHei"/>
                <a:cs typeface="Arial"/>
              </a:rPr>
              <a:t>Chunk size tối ưu: 200-500 tokens — đủ context cho embedding model, không quá dài gây noise</a:t>
            </a:r>
          </a:p>
        </p:txBody>
      </p:sp>
      <p:sp>
        <p:nvSpPr>
          <p:cNvPr id="51" name="TextBox 51"/>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4606328"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Lựa chọn Embedding Model</a:t>
            </a:r>
          </a:p>
        </p:txBody>
      </p:sp>
      <p:sp>
        <p:nvSpPr>
          <p:cNvPr id="6" name="Rectangle 6"/>
          <p:cNvSpPr/>
          <p:nvPr/>
        </p:nvSpPr>
        <p:spPr>
          <a:xfrm>
            <a:off x="571500" y="1524000"/>
            <a:ext cx="11049000" cy="419100"/>
          </a:xfrm>
          <a:prstGeom prst="rect">
            <a:avLst/>
          </a:prstGeom>
          <a:solidFill>
            <a:srgbClr val="1A3A5C"/>
          </a:solidFill>
          <a:ln>
            <a:noFill/>
          </a:ln>
        </p:spPr>
      </p:sp>
      <p:sp>
        <p:nvSpPr>
          <p:cNvPr id="7" name="TextBox 7"/>
          <p:cNvSpPr txBox="1"/>
          <p:nvPr/>
        </p:nvSpPr>
        <p:spPr>
          <a:xfrm>
            <a:off x="1690767" y="1675924"/>
            <a:ext cx="42846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Model</a:t>
            </a:r>
          </a:p>
        </p:txBody>
      </p:sp>
      <p:sp>
        <p:nvSpPr>
          <p:cNvPr id="8" name="TextBox 8"/>
          <p:cNvSpPr txBox="1"/>
          <p:nvPr/>
        </p:nvSpPr>
        <p:spPr>
          <a:xfrm>
            <a:off x="3218369" y="1675924"/>
            <a:ext cx="80226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Dimensions</a:t>
            </a:r>
          </a:p>
        </p:txBody>
      </p:sp>
      <p:sp>
        <p:nvSpPr>
          <p:cNvPr id="9" name="TextBox 9"/>
          <p:cNvSpPr txBox="1"/>
          <p:nvPr/>
        </p:nvSpPr>
        <p:spPr>
          <a:xfrm>
            <a:off x="4525703" y="1675924"/>
            <a:ext cx="85459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Multilingual</a:t>
            </a:r>
          </a:p>
        </p:txBody>
      </p:sp>
      <p:sp>
        <p:nvSpPr>
          <p:cNvPr id="10" name="TextBox 10"/>
          <p:cNvSpPr txBox="1"/>
          <p:nvPr/>
        </p:nvSpPr>
        <p:spPr>
          <a:xfrm>
            <a:off x="5771293" y="1675924"/>
            <a:ext cx="122091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Cost / 1M tokens</a:t>
            </a:r>
          </a:p>
        </p:txBody>
      </p:sp>
      <p:sp>
        <p:nvSpPr>
          <p:cNvPr id="11" name="TextBox 11"/>
          <p:cNvSpPr txBox="1"/>
          <p:nvPr/>
        </p:nvSpPr>
        <p:spPr>
          <a:xfrm>
            <a:off x="7581179" y="1675924"/>
            <a:ext cx="83964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Max Tokens</a:t>
            </a:r>
          </a:p>
        </p:txBody>
      </p:sp>
      <p:sp>
        <p:nvSpPr>
          <p:cNvPr id="12" name="TextBox 12"/>
          <p:cNvSpPr txBox="1"/>
          <p:nvPr/>
        </p:nvSpPr>
        <p:spPr>
          <a:xfrm>
            <a:off x="9392866" y="1675924"/>
            <a:ext cx="64526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Best For</a:t>
            </a:r>
          </a:p>
        </p:txBody>
      </p:sp>
      <p:sp>
        <p:nvSpPr>
          <p:cNvPr id="13" name="Rectangle 13"/>
          <p:cNvSpPr/>
          <p:nvPr/>
        </p:nvSpPr>
        <p:spPr>
          <a:xfrm>
            <a:off x="571500" y="1943100"/>
            <a:ext cx="11049000" cy="533400"/>
          </a:xfrm>
          <a:prstGeom prst="rect">
            <a:avLst/>
          </a:prstGeom>
          <a:solidFill>
            <a:srgbClr val="45B69C">
              <a:alpha val="8000"/>
            </a:srgbClr>
          </a:solidFill>
          <a:ln>
            <a:noFill/>
          </a:ln>
        </p:spPr>
      </p:sp>
      <p:sp>
        <p:nvSpPr>
          <p:cNvPr id="14" name="Rectangle 14"/>
          <p:cNvSpPr/>
          <p:nvPr/>
        </p:nvSpPr>
        <p:spPr>
          <a:xfrm>
            <a:off x="571500" y="1943100"/>
            <a:ext cx="38100" cy="533400"/>
          </a:xfrm>
          <a:prstGeom prst="rect">
            <a:avLst/>
          </a:prstGeom>
          <a:solidFill>
            <a:srgbClr val="45B69C"/>
          </a:solidFill>
          <a:ln>
            <a:noFill/>
          </a:ln>
        </p:spPr>
      </p:sp>
      <p:sp>
        <p:nvSpPr>
          <p:cNvPr id="15" name="TextBox 15"/>
          <p:cNvSpPr txBox="1"/>
          <p:nvPr/>
        </p:nvSpPr>
        <p:spPr>
          <a:xfrm>
            <a:off x="1649650" y="2085499"/>
            <a:ext cx="510701"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OpenAI</a:t>
            </a:r>
          </a:p>
        </p:txBody>
      </p:sp>
      <p:sp>
        <p:nvSpPr>
          <p:cNvPr id="16" name="TextBox 16"/>
          <p:cNvSpPr txBox="1"/>
          <p:nvPr/>
        </p:nvSpPr>
        <p:spPr>
          <a:xfrm>
            <a:off x="1118045" y="2265045"/>
            <a:ext cx="1573911"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text-embedding-3-large</a:t>
            </a:r>
          </a:p>
        </p:txBody>
      </p:sp>
      <p:sp>
        <p:nvSpPr>
          <p:cNvPr id="17" name="TextBox 17"/>
          <p:cNvSpPr txBox="1"/>
          <p:nvPr/>
        </p:nvSpPr>
        <p:spPr>
          <a:xfrm>
            <a:off x="3450479" y="2152174"/>
            <a:ext cx="33804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3072</a:t>
            </a:r>
          </a:p>
        </p:txBody>
      </p:sp>
      <p:sp>
        <p:nvSpPr>
          <p:cNvPr id="18" name="TextBox 18"/>
          <p:cNvSpPr txBox="1"/>
          <p:nvPr/>
        </p:nvSpPr>
        <p:spPr>
          <a:xfrm>
            <a:off x="4563261" y="2152174"/>
            <a:ext cx="779478"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Arial"/>
                <a:ea typeface="Microsoft YaHei"/>
                <a:cs typeface="Arial"/>
              </a:rPr>
              <a:t>✓ Excellent</a:t>
            </a:r>
          </a:p>
        </p:txBody>
      </p:sp>
      <p:sp>
        <p:nvSpPr>
          <p:cNvPr id="19" name="TextBox 19"/>
          <p:cNvSpPr txBox="1"/>
          <p:nvPr/>
        </p:nvSpPr>
        <p:spPr>
          <a:xfrm>
            <a:off x="6191369" y="2152174"/>
            <a:ext cx="3807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$0.13</a:t>
            </a:r>
          </a:p>
        </p:txBody>
      </p:sp>
      <p:sp>
        <p:nvSpPr>
          <p:cNvPr id="20" name="TextBox 20"/>
          <p:cNvSpPr txBox="1"/>
          <p:nvPr/>
        </p:nvSpPr>
        <p:spPr>
          <a:xfrm>
            <a:off x="7828419" y="2152174"/>
            <a:ext cx="3451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8,191</a:t>
            </a:r>
          </a:p>
        </p:txBody>
      </p:sp>
      <p:sp>
        <p:nvSpPr>
          <p:cNvPr id="21" name="TextBox 21"/>
          <p:cNvSpPr txBox="1"/>
          <p:nvPr/>
        </p:nvSpPr>
        <p:spPr>
          <a:xfrm>
            <a:off x="9151322" y="2152174"/>
            <a:ext cx="112835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General purpose</a:t>
            </a:r>
          </a:p>
        </p:txBody>
      </p:sp>
      <p:sp>
        <p:nvSpPr>
          <p:cNvPr id="22" name="Rectangle 22"/>
          <p:cNvSpPr/>
          <p:nvPr/>
        </p:nvSpPr>
        <p:spPr>
          <a:xfrm>
            <a:off x="571500" y="2476500"/>
            <a:ext cx="11049000" cy="533400"/>
          </a:xfrm>
          <a:prstGeom prst="rect">
            <a:avLst/>
          </a:prstGeom>
          <a:solidFill>
            <a:srgbClr val="FFFFFF"/>
          </a:solidFill>
          <a:ln>
            <a:noFill/>
          </a:ln>
        </p:spPr>
      </p:sp>
      <p:sp>
        <p:nvSpPr>
          <p:cNvPr id="23" name="TextBox 23"/>
          <p:cNvSpPr txBox="1"/>
          <p:nvPr/>
        </p:nvSpPr>
        <p:spPr>
          <a:xfrm>
            <a:off x="1645912" y="2618899"/>
            <a:ext cx="518177"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Cohere</a:t>
            </a:r>
          </a:p>
        </p:txBody>
      </p:sp>
      <p:sp>
        <p:nvSpPr>
          <p:cNvPr id="24" name="TextBox 24"/>
          <p:cNvSpPr txBox="1"/>
          <p:nvPr/>
        </p:nvSpPr>
        <p:spPr>
          <a:xfrm>
            <a:off x="1591246" y="2798445"/>
            <a:ext cx="627507"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embed-v3</a:t>
            </a:r>
          </a:p>
        </p:txBody>
      </p:sp>
      <p:sp>
        <p:nvSpPr>
          <p:cNvPr id="25" name="TextBox 25"/>
          <p:cNvSpPr txBox="1"/>
          <p:nvPr/>
        </p:nvSpPr>
        <p:spPr>
          <a:xfrm>
            <a:off x="3468279" y="2685574"/>
            <a:ext cx="302443"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1024</a:t>
            </a:r>
          </a:p>
        </p:txBody>
      </p:sp>
      <p:sp>
        <p:nvSpPr>
          <p:cNvPr id="26" name="TextBox 26"/>
          <p:cNvSpPr txBox="1"/>
          <p:nvPr/>
        </p:nvSpPr>
        <p:spPr>
          <a:xfrm>
            <a:off x="4541901" y="2685574"/>
            <a:ext cx="822198"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Arial"/>
                <a:ea typeface="Microsoft YaHei"/>
                <a:cs typeface="Arial"/>
              </a:rPr>
              <a:t>✓ 100+ langs</a:t>
            </a:r>
          </a:p>
        </p:txBody>
      </p:sp>
      <p:sp>
        <p:nvSpPr>
          <p:cNvPr id="27" name="TextBox 27"/>
          <p:cNvSpPr txBox="1"/>
          <p:nvPr/>
        </p:nvSpPr>
        <p:spPr>
          <a:xfrm>
            <a:off x="6191369" y="2685574"/>
            <a:ext cx="3807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$0.10</a:t>
            </a:r>
          </a:p>
        </p:txBody>
      </p:sp>
      <p:sp>
        <p:nvSpPr>
          <p:cNvPr id="28" name="TextBox 28"/>
          <p:cNvSpPr txBox="1"/>
          <p:nvPr/>
        </p:nvSpPr>
        <p:spPr>
          <a:xfrm>
            <a:off x="7888938" y="2685574"/>
            <a:ext cx="224123"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512</a:t>
            </a:r>
          </a:p>
        </p:txBody>
      </p:sp>
      <p:sp>
        <p:nvSpPr>
          <p:cNvPr id="29" name="TextBox 29"/>
          <p:cNvSpPr txBox="1"/>
          <p:nvPr/>
        </p:nvSpPr>
        <p:spPr>
          <a:xfrm>
            <a:off x="9268801" y="2685574"/>
            <a:ext cx="893397"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Search + RAG</a:t>
            </a:r>
          </a:p>
        </p:txBody>
      </p:sp>
      <p:sp>
        <p:nvSpPr>
          <p:cNvPr id="30" name="Rectangle 30"/>
          <p:cNvSpPr/>
          <p:nvPr/>
        </p:nvSpPr>
        <p:spPr>
          <a:xfrm>
            <a:off x="571500" y="3009900"/>
            <a:ext cx="11049000" cy="533400"/>
          </a:xfrm>
          <a:prstGeom prst="rect">
            <a:avLst/>
          </a:prstGeom>
          <a:solidFill>
            <a:srgbClr val="F4F7FA"/>
          </a:solidFill>
          <a:ln>
            <a:noFill/>
          </a:ln>
        </p:spPr>
      </p:sp>
      <p:sp>
        <p:nvSpPr>
          <p:cNvPr id="31" name="TextBox 31"/>
          <p:cNvSpPr txBox="1"/>
          <p:nvPr/>
        </p:nvSpPr>
        <p:spPr>
          <a:xfrm>
            <a:off x="1645912" y="3152299"/>
            <a:ext cx="518177"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Voyage</a:t>
            </a:r>
          </a:p>
        </p:txBody>
      </p:sp>
      <p:sp>
        <p:nvSpPr>
          <p:cNvPr id="32" name="TextBox 32"/>
          <p:cNvSpPr txBox="1"/>
          <p:nvPr/>
        </p:nvSpPr>
        <p:spPr>
          <a:xfrm>
            <a:off x="1604391" y="3331845"/>
            <a:ext cx="601218"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voyage-3</a:t>
            </a:r>
          </a:p>
        </p:txBody>
      </p:sp>
      <p:sp>
        <p:nvSpPr>
          <p:cNvPr id="33" name="TextBox 33"/>
          <p:cNvSpPr txBox="1"/>
          <p:nvPr/>
        </p:nvSpPr>
        <p:spPr>
          <a:xfrm>
            <a:off x="3468279" y="3218974"/>
            <a:ext cx="302443"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1024</a:t>
            </a:r>
          </a:p>
        </p:txBody>
      </p:sp>
      <p:sp>
        <p:nvSpPr>
          <p:cNvPr id="34" name="TextBox 34"/>
          <p:cNvSpPr txBox="1"/>
          <p:nvPr/>
        </p:nvSpPr>
        <p:spPr>
          <a:xfrm>
            <a:off x="4723459" y="3218974"/>
            <a:ext cx="459081"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Arial"/>
                <a:ea typeface="Microsoft YaHei"/>
                <a:cs typeface="Arial"/>
              </a:rPr>
              <a:t>✓ Good</a:t>
            </a:r>
          </a:p>
        </p:txBody>
      </p:sp>
      <p:sp>
        <p:nvSpPr>
          <p:cNvPr id="35" name="TextBox 35"/>
          <p:cNvSpPr txBox="1"/>
          <p:nvPr/>
        </p:nvSpPr>
        <p:spPr>
          <a:xfrm>
            <a:off x="6173569" y="3218974"/>
            <a:ext cx="4163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$0.06</a:t>
            </a:r>
          </a:p>
        </p:txBody>
      </p:sp>
      <p:sp>
        <p:nvSpPr>
          <p:cNvPr id="36" name="TextBox 36"/>
          <p:cNvSpPr txBox="1"/>
          <p:nvPr/>
        </p:nvSpPr>
        <p:spPr>
          <a:xfrm>
            <a:off x="7753660" y="3218974"/>
            <a:ext cx="494681"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32,000</a:t>
            </a:r>
          </a:p>
        </p:txBody>
      </p:sp>
      <p:sp>
        <p:nvSpPr>
          <p:cNvPr id="37" name="TextBox 37"/>
          <p:cNvSpPr txBox="1"/>
          <p:nvPr/>
        </p:nvSpPr>
        <p:spPr>
          <a:xfrm>
            <a:off x="9158442" y="3218974"/>
            <a:ext cx="111411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Long documents</a:t>
            </a:r>
          </a:p>
        </p:txBody>
      </p:sp>
      <p:sp>
        <p:nvSpPr>
          <p:cNvPr id="38" name="Rectangle 38"/>
          <p:cNvSpPr/>
          <p:nvPr/>
        </p:nvSpPr>
        <p:spPr>
          <a:xfrm>
            <a:off x="571500" y="3543300"/>
            <a:ext cx="11049000" cy="533400"/>
          </a:xfrm>
          <a:prstGeom prst="rect">
            <a:avLst/>
          </a:prstGeom>
          <a:solidFill>
            <a:srgbClr val="FFFFFF"/>
          </a:solidFill>
          <a:ln>
            <a:noFill/>
          </a:ln>
        </p:spPr>
      </p:sp>
      <p:sp>
        <p:nvSpPr>
          <p:cNvPr id="39" name="TextBox 39"/>
          <p:cNvSpPr txBox="1"/>
          <p:nvPr/>
        </p:nvSpPr>
        <p:spPr>
          <a:xfrm>
            <a:off x="1152500" y="3685699"/>
            <a:ext cx="1505000"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Local (Open Source)</a:t>
            </a:r>
          </a:p>
        </p:txBody>
      </p:sp>
      <p:sp>
        <p:nvSpPr>
          <p:cNvPr id="40" name="TextBox 40"/>
          <p:cNvSpPr txBox="1"/>
          <p:nvPr/>
        </p:nvSpPr>
        <p:spPr>
          <a:xfrm>
            <a:off x="1114758" y="3865245"/>
            <a:ext cx="1580483"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bge-m3 / multilingual-e5</a:t>
            </a:r>
          </a:p>
        </p:txBody>
      </p:sp>
      <p:sp>
        <p:nvSpPr>
          <p:cNvPr id="41" name="TextBox 41"/>
          <p:cNvSpPr txBox="1"/>
          <p:nvPr/>
        </p:nvSpPr>
        <p:spPr>
          <a:xfrm>
            <a:off x="3311640" y="3752374"/>
            <a:ext cx="615720"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768-1024</a:t>
            </a:r>
          </a:p>
        </p:txBody>
      </p:sp>
      <p:sp>
        <p:nvSpPr>
          <p:cNvPr id="42" name="TextBox 42"/>
          <p:cNvSpPr txBox="1"/>
          <p:nvPr/>
        </p:nvSpPr>
        <p:spPr>
          <a:xfrm>
            <a:off x="4723459" y="3752374"/>
            <a:ext cx="459081" cy="198120"/>
          </a:xfrm>
          <a:prstGeom prst="rect">
            <a:avLst/>
          </a:prstGeom>
          <a:noFill/>
          <a:ln>
            <a:noFill/>
          </a:ln>
        </p:spPr>
        <p:txBody>
          <a:bodyPr wrap="none" lIns="0" tIns="0" rIns="0" bIns="0" anchor="t" anchorCtr="0">
            <a:spAutoFit/>
          </a:bodyPr>
          <a:lstStyle/>
          <a:p>
            <a:pPr algn="ctr"/>
            <a:r>
              <a:rPr lang="zh-CN" sz="975" dirty="0">
                <a:solidFill>
                  <a:srgbClr val="38A169"/>
                </a:solidFill>
                <a:latin typeface="Arial"/>
                <a:ea typeface="Microsoft YaHei"/>
                <a:cs typeface="Arial"/>
              </a:rPr>
              <a:t>✓ Good</a:t>
            </a:r>
          </a:p>
        </p:txBody>
      </p:sp>
      <p:sp>
        <p:nvSpPr>
          <p:cNvPr id="43" name="TextBox 43"/>
          <p:cNvSpPr txBox="1"/>
          <p:nvPr/>
        </p:nvSpPr>
        <p:spPr>
          <a:xfrm>
            <a:off x="5817572" y="3752374"/>
            <a:ext cx="1128355"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Free (GPU cost)</a:t>
            </a:r>
          </a:p>
        </p:txBody>
      </p:sp>
      <p:sp>
        <p:nvSpPr>
          <p:cNvPr id="44" name="TextBox 44"/>
          <p:cNvSpPr txBox="1"/>
          <p:nvPr/>
        </p:nvSpPr>
        <p:spPr>
          <a:xfrm>
            <a:off x="7810619" y="3752374"/>
            <a:ext cx="380762"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8,192</a:t>
            </a:r>
          </a:p>
        </p:txBody>
      </p:sp>
      <p:sp>
        <p:nvSpPr>
          <p:cNvPr id="45" name="TextBox 45"/>
          <p:cNvSpPr txBox="1"/>
          <p:nvPr/>
        </p:nvSpPr>
        <p:spPr>
          <a:xfrm>
            <a:off x="9062323" y="3752374"/>
            <a:ext cx="1306354" cy="198120"/>
          </a:xfrm>
          <a:prstGeom prst="rect">
            <a:avLst/>
          </a:prstGeom>
          <a:noFill/>
          <a:ln>
            <a:noFill/>
          </a:ln>
        </p:spPr>
        <p:txBody>
          <a:bodyPr wrap="none" lIns="0" tIns="0" rIns="0" bIns="0" anchor="t" anchorCtr="0">
            <a:spAutoFit/>
          </a:bodyPr>
          <a:lstStyle/>
          <a:p>
            <a:pPr algn="ctr"/>
            <a:r>
              <a:rPr lang="zh-CN" sz="975" dirty="0">
                <a:solidFill>
                  <a:srgbClr val="2D3748"/>
                </a:solidFill>
                <a:latin typeface="Arial"/>
                <a:ea typeface="Microsoft YaHei"/>
                <a:cs typeface="Arial"/>
              </a:rPr>
              <a:t>Privacy / On-prem</a:t>
            </a:r>
          </a:p>
        </p:txBody>
      </p:sp>
      <p:sp>
        <p:nvSpPr>
          <p:cNvPr id="46" name="Rectangle 46"/>
          <p:cNvSpPr/>
          <p:nvPr/>
        </p:nvSpPr>
        <p:spPr>
          <a:xfrm>
            <a:off x="571500" y="4381500"/>
            <a:ext cx="11049000" cy="1238250"/>
          </a:xfrm>
          <a:prstGeom prst="roundRect">
            <a:avLst>
              <a:gd name="adj" fmla="val 9231"/>
            </a:avLst>
          </a:prstGeom>
          <a:solidFill>
            <a:srgbClr val="F4F7FA"/>
          </a:solidFill>
          <a:ln w="14288">
            <a:solidFill>
              <a:srgbClr val="45B69C"/>
            </a:solidFill>
          </a:ln>
        </p:spPr>
      </p:sp>
      <p:sp>
        <p:nvSpPr>
          <p:cNvPr id="47" name="TextBox 47"/>
          <p:cNvSpPr txBox="1"/>
          <p:nvPr/>
        </p:nvSpPr>
        <p:spPr>
          <a:xfrm>
            <a:off x="842010" y="4585335"/>
            <a:ext cx="5523567" cy="243840"/>
          </a:xfrm>
          <a:prstGeom prst="rect">
            <a:avLst/>
          </a:prstGeom>
          <a:noFill/>
          <a:ln>
            <a:noFill/>
          </a:ln>
        </p:spPr>
        <p:txBody>
          <a:bodyPr wrap="none" lIns="0" tIns="0" rIns="0" bIns="0" anchor="t" anchorCtr="0">
            <a:spAutoFit/>
          </a:bodyPr>
          <a:lstStyle/>
          <a:p>
            <a:pPr algn="l"/>
            <a:r>
              <a:rPr lang="zh-CN" sz="1200" b="1" dirty="0">
                <a:solidFill>
                  <a:srgbClr val="45B69C"/>
                </a:solidFill>
                <a:latin typeface="Arial"/>
                <a:ea typeface="Microsoft YaHei"/>
                <a:cs typeface="Arial"/>
              </a:rPr>
              <a:t>★ Recommendation: text-embedding-3-large (dimmed to 1536)</a:t>
            </a:r>
          </a:p>
        </p:txBody>
      </p:sp>
      <p:sp>
        <p:nvSpPr>
          <p:cNvPr id="48" name="TextBox 48"/>
          <p:cNvSpPr txBox="1"/>
          <p:nvPr/>
        </p:nvSpPr>
        <p:spPr>
          <a:xfrm>
            <a:off x="843915" y="4887278"/>
            <a:ext cx="593074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 Giảm dimensions từ 3072 → 1536 để tiết kiệm storage mà vẫn giữ 99.1% accuracy</a:t>
            </a:r>
          </a:p>
        </p:txBody>
      </p:sp>
      <p:sp>
        <p:nvSpPr>
          <p:cNvPr id="49" name="TextBox 49"/>
          <p:cNvSpPr txBox="1"/>
          <p:nvPr/>
        </p:nvSpPr>
        <p:spPr>
          <a:xfrm>
            <a:off x="843915" y="5125402"/>
            <a:ext cx="5002959"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 Vietnamese + English multilingual: quan trọng cho PIM đa ngôn ngữ</a:t>
            </a:r>
          </a:p>
        </p:txBody>
      </p:sp>
      <p:sp>
        <p:nvSpPr>
          <p:cNvPr id="50" name="TextBox 50"/>
          <p:cNvSpPr txBox="1"/>
          <p:nvPr/>
        </p:nvSpPr>
        <p:spPr>
          <a:xfrm>
            <a:off x="843915" y="5363528"/>
            <a:ext cx="520231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 Matryoshka representation: linh hoạt chọn dimension theo use case</a:t>
            </a:r>
          </a:p>
        </p:txBody>
      </p:sp>
      <p:sp>
        <p:nvSpPr>
          <p:cNvPr id="51" name="Rectangle 51"/>
          <p:cNvSpPr/>
          <p:nvPr/>
        </p:nvSpPr>
        <p:spPr>
          <a:xfrm>
            <a:off x="571500" y="5905500"/>
            <a:ext cx="11049000" cy="476250"/>
          </a:xfrm>
          <a:prstGeom prst="roundRect">
            <a:avLst>
              <a:gd name="adj" fmla="val 16000"/>
            </a:avLst>
          </a:prstGeom>
          <a:solidFill>
            <a:srgbClr val="FFFFFF"/>
          </a:solidFill>
          <a:ln w="9525">
            <a:solidFill>
              <a:srgbClr val="E2E8F0"/>
            </a:solidFill>
          </a:ln>
        </p:spPr>
      </p:sp>
      <p:sp>
        <p:nvSpPr>
          <p:cNvPr id="52" name="TextBox 52"/>
          <p:cNvSpPr txBox="1"/>
          <p:nvPr/>
        </p:nvSpPr>
        <p:spPr>
          <a:xfrm>
            <a:off x="2463546" y="6077902"/>
            <a:ext cx="7264908" cy="213360"/>
          </a:xfrm>
          <a:prstGeom prst="rect">
            <a:avLst/>
          </a:prstGeom>
          <a:noFill/>
          <a:ln>
            <a:noFill/>
          </a:ln>
        </p:spPr>
        <p:txBody>
          <a:bodyPr wrap="none" lIns="0" tIns="0" rIns="0" bIns="0" anchor="t" anchorCtr="0">
            <a:spAutoFit/>
          </a:bodyPr>
          <a:lstStyle/>
          <a:p>
            <a:pPr algn="ctr"/>
            <a:r>
              <a:rPr lang="zh-CN" sz="1050" dirty="0">
                <a:solidFill>
                  <a:srgbClr val="718096"/>
                </a:solidFill>
                <a:latin typeface="Arial"/>
                <a:ea typeface="Microsoft YaHei"/>
                <a:cs typeface="Arial"/>
              </a:rPr>
              <a:t>Fallback strategy: nếu OpenAI không khả dụng → switch sang local bge-m3 (dimension-compatible)</a:t>
            </a:r>
          </a:p>
        </p:txBody>
      </p:sp>
      <p:sp>
        <p:nvSpPr>
          <p:cNvPr id="53" name="TextBox 5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6170524"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Tích hợp vào PIM Platform hiện tại</a:t>
            </a:r>
          </a:p>
        </p:txBody>
      </p:sp>
      <p:sp>
        <p:nvSpPr>
          <p:cNvPr id="6" name="TextBox 6"/>
          <p:cNvSpPr txBox="1"/>
          <p:nvPr/>
        </p:nvSpPr>
        <p:spPr>
          <a:xfrm>
            <a:off x="556260" y="1442085"/>
            <a:ext cx="2413578" cy="243840"/>
          </a:xfrm>
          <a:prstGeom prst="rect">
            <a:avLst/>
          </a:prstGeom>
          <a:noFill/>
          <a:ln>
            <a:noFill/>
          </a:ln>
        </p:spPr>
        <p:txBody>
          <a:bodyPr wrap="none" lIns="0" tIns="0" rIns="0" bIns="0" anchor="t" anchorCtr="0">
            <a:spAutoFit/>
          </a:bodyPr>
          <a:lstStyle/>
          <a:p>
            <a:pPr algn="l"/>
            <a:r>
              <a:rPr lang="zh-CN" sz="1200" b="1" dirty="0">
                <a:solidFill>
                  <a:srgbClr val="2E86AB"/>
                </a:solidFill>
                <a:latin typeface="Arial"/>
                <a:ea typeface="Microsoft YaHei"/>
                <a:cs typeface="Arial"/>
              </a:rPr>
              <a:t>Indexing Flow (Write Path)</a:t>
            </a:r>
          </a:p>
        </p:txBody>
      </p:sp>
      <p:sp>
        <p:nvSpPr>
          <p:cNvPr id="7" name="Rectangle 7"/>
          <p:cNvSpPr/>
          <p:nvPr/>
        </p:nvSpPr>
        <p:spPr>
          <a:xfrm>
            <a:off x="571500" y="1762125"/>
            <a:ext cx="1381125" cy="619125"/>
          </a:xfrm>
          <a:prstGeom prst="roundRect">
            <a:avLst>
              <a:gd name="adj" fmla="val 12308"/>
            </a:avLst>
          </a:prstGeom>
          <a:solidFill>
            <a:srgbClr val="1A3A5C"/>
          </a:solidFill>
          <a:ln>
            <a:noFill/>
          </a:ln>
        </p:spPr>
      </p:sp>
      <p:sp>
        <p:nvSpPr>
          <p:cNvPr id="8" name="TextBox 8"/>
          <p:cNvSpPr txBox="1"/>
          <p:nvPr/>
        </p:nvSpPr>
        <p:spPr>
          <a:xfrm>
            <a:off x="980187" y="1950720"/>
            <a:ext cx="5542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Product</a:t>
            </a:r>
          </a:p>
        </p:txBody>
      </p:sp>
      <p:sp>
        <p:nvSpPr>
          <p:cNvPr id="9" name="TextBox 9"/>
          <p:cNvSpPr txBox="1"/>
          <p:nvPr/>
        </p:nvSpPr>
        <p:spPr>
          <a:xfrm>
            <a:off x="779919" y="2149316"/>
            <a:ext cx="954762"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Create / Update</a:t>
            </a:r>
          </a:p>
        </p:txBody>
      </p:sp>
      <p:sp>
        <p:nvSpPr>
          <p:cNvPr id="10" name="Freeform 10"/>
          <p:cNvSpPr/>
          <p:nvPr/>
        </p:nvSpPr>
        <p:spPr>
          <a:xfrm>
            <a:off x="1952625" y="2066925"/>
            <a:ext cx="333375" cy="9525"/>
          </a:xfrm>
          <a:custGeom>
            <a:avLst/>
            <a:gdLst/>
            <a:ahLst/>
            <a:cxnLst/>
            <a:rect l="l" t="t" r="r" b="b"/>
            <a:pathLst>
              <a:path w="333375" h="9525">
                <a:moveTo>
                  <a:pt x="0" y="0"/>
                </a:moveTo>
                <a:lnTo>
                  <a:pt x="333375" y="0"/>
                </a:lnTo>
              </a:path>
            </a:pathLst>
          </a:custGeom>
          <a:noFill/>
          <a:ln w="14288">
            <a:solidFill>
              <a:srgbClr val="2E86AB"/>
            </a:solidFill>
          </a:ln>
        </p:spPr>
      </p:sp>
      <p:sp>
        <p:nvSpPr>
          <p:cNvPr id="11" name="Polygon 11"/>
          <p:cNvSpPr/>
          <p:nvPr/>
        </p:nvSpPr>
        <p:spPr>
          <a:xfrm>
            <a:off x="2266950" y="2028825"/>
            <a:ext cx="66675" cy="76200"/>
          </a:xfrm>
          <a:custGeom>
            <a:avLst/>
            <a:gdLst/>
            <a:ahLst/>
            <a:cxnLst/>
            <a:rect l="l" t="t" r="r" b="b"/>
            <a:pathLst>
              <a:path w="66675" h="76200">
                <a:moveTo>
                  <a:pt x="0" y="0"/>
                </a:moveTo>
                <a:lnTo>
                  <a:pt x="66675" y="38100"/>
                </a:lnTo>
                <a:lnTo>
                  <a:pt x="0" y="76200"/>
                </a:lnTo>
                <a:close/>
              </a:path>
            </a:pathLst>
          </a:custGeom>
          <a:solidFill>
            <a:srgbClr val="2E86AB"/>
          </a:solidFill>
          <a:ln>
            <a:noFill/>
          </a:ln>
        </p:spPr>
      </p:sp>
      <p:sp>
        <p:nvSpPr>
          <p:cNvPr id="12" name="Rectangle 12"/>
          <p:cNvSpPr/>
          <p:nvPr/>
        </p:nvSpPr>
        <p:spPr>
          <a:xfrm>
            <a:off x="2362200" y="1762125"/>
            <a:ext cx="1381125" cy="619125"/>
          </a:xfrm>
          <a:prstGeom prst="roundRect">
            <a:avLst>
              <a:gd name="adj" fmla="val 12308"/>
            </a:avLst>
          </a:prstGeom>
          <a:solidFill>
            <a:srgbClr val="F4F7FA"/>
          </a:solidFill>
          <a:ln w="9525">
            <a:solidFill>
              <a:srgbClr val="E2E8F0"/>
            </a:solidFill>
          </a:ln>
        </p:spPr>
      </p:sp>
      <p:sp>
        <p:nvSpPr>
          <p:cNvPr id="13" name="TextBox 13"/>
          <p:cNvSpPr txBox="1"/>
          <p:nvPr/>
        </p:nvSpPr>
        <p:spPr>
          <a:xfrm>
            <a:off x="2808842" y="1950720"/>
            <a:ext cx="478317" cy="182880"/>
          </a:xfrm>
          <a:prstGeom prst="rect">
            <a:avLst/>
          </a:prstGeom>
          <a:noFill/>
          <a:ln>
            <a:noFill/>
          </a:ln>
        </p:spPr>
        <p:txBody>
          <a:bodyPr wrap="none" lIns="0" tIns="0" rIns="0" bIns="0" anchor="t" anchorCtr="0">
            <a:spAutoFit/>
          </a:bodyPr>
          <a:lstStyle/>
          <a:p>
            <a:pPr algn="ctr"/>
            <a:r>
              <a:rPr lang="zh-CN" sz="900" b="1" dirty="0">
                <a:solidFill>
                  <a:srgbClr val="2D3748"/>
                </a:solidFill>
                <a:latin typeface="Arial"/>
                <a:ea typeface="Microsoft YaHei"/>
                <a:cs typeface="Arial"/>
              </a:rPr>
              <a:t>PIM API</a:t>
            </a:r>
          </a:p>
        </p:txBody>
      </p:sp>
      <p:sp>
        <p:nvSpPr>
          <p:cNvPr id="14" name="TextBox 14"/>
          <p:cNvSpPr txBox="1"/>
          <p:nvPr/>
        </p:nvSpPr>
        <p:spPr>
          <a:xfrm>
            <a:off x="2724245" y="2149316"/>
            <a:ext cx="647509"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Emit Event</a:t>
            </a:r>
          </a:p>
        </p:txBody>
      </p:sp>
      <p:sp>
        <p:nvSpPr>
          <p:cNvPr id="15" name="Freeform 15"/>
          <p:cNvSpPr/>
          <p:nvPr/>
        </p:nvSpPr>
        <p:spPr>
          <a:xfrm>
            <a:off x="3743325" y="2066925"/>
            <a:ext cx="333375" cy="9525"/>
          </a:xfrm>
          <a:custGeom>
            <a:avLst/>
            <a:gdLst/>
            <a:ahLst/>
            <a:cxnLst/>
            <a:rect l="l" t="t" r="r" b="b"/>
            <a:pathLst>
              <a:path w="333375" h="9525">
                <a:moveTo>
                  <a:pt x="0" y="0"/>
                </a:moveTo>
                <a:lnTo>
                  <a:pt x="333375" y="0"/>
                </a:lnTo>
              </a:path>
            </a:pathLst>
          </a:custGeom>
          <a:noFill/>
          <a:ln w="14288">
            <a:solidFill>
              <a:srgbClr val="2E86AB"/>
            </a:solidFill>
          </a:ln>
        </p:spPr>
      </p:sp>
      <p:sp>
        <p:nvSpPr>
          <p:cNvPr id="16" name="Polygon 16"/>
          <p:cNvSpPr/>
          <p:nvPr/>
        </p:nvSpPr>
        <p:spPr>
          <a:xfrm>
            <a:off x="4057650" y="2028825"/>
            <a:ext cx="66675" cy="76200"/>
          </a:xfrm>
          <a:custGeom>
            <a:avLst/>
            <a:gdLst/>
            <a:ahLst/>
            <a:cxnLst/>
            <a:rect l="l" t="t" r="r" b="b"/>
            <a:pathLst>
              <a:path w="66675" h="76200">
                <a:moveTo>
                  <a:pt x="0" y="0"/>
                </a:moveTo>
                <a:lnTo>
                  <a:pt x="66675" y="38100"/>
                </a:lnTo>
                <a:lnTo>
                  <a:pt x="0" y="76200"/>
                </a:lnTo>
                <a:close/>
              </a:path>
            </a:pathLst>
          </a:custGeom>
          <a:solidFill>
            <a:srgbClr val="2E86AB"/>
          </a:solidFill>
          <a:ln>
            <a:noFill/>
          </a:ln>
        </p:spPr>
      </p:sp>
      <p:sp>
        <p:nvSpPr>
          <p:cNvPr id="17" name="Rectangle 17"/>
          <p:cNvSpPr/>
          <p:nvPr/>
        </p:nvSpPr>
        <p:spPr>
          <a:xfrm>
            <a:off x="4152900" y="1762125"/>
            <a:ext cx="1381125" cy="619125"/>
          </a:xfrm>
          <a:prstGeom prst="roundRect">
            <a:avLst>
              <a:gd name="adj" fmla="val 12308"/>
            </a:avLst>
          </a:prstGeom>
          <a:solidFill>
            <a:srgbClr val="F4F7FA"/>
          </a:solidFill>
          <a:ln w="9525">
            <a:solidFill>
              <a:srgbClr val="E2E8F0"/>
            </a:solidFill>
          </a:ln>
        </p:spPr>
      </p:sp>
      <p:sp>
        <p:nvSpPr>
          <p:cNvPr id="18" name="TextBox 18"/>
          <p:cNvSpPr txBox="1"/>
          <p:nvPr/>
        </p:nvSpPr>
        <p:spPr>
          <a:xfrm>
            <a:off x="4513281" y="1950720"/>
            <a:ext cx="650838" cy="182880"/>
          </a:xfrm>
          <a:prstGeom prst="rect">
            <a:avLst/>
          </a:prstGeom>
          <a:noFill/>
          <a:ln>
            <a:noFill/>
          </a:ln>
        </p:spPr>
        <p:txBody>
          <a:bodyPr wrap="none" lIns="0" tIns="0" rIns="0" bIns="0" anchor="t" anchorCtr="0">
            <a:spAutoFit/>
          </a:bodyPr>
          <a:lstStyle/>
          <a:p>
            <a:pPr algn="ctr"/>
            <a:r>
              <a:rPr lang="zh-CN" sz="900" b="1" dirty="0">
                <a:solidFill>
                  <a:srgbClr val="2D3748"/>
                </a:solidFill>
                <a:latin typeface="Arial"/>
                <a:ea typeface="Microsoft YaHei"/>
                <a:cs typeface="Arial"/>
              </a:rPr>
              <a:t>RabbitMQ</a:t>
            </a:r>
          </a:p>
        </p:txBody>
      </p:sp>
      <p:sp>
        <p:nvSpPr>
          <p:cNvPr id="19" name="TextBox 19"/>
          <p:cNvSpPr txBox="1"/>
          <p:nvPr/>
        </p:nvSpPr>
        <p:spPr>
          <a:xfrm>
            <a:off x="4331196" y="2149316"/>
            <a:ext cx="1015008"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product.updated</a:t>
            </a:r>
          </a:p>
        </p:txBody>
      </p:sp>
      <p:sp>
        <p:nvSpPr>
          <p:cNvPr id="20" name="Freeform 20"/>
          <p:cNvSpPr/>
          <p:nvPr/>
        </p:nvSpPr>
        <p:spPr>
          <a:xfrm>
            <a:off x="5534025" y="2066925"/>
            <a:ext cx="333375" cy="9525"/>
          </a:xfrm>
          <a:custGeom>
            <a:avLst/>
            <a:gdLst/>
            <a:ahLst/>
            <a:cxnLst/>
            <a:rect l="l" t="t" r="r" b="b"/>
            <a:pathLst>
              <a:path w="333375" h="9525">
                <a:moveTo>
                  <a:pt x="0" y="0"/>
                </a:moveTo>
                <a:lnTo>
                  <a:pt x="333375" y="0"/>
                </a:lnTo>
              </a:path>
            </a:pathLst>
          </a:custGeom>
          <a:noFill/>
          <a:ln w="14288">
            <a:solidFill>
              <a:srgbClr val="2E86AB"/>
            </a:solidFill>
          </a:ln>
        </p:spPr>
      </p:sp>
      <p:sp>
        <p:nvSpPr>
          <p:cNvPr id="21" name="Polygon 21"/>
          <p:cNvSpPr/>
          <p:nvPr/>
        </p:nvSpPr>
        <p:spPr>
          <a:xfrm>
            <a:off x="5848350" y="2028825"/>
            <a:ext cx="66675" cy="76200"/>
          </a:xfrm>
          <a:custGeom>
            <a:avLst/>
            <a:gdLst/>
            <a:ahLst/>
            <a:cxnLst/>
            <a:rect l="l" t="t" r="r" b="b"/>
            <a:pathLst>
              <a:path w="66675" h="76200">
                <a:moveTo>
                  <a:pt x="0" y="0"/>
                </a:moveTo>
                <a:lnTo>
                  <a:pt x="66675" y="38100"/>
                </a:lnTo>
                <a:lnTo>
                  <a:pt x="0" y="76200"/>
                </a:lnTo>
                <a:close/>
              </a:path>
            </a:pathLst>
          </a:custGeom>
          <a:solidFill>
            <a:srgbClr val="2E86AB"/>
          </a:solidFill>
          <a:ln>
            <a:noFill/>
          </a:ln>
        </p:spPr>
      </p:sp>
      <p:sp>
        <p:nvSpPr>
          <p:cNvPr id="22" name="Rectangle 22"/>
          <p:cNvSpPr/>
          <p:nvPr/>
        </p:nvSpPr>
        <p:spPr>
          <a:xfrm>
            <a:off x="5943600" y="1762125"/>
            <a:ext cx="1381125" cy="619125"/>
          </a:xfrm>
          <a:prstGeom prst="roundRect">
            <a:avLst>
              <a:gd name="adj" fmla="val 12308"/>
            </a:avLst>
          </a:prstGeom>
          <a:solidFill>
            <a:srgbClr val="2E86AB"/>
          </a:solidFill>
          <a:ln>
            <a:noFill/>
          </a:ln>
        </p:spPr>
      </p:sp>
      <p:sp>
        <p:nvSpPr>
          <p:cNvPr id="23" name="TextBox 23"/>
          <p:cNvSpPr txBox="1"/>
          <p:nvPr/>
        </p:nvSpPr>
        <p:spPr>
          <a:xfrm>
            <a:off x="6290179" y="1950720"/>
            <a:ext cx="67844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AI Service</a:t>
            </a:r>
          </a:p>
        </p:txBody>
      </p:sp>
      <p:sp>
        <p:nvSpPr>
          <p:cNvPr id="24" name="TextBox 24"/>
          <p:cNvSpPr txBox="1"/>
          <p:nvPr/>
        </p:nvSpPr>
        <p:spPr>
          <a:xfrm>
            <a:off x="6206240" y="2149316"/>
            <a:ext cx="846320"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Chunk + Embed</a:t>
            </a:r>
          </a:p>
        </p:txBody>
      </p:sp>
      <p:sp>
        <p:nvSpPr>
          <p:cNvPr id="25" name="Freeform 25"/>
          <p:cNvSpPr/>
          <p:nvPr/>
        </p:nvSpPr>
        <p:spPr>
          <a:xfrm>
            <a:off x="7324725" y="2066925"/>
            <a:ext cx="333375" cy="9525"/>
          </a:xfrm>
          <a:custGeom>
            <a:avLst/>
            <a:gdLst/>
            <a:ahLst/>
            <a:cxnLst/>
            <a:rect l="l" t="t" r="r" b="b"/>
            <a:pathLst>
              <a:path w="333375" h="9525">
                <a:moveTo>
                  <a:pt x="0" y="0"/>
                </a:moveTo>
                <a:lnTo>
                  <a:pt x="333375" y="0"/>
                </a:lnTo>
              </a:path>
            </a:pathLst>
          </a:custGeom>
          <a:noFill/>
          <a:ln w="14288">
            <a:solidFill>
              <a:srgbClr val="2E86AB"/>
            </a:solidFill>
          </a:ln>
        </p:spPr>
      </p:sp>
      <p:sp>
        <p:nvSpPr>
          <p:cNvPr id="26" name="Polygon 26"/>
          <p:cNvSpPr/>
          <p:nvPr/>
        </p:nvSpPr>
        <p:spPr>
          <a:xfrm>
            <a:off x="7639050" y="2028825"/>
            <a:ext cx="66675" cy="76200"/>
          </a:xfrm>
          <a:custGeom>
            <a:avLst/>
            <a:gdLst/>
            <a:ahLst/>
            <a:cxnLst/>
            <a:rect l="l" t="t" r="r" b="b"/>
            <a:pathLst>
              <a:path w="66675" h="76200">
                <a:moveTo>
                  <a:pt x="0" y="0"/>
                </a:moveTo>
                <a:lnTo>
                  <a:pt x="66675" y="38100"/>
                </a:lnTo>
                <a:lnTo>
                  <a:pt x="0" y="76200"/>
                </a:lnTo>
                <a:close/>
              </a:path>
            </a:pathLst>
          </a:custGeom>
          <a:solidFill>
            <a:srgbClr val="2E86AB"/>
          </a:solidFill>
          <a:ln>
            <a:noFill/>
          </a:ln>
        </p:spPr>
      </p:sp>
      <p:sp>
        <p:nvSpPr>
          <p:cNvPr id="27" name="Rectangle 27"/>
          <p:cNvSpPr/>
          <p:nvPr/>
        </p:nvSpPr>
        <p:spPr>
          <a:xfrm>
            <a:off x="7734300" y="1762125"/>
            <a:ext cx="1381125" cy="619125"/>
          </a:xfrm>
          <a:prstGeom prst="roundRect">
            <a:avLst>
              <a:gd name="adj" fmla="val 12308"/>
            </a:avLst>
          </a:prstGeom>
          <a:solidFill>
            <a:srgbClr val="F4F7FA"/>
          </a:solidFill>
          <a:ln w="9525">
            <a:solidFill>
              <a:srgbClr val="E2E8F0"/>
            </a:solidFill>
          </a:ln>
        </p:spPr>
      </p:sp>
      <p:sp>
        <p:nvSpPr>
          <p:cNvPr id="28" name="TextBox 28"/>
          <p:cNvSpPr txBox="1"/>
          <p:nvPr/>
        </p:nvSpPr>
        <p:spPr>
          <a:xfrm>
            <a:off x="8067077" y="1950720"/>
            <a:ext cx="706045" cy="182880"/>
          </a:xfrm>
          <a:prstGeom prst="rect">
            <a:avLst/>
          </a:prstGeom>
          <a:noFill/>
          <a:ln>
            <a:noFill/>
          </a:ln>
        </p:spPr>
        <p:txBody>
          <a:bodyPr wrap="none" lIns="0" tIns="0" rIns="0" bIns="0" anchor="t" anchorCtr="0">
            <a:spAutoFit/>
          </a:bodyPr>
          <a:lstStyle/>
          <a:p>
            <a:pPr algn="ctr"/>
            <a:r>
              <a:rPr lang="zh-CN" sz="900" b="1" dirty="0">
                <a:solidFill>
                  <a:srgbClr val="2D3748"/>
                </a:solidFill>
                <a:latin typeface="Arial"/>
                <a:ea typeface="Microsoft YaHei"/>
                <a:cs typeface="Arial"/>
              </a:rPr>
              <a:t>OpenAI API</a:t>
            </a:r>
          </a:p>
        </p:txBody>
      </p:sp>
      <p:sp>
        <p:nvSpPr>
          <p:cNvPr id="29" name="TextBox 29"/>
          <p:cNvSpPr txBox="1"/>
          <p:nvPr/>
        </p:nvSpPr>
        <p:spPr>
          <a:xfrm>
            <a:off x="7996940" y="2149316"/>
            <a:ext cx="84632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Get Embedding</a:t>
            </a:r>
          </a:p>
        </p:txBody>
      </p:sp>
      <p:sp>
        <p:nvSpPr>
          <p:cNvPr id="30" name="Freeform 30"/>
          <p:cNvSpPr/>
          <p:nvPr/>
        </p:nvSpPr>
        <p:spPr>
          <a:xfrm>
            <a:off x="9115425" y="2066925"/>
            <a:ext cx="333375" cy="9525"/>
          </a:xfrm>
          <a:custGeom>
            <a:avLst/>
            <a:gdLst/>
            <a:ahLst/>
            <a:cxnLst/>
            <a:rect l="l" t="t" r="r" b="b"/>
            <a:pathLst>
              <a:path w="333375" h="9525">
                <a:moveTo>
                  <a:pt x="0" y="0"/>
                </a:moveTo>
                <a:lnTo>
                  <a:pt x="333375" y="0"/>
                </a:lnTo>
              </a:path>
            </a:pathLst>
          </a:custGeom>
          <a:noFill/>
          <a:ln w="14288">
            <a:solidFill>
              <a:srgbClr val="2E86AB"/>
            </a:solidFill>
          </a:ln>
        </p:spPr>
      </p:sp>
      <p:sp>
        <p:nvSpPr>
          <p:cNvPr id="31" name="Polygon 31"/>
          <p:cNvSpPr/>
          <p:nvPr/>
        </p:nvSpPr>
        <p:spPr>
          <a:xfrm>
            <a:off x="9429750" y="2028825"/>
            <a:ext cx="66675" cy="76200"/>
          </a:xfrm>
          <a:custGeom>
            <a:avLst/>
            <a:gdLst/>
            <a:ahLst/>
            <a:cxnLst/>
            <a:rect l="l" t="t" r="r" b="b"/>
            <a:pathLst>
              <a:path w="66675" h="76200">
                <a:moveTo>
                  <a:pt x="0" y="0"/>
                </a:moveTo>
                <a:lnTo>
                  <a:pt x="66675" y="38100"/>
                </a:lnTo>
                <a:lnTo>
                  <a:pt x="0" y="76200"/>
                </a:lnTo>
                <a:close/>
              </a:path>
            </a:pathLst>
          </a:custGeom>
          <a:solidFill>
            <a:srgbClr val="2E86AB"/>
          </a:solidFill>
          <a:ln>
            <a:noFill/>
          </a:ln>
        </p:spPr>
      </p:sp>
      <p:sp>
        <p:nvSpPr>
          <p:cNvPr id="32" name="Rectangle 32"/>
          <p:cNvSpPr/>
          <p:nvPr/>
        </p:nvSpPr>
        <p:spPr>
          <a:xfrm>
            <a:off x="9525000" y="1762125"/>
            <a:ext cx="1381125" cy="619125"/>
          </a:xfrm>
          <a:prstGeom prst="roundRect">
            <a:avLst>
              <a:gd name="adj" fmla="val 12308"/>
            </a:avLst>
          </a:prstGeom>
          <a:solidFill>
            <a:srgbClr val="45B69C"/>
          </a:solidFill>
          <a:ln>
            <a:noFill/>
          </a:ln>
        </p:spPr>
      </p:sp>
      <p:sp>
        <p:nvSpPr>
          <p:cNvPr id="33" name="TextBox 33"/>
          <p:cNvSpPr txBox="1"/>
          <p:nvPr/>
        </p:nvSpPr>
        <p:spPr>
          <a:xfrm>
            <a:off x="9881930" y="1950720"/>
            <a:ext cx="65773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ChromaDB</a:t>
            </a:r>
          </a:p>
        </p:txBody>
      </p:sp>
      <p:sp>
        <p:nvSpPr>
          <p:cNvPr id="34" name="TextBox 34"/>
          <p:cNvSpPr txBox="1"/>
          <p:nvPr/>
        </p:nvSpPr>
        <p:spPr>
          <a:xfrm>
            <a:off x="9784628" y="2149316"/>
            <a:ext cx="852345"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Upsert Vector</a:t>
            </a:r>
          </a:p>
        </p:txBody>
      </p:sp>
      <p:sp>
        <p:nvSpPr>
          <p:cNvPr id="35" name="TextBox 35"/>
          <p:cNvSpPr txBox="1"/>
          <p:nvPr/>
        </p:nvSpPr>
        <p:spPr>
          <a:xfrm>
            <a:off x="556260" y="2918460"/>
            <a:ext cx="2146745" cy="243840"/>
          </a:xfrm>
          <a:prstGeom prst="rect">
            <a:avLst/>
          </a:prstGeom>
          <a:noFill/>
          <a:ln>
            <a:noFill/>
          </a:ln>
        </p:spPr>
        <p:txBody>
          <a:bodyPr wrap="none" lIns="0" tIns="0" rIns="0" bIns="0" anchor="t" anchorCtr="0">
            <a:spAutoFit/>
          </a:bodyPr>
          <a:lstStyle/>
          <a:p>
            <a:pPr algn="l"/>
            <a:r>
              <a:rPr lang="zh-CN" sz="1200" b="1" dirty="0">
                <a:solidFill>
                  <a:srgbClr val="45B69C"/>
                </a:solidFill>
                <a:latin typeface="Arial"/>
                <a:ea typeface="Microsoft YaHei"/>
                <a:cs typeface="Arial"/>
              </a:rPr>
              <a:t>Query Flow (Read Path)</a:t>
            </a:r>
          </a:p>
        </p:txBody>
      </p:sp>
      <p:sp>
        <p:nvSpPr>
          <p:cNvPr id="36" name="Rectangle 36"/>
          <p:cNvSpPr/>
          <p:nvPr/>
        </p:nvSpPr>
        <p:spPr>
          <a:xfrm>
            <a:off x="571500" y="3238500"/>
            <a:ext cx="1381125" cy="619125"/>
          </a:xfrm>
          <a:prstGeom prst="roundRect">
            <a:avLst>
              <a:gd name="adj" fmla="val 12308"/>
            </a:avLst>
          </a:prstGeom>
          <a:solidFill>
            <a:srgbClr val="1A3A5C"/>
          </a:solidFill>
          <a:ln>
            <a:noFill/>
          </a:ln>
        </p:spPr>
      </p:sp>
      <p:sp>
        <p:nvSpPr>
          <p:cNvPr id="37" name="TextBox 37"/>
          <p:cNvSpPr txBox="1"/>
          <p:nvPr/>
        </p:nvSpPr>
        <p:spPr>
          <a:xfrm>
            <a:off x="845620" y="3427095"/>
            <a:ext cx="82336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User Search</a:t>
            </a:r>
          </a:p>
        </p:txBody>
      </p:sp>
      <p:sp>
        <p:nvSpPr>
          <p:cNvPr id="38" name="TextBox 38"/>
          <p:cNvSpPr txBox="1"/>
          <p:nvPr/>
        </p:nvSpPr>
        <p:spPr>
          <a:xfrm>
            <a:off x="746784" y="3625691"/>
            <a:ext cx="1021032"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Natural Language</a:t>
            </a:r>
          </a:p>
        </p:txBody>
      </p:sp>
      <p:sp>
        <p:nvSpPr>
          <p:cNvPr id="39" name="Freeform 39"/>
          <p:cNvSpPr/>
          <p:nvPr/>
        </p:nvSpPr>
        <p:spPr>
          <a:xfrm>
            <a:off x="1952625" y="3543300"/>
            <a:ext cx="333375" cy="9525"/>
          </a:xfrm>
          <a:custGeom>
            <a:avLst/>
            <a:gdLst/>
            <a:ahLst/>
            <a:cxnLst/>
            <a:rect l="l" t="t" r="r" b="b"/>
            <a:pathLst>
              <a:path w="333375" h="9525">
                <a:moveTo>
                  <a:pt x="0" y="0"/>
                </a:moveTo>
                <a:lnTo>
                  <a:pt x="333375" y="0"/>
                </a:lnTo>
              </a:path>
            </a:pathLst>
          </a:custGeom>
          <a:noFill/>
          <a:ln w="14288">
            <a:solidFill>
              <a:srgbClr val="45B69C"/>
            </a:solidFill>
          </a:ln>
        </p:spPr>
      </p:sp>
      <p:sp>
        <p:nvSpPr>
          <p:cNvPr id="40" name="Polygon 40"/>
          <p:cNvSpPr/>
          <p:nvPr/>
        </p:nvSpPr>
        <p:spPr>
          <a:xfrm>
            <a:off x="2266950" y="3505200"/>
            <a:ext cx="66675" cy="76200"/>
          </a:xfrm>
          <a:custGeom>
            <a:avLst/>
            <a:gdLst/>
            <a:ahLst/>
            <a:cxnLst/>
            <a:rect l="l" t="t" r="r" b="b"/>
            <a:pathLst>
              <a:path w="66675" h="76200">
                <a:moveTo>
                  <a:pt x="0" y="0"/>
                </a:moveTo>
                <a:lnTo>
                  <a:pt x="66675" y="38100"/>
                </a:lnTo>
                <a:lnTo>
                  <a:pt x="0" y="76200"/>
                </a:lnTo>
                <a:close/>
              </a:path>
            </a:pathLst>
          </a:custGeom>
          <a:solidFill>
            <a:srgbClr val="45B69C"/>
          </a:solidFill>
          <a:ln>
            <a:noFill/>
          </a:ln>
        </p:spPr>
      </p:sp>
      <p:sp>
        <p:nvSpPr>
          <p:cNvPr id="41" name="Rectangle 41"/>
          <p:cNvSpPr/>
          <p:nvPr/>
        </p:nvSpPr>
        <p:spPr>
          <a:xfrm>
            <a:off x="2362200" y="3238500"/>
            <a:ext cx="1381125" cy="619125"/>
          </a:xfrm>
          <a:prstGeom prst="roundRect">
            <a:avLst>
              <a:gd name="adj" fmla="val 12308"/>
            </a:avLst>
          </a:prstGeom>
          <a:solidFill>
            <a:srgbClr val="F4F7FA"/>
          </a:solidFill>
          <a:ln w="9525">
            <a:solidFill>
              <a:srgbClr val="E2E8F0"/>
            </a:solidFill>
          </a:ln>
        </p:spPr>
      </p:sp>
      <p:sp>
        <p:nvSpPr>
          <p:cNvPr id="42" name="TextBox 42"/>
          <p:cNvSpPr txBox="1"/>
          <p:nvPr/>
        </p:nvSpPr>
        <p:spPr>
          <a:xfrm>
            <a:off x="2639770" y="3427095"/>
            <a:ext cx="816459" cy="182880"/>
          </a:xfrm>
          <a:prstGeom prst="rect">
            <a:avLst/>
          </a:prstGeom>
          <a:noFill/>
          <a:ln>
            <a:noFill/>
          </a:ln>
        </p:spPr>
        <p:txBody>
          <a:bodyPr wrap="none" lIns="0" tIns="0" rIns="0" bIns="0" anchor="t" anchorCtr="0">
            <a:spAutoFit/>
          </a:bodyPr>
          <a:lstStyle/>
          <a:p>
            <a:pPr algn="ctr"/>
            <a:r>
              <a:rPr lang="zh-CN" sz="900" b="1" dirty="0">
                <a:solidFill>
                  <a:srgbClr val="2D3748"/>
                </a:solidFill>
                <a:latin typeface="Arial"/>
                <a:ea typeface="Microsoft YaHei"/>
                <a:cs typeface="Arial"/>
              </a:rPr>
              <a:t>API Gateway</a:t>
            </a:r>
          </a:p>
        </p:txBody>
      </p:sp>
      <p:sp>
        <p:nvSpPr>
          <p:cNvPr id="43" name="TextBox 43"/>
          <p:cNvSpPr txBox="1"/>
          <p:nvPr/>
        </p:nvSpPr>
        <p:spPr>
          <a:xfrm>
            <a:off x="2591705" y="3625691"/>
            <a:ext cx="912590"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REST / GraphQL</a:t>
            </a:r>
          </a:p>
        </p:txBody>
      </p:sp>
      <p:sp>
        <p:nvSpPr>
          <p:cNvPr id="44" name="Freeform 44"/>
          <p:cNvSpPr/>
          <p:nvPr/>
        </p:nvSpPr>
        <p:spPr>
          <a:xfrm>
            <a:off x="3743325" y="3543300"/>
            <a:ext cx="333375" cy="9525"/>
          </a:xfrm>
          <a:custGeom>
            <a:avLst/>
            <a:gdLst/>
            <a:ahLst/>
            <a:cxnLst/>
            <a:rect l="l" t="t" r="r" b="b"/>
            <a:pathLst>
              <a:path w="333375" h="9525">
                <a:moveTo>
                  <a:pt x="0" y="0"/>
                </a:moveTo>
                <a:lnTo>
                  <a:pt x="333375" y="0"/>
                </a:lnTo>
              </a:path>
            </a:pathLst>
          </a:custGeom>
          <a:noFill/>
          <a:ln w="14288">
            <a:solidFill>
              <a:srgbClr val="45B69C"/>
            </a:solidFill>
          </a:ln>
        </p:spPr>
      </p:sp>
      <p:sp>
        <p:nvSpPr>
          <p:cNvPr id="45" name="Polygon 45"/>
          <p:cNvSpPr/>
          <p:nvPr/>
        </p:nvSpPr>
        <p:spPr>
          <a:xfrm>
            <a:off x="4057650" y="3505200"/>
            <a:ext cx="66675" cy="76200"/>
          </a:xfrm>
          <a:custGeom>
            <a:avLst/>
            <a:gdLst/>
            <a:ahLst/>
            <a:cxnLst/>
            <a:rect l="l" t="t" r="r" b="b"/>
            <a:pathLst>
              <a:path w="66675" h="76200">
                <a:moveTo>
                  <a:pt x="0" y="0"/>
                </a:moveTo>
                <a:lnTo>
                  <a:pt x="66675" y="38100"/>
                </a:lnTo>
                <a:lnTo>
                  <a:pt x="0" y="76200"/>
                </a:lnTo>
                <a:close/>
              </a:path>
            </a:pathLst>
          </a:custGeom>
          <a:solidFill>
            <a:srgbClr val="45B69C"/>
          </a:solidFill>
          <a:ln>
            <a:noFill/>
          </a:ln>
        </p:spPr>
      </p:sp>
      <p:sp>
        <p:nvSpPr>
          <p:cNvPr id="46" name="Rectangle 46"/>
          <p:cNvSpPr/>
          <p:nvPr/>
        </p:nvSpPr>
        <p:spPr>
          <a:xfrm>
            <a:off x="4152900" y="3238500"/>
            <a:ext cx="1381125" cy="619125"/>
          </a:xfrm>
          <a:prstGeom prst="roundRect">
            <a:avLst>
              <a:gd name="adj" fmla="val 12308"/>
            </a:avLst>
          </a:prstGeom>
          <a:solidFill>
            <a:srgbClr val="2E86AB"/>
          </a:solidFill>
          <a:ln>
            <a:noFill/>
          </a:ln>
        </p:spPr>
      </p:sp>
      <p:sp>
        <p:nvSpPr>
          <p:cNvPr id="47" name="TextBox 47"/>
          <p:cNvSpPr txBox="1"/>
          <p:nvPr/>
        </p:nvSpPr>
        <p:spPr>
          <a:xfrm>
            <a:off x="4499479" y="3427095"/>
            <a:ext cx="67844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AI Service</a:t>
            </a:r>
          </a:p>
        </p:txBody>
      </p:sp>
      <p:sp>
        <p:nvSpPr>
          <p:cNvPr id="48" name="TextBox 48"/>
          <p:cNvSpPr txBox="1"/>
          <p:nvPr/>
        </p:nvSpPr>
        <p:spPr>
          <a:xfrm>
            <a:off x="4454700" y="3625691"/>
            <a:ext cx="768001"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Embed Query</a:t>
            </a:r>
          </a:p>
        </p:txBody>
      </p:sp>
      <p:sp>
        <p:nvSpPr>
          <p:cNvPr id="49" name="Freeform 49"/>
          <p:cNvSpPr/>
          <p:nvPr/>
        </p:nvSpPr>
        <p:spPr>
          <a:xfrm>
            <a:off x="5534025" y="3543300"/>
            <a:ext cx="333375" cy="9525"/>
          </a:xfrm>
          <a:custGeom>
            <a:avLst/>
            <a:gdLst/>
            <a:ahLst/>
            <a:cxnLst/>
            <a:rect l="l" t="t" r="r" b="b"/>
            <a:pathLst>
              <a:path w="333375" h="9525">
                <a:moveTo>
                  <a:pt x="0" y="0"/>
                </a:moveTo>
                <a:lnTo>
                  <a:pt x="333375" y="0"/>
                </a:lnTo>
              </a:path>
            </a:pathLst>
          </a:custGeom>
          <a:noFill/>
          <a:ln w="14288">
            <a:solidFill>
              <a:srgbClr val="45B69C"/>
            </a:solidFill>
          </a:ln>
        </p:spPr>
      </p:sp>
      <p:sp>
        <p:nvSpPr>
          <p:cNvPr id="50" name="Polygon 50"/>
          <p:cNvSpPr/>
          <p:nvPr/>
        </p:nvSpPr>
        <p:spPr>
          <a:xfrm>
            <a:off x="5848350" y="3505200"/>
            <a:ext cx="66675" cy="76200"/>
          </a:xfrm>
          <a:custGeom>
            <a:avLst/>
            <a:gdLst/>
            <a:ahLst/>
            <a:cxnLst/>
            <a:rect l="l" t="t" r="r" b="b"/>
            <a:pathLst>
              <a:path w="66675" h="76200">
                <a:moveTo>
                  <a:pt x="0" y="0"/>
                </a:moveTo>
                <a:lnTo>
                  <a:pt x="66675" y="38100"/>
                </a:lnTo>
                <a:lnTo>
                  <a:pt x="0" y="76200"/>
                </a:lnTo>
                <a:close/>
              </a:path>
            </a:pathLst>
          </a:custGeom>
          <a:solidFill>
            <a:srgbClr val="45B69C"/>
          </a:solidFill>
          <a:ln>
            <a:noFill/>
          </a:ln>
        </p:spPr>
      </p:sp>
      <p:sp>
        <p:nvSpPr>
          <p:cNvPr id="51" name="Rectangle 51"/>
          <p:cNvSpPr/>
          <p:nvPr/>
        </p:nvSpPr>
        <p:spPr>
          <a:xfrm>
            <a:off x="5943600" y="3238500"/>
            <a:ext cx="1381125" cy="619125"/>
          </a:xfrm>
          <a:prstGeom prst="roundRect">
            <a:avLst>
              <a:gd name="adj" fmla="val 12308"/>
            </a:avLst>
          </a:prstGeom>
          <a:solidFill>
            <a:srgbClr val="45B69C"/>
          </a:solidFill>
          <a:ln>
            <a:noFill/>
          </a:ln>
        </p:spPr>
      </p:sp>
      <p:sp>
        <p:nvSpPr>
          <p:cNvPr id="52" name="TextBox 52"/>
          <p:cNvSpPr txBox="1"/>
          <p:nvPr/>
        </p:nvSpPr>
        <p:spPr>
          <a:xfrm>
            <a:off x="6300530" y="3427095"/>
            <a:ext cx="65773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ChromaDB</a:t>
            </a:r>
          </a:p>
        </p:txBody>
      </p:sp>
      <p:sp>
        <p:nvSpPr>
          <p:cNvPr id="53" name="TextBox 53"/>
          <p:cNvSpPr txBox="1"/>
          <p:nvPr/>
        </p:nvSpPr>
        <p:spPr>
          <a:xfrm>
            <a:off x="6118884" y="3625691"/>
            <a:ext cx="1021032"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Similarity Search</a:t>
            </a:r>
          </a:p>
        </p:txBody>
      </p:sp>
      <p:sp>
        <p:nvSpPr>
          <p:cNvPr id="54" name="Freeform 54"/>
          <p:cNvSpPr/>
          <p:nvPr/>
        </p:nvSpPr>
        <p:spPr>
          <a:xfrm>
            <a:off x="7324725" y="3543300"/>
            <a:ext cx="333375" cy="9525"/>
          </a:xfrm>
          <a:custGeom>
            <a:avLst/>
            <a:gdLst/>
            <a:ahLst/>
            <a:cxnLst/>
            <a:rect l="l" t="t" r="r" b="b"/>
            <a:pathLst>
              <a:path w="333375" h="9525">
                <a:moveTo>
                  <a:pt x="0" y="0"/>
                </a:moveTo>
                <a:lnTo>
                  <a:pt x="333375" y="0"/>
                </a:lnTo>
              </a:path>
            </a:pathLst>
          </a:custGeom>
          <a:noFill/>
          <a:ln w="14288">
            <a:solidFill>
              <a:srgbClr val="45B69C"/>
            </a:solidFill>
          </a:ln>
        </p:spPr>
      </p:sp>
      <p:sp>
        <p:nvSpPr>
          <p:cNvPr id="55" name="Polygon 55"/>
          <p:cNvSpPr/>
          <p:nvPr/>
        </p:nvSpPr>
        <p:spPr>
          <a:xfrm>
            <a:off x="7639050" y="3505200"/>
            <a:ext cx="66675" cy="76200"/>
          </a:xfrm>
          <a:custGeom>
            <a:avLst/>
            <a:gdLst/>
            <a:ahLst/>
            <a:cxnLst/>
            <a:rect l="l" t="t" r="r" b="b"/>
            <a:pathLst>
              <a:path w="66675" h="76200">
                <a:moveTo>
                  <a:pt x="0" y="0"/>
                </a:moveTo>
                <a:lnTo>
                  <a:pt x="66675" y="38100"/>
                </a:lnTo>
                <a:lnTo>
                  <a:pt x="0" y="76200"/>
                </a:lnTo>
                <a:close/>
              </a:path>
            </a:pathLst>
          </a:custGeom>
          <a:solidFill>
            <a:srgbClr val="45B69C"/>
          </a:solidFill>
          <a:ln>
            <a:noFill/>
          </a:ln>
        </p:spPr>
      </p:sp>
      <p:sp>
        <p:nvSpPr>
          <p:cNvPr id="56" name="Rectangle 56"/>
          <p:cNvSpPr/>
          <p:nvPr/>
        </p:nvSpPr>
        <p:spPr>
          <a:xfrm>
            <a:off x="7734300" y="3238500"/>
            <a:ext cx="1381125" cy="619125"/>
          </a:xfrm>
          <a:prstGeom prst="roundRect">
            <a:avLst>
              <a:gd name="adj" fmla="val 12308"/>
            </a:avLst>
          </a:prstGeom>
          <a:solidFill>
            <a:srgbClr val="F4F7FA"/>
          </a:solidFill>
          <a:ln w="9525">
            <a:solidFill>
              <a:srgbClr val="E2E8F0"/>
            </a:solidFill>
          </a:ln>
        </p:spPr>
      </p:sp>
      <p:sp>
        <p:nvSpPr>
          <p:cNvPr id="57" name="TextBox 57"/>
          <p:cNvSpPr txBox="1"/>
          <p:nvPr/>
        </p:nvSpPr>
        <p:spPr>
          <a:xfrm>
            <a:off x="8049825" y="3427095"/>
            <a:ext cx="740550" cy="182880"/>
          </a:xfrm>
          <a:prstGeom prst="rect">
            <a:avLst/>
          </a:prstGeom>
          <a:noFill/>
          <a:ln>
            <a:noFill/>
          </a:ln>
        </p:spPr>
        <p:txBody>
          <a:bodyPr wrap="none" lIns="0" tIns="0" rIns="0" bIns="0" anchor="t" anchorCtr="0">
            <a:spAutoFit/>
          </a:bodyPr>
          <a:lstStyle/>
          <a:p>
            <a:pPr algn="ctr"/>
            <a:r>
              <a:rPr lang="zh-CN" sz="900" b="1" dirty="0">
                <a:solidFill>
                  <a:srgbClr val="2D3748"/>
                </a:solidFill>
                <a:latin typeface="Arial"/>
                <a:ea typeface="Microsoft YaHei"/>
                <a:cs typeface="Arial"/>
              </a:rPr>
              <a:t>Claude LLM</a:t>
            </a:r>
          </a:p>
        </p:txBody>
      </p:sp>
      <p:sp>
        <p:nvSpPr>
          <p:cNvPr id="58" name="TextBox 58"/>
          <p:cNvSpPr txBox="1"/>
          <p:nvPr/>
        </p:nvSpPr>
        <p:spPr>
          <a:xfrm>
            <a:off x="7975854" y="3625691"/>
            <a:ext cx="888492"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RAG + Generate</a:t>
            </a:r>
          </a:p>
        </p:txBody>
      </p:sp>
      <p:sp>
        <p:nvSpPr>
          <p:cNvPr id="59" name="Freeform 59"/>
          <p:cNvSpPr/>
          <p:nvPr/>
        </p:nvSpPr>
        <p:spPr>
          <a:xfrm>
            <a:off x="9115425" y="3543300"/>
            <a:ext cx="333375" cy="9525"/>
          </a:xfrm>
          <a:custGeom>
            <a:avLst/>
            <a:gdLst/>
            <a:ahLst/>
            <a:cxnLst/>
            <a:rect l="l" t="t" r="r" b="b"/>
            <a:pathLst>
              <a:path w="333375" h="9525">
                <a:moveTo>
                  <a:pt x="0" y="0"/>
                </a:moveTo>
                <a:lnTo>
                  <a:pt x="333375" y="0"/>
                </a:lnTo>
              </a:path>
            </a:pathLst>
          </a:custGeom>
          <a:noFill/>
          <a:ln w="14288">
            <a:solidFill>
              <a:srgbClr val="45B69C"/>
            </a:solidFill>
          </a:ln>
        </p:spPr>
      </p:sp>
      <p:sp>
        <p:nvSpPr>
          <p:cNvPr id="60" name="Polygon 60"/>
          <p:cNvSpPr/>
          <p:nvPr/>
        </p:nvSpPr>
        <p:spPr>
          <a:xfrm>
            <a:off x="9429750" y="3505200"/>
            <a:ext cx="66675" cy="76200"/>
          </a:xfrm>
          <a:custGeom>
            <a:avLst/>
            <a:gdLst/>
            <a:ahLst/>
            <a:cxnLst/>
            <a:rect l="l" t="t" r="r" b="b"/>
            <a:pathLst>
              <a:path w="66675" h="76200">
                <a:moveTo>
                  <a:pt x="0" y="0"/>
                </a:moveTo>
                <a:lnTo>
                  <a:pt x="66675" y="38100"/>
                </a:lnTo>
                <a:lnTo>
                  <a:pt x="0" y="76200"/>
                </a:lnTo>
                <a:close/>
              </a:path>
            </a:pathLst>
          </a:custGeom>
          <a:solidFill>
            <a:srgbClr val="45B69C"/>
          </a:solidFill>
          <a:ln>
            <a:noFill/>
          </a:ln>
        </p:spPr>
      </p:sp>
      <p:sp>
        <p:nvSpPr>
          <p:cNvPr id="61" name="Rectangle 61"/>
          <p:cNvSpPr/>
          <p:nvPr/>
        </p:nvSpPr>
        <p:spPr>
          <a:xfrm>
            <a:off x="9525000" y="3238500"/>
            <a:ext cx="1381125" cy="619125"/>
          </a:xfrm>
          <a:prstGeom prst="roundRect">
            <a:avLst>
              <a:gd name="adj" fmla="val 12308"/>
            </a:avLst>
          </a:prstGeom>
          <a:solidFill>
            <a:srgbClr val="1A3A5C"/>
          </a:solidFill>
          <a:ln>
            <a:noFill/>
          </a:ln>
        </p:spPr>
      </p:sp>
      <p:sp>
        <p:nvSpPr>
          <p:cNvPr id="62" name="TextBox 62"/>
          <p:cNvSpPr txBox="1"/>
          <p:nvPr/>
        </p:nvSpPr>
        <p:spPr>
          <a:xfrm>
            <a:off x="9895732" y="3427095"/>
            <a:ext cx="63013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Response</a:t>
            </a:r>
          </a:p>
        </p:txBody>
      </p:sp>
      <p:sp>
        <p:nvSpPr>
          <p:cNvPr id="63" name="TextBox 63"/>
          <p:cNvSpPr txBox="1"/>
          <p:nvPr/>
        </p:nvSpPr>
        <p:spPr>
          <a:xfrm>
            <a:off x="9766554" y="3625691"/>
            <a:ext cx="888492" cy="167640"/>
          </a:xfrm>
          <a:prstGeom prst="rect">
            <a:avLst/>
          </a:prstGeom>
          <a:noFill/>
          <a:ln>
            <a:noFill/>
          </a:ln>
        </p:spPr>
        <p:txBody>
          <a:bodyPr wrap="none" lIns="0" tIns="0" rIns="0" bIns="0" anchor="t" anchorCtr="0">
            <a:spAutoFit/>
          </a:bodyPr>
          <a:lstStyle/>
          <a:p>
            <a:pPr algn="ctr"/>
            <a:r>
              <a:rPr lang="zh-CN" sz="825" dirty="0">
                <a:solidFill>
                  <a:srgbClr val="FFFFFF">
                    <a:alphaMod val="70000"/>
                  </a:srgbClr>
                </a:solidFill>
                <a:latin typeface="Arial"/>
                <a:ea typeface="Microsoft YaHei"/>
                <a:cs typeface="Arial"/>
              </a:rPr>
              <a:t>Ranked Results</a:t>
            </a:r>
          </a:p>
        </p:txBody>
      </p:sp>
      <p:sp>
        <p:nvSpPr>
          <p:cNvPr id="64" name="TextBox 64"/>
          <p:cNvSpPr txBox="1"/>
          <p:nvPr/>
        </p:nvSpPr>
        <p:spPr>
          <a:xfrm>
            <a:off x="556260" y="4347210"/>
            <a:ext cx="3517716"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a:ea typeface="Microsoft YaHei"/>
                <a:cs typeface="Arial"/>
              </a:rPr>
              <a:t>Integration Points trong stack hiện tại</a:t>
            </a:r>
          </a:p>
        </p:txBody>
      </p:sp>
      <p:sp>
        <p:nvSpPr>
          <p:cNvPr id="65" name="Rectangle 65"/>
          <p:cNvSpPr/>
          <p:nvPr/>
        </p:nvSpPr>
        <p:spPr>
          <a:xfrm>
            <a:off x="571500" y="4667250"/>
            <a:ext cx="2476500" cy="762000"/>
          </a:xfrm>
          <a:prstGeom prst="roundRect">
            <a:avLst>
              <a:gd name="adj" fmla="val 10000"/>
            </a:avLst>
          </a:prstGeom>
          <a:solidFill>
            <a:srgbClr val="F4F7FA"/>
          </a:solidFill>
          <a:ln>
            <a:noFill/>
          </a:ln>
        </p:spPr>
      </p:sp>
      <p:sp>
        <p:nvSpPr>
          <p:cNvPr id="66" name="TextBox 66"/>
          <p:cNvSpPr txBox="1"/>
          <p:nvPr/>
        </p:nvSpPr>
        <p:spPr>
          <a:xfrm>
            <a:off x="1012394" y="4847749"/>
            <a:ext cx="1594711"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ASP.NET API (pim-api)</a:t>
            </a:r>
          </a:p>
        </p:txBody>
      </p:sp>
      <p:sp>
        <p:nvSpPr>
          <p:cNvPr id="67" name="TextBox 67"/>
          <p:cNvSpPr txBox="1"/>
          <p:nvPr/>
        </p:nvSpPr>
        <p:spPr>
          <a:xfrm>
            <a:off x="930783" y="5093970"/>
            <a:ext cx="1757934"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Publish events to RabbitMQ</a:t>
            </a:r>
          </a:p>
        </p:txBody>
      </p:sp>
      <p:sp>
        <p:nvSpPr>
          <p:cNvPr id="68" name="TextBox 68"/>
          <p:cNvSpPr txBox="1"/>
          <p:nvPr/>
        </p:nvSpPr>
        <p:spPr>
          <a:xfrm>
            <a:off x="1288971" y="5255895"/>
            <a:ext cx="1041559"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on product CRUD</a:t>
            </a:r>
          </a:p>
        </p:txBody>
      </p:sp>
      <p:sp>
        <p:nvSpPr>
          <p:cNvPr id="69" name="Rectangle 69"/>
          <p:cNvSpPr/>
          <p:nvPr/>
        </p:nvSpPr>
        <p:spPr>
          <a:xfrm>
            <a:off x="3333750" y="4667250"/>
            <a:ext cx="2476500" cy="762000"/>
          </a:xfrm>
          <a:prstGeom prst="roundRect">
            <a:avLst>
              <a:gd name="adj" fmla="val 10000"/>
            </a:avLst>
          </a:prstGeom>
          <a:solidFill>
            <a:srgbClr val="F4F7FA"/>
          </a:solidFill>
          <a:ln>
            <a:noFill/>
          </a:ln>
        </p:spPr>
      </p:sp>
      <p:sp>
        <p:nvSpPr>
          <p:cNvPr id="70" name="TextBox 70"/>
          <p:cNvSpPr txBox="1"/>
          <p:nvPr/>
        </p:nvSpPr>
        <p:spPr>
          <a:xfrm>
            <a:off x="3830714" y="4847749"/>
            <a:ext cx="1482572"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AI Service (FastAPI)</a:t>
            </a:r>
          </a:p>
        </p:txBody>
      </p:sp>
      <p:sp>
        <p:nvSpPr>
          <p:cNvPr id="71" name="TextBox 71"/>
          <p:cNvSpPr txBox="1"/>
          <p:nvPr/>
        </p:nvSpPr>
        <p:spPr>
          <a:xfrm>
            <a:off x="3860625" y="5093970"/>
            <a:ext cx="1422749"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New /embed + /search</a:t>
            </a:r>
          </a:p>
        </p:txBody>
      </p:sp>
      <p:sp>
        <p:nvSpPr>
          <p:cNvPr id="72" name="TextBox 72"/>
          <p:cNvSpPr txBox="1"/>
          <p:nvPr/>
        </p:nvSpPr>
        <p:spPr>
          <a:xfrm>
            <a:off x="4251674" y="5255895"/>
            <a:ext cx="640652"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endpoints</a:t>
            </a:r>
          </a:p>
        </p:txBody>
      </p:sp>
      <p:sp>
        <p:nvSpPr>
          <p:cNvPr id="73" name="Rectangle 73"/>
          <p:cNvSpPr/>
          <p:nvPr/>
        </p:nvSpPr>
        <p:spPr>
          <a:xfrm>
            <a:off x="6096000" y="4667250"/>
            <a:ext cx="2476500" cy="762000"/>
          </a:xfrm>
          <a:prstGeom prst="roundRect">
            <a:avLst>
              <a:gd name="adj" fmla="val 10000"/>
            </a:avLst>
          </a:prstGeom>
          <a:solidFill>
            <a:srgbClr val="F4F7FA"/>
          </a:solidFill>
          <a:ln>
            <a:noFill/>
          </a:ln>
        </p:spPr>
      </p:sp>
      <p:sp>
        <p:nvSpPr>
          <p:cNvPr id="74" name="TextBox 74"/>
          <p:cNvSpPr txBox="1"/>
          <p:nvPr/>
        </p:nvSpPr>
        <p:spPr>
          <a:xfrm>
            <a:off x="6581750" y="4847749"/>
            <a:ext cx="1505000"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ChromaDB (existing)</a:t>
            </a:r>
          </a:p>
        </p:txBody>
      </p:sp>
      <p:sp>
        <p:nvSpPr>
          <p:cNvPr id="75" name="TextBox 75"/>
          <p:cNvSpPr txBox="1"/>
          <p:nvPr/>
        </p:nvSpPr>
        <p:spPr>
          <a:xfrm>
            <a:off x="6471714" y="5093970"/>
            <a:ext cx="1725073"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Already in docker-compose</a:t>
            </a:r>
          </a:p>
        </p:txBody>
      </p:sp>
      <p:sp>
        <p:nvSpPr>
          <p:cNvPr id="76" name="TextBox 76"/>
          <p:cNvSpPr txBox="1"/>
          <p:nvPr/>
        </p:nvSpPr>
        <p:spPr>
          <a:xfrm>
            <a:off x="7030355" y="5255895"/>
            <a:ext cx="60779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Port 8001</a:t>
            </a:r>
          </a:p>
        </p:txBody>
      </p:sp>
      <p:sp>
        <p:nvSpPr>
          <p:cNvPr id="77" name="Rectangle 77"/>
          <p:cNvSpPr/>
          <p:nvPr/>
        </p:nvSpPr>
        <p:spPr>
          <a:xfrm>
            <a:off x="8858250" y="4667250"/>
            <a:ext cx="2476500" cy="762000"/>
          </a:xfrm>
          <a:prstGeom prst="roundRect">
            <a:avLst>
              <a:gd name="adj" fmla="val 10000"/>
            </a:avLst>
          </a:prstGeom>
          <a:solidFill>
            <a:srgbClr val="F4F7FA"/>
          </a:solidFill>
          <a:ln>
            <a:noFill/>
          </a:ln>
        </p:spPr>
      </p:sp>
      <p:sp>
        <p:nvSpPr>
          <p:cNvPr id="78" name="TextBox 78"/>
          <p:cNvSpPr txBox="1"/>
          <p:nvPr/>
        </p:nvSpPr>
        <p:spPr>
          <a:xfrm>
            <a:off x="9172054" y="4847749"/>
            <a:ext cx="1848893" cy="198120"/>
          </a:xfrm>
          <a:prstGeom prst="rect">
            <a:avLst/>
          </a:prstGeom>
          <a:noFill/>
          <a:ln>
            <a:noFill/>
          </a:ln>
        </p:spPr>
        <p:txBody>
          <a:bodyPr wrap="none" lIns="0" tIns="0" rIns="0" bIns="0" anchor="t" anchorCtr="0">
            <a:spAutoFit/>
          </a:bodyPr>
          <a:lstStyle/>
          <a:p>
            <a:pPr algn="ctr"/>
            <a:r>
              <a:rPr lang="zh-CN" sz="975" b="1" dirty="0">
                <a:solidFill>
                  <a:srgbClr val="2D3748"/>
                </a:solidFill>
                <a:latin typeface="Arial"/>
                <a:ea typeface="Microsoft YaHei"/>
                <a:cs typeface="Arial"/>
              </a:rPr>
              <a:t>React Client (pim-client)</a:t>
            </a:r>
          </a:p>
        </p:txBody>
      </p:sp>
      <p:sp>
        <p:nvSpPr>
          <p:cNvPr id="79" name="TextBox 79"/>
          <p:cNvSpPr txBox="1"/>
          <p:nvPr/>
        </p:nvSpPr>
        <p:spPr>
          <a:xfrm>
            <a:off x="9486995" y="5093970"/>
            <a:ext cx="1219009"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Semantic search UI</a:t>
            </a:r>
          </a:p>
        </p:txBody>
      </p:sp>
      <p:sp>
        <p:nvSpPr>
          <p:cNvPr id="80" name="TextBox 80"/>
          <p:cNvSpPr txBox="1"/>
          <p:nvPr/>
        </p:nvSpPr>
        <p:spPr>
          <a:xfrm>
            <a:off x="9388412" y="5255895"/>
            <a:ext cx="1416177"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 AI suggestions panel</a:t>
            </a:r>
          </a:p>
        </p:txBody>
      </p:sp>
      <p:sp>
        <p:nvSpPr>
          <p:cNvPr id="81" name="Rectangle 81"/>
          <p:cNvSpPr/>
          <p:nvPr/>
        </p:nvSpPr>
        <p:spPr>
          <a:xfrm>
            <a:off x="571500" y="5905500"/>
            <a:ext cx="11049000" cy="476250"/>
          </a:xfrm>
          <a:prstGeom prst="roundRect">
            <a:avLst>
              <a:gd name="adj" fmla="val 16000"/>
            </a:avLst>
          </a:prstGeom>
          <a:solidFill>
            <a:srgbClr val="45B69C">
              <a:alpha val="8000"/>
            </a:srgbClr>
          </a:solidFill>
          <a:ln>
            <a:noFill/>
          </a:ln>
        </p:spPr>
      </p:sp>
      <p:sp>
        <p:nvSpPr>
          <p:cNvPr id="82" name="TextBox 82"/>
          <p:cNvSpPr txBox="1"/>
          <p:nvPr/>
        </p:nvSpPr>
        <p:spPr>
          <a:xfrm>
            <a:off x="2567059" y="6077902"/>
            <a:ext cx="7057882" cy="213360"/>
          </a:xfrm>
          <a:prstGeom prst="rect">
            <a:avLst/>
          </a:prstGeom>
          <a:noFill/>
          <a:ln>
            <a:noFill/>
          </a:ln>
        </p:spPr>
        <p:txBody>
          <a:bodyPr wrap="none" lIns="0" tIns="0" rIns="0" bIns="0" anchor="t" anchorCtr="0">
            <a:spAutoFit/>
          </a:bodyPr>
          <a:lstStyle/>
          <a:p>
            <a:pPr algn="ctr"/>
            <a:r>
              <a:rPr lang="zh-CN" sz="1050" dirty="0">
                <a:solidFill>
                  <a:srgbClr val="45B69C"/>
                </a:solidFill>
                <a:latin typeface="Arial"/>
                <a:ea typeface="Microsoft YaHei"/>
                <a:cs typeface="Arial"/>
              </a:rPr>
              <a:t>Zero new infrastructure needed — ChromaDB + RabbitMQ + AI Service đều đã có sẵn trong stack</a:t>
            </a:r>
          </a:p>
        </p:txBody>
      </p:sp>
      <p:sp>
        <p:nvSpPr>
          <p:cNvPr id="83" name="TextBox 83"/>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6354547"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Các Use Cases với LLM + Embeddings</a:t>
            </a:r>
          </a:p>
        </p:txBody>
      </p:sp>
      <p:sp>
        <p:nvSpPr>
          <p:cNvPr id="6" name="Rectangle 6"/>
          <p:cNvSpPr/>
          <p:nvPr/>
        </p:nvSpPr>
        <p:spPr>
          <a:xfrm>
            <a:off x="571500" y="1476375"/>
            <a:ext cx="5334000" cy="2190750"/>
          </a:xfrm>
          <a:prstGeom prst="roundRect">
            <a:avLst>
              <a:gd name="adj" fmla="val 5217"/>
            </a:avLst>
          </a:prstGeom>
          <a:solidFill>
            <a:srgbClr val="F4F7FA"/>
          </a:solidFill>
          <a:ln w="14288">
            <a:solidFill>
              <a:srgbClr val="2E86AB"/>
            </a:solidFill>
          </a:ln>
        </p:spPr>
      </p:sp>
      <p:sp>
        <p:nvSpPr>
          <p:cNvPr id="7" name="Rectangle 7"/>
          <p:cNvSpPr/>
          <p:nvPr/>
        </p:nvSpPr>
        <p:spPr>
          <a:xfrm>
            <a:off x="762000" y="1666875"/>
            <a:ext cx="419100" cy="419100"/>
          </a:xfrm>
          <a:prstGeom prst="roundRect">
            <a:avLst>
              <a:gd name="adj" fmla="val 18182"/>
            </a:avLst>
          </a:prstGeom>
          <a:solidFill>
            <a:srgbClr val="2E86AB">
              <a:alpha val="10000"/>
            </a:srgbClr>
          </a:solidFill>
          <a:ln>
            <a:noFill/>
          </a:ln>
        </p:spPr>
      </p:sp>
      <p:sp>
        <p:nvSpPr>
          <p:cNvPr id="8" name="TextBox 8"/>
          <p:cNvSpPr txBox="1"/>
          <p:nvPr/>
        </p:nvSpPr>
        <p:spPr>
          <a:xfrm>
            <a:off x="848177" y="1764982"/>
            <a:ext cx="246745" cy="335280"/>
          </a:xfrm>
          <a:prstGeom prst="rect">
            <a:avLst/>
          </a:prstGeom>
          <a:noFill/>
          <a:ln>
            <a:noFill/>
          </a:ln>
        </p:spPr>
        <p:txBody>
          <a:bodyPr wrap="none" lIns="0" tIns="0" rIns="0" bIns="0" anchor="t" anchorCtr="0">
            <a:spAutoFit/>
          </a:bodyPr>
          <a:lstStyle/>
          <a:p>
            <a:pPr algn="ctr"/>
            <a:r>
              <a:rPr lang="zh-CN" sz="1650" dirty="0">
                <a:solidFill>
                  <a:srgbClr val="2E86AB"/>
                </a:solidFill>
                <a:latin typeface="Arial"/>
                <a:ea typeface="Microsoft YaHei"/>
                <a:cs typeface="Arial"/>
              </a:rPr>
              <a:t>01</a:t>
            </a:r>
          </a:p>
        </p:txBody>
      </p:sp>
      <p:sp>
        <p:nvSpPr>
          <p:cNvPr id="9" name="TextBox 9"/>
          <p:cNvSpPr txBox="1"/>
          <p:nvPr/>
        </p:nvSpPr>
        <p:spPr>
          <a:xfrm>
            <a:off x="1316355" y="1759268"/>
            <a:ext cx="253930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Semantic Product Search</a:t>
            </a:r>
          </a:p>
        </p:txBody>
      </p:sp>
      <p:sp>
        <p:nvSpPr>
          <p:cNvPr id="10" name="TextBox 10"/>
          <p:cNvSpPr txBox="1"/>
          <p:nvPr/>
        </p:nvSpPr>
        <p:spPr>
          <a:xfrm>
            <a:off x="748665" y="2172652"/>
            <a:ext cx="315506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Input: "Bàn ăn gỗ sồi cho gia đình 6 người"</a:t>
            </a:r>
          </a:p>
        </p:txBody>
      </p:sp>
      <p:sp>
        <p:nvSpPr>
          <p:cNvPr id="11" name="TextBox 11"/>
          <p:cNvSpPr txBox="1"/>
          <p:nvPr/>
        </p:nvSpPr>
        <p:spPr>
          <a:xfrm>
            <a:off x="748665" y="2439352"/>
            <a:ext cx="4082844"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Output: Top-K products ranked by semantic relevance</a:t>
            </a:r>
          </a:p>
        </p:txBody>
      </p:sp>
      <p:sp>
        <p:nvSpPr>
          <p:cNvPr id="12" name="TextBox 12"/>
          <p:cNvSpPr txBox="1"/>
          <p:nvPr/>
        </p:nvSpPr>
        <p:spPr>
          <a:xfrm>
            <a:off x="749618" y="2799874"/>
            <a:ext cx="2545223"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Hiểu ngữ nghĩa, không chỉ keyword</a:t>
            </a:r>
          </a:p>
        </p:txBody>
      </p:sp>
      <p:sp>
        <p:nvSpPr>
          <p:cNvPr id="13" name="TextBox 13"/>
          <p:cNvSpPr txBox="1"/>
          <p:nvPr/>
        </p:nvSpPr>
        <p:spPr>
          <a:xfrm>
            <a:off x="749618" y="3018949"/>
            <a:ext cx="3734252"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Cross-language: search tiếng Việt, match tiếng Anh</a:t>
            </a:r>
          </a:p>
        </p:txBody>
      </p:sp>
      <p:sp>
        <p:nvSpPr>
          <p:cNvPr id="14" name="TextBox 14"/>
          <p:cNvSpPr txBox="1"/>
          <p:nvPr/>
        </p:nvSpPr>
        <p:spPr>
          <a:xfrm>
            <a:off x="749618" y="3238024"/>
            <a:ext cx="3584734"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Filter kết hợp: semantic + category + price range</a:t>
            </a:r>
          </a:p>
        </p:txBody>
      </p:sp>
      <p:sp>
        <p:nvSpPr>
          <p:cNvPr id="15" name="Rectangle 15"/>
          <p:cNvSpPr/>
          <p:nvPr/>
        </p:nvSpPr>
        <p:spPr>
          <a:xfrm>
            <a:off x="6286500" y="1476375"/>
            <a:ext cx="5334000" cy="2190750"/>
          </a:xfrm>
          <a:prstGeom prst="roundRect">
            <a:avLst>
              <a:gd name="adj" fmla="val 5217"/>
            </a:avLst>
          </a:prstGeom>
          <a:solidFill>
            <a:srgbClr val="F4F7FA"/>
          </a:solidFill>
          <a:ln w="14288">
            <a:solidFill>
              <a:srgbClr val="45B69C"/>
            </a:solidFill>
          </a:ln>
        </p:spPr>
      </p:sp>
      <p:sp>
        <p:nvSpPr>
          <p:cNvPr id="16" name="Rectangle 16"/>
          <p:cNvSpPr/>
          <p:nvPr/>
        </p:nvSpPr>
        <p:spPr>
          <a:xfrm>
            <a:off x="6477000" y="1666875"/>
            <a:ext cx="419100" cy="419100"/>
          </a:xfrm>
          <a:prstGeom prst="roundRect">
            <a:avLst>
              <a:gd name="adj" fmla="val 18182"/>
            </a:avLst>
          </a:prstGeom>
          <a:solidFill>
            <a:srgbClr val="45B69C">
              <a:alpha val="10000"/>
            </a:srgbClr>
          </a:solidFill>
          <a:ln>
            <a:noFill/>
          </a:ln>
        </p:spPr>
      </p:sp>
      <p:sp>
        <p:nvSpPr>
          <p:cNvPr id="17" name="TextBox 17"/>
          <p:cNvSpPr txBox="1"/>
          <p:nvPr/>
        </p:nvSpPr>
        <p:spPr>
          <a:xfrm>
            <a:off x="6533055" y="1764982"/>
            <a:ext cx="306991" cy="335280"/>
          </a:xfrm>
          <a:prstGeom prst="rect">
            <a:avLst/>
          </a:prstGeom>
          <a:noFill/>
          <a:ln>
            <a:noFill/>
          </a:ln>
        </p:spPr>
        <p:txBody>
          <a:bodyPr wrap="none" lIns="0" tIns="0" rIns="0" bIns="0" anchor="t" anchorCtr="0">
            <a:spAutoFit/>
          </a:bodyPr>
          <a:lstStyle/>
          <a:p>
            <a:pPr algn="ctr"/>
            <a:r>
              <a:rPr lang="zh-CN" sz="1650" dirty="0">
                <a:solidFill>
                  <a:srgbClr val="45B69C"/>
                </a:solidFill>
                <a:latin typeface="Arial"/>
                <a:ea typeface="Microsoft YaHei"/>
                <a:cs typeface="Arial"/>
              </a:rPr>
              <a:t>02</a:t>
            </a:r>
          </a:p>
        </p:txBody>
      </p:sp>
      <p:sp>
        <p:nvSpPr>
          <p:cNvPr id="18" name="TextBox 18"/>
          <p:cNvSpPr txBox="1"/>
          <p:nvPr/>
        </p:nvSpPr>
        <p:spPr>
          <a:xfrm>
            <a:off x="7031355" y="1759268"/>
            <a:ext cx="2839491"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Auto-Generate Descriptions</a:t>
            </a:r>
          </a:p>
        </p:txBody>
      </p:sp>
      <p:sp>
        <p:nvSpPr>
          <p:cNvPr id="19" name="TextBox 19"/>
          <p:cNvSpPr txBox="1"/>
          <p:nvPr/>
        </p:nvSpPr>
        <p:spPr>
          <a:xfrm>
            <a:off x="6463665" y="2172652"/>
            <a:ext cx="3592116"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Input: Sản phẩm mới (chỉ có basic data từ D365)</a:t>
            </a:r>
          </a:p>
        </p:txBody>
      </p:sp>
      <p:sp>
        <p:nvSpPr>
          <p:cNvPr id="20" name="TextBox 20"/>
          <p:cNvSpPr txBox="1"/>
          <p:nvPr/>
        </p:nvSpPr>
        <p:spPr>
          <a:xfrm>
            <a:off x="6463665" y="2439352"/>
            <a:ext cx="320106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Output: Draft B2B/B2C descriptions, USPs</a:t>
            </a:r>
          </a:p>
        </p:txBody>
      </p:sp>
      <p:sp>
        <p:nvSpPr>
          <p:cNvPr id="21" name="TextBox 21"/>
          <p:cNvSpPr txBox="1"/>
          <p:nvPr/>
        </p:nvSpPr>
        <p:spPr>
          <a:xfrm>
            <a:off x="6464618" y="2799874"/>
            <a:ext cx="317177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RAG: tìm 5 sản phẩm tương tự đã có content</a:t>
            </a:r>
          </a:p>
        </p:txBody>
      </p:sp>
      <p:sp>
        <p:nvSpPr>
          <p:cNvPr id="22" name="TextBox 22"/>
          <p:cNvSpPr txBox="1"/>
          <p:nvPr/>
        </p:nvSpPr>
        <p:spPr>
          <a:xfrm>
            <a:off x="6464618" y="3018949"/>
            <a:ext cx="321449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LLM generate dựa trên context + brand tone</a:t>
            </a:r>
          </a:p>
        </p:txBody>
      </p:sp>
      <p:sp>
        <p:nvSpPr>
          <p:cNvPr id="23" name="TextBox 23"/>
          <p:cNvSpPr txBox="1"/>
          <p:nvPr/>
        </p:nvSpPr>
        <p:spPr>
          <a:xfrm>
            <a:off x="6464618" y="3238024"/>
            <a:ext cx="2659142"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Human review required (Golden Rule)</a:t>
            </a:r>
          </a:p>
        </p:txBody>
      </p:sp>
      <p:sp>
        <p:nvSpPr>
          <p:cNvPr id="24" name="Rectangle 24"/>
          <p:cNvSpPr/>
          <p:nvPr/>
        </p:nvSpPr>
        <p:spPr>
          <a:xfrm>
            <a:off x="571500" y="3905250"/>
            <a:ext cx="5334000" cy="2190750"/>
          </a:xfrm>
          <a:prstGeom prst="roundRect">
            <a:avLst>
              <a:gd name="adj" fmla="val 5217"/>
            </a:avLst>
          </a:prstGeom>
          <a:solidFill>
            <a:srgbClr val="F4F7FA"/>
          </a:solidFill>
          <a:ln w="14288">
            <a:solidFill>
              <a:srgbClr val="1A3A5C"/>
            </a:solidFill>
          </a:ln>
        </p:spPr>
      </p:sp>
      <p:sp>
        <p:nvSpPr>
          <p:cNvPr id="25" name="Rectangle 25"/>
          <p:cNvSpPr/>
          <p:nvPr/>
        </p:nvSpPr>
        <p:spPr>
          <a:xfrm>
            <a:off x="762000" y="4095750"/>
            <a:ext cx="419100" cy="419100"/>
          </a:xfrm>
          <a:prstGeom prst="roundRect">
            <a:avLst>
              <a:gd name="adj" fmla="val 18182"/>
            </a:avLst>
          </a:prstGeom>
          <a:solidFill>
            <a:srgbClr val="1A3A5C">
              <a:alpha val="10000"/>
            </a:srgbClr>
          </a:solidFill>
          <a:ln>
            <a:noFill/>
          </a:ln>
        </p:spPr>
      </p:sp>
      <p:sp>
        <p:nvSpPr>
          <p:cNvPr id="26" name="TextBox 26"/>
          <p:cNvSpPr txBox="1"/>
          <p:nvPr/>
        </p:nvSpPr>
        <p:spPr>
          <a:xfrm>
            <a:off x="818055" y="4193858"/>
            <a:ext cx="306991" cy="335280"/>
          </a:xfrm>
          <a:prstGeom prst="rect">
            <a:avLst/>
          </a:prstGeom>
          <a:noFill/>
          <a:ln>
            <a:noFill/>
          </a:ln>
        </p:spPr>
        <p:txBody>
          <a:bodyPr wrap="none" lIns="0" tIns="0" rIns="0" bIns="0" anchor="t" anchorCtr="0">
            <a:spAutoFit/>
          </a:bodyPr>
          <a:lstStyle/>
          <a:p>
            <a:pPr algn="ctr"/>
            <a:r>
              <a:rPr lang="zh-CN" sz="1650" dirty="0">
                <a:solidFill>
                  <a:srgbClr val="1A3A5C"/>
                </a:solidFill>
                <a:latin typeface="Arial"/>
                <a:ea typeface="Microsoft YaHei"/>
                <a:cs typeface="Arial"/>
              </a:rPr>
              <a:t>03</a:t>
            </a:r>
          </a:p>
        </p:txBody>
      </p:sp>
      <p:sp>
        <p:nvSpPr>
          <p:cNvPr id="27" name="TextBox 27"/>
          <p:cNvSpPr txBox="1"/>
          <p:nvPr/>
        </p:nvSpPr>
        <p:spPr>
          <a:xfrm>
            <a:off x="1316355" y="4188142"/>
            <a:ext cx="3719351"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Duplicate / Near-Duplicate Detection</a:t>
            </a:r>
          </a:p>
        </p:txBody>
      </p:sp>
      <p:sp>
        <p:nvSpPr>
          <p:cNvPr id="28" name="TextBox 28"/>
          <p:cNvSpPr txBox="1"/>
          <p:nvPr/>
        </p:nvSpPr>
        <p:spPr>
          <a:xfrm>
            <a:off x="748665" y="4601528"/>
            <a:ext cx="3760803"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Trigger: Khi tạo sản phẩm mới hoặc scheduled scan</a:t>
            </a:r>
          </a:p>
        </p:txBody>
      </p:sp>
      <p:sp>
        <p:nvSpPr>
          <p:cNvPr id="29" name="TextBox 29"/>
          <p:cNvSpPr txBox="1"/>
          <p:nvPr/>
        </p:nvSpPr>
        <p:spPr>
          <a:xfrm>
            <a:off x="748665" y="4868228"/>
            <a:ext cx="355377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Output: Alert nếu cosine similarity &gt; threshold</a:t>
            </a:r>
          </a:p>
        </p:txBody>
      </p:sp>
      <p:sp>
        <p:nvSpPr>
          <p:cNvPr id="30" name="TextBox 30"/>
          <p:cNvSpPr txBox="1"/>
          <p:nvPr/>
        </p:nvSpPr>
        <p:spPr>
          <a:xfrm>
            <a:off x="749618" y="5228749"/>
            <a:ext cx="285138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Threshold 0.92: likely duplicate → alert</a:t>
            </a:r>
          </a:p>
        </p:txBody>
      </p:sp>
      <p:sp>
        <p:nvSpPr>
          <p:cNvPr id="31" name="TextBox 31"/>
          <p:cNvSpPr txBox="1"/>
          <p:nvPr/>
        </p:nvSpPr>
        <p:spPr>
          <a:xfrm>
            <a:off x="749618" y="5447824"/>
            <a:ext cx="3328416"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Threshold 0.80-0.92: similar → suggest merge</a:t>
            </a:r>
          </a:p>
        </p:txBody>
      </p:sp>
      <p:sp>
        <p:nvSpPr>
          <p:cNvPr id="32" name="TextBox 32"/>
          <p:cNvSpPr txBox="1"/>
          <p:nvPr/>
        </p:nvSpPr>
        <p:spPr>
          <a:xfrm>
            <a:off x="749618" y="5666899"/>
            <a:ext cx="3164657"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Giảm data redundancy, improve consistency</a:t>
            </a:r>
          </a:p>
        </p:txBody>
      </p:sp>
      <p:sp>
        <p:nvSpPr>
          <p:cNvPr id="33" name="Rectangle 33"/>
          <p:cNvSpPr/>
          <p:nvPr/>
        </p:nvSpPr>
        <p:spPr>
          <a:xfrm>
            <a:off x="6286500" y="3905250"/>
            <a:ext cx="5334000" cy="2190750"/>
          </a:xfrm>
          <a:prstGeom prst="roundRect">
            <a:avLst>
              <a:gd name="adj" fmla="val 5217"/>
            </a:avLst>
          </a:prstGeom>
          <a:solidFill>
            <a:srgbClr val="F4F7FA"/>
          </a:solidFill>
          <a:ln w="14288">
            <a:solidFill>
              <a:srgbClr val="38A169"/>
            </a:solidFill>
          </a:ln>
        </p:spPr>
      </p:sp>
      <p:sp>
        <p:nvSpPr>
          <p:cNvPr id="34" name="Rectangle 34"/>
          <p:cNvSpPr/>
          <p:nvPr/>
        </p:nvSpPr>
        <p:spPr>
          <a:xfrm>
            <a:off x="6477000" y="4095750"/>
            <a:ext cx="419100" cy="419100"/>
          </a:xfrm>
          <a:prstGeom prst="roundRect">
            <a:avLst>
              <a:gd name="adj" fmla="val 18182"/>
            </a:avLst>
          </a:prstGeom>
          <a:solidFill>
            <a:srgbClr val="38A169">
              <a:alpha val="10000"/>
            </a:srgbClr>
          </a:solidFill>
          <a:ln>
            <a:noFill/>
          </a:ln>
        </p:spPr>
      </p:sp>
      <p:sp>
        <p:nvSpPr>
          <p:cNvPr id="35" name="TextBox 35"/>
          <p:cNvSpPr txBox="1"/>
          <p:nvPr/>
        </p:nvSpPr>
        <p:spPr>
          <a:xfrm>
            <a:off x="6533055" y="4193858"/>
            <a:ext cx="306991" cy="335280"/>
          </a:xfrm>
          <a:prstGeom prst="rect">
            <a:avLst/>
          </a:prstGeom>
          <a:noFill/>
          <a:ln>
            <a:noFill/>
          </a:ln>
        </p:spPr>
        <p:txBody>
          <a:bodyPr wrap="none" lIns="0" tIns="0" rIns="0" bIns="0" anchor="t" anchorCtr="0">
            <a:spAutoFit/>
          </a:bodyPr>
          <a:lstStyle/>
          <a:p>
            <a:pPr algn="ctr"/>
            <a:r>
              <a:rPr lang="zh-CN" sz="1650" dirty="0">
                <a:solidFill>
                  <a:srgbClr val="38A169"/>
                </a:solidFill>
                <a:latin typeface="Arial"/>
                <a:ea typeface="Microsoft YaHei"/>
                <a:cs typeface="Arial"/>
              </a:rPr>
              <a:t>04</a:t>
            </a:r>
          </a:p>
        </p:txBody>
      </p:sp>
      <p:sp>
        <p:nvSpPr>
          <p:cNvPr id="36" name="TextBox 36"/>
          <p:cNvSpPr txBox="1"/>
          <p:nvPr/>
        </p:nvSpPr>
        <p:spPr>
          <a:xfrm>
            <a:off x="7031355" y="4188142"/>
            <a:ext cx="2446141"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a:ea typeface="Microsoft YaHei"/>
                <a:cs typeface="Arial"/>
              </a:rPr>
              <a:t>Smart Recommendations</a:t>
            </a:r>
          </a:p>
        </p:txBody>
      </p:sp>
      <p:sp>
        <p:nvSpPr>
          <p:cNvPr id="37" name="TextBox 37"/>
          <p:cNvSpPr txBox="1"/>
          <p:nvPr/>
        </p:nvSpPr>
        <p:spPr>
          <a:xfrm>
            <a:off x="6463665" y="4601528"/>
            <a:ext cx="2748677"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Input: Product being viewed / edited</a:t>
            </a:r>
          </a:p>
        </p:txBody>
      </p:sp>
      <p:sp>
        <p:nvSpPr>
          <p:cNvPr id="38" name="TextBox 38"/>
          <p:cNvSpPr txBox="1"/>
          <p:nvPr/>
        </p:nvSpPr>
        <p:spPr>
          <a:xfrm>
            <a:off x="6463665" y="4868228"/>
            <a:ext cx="3799141" cy="213360"/>
          </a:xfrm>
          <a:prstGeom prst="rect">
            <a:avLst/>
          </a:prstGeom>
          <a:noFill/>
          <a:ln>
            <a:noFill/>
          </a:ln>
        </p:spPr>
        <p:txBody>
          <a:bodyPr wrap="none" lIns="0" tIns="0" rIns="0" bIns="0" anchor="t" anchorCtr="0">
            <a:spAutoFit/>
          </a:bodyPr>
          <a:lstStyle/>
          <a:p>
            <a:pPr algn="l"/>
            <a:r>
              <a:rPr lang="zh-CN" sz="1050" dirty="0">
                <a:solidFill>
                  <a:srgbClr val="2D3748"/>
                </a:solidFill>
                <a:latin typeface="Arial"/>
                <a:ea typeface="Microsoft YaHei"/>
                <a:cs typeface="Arial"/>
              </a:rPr>
              <a:t>Output: Related products, cross-sell suggestions</a:t>
            </a:r>
          </a:p>
        </p:txBody>
      </p:sp>
      <p:sp>
        <p:nvSpPr>
          <p:cNvPr id="39" name="TextBox 39"/>
          <p:cNvSpPr txBox="1"/>
          <p:nvPr/>
        </p:nvSpPr>
        <p:spPr>
          <a:xfrm>
            <a:off x="6464618" y="5228749"/>
            <a:ext cx="277306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"Customers who bought X also need Y"</a:t>
            </a:r>
          </a:p>
        </p:txBody>
      </p:sp>
      <p:sp>
        <p:nvSpPr>
          <p:cNvPr id="40" name="TextBox 40"/>
          <p:cNvSpPr txBox="1"/>
          <p:nvPr/>
        </p:nvSpPr>
        <p:spPr>
          <a:xfrm>
            <a:off x="6464618" y="5447824"/>
            <a:ext cx="3328416"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Material-based: same fabric → suggest bundle</a:t>
            </a:r>
          </a:p>
        </p:txBody>
      </p:sp>
      <p:sp>
        <p:nvSpPr>
          <p:cNvPr id="41" name="TextBox 41"/>
          <p:cNvSpPr txBox="1"/>
          <p:nvPr/>
        </p:nvSpPr>
        <p:spPr>
          <a:xfrm>
            <a:off x="6464618" y="5666899"/>
            <a:ext cx="2751701"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 Feed to Website + B2B Portal channels</a:t>
            </a:r>
          </a:p>
        </p:txBody>
      </p:sp>
      <p:sp>
        <p:nvSpPr>
          <p:cNvPr id="42" name="TextBox 42"/>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6188926"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Luồng dữ liệu &amp; Đồng bộ Embeddings</a:t>
            </a:r>
          </a:p>
        </p:txBody>
      </p:sp>
      <p:sp>
        <p:nvSpPr>
          <p:cNvPr id="6" name="Rectangle 6"/>
          <p:cNvSpPr/>
          <p:nvPr/>
        </p:nvSpPr>
        <p:spPr>
          <a:xfrm>
            <a:off x="571500" y="1524000"/>
            <a:ext cx="3429000" cy="952500"/>
          </a:xfrm>
          <a:prstGeom prst="roundRect">
            <a:avLst>
              <a:gd name="adj" fmla="val 10000"/>
            </a:avLst>
          </a:prstGeom>
          <a:solidFill>
            <a:srgbClr val="1A3A5C"/>
          </a:solidFill>
          <a:ln>
            <a:noFill/>
          </a:ln>
        </p:spPr>
      </p:sp>
      <p:sp>
        <p:nvSpPr>
          <p:cNvPr id="7" name="TextBox 7"/>
          <p:cNvSpPr txBox="1"/>
          <p:nvPr/>
        </p:nvSpPr>
        <p:spPr>
          <a:xfrm>
            <a:off x="748665" y="1696402"/>
            <a:ext cx="145974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1. D365 Sync Event</a:t>
            </a:r>
          </a:p>
        </p:txBody>
      </p:sp>
      <p:sp>
        <p:nvSpPr>
          <p:cNvPr id="8" name="TextBox 8"/>
          <p:cNvSpPr txBox="1"/>
          <p:nvPr/>
        </p:nvSpPr>
        <p:spPr>
          <a:xfrm>
            <a:off x="750570" y="1950720"/>
            <a:ext cx="2822638"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D365 scheduled sync → PIM Database updated</a:t>
            </a:r>
          </a:p>
        </p:txBody>
      </p:sp>
      <p:sp>
        <p:nvSpPr>
          <p:cNvPr id="9" name="TextBox 9"/>
          <p:cNvSpPr txBox="1"/>
          <p:nvPr/>
        </p:nvSpPr>
        <p:spPr>
          <a:xfrm>
            <a:off x="750570" y="2169795"/>
            <a:ext cx="2428303"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Hangfire job detects changed records</a:t>
            </a:r>
          </a:p>
        </p:txBody>
      </p:sp>
      <p:sp>
        <p:nvSpPr>
          <p:cNvPr id="10" name="TextBox 10"/>
          <p:cNvSpPr txBox="1"/>
          <p:nvPr/>
        </p:nvSpPr>
        <p:spPr>
          <a:xfrm>
            <a:off x="751522" y="2311241"/>
            <a:ext cx="2539222" cy="167640"/>
          </a:xfrm>
          <a:prstGeom prst="rect">
            <a:avLst/>
          </a:prstGeom>
          <a:noFill/>
          <a:ln>
            <a:noFill/>
          </a:ln>
        </p:spPr>
        <p:txBody>
          <a:bodyPr wrap="none" lIns="0" tIns="0" rIns="0" bIns="0" anchor="t" anchorCtr="0">
            <a:spAutoFit/>
          </a:bodyPr>
          <a:lstStyle/>
          <a:p>
            <a:pPr algn="l"/>
            <a:r>
              <a:rPr lang="zh-CN" sz="825" dirty="0">
                <a:solidFill>
                  <a:srgbClr val="45B69C"/>
                </a:solidFill>
                <a:latin typeface="Arial"/>
                <a:ea typeface="Microsoft YaHei"/>
                <a:cs typeface="Arial"/>
              </a:rPr>
              <a:t>Trigger: product.synced event → RabbitMQ</a:t>
            </a:r>
          </a:p>
        </p:txBody>
      </p:sp>
      <p:sp>
        <p:nvSpPr>
          <p:cNvPr id="11" name="Freeform 11"/>
          <p:cNvSpPr/>
          <p:nvPr/>
        </p:nvSpPr>
        <p:spPr>
          <a:xfrm>
            <a:off x="2286000" y="2476500"/>
            <a:ext cx="2095500" cy="381000"/>
          </a:xfrm>
          <a:custGeom>
            <a:avLst/>
            <a:gdLst/>
            <a:ahLst/>
            <a:cxnLst/>
            <a:rect l="l" t="t" r="r" b="b"/>
            <a:pathLst>
              <a:path w="2095500" h="381000">
                <a:moveTo>
                  <a:pt x="0" y="0"/>
                </a:moveTo>
                <a:lnTo>
                  <a:pt x="0" y="190500"/>
                </a:lnTo>
                <a:lnTo>
                  <a:pt x="2095500" y="190500"/>
                </a:lnTo>
                <a:lnTo>
                  <a:pt x="2095500" y="381000"/>
                </a:lnTo>
              </a:path>
            </a:pathLst>
          </a:custGeom>
          <a:noFill/>
          <a:ln w="19050">
            <a:solidFill>
              <a:srgbClr val="2E86AB"/>
            </a:solidFill>
          </a:ln>
        </p:spPr>
      </p:sp>
      <p:sp>
        <p:nvSpPr>
          <p:cNvPr id="12" name="Polygon 12"/>
          <p:cNvSpPr/>
          <p:nvPr/>
        </p:nvSpPr>
        <p:spPr>
          <a:xfrm>
            <a:off x="4333875" y="2838450"/>
            <a:ext cx="95250" cy="95250"/>
          </a:xfrm>
          <a:custGeom>
            <a:avLst/>
            <a:gdLst/>
            <a:ahLst/>
            <a:cxnLst/>
            <a:rect l="l" t="t" r="r" b="b"/>
            <a:pathLst>
              <a:path w="95250" h="95250">
                <a:moveTo>
                  <a:pt x="0" y="0"/>
                </a:moveTo>
                <a:lnTo>
                  <a:pt x="47625" y="95250"/>
                </a:lnTo>
                <a:lnTo>
                  <a:pt x="95250" y="0"/>
                </a:lnTo>
                <a:close/>
              </a:path>
            </a:pathLst>
          </a:custGeom>
          <a:solidFill>
            <a:srgbClr val="2E86AB"/>
          </a:solidFill>
          <a:ln>
            <a:noFill/>
          </a:ln>
        </p:spPr>
      </p:sp>
      <p:sp>
        <p:nvSpPr>
          <p:cNvPr id="13" name="Rectangle 13"/>
          <p:cNvSpPr/>
          <p:nvPr/>
        </p:nvSpPr>
        <p:spPr>
          <a:xfrm>
            <a:off x="3429000" y="2952750"/>
            <a:ext cx="3429000" cy="1143000"/>
          </a:xfrm>
          <a:prstGeom prst="roundRect">
            <a:avLst>
              <a:gd name="adj" fmla="val 8333"/>
            </a:avLst>
          </a:prstGeom>
          <a:solidFill>
            <a:srgbClr val="2E86AB"/>
          </a:solidFill>
          <a:ln>
            <a:noFill/>
          </a:ln>
        </p:spPr>
      </p:sp>
      <p:sp>
        <p:nvSpPr>
          <p:cNvPr id="14" name="TextBox 14"/>
          <p:cNvSpPr txBox="1"/>
          <p:nvPr/>
        </p:nvSpPr>
        <p:spPr>
          <a:xfrm>
            <a:off x="3606165" y="3125152"/>
            <a:ext cx="191060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2. AI Service Processing</a:t>
            </a:r>
          </a:p>
        </p:txBody>
      </p:sp>
      <p:sp>
        <p:nvSpPr>
          <p:cNvPr id="15" name="TextBox 15"/>
          <p:cNvSpPr txBox="1"/>
          <p:nvPr/>
        </p:nvSpPr>
        <p:spPr>
          <a:xfrm>
            <a:off x="3608070" y="3379470"/>
            <a:ext cx="2848927"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a) Fetch full product data from PostgreSQL</a:t>
            </a:r>
          </a:p>
        </p:txBody>
      </p:sp>
      <p:sp>
        <p:nvSpPr>
          <p:cNvPr id="16" name="TextBox 16"/>
          <p:cNvSpPr txBox="1"/>
          <p:nvPr/>
        </p:nvSpPr>
        <p:spPr>
          <a:xfrm>
            <a:off x="3608070" y="3598545"/>
            <a:ext cx="2967228"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b) Chunk: product + text_contents + material</a:t>
            </a:r>
          </a:p>
        </p:txBody>
      </p:sp>
      <p:sp>
        <p:nvSpPr>
          <p:cNvPr id="17" name="TextBox 17"/>
          <p:cNvSpPr txBox="1"/>
          <p:nvPr/>
        </p:nvSpPr>
        <p:spPr>
          <a:xfrm>
            <a:off x="3608070" y="3817620"/>
            <a:ext cx="2237708"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c) Call embedding API (batch mode)</a:t>
            </a:r>
          </a:p>
        </p:txBody>
      </p:sp>
      <p:sp>
        <p:nvSpPr>
          <p:cNvPr id="18" name="TextBox 18"/>
          <p:cNvSpPr txBox="1"/>
          <p:nvPr/>
        </p:nvSpPr>
        <p:spPr>
          <a:xfrm>
            <a:off x="3609022" y="3959066"/>
            <a:ext cx="3599545" cy="167640"/>
          </a:xfrm>
          <a:prstGeom prst="rect">
            <a:avLst/>
          </a:prstGeom>
          <a:noFill/>
          <a:ln>
            <a:noFill/>
          </a:ln>
        </p:spPr>
        <p:txBody>
          <a:bodyPr wrap="none" lIns="0" tIns="0" rIns="0" bIns="0" anchor="t" anchorCtr="0">
            <a:spAutoFit/>
          </a:bodyPr>
          <a:lstStyle/>
          <a:p>
            <a:pPr algn="l"/>
            <a:r>
              <a:rPr lang="zh-CN" sz="825" dirty="0">
                <a:solidFill>
                  <a:srgbClr val="45B69C"/>
                </a:solidFill>
                <a:latin typeface="Arial"/>
                <a:ea typeface="Microsoft YaHei"/>
                <a:cs typeface="Arial"/>
              </a:rPr>
              <a:t>Idempotent: same data = same embedding (skip if unchanged)</a:t>
            </a:r>
          </a:p>
        </p:txBody>
      </p:sp>
      <p:sp>
        <p:nvSpPr>
          <p:cNvPr id="19" name="Freeform 19"/>
          <p:cNvSpPr/>
          <p:nvPr/>
        </p:nvSpPr>
        <p:spPr>
          <a:xfrm>
            <a:off x="5143500" y="4095750"/>
            <a:ext cx="2095500" cy="381000"/>
          </a:xfrm>
          <a:custGeom>
            <a:avLst/>
            <a:gdLst/>
            <a:ahLst/>
            <a:cxnLst/>
            <a:rect l="l" t="t" r="r" b="b"/>
            <a:pathLst>
              <a:path w="2095500" h="381000">
                <a:moveTo>
                  <a:pt x="0" y="0"/>
                </a:moveTo>
                <a:lnTo>
                  <a:pt x="0" y="190500"/>
                </a:lnTo>
                <a:lnTo>
                  <a:pt x="2095500" y="190500"/>
                </a:lnTo>
                <a:lnTo>
                  <a:pt x="2095500" y="381000"/>
                </a:lnTo>
              </a:path>
            </a:pathLst>
          </a:custGeom>
          <a:noFill/>
          <a:ln w="19050">
            <a:solidFill>
              <a:srgbClr val="45B69C"/>
            </a:solidFill>
          </a:ln>
        </p:spPr>
      </p:sp>
      <p:sp>
        <p:nvSpPr>
          <p:cNvPr id="20" name="Polygon 20"/>
          <p:cNvSpPr/>
          <p:nvPr/>
        </p:nvSpPr>
        <p:spPr>
          <a:xfrm>
            <a:off x="7191375" y="4457700"/>
            <a:ext cx="95250" cy="95250"/>
          </a:xfrm>
          <a:custGeom>
            <a:avLst/>
            <a:gdLst/>
            <a:ahLst/>
            <a:cxnLst/>
            <a:rect l="l" t="t" r="r" b="b"/>
            <a:pathLst>
              <a:path w="95250" h="95250">
                <a:moveTo>
                  <a:pt x="0" y="0"/>
                </a:moveTo>
                <a:lnTo>
                  <a:pt x="47625" y="95250"/>
                </a:lnTo>
                <a:lnTo>
                  <a:pt x="95250" y="0"/>
                </a:lnTo>
                <a:close/>
              </a:path>
            </a:pathLst>
          </a:custGeom>
          <a:solidFill>
            <a:srgbClr val="45B69C"/>
          </a:solidFill>
          <a:ln>
            <a:noFill/>
          </a:ln>
        </p:spPr>
      </p:sp>
      <p:sp>
        <p:nvSpPr>
          <p:cNvPr id="21" name="Rectangle 21"/>
          <p:cNvSpPr/>
          <p:nvPr/>
        </p:nvSpPr>
        <p:spPr>
          <a:xfrm>
            <a:off x="6286500" y="4572000"/>
            <a:ext cx="3429000" cy="952500"/>
          </a:xfrm>
          <a:prstGeom prst="roundRect">
            <a:avLst>
              <a:gd name="adj" fmla="val 10000"/>
            </a:avLst>
          </a:prstGeom>
          <a:solidFill>
            <a:srgbClr val="45B69C"/>
          </a:solidFill>
          <a:ln>
            <a:noFill/>
          </a:ln>
        </p:spPr>
      </p:sp>
      <p:sp>
        <p:nvSpPr>
          <p:cNvPr id="22" name="TextBox 22"/>
          <p:cNvSpPr txBox="1"/>
          <p:nvPr/>
        </p:nvSpPr>
        <p:spPr>
          <a:xfrm>
            <a:off x="6463665" y="4744402"/>
            <a:ext cx="1572463"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3. ChromaDB Upsert</a:t>
            </a:r>
          </a:p>
        </p:txBody>
      </p:sp>
      <p:sp>
        <p:nvSpPr>
          <p:cNvPr id="23" name="TextBox 23"/>
          <p:cNvSpPr txBox="1"/>
          <p:nvPr/>
        </p:nvSpPr>
        <p:spPr>
          <a:xfrm>
            <a:off x="6465570" y="4998720"/>
            <a:ext cx="1968246"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Upsert vector with metadata:</a:t>
            </a:r>
          </a:p>
        </p:txBody>
      </p:sp>
      <p:sp>
        <p:nvSpPr>
          <p:cNvPr id="24" name="TextBox 24"/>
          <p:cNvSpPr txBox="1"/>
          <p:nvPr/>
        </p:nvSpPr>
        <p:spPr>
          <a:xfrm>
            <a:off x="6465570" y="5217795"/>
            <a:ext cx="3177540" cy="182880"/>
          </a:xfrm>
          <a:prstGeom prst="rect">
            <a:avLst/>
          </a:prstGeom>
          <a:noFill/>
          <a:ln>
            <a:noFill/>
          </a:ln>
        </p:spPr>
        <p:txBody>
          <a:bodyPr wrap="none" lIns="0" tIns="0" rIns="0" bIns="0" anchor="t" anchorCtr="0">
            <a:spAutoFit/>
          </a:bodyPr>
          <a:lstStyle/>
          <a:p>
            <a:pPr algn="l"/>
            <a:r>
              <a:rPr lang="zh-CN" sz="900" dirty="0">
                <a:solidFill>
                  <a:srgbClr val="FFFFFF">
                    <a:alphaMod val="80000"/>
                  </a:srgbClr>
                </a:solidFill>
                <a:latin typeface="Arial"/>
                <a:ea typeface="Microsoft YaHei"/>
                <a:cs typeface="Arial"/>
              </a:rPr>
              <a:t>entity_id, entity_type, updated_at, range_name</a:t>
            </a:r>
          </a:p>
        </p:txBody>
      </p:sp>
      <p:sp>
        <p:nvSpPr>
          <p:cNvPr id="25" name="TextBox 25"/>
          <p:cNvSpPr txBox="1"/>
          <p:nvPr/>
        </p:nvSpPr>
        <p:spPr>
          <a:xfrm>
            <a:off x="6466522" y="5378291"/>
            <a:ext cx="3177826" cy="167640"/>
          </a:xfrm>
          <a:prstGeom prst="rect">
            <a:avLst/>
          </a:prstGeom>
          <a:noFill/>
          <a:ln>
            <a:noFill/>
          </a:ln>
        </p:spPr>
        <p:txBody>
          <a:bodyPr wrap="none" lIns="0" tIns="0" rIns="0" bIns="0" anchor="t" anchorCtr="0">
            <a:spAutoFit/>
          </a:bodyPr>
          <a:lstStyle/>
          <a:p>
            <a:pPr algn="l"/>
            <a:r>
              <a:rPr lang="zh-CN" sz="825" dirty="0">
                <a:solidFill>
                  <a:srgbClr val="FFFFFF">
                    <a:alphaMod val="70000"/>
                  </a:srgbClr>
                </a:solidFill>
                <a:latin typeface="Arial"/>
                <a:ea typeface="Microsoft YaHei"/>
                <a:cs typeface="Arial"/>
              </a:rPr>
              <a:t>Collection: pim_products | pim_assets | pim_materials</a:t>
            </a:r>
          </a:p>
        </p:txBody>
      </p:sp>
      <p:sp>
        <p:nvSpPr>
          <p:cNvPr id="26" name="Rectangle 26"/>
          <p:cNvSpPr/>
          <p:nvPr/>
        </p:nvSpPr>
        <p:spPr>
          <a:xfrm>
            <a:off x="8191500" y="1524000"/>
            <a:ext cx="3429000" cy="2381250"/>
          </a:xfrm>
          <a:prstGeom prst="roundRect">
            <a:avLst>
              <a:gd name="adj" fmla="val 4800"/>
            </a:avLst>
          </a:prstGeom>
          <a:solidFill>
            <a:srgbClr val="F4F7FA"/>
          </a:solidFill>
          <a:ln w="9525">
            <a:solidFill>
              <a:srgbClr val="E2E8F0"/>
            </a:solidFill>
          </a:ln>
        </p:spPr>
      </p:sp>
      <p:sp>
        <p:nvSpPr>
          <p:cNvPr id="27" name="TextBox 27"/>
          <p:cNvSpPr txBox="1"/>
          <p:nvPr/>
        </p:nvSpPr>
        <p:spPr>
          <a:xfrm>
            <a:off x="8774635" y="1735931"/>
            <a:ext cx="2262729"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Incremental Sync Strategy</a:t>
            </a:r>
          </a:p>
        </p:txBody>
      </p:sp>
      <p:sp>
        <p:nvSpPr>
          <p:cNvPr id="28" name="TextBox 28"/>
          <p:cNvSpPr txBox="1"/>
          <p:nvPr/>
        </p:nvSpPr>
        <p:spPr>
          <a:xfrm>
            <a:off x="8369618" y="2085499"/>
            <a:ext cx="2153626"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 Hash-based change detection</a:t>
            </a:r>
          </a:p>
        </p:txBody>
      </p:sp>
      <p:sp>
        <p:nvSpPr>
          <p:cNvPr id="29" name="TextBox 29"/>
          <p:cNvSpPr txBox="1"/>
          <p:nvPr/>
        </p:nvSpPr>
        <p:spPr>
          <a:xfrm>
            <a:off x="8561070" y="2312670"/>
            <a:ext cx="2402014"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MD5(chunk_text) stored in metadata</a:t>
            </a:r>
          </a:p>
        </p:txBody>
      </p:sp>
      <p:sp>
        <p:nvSpPr>
          <p:cNvPr id="30" name="TextBox 30"/>
          <p:cNvSpPr txBox="1"/>
          <p:nvPr/>
        </p:nvSpPr>
        <p:spPr>
          <a:xfrm>
            <a:off x="8369618" y="2590324"/>
            <a:ext cx="1327714"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 Batch processing</a:t>
            </a:r>
          </a:p>
        </p:txBody>
      </p:sp>
      <p:sp>
        <p:nvSpPr>
          <p:cNvPr id="31" name="TextBox 31"/>
          <p:cNvSpPr txBox="1"/>
          <p:nvPr/>
        </p:nvSpPr>
        <p:spPr>
          <a:xfrm>
            <a:off x="8561070" y="2817495"/>
            <a:ext cx="1987963"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Max 100 embeddings per API call</a:t>
            </a:r>
          </a:p>
        </p:txBody>
      </p:sp>
      <p:sp>
        <p:nvSpPr>
          <p:cNvPr id="32" name="TextBox 32"/>
          <p:cNvSpPr txBox="1"/>
          <p:nvPr/>
        </p:nvSpPr>
        <p:spPr>
          <a:xfrm>
            <a:off x="8369618" y="3095149"/>
            <a:ext cx="1477232"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 Retry with backoff</a:t>
            </a:r>
          </a:p>
        </p:txBody>
      </p:sp>
      <p:sp>
        <p:nvSpPr>
          <p:cNvPr id="33" name="TextBox 33"/>
          <p:cNvSpPr txBox="1"/>
          <p:nvPr/>
        </p:nvSpPr>
        <p:spPr>
          <a:xfrm>
            <a:off x="8561070" y="3322320"/>
            <a:ext cx="2066830"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Failed items → dead letter queue</a:t>
            </a:r>
          </a:p>
        </p:txBody>
      </p:sp>
      <p:sp>
        <p:nvSpPr>
          <p:cNvPr id="34" name="TextBox 34"/>
          <p:cNvSpPr txBox="1"/>
          <p:nvPr/>
        </p:nvSpPr>
        <p:spPr>
          <a:xfrm>
            <a:off x="8369618" y="3599974"/>
            <a:ext cx="1683710" cy="198120"/>
          </a:xfrm>
          <a:prstGeom prst="rect">
            <a:avLst/>
          </a:prstGeom>
          <a:noFill/>
          <a:ln>
            <a:noFill/>
          </a:ln>
        </p:spPr>
        <p:txBody>
          <a:bodyPr wrap="none" lIns="0" tIns="0" rIns="0" bIns="0" anchor="t" anchorCtr="0">
            <a:spAutoFit/>
          </a:bodyPr>
          <a:lstStyle/>
          <a:p>
            <a:pPr algn="l"/>
            <a:r>
              <a:rPr lang="zh-CN" sz="975" dirty="0">
                <a:solidFill>
                  <a:srgbClr val="2D3748"/>
                </a:solidFill>
                <a:latin typeface="Arial"/>
                <a:ea typeface="Microsoft YaHei"/>
                <a:cs typeface="Arial"/>
              </a:rPr>
              <a:t>✓ Full re-index (manual)</a:t>
            </a:r>
          </a:p>
        </p:txBody>
      </p:sp>
      <p:sp>
        <p:nvSpPr>
          <p:cNvPr id="35" name="TextBox 35"/>
          <p:cNvSpPr txBox="1"/>
          <p:nvPr/>
        </p:nvSpPr>
        <p:spPr>
          <a:xfrm>
            <a:off x="8561070" y="3712845"/>
            <a:ext cx="2191702"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Admin trigger for schema changes</a:t>
            </a:r>
          </a:p>
        </p:txBody>
      </p:sp>
      <p:sp>
        <p:nvSpPr>
          <p:cNvPr id="36" name="Rectangle 36"/>
          <p:cNvSpPr/>
          <p:nvPr/>
        </p:nvSpPr>
        <p:spPr>
          <a:xfrm>
            <a:off x="571500" y="5905500"/>
            <a:ext cx="2571750" cy="571500"/>
          </a:xfrm>
          <a:prstGeom prst="roundRect">
            <a:avLst>
              <a:gd name="adj" fmla="val 13333"/>
            </a:avLst>
          </a:prstGeom>
          <a:solidFill>
            <a:srgbClr val="F4F7FA"/>
          </a:solidFill>
          <a:ln>
            <a:noFill/>
          </a:ln>
        </p:spPr>
      </p:sp>
      <p:sp>
        <p:nvSpPr>
          <p:cNvPr id="37" name="TextBox 37"/>
          <p:cNvSpPr txBox="1"/>
          <p:nvPr/>
        </p:nvSpPr>
        <p:spPr>
          <a:xfrm>
            <a:off x="1246918" y="6038374"/>
            <a:ext cx="1220915"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~5,000 products</a:t>
            </a:r>
          </a:p>
        </p:txBody>
      </p:sp>
      <p:sp>
        <p:nvSpPr>
          <p:cNvPr id="38" name="TextBox 38"/>
          <p:cNvSpPr txBox="1"/>
          <p:nvPr/>
        </p:nvSpPr>
        <p:spPr>
          <a:xfrm>
            <a:off x="1070420" y="6236970"/>
            <a:ext cx="1573911"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Initial full index: ~$0.65</a:t>
            </a:r>
          </a:p>
        </p:txBody>
      </p:sp>
      <p:sp>
        <p:nvSpPr>
          <p:cNvPr id="39" name="Rectangle 39"/>
          <p:cNvSpPr/>
          <p:nvPr/>
        </p:nvSpPr>
        <p:spPr>
          <a:xfrm>
            <a:off x="3429000" y="5905500"/>
            <a:ext cx="2571750" cy="571500"/>
          </a:xfrm>
          <a:prstGeom prst="roundRect">
            <a:avLst>
              <a:gd name="adj" fmla="val 13333"/>
            </a:avLst>
          </a:prstGeom>
          <a:solidFill>
            <a:srgbClr val="F4F7FA"/>
          </a:solidFill>
          <a:ln>
            <a:noFill/>
          </a:ln>
        </p:spPr>
      </p:sp>
      <p:sp>
        <p:nvSpPr>
          <p:cNvPr id="40" name="TextBox 40"/>
          <p:cNvSpPr txBox="1"/>
          <p:nvPr/>
        </p:nvSpPr>
        <p:spPr>
          <a:xfrm>
            <a:off x="4104418" y="6038374"/>
            <a:ext cx="1220915"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~50 updates/day</a:t>
            </a:r>
          </a:p>
        </p:txBody>
      </p:sp>
      <p:sp>
        <p:nvSpPr>
          <p:cNvPr id="41" name="TextBox 41"/>
          <p:cNvSpPr txBox="1"/>
          <p:nvPr/>
        </p:nvSpPr>
        <p:spPr>
          <a:xfrm>
            <a:off x="4082367" y="6236970"/>
            <a:ext cx="1265015"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Daily cost: ~$0.007</a:t>
            </a:r>
          </a:p>
        </p:txBody>
      </p:sp>
      <p:sp>
        <p:nvSpPr>
          <p:cNvPr id="42" name="Rectangle 42"/>
          <p:cNvSpPr/>
          <p:nvPr/>
        </p:nvSpPr>
        <p:spPr>
          <a:xfrm>
            <a:off x="6286500" y="5905500"/>
            <a:ext cx="2571750" cy="571500"/>
          </a:xfrm>
          <a:prstGeom prst="roundRect">
            <a:avLst>
              <a:gd name="adj" fmla="val 13333"/>
            </a:avLst>
          </a:prstGeom>
          <a:solidFill>
            <a:srgbClr val="F4F7FA"/>
          </a:solidFill>
          <a:ln>
            <a:noFill/>
          </a:ln>
        </p:spPr>
      </p:sp>
      <p:sp>
        <p:nvSpPr>
          <p:cNvPr id="43" name="TextBox 43"/>
          <p:cNvSpPr txBox="1"/>
          <p:nvPr/>
        </p:nvSpPr>
        <p:spPr>
          <a:xfrm>
            <a:off x="7272169" y="6038374"/>
            <a:ext cx="600412"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Latency</a:t>
            </a:r>
          </a:p>
        </p:txBody>
      </p:sp>
      <p:sp>
        <p:nvSpPr>
          <p:cNvPr id="44" name="TextBox 44"/>
          <p:cNvSpPr txBox="1"/>
          <p:nvPr/>
        </p:nvSpPr>
        <p:spPr>
          <a:xfrm>
            <a:off x="6555391" y="6236970"/>
            <a:ext cx="2033968"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Embed: ~200ms | Search: ~50ms</a:t>
            </a:r>
          </a:p>
        </p:txBody>
      </p:sp>
      <p:sp>
        <p:nvSpPr>
          <p:cNvPr id="45" name="TextBox 45"/>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57150"/>
          </a:xfrm>
          <a:prstGeom prst="rect">
            <a:avLst/>
          </a:prstGeom>
          <a:solidFill>
            <a:srgbClr val="2E86AB"/>
          </a:solidFill>
          <a:ln>
            <a:noFill/>
          </a:ln>
        </p:spPr>
      </p:sp>
      <p:sp>
        <p:nvSpPr>
          <p:cNvPr id="4" name="TextBox 4"/>
          <p:cNvSpPr txBox="1"/>
          <p:nvPr/>
        </p:nvSpPr>
        <p:spPr>
          <a:xfrm>
            <a:off x="558165" y="601028"/>
            <a:ext cx="1767221" cy="213360"/>
          </a:xfrm>
          <a:prstGeom prst="rect">
            <a:avLst/>
          </a:prstGeom>
          <a:noFill/>
          <a:ln>
            <a:noFill/>
          </a:ln>
        </p:spPr>
        <p:txBody>
          <a:bodyPr wrap="none" lIns="0" tIns="0" rIns="0" bIns="0" anchor="t" anchorCtr="0">
            <a:spAutoFit/>
          </a:bodyPr>
          <a:lstStyle/>
          <a:p>
            <a:pPr algn="l"/>
            <a:r>
              <a:rPr lang="zh-CN" sz="1050" dirty="0">
                <a:solidFill>
                  <a:srgbClr val="718096"/>
                </a:solidFill>
                <a:latin typeface="Arial"/>
                <a:ea typeface="Microsoft YaHei"/>
                <a:cs typeface="Arial"/>
              </a:rPr>
              <a:t>09 / Embedding Solution</a:t>
            </a:r>
          </a:p>
        </p:txBody>
      </p:sp>
      <p:sp>
        <p:nvSpPr>
          <p:cNvPr id="5" name="TextBox 5"/>
          <p:cNvSpPr txBox="1"/>
          <p:nvPr/>
        </p:nvSpPr>
        <p:spPr>
          <a:xfrm>
            <a:off x="541020" y="836295"/>
            <a:ext cx="3446983" cy="487680"/>
          </a:xfrm>
          <a:prstGeom prst="rect">
            <a:avLst/>
          </a:prstGeom>
          <a:noFill/>
          <a:ln>
            <a:noFill/>
          </a:ln>
        </p:spPr>
        <p:txBody>
          <a:bodyPr wrap="none" lIns="0" tIns="0" rIns="0" bIns="0" anchor="t" anchorCtr="0">
            <a:spAutoFit/>
          </a:bodyPr>
          <a:lstStyle/>
          <a:p>
            <a:pPr algn="l"/>
            <a:r>
              <a:rPr lang="zh-CN" sz="2400" b="1" dirty="0">
                <a:solidFill>
                  <a:srgbClr val="1A3A5C"/>
                </a:solidFill>
                <a:latin typeface="Arial"/>
                <a:ea typeface="Microsoft YaHei"/>
                <a:cs typeface="Arial"/>
              </a:rPr>
              <a:t>Lộ trình triển khai</a:t>
            </a:r>
          </a:p>
        </p:txBody>
      </p:sp>
      <p:sp>
        <p:nvSpPr>
          <p:cNvPr id="6" name="Rectangle 6"/>
          <p:cNvSpPr/>
          <p:nvPr/>
        </p:nvSpPr>
        <p:spPr>
          <a:xfrm>
            <a:off x="571500" y="2667000"/>
            <a:ext cx="11049000" cy="38100"/>
          </a:xfrm>
          <a:prstGeom prst="roundRect">
            <a:avLst>
              <a:gd name="adj" fmla="val 50000"/>
            </a:avLst>
          </a:prstGeom>
          <a:solidFill>
            <a:srgbClr val="E2E8F0"/>
          </a:solidFill>
          <a:ln>
            <a:noFill/>
          </a:ln>
        </p:spPr>
      </p:sp>
      <p:sp>
        <p:nvSpPr>
          <p:cNvPr id="7" name="Ellipse 7"/>
          <p:cNvSpPr/>
          <p:nvPr/>
        </p:nvSpPr>
        <p:spPr>
          <a:xfrm>
            <a:off x="1371600" y="2533650"/>
            <a:ext cx="304800" cy="304800"/>
          </a:xfrm>
          <a:prstGeom prst="ellipse">
            <a:avLst/>
          </a:prstGeom>
          <a:solidFill>
            <a:srgbClr val="2E86AB"/>
          </a:solidFill>
          <a:ln>
            <a:noFill/>
          </a:ln>
        </p:spPr>
      </p:sp>
      <p:sp>
        <p:nvSpPr>
          <p:cNvPr id="8" name="TextBox 8"/>
          <p:cNvSpPr txBox="1"/>
          <p:nvPr/>
        </p:nvSpPr>
        <p:spPr>
          <a:xfrm>
            <a:off x="1491867" y="2646045"/>
            <a:ext cx="642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9" name="Rectangle 9"/>
          <p:cNvSpPr/>
          <p:nvPr/>
        </p:nvSpPr>
        <p:spPr>
          <a:xfrm>
            <a:off x="762000" y="1619250"/>
            <a:ext cx="1905000" cy="857250"/>
          </a:xfrm>
          <a:prstGeom prst="roundRect">
            <a:avLst>
              <a:gd name="adj" fmla="val 11111"/>
            </a:avLst>
          </a:prstGeom>
          <a:solidFill>
            <a:srgbClr val="2E86AB"/>
          </a:solidFill>
          <a:ln>
            <a:noFill/>
          </a:ln>
        </p:spPr>
      </p:sp>
      <p:sp>
        <p:nvSpPr>
          <p:cNvPr id="10" name="TextBox 10"/>
          <p:cNvSpPr txBox="1"/>
          <p:nvPr/>
        </p:nvSpPr>
        <p:spPr>
          <a:xfrm>
            <a:off x="1431456" y="1772602"/>
            <a:ext cx="56608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1</a:t>
            </a:r>
          </a:p>
        </p:txBody>
      </p:sp>
      <p:sp>
        <p:nvSpPr>
          <p:cNvPr id="11" name="TextBox 11"/>
          <p:cNvSpPr txBox="1"/>
          <p:nvPr/>
        </p:nvSpPr>
        <p:spPr>
          <a:xfrm>
            <a:off x="1144429" y="1998345"/>
            <a:ext cx="1140142"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ChromaDB Setup +</a:t>
            </a:r>
          </a:p>
        </p:txBody>
      </p:sp>
      <p:sp>
        <p:nvSpPr>
          <p:cNvPr id="12" name="TextBox 12"/>
          <p:cNvSpPr txBox="1"/>
          <p:nvPr/>
        </p:nvSpPr>
        <p:spPr>
          <a:xfrm>
            <a:off x="924258" y="2188845"/>
            <a:ext cx="1580483"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Basic Product Embedding</a:t>
            </a:r>
          </a:p>
        </p:txBody>
      </p:sp>
      <p:sp>
        <p:nvSpPr>
          <p:cNvPr id="13" name="Freeform 13"/>
          <p:cNvSpPr/>
          <p:nvPr/>
        </p:nvSpPr>
        <p:spPr>
          <a:xfrm>
            <a:off x="1524000" y="2533650"/>
            <a:ext cx="9525" cy="9525"/>
          </a:xfrm>
          <a:custGeom>
            <a:avLst/>
            <a:gdLst/>
            <a:ahLst/>
            <a:cxnLst/>
            <a:rect l="l" t="t" r="r" b="b"/>
            <a:pathLst>
              <a:path w="9525" h="9525">
                <a:moveTo>
                  <a:pt x="0" y="0"/>
                </a:moveTo>
                <a:lnTo>
                  <a:pt x="0" y="0"/>
                </a:lnTo>
              </a:path>
            </a:pathLst>
          </a:custGeom>
          <a:noFill/>
          <a:ln w="19050">
            <a:solidFill>
              <a:srgbClr val="2E86AB"/>
            </a:solidFill>
          </a:ln>
        </p:spPr>
      </p:sp>
      <p:sp>
        <p:nvSpPr>
          <p:cNvPr id="14" name="TextBox 14"/>
          <p:cNvSpPr txBox="1"/>
          <p:nvPr/>
        </p:nvSpPr>
        <p:spPr>
          <a:xfrm>
            <a:off x="1283602" y="2942749"/>
            <a:ext cx="480797" cy="198120"/>
          </a:xfrm>
          <a:prstGeom prst="rect">
            <a:avLst/>
          </a:prstGeom>
          <a:noFill/>
          <a:ln>
            <a:noFill/>
          </a:ln>
        </p:spPr>
        <p:txBody>
          <a:bodyPr wrap="none" lIns="0" tIns="0" rIns="0" bIns="0" anchor="t" anchorCtr="0">
            <a:spAutoFit/>
          </a:bodyPr>
          <a:lstStyle/>
          <a:p>
            <a:pPr algn="ctr"/>
            <a:r>
              <a:rPr lang="zh-CN" sz="975" b="1" dirty="0">
                <a:solidFill>
                  <a:srgbClr val="2E86AB"/>
                </a:solidFill>
                <a:latin typeface="Arial"/>
                <a:ea typeface="Microsoft YaHei"/>
                <a:cs typeface="Arial"/>
              </a:rPr>
              <a:t>2 tuần</a:t>
            </a:r>
          </a:p>
        </p:txBody>
      </p:sp>
      <p:sp>
        <p:nvSpPr>
          <p:cNvPr id="15" name="TextBox 15"/>
          <p:cNvSpPr txBox="1"/>
          <p:nvPr/>
        </p:nvSpPr>
        <p:spPr>
          <a:xfrm>
            <a:off x="1010472" y="3197066"/>
            <a:ext cx="102705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Collections setup</a:t>
            </a:r>
          </a:p>
        </p:txBody>
      </p:sp>
      <p:sp>
        <p:nvSpPr>
          <p:cNvPr id="16" name="TextBox 16"/>
          <p:cNvSpPr txBox="1"/>
          <p:nvPr/>
        </p:nvSpPr>
        <p:spPr>
          <a:xfrm>
            <a:off x="1109877" y="3368516"/>
            <a:ext cx="828246"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Chunking logic</a:t>
            </a:r>
          </a:p>
        </p:txBody>
      </p:sp>
      <p:sp>
        <p:nvSpPr>
          <p:cNvPr id="17" name="TextBox 17"/>
          <p:cNvSpPr txBox="1"/>
          <p:nvPr/>
        </p:nvSpPr>
        <p:spPr>
          <a:xfrm>
            <a:off x="1052643" y="3539966"/>
            <a:ext cx="942713"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Initial full index</a:t>
            </a:r>
          </a:p>
        </p:txBody>
      </p:sp>
      <p:sp>
        <p:nvSpPr>
          <p:cNvPr id="18" name="Ellipse 18"/>
          <p:cNvSpPr/>
          <p:nvPr/>
        </p:nvSpPr>
        <p:spPr>
          <a:xfrm>
            <a:off x="4038600" y="2533650"/>
            <a:ext cx="304800" cy="304800"/>
          </a:xfrm>
          <a:prstGeom prst="ellipse">
            <a:avLst/>
          </a:prstGeom>
          <a:solidFill>
            <a:srgbClr val="45B69C"/>
          </a:solidFill>
          <a:ln>
            <a:noFill/>
          </a:ln>
        </p:spPr>
      </p:sp>
      <p:sp>
        <p:nvSpPr>
          <p:cNvPr id="19" name="TextBox 19"/>
          <p:cNvSpPr txBox="1"/>
          <p:nvPr/>
        </p:nvSpPr>
        <p:spPr>
          <a:xfrm>
            <a:off x="4141615" y="2646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20" name="Rectangle 20"/>
          <p:cNvSpPr/>
          <p:nvPr/>
        </p:nvSpPr>
        <p:spPr>
          <a:xfrm>
            <a:off x="3429000" y="1619250"/>
            <a:ext cx="1905000" cy="857250"/>
          </a:xfrm>
          <a:prstGeom prst="roundRect">
            <a:avLst>
              <a:gd name="adj" fmla="val 11111"/>
            </a:avLst>
          </a:prstGeom>
          <a:solidFill>
            <a:srgbClr val="45B69C"/>
          </a:solidFill>
          <a:ln>
            <a:noFill/>
          </a:ln>
        </p:spPr>
      </p:sp>
      <p:sp>
        <p:nvSpPr>
          <p:cNvPr id="21" name="TextBox 21"/>
          <p:cNvSpPr txBox="1"/>
          <p:nvPr/>
        </p:nvSpPr>
        <p:spPr>
          <a:xfrm>
            <a:off x="4078329" y="1772602"/>
            <a:ext cx="60634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2</a:t>
            </a:r>
          </a:p>
        </p:txBody>
      </p:sp>
      <p:sp>
        <p:nvSpPr>
          <p:cNvPr id="22" name="TextBox 22"/>
          <p:cNvSpPr txBox="1"/>
          <p:nvPr/>
        </p:nvSpPr>
        <p:spPr>
          <a:xfrm>
            <a:off x="3735848" y="1998345"/>
            <a:ext cx="1291304"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Semantic Search API</a:t>
            </a:r>
          </a:p>
        </p:txBody>
      </p:sp>
      <p:sp>
        <p:nvSpPr>
          <p:cNvPr id="23" name="TextBox 23"/>
          <p:cNvSpPr txBox="1"/>
          <p:nvPr/>
        </p:nvSpPr>
        <p:spPr>
          <a:xfrm>
            <a:off x="3873865" y="2188845"/>
            <a:ext cx="1015270"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 UI Integration</a:t>
            </a:r>
          </a:p>
        </p:txBody>
      </p:sp>
      <p:sp>
        <p:nvSpPr>
          <p:cNvPr id="24" name="TextBox 24"/>
          <p:cNvSpPr txBox="1"/>
          <p:nvPr/>
        </p:nvSpPr>
        <p:spPr>
          <a:xfrm>
            <a:off x="3950602" y="2942749"/>
            <a:ext cx="480797" cy="198120"/>
          </a:xfrm>
          <a:prstGeom prst="rect">
            <a:avLst/>
          </a:prstGeom>
          <a:noFill/>
          <a:ln>
            <a:noFill/>
          </a:ln>
        </p:spPr>
        <p:txBody>
          <a:bodyPr wrap="none" lIns="0" tIns="0" rIns="0" bIns="0" anchor="t" anchorCtr="0">
            <a:spAutoFit/>
          </a:bodyPr>
          <a:lstStyle/>
          <a:p>
            <a:pPr algn="ctr"/>
            <a:r>
              <a:rPr lang="zh-CN" sz="975" b="1" dirty="0">
                <a:solidFill>
                  <a:srgbClr val="45B69C"/>
                </a:solidFill>
                <a:latin typeface="Arial"/>
                <a:ea typeface="Microsoft YaHei"/>
                <a:cs typeface="Arial"/>
              </a:rPr>
              <a:t>3 tuần</a:t>
            </a:r>
          </a:p>
        </p:txBody>
      </p:sp>
      <p:sp>
        <p:nvSpPr>
          <p:cNvPr id="25" name="TextBox 25"/>
          <p:cNvSpPr txBox="1"/>
          <p:nvPr/>
        </p:nvSpPr>
        <p:spPr>
          <a:xfrm>
            <a:off x="3680484" y="3197066"/>
            <a:ext cx="1021032"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Search endpoints</a:t>
            </a:r>
          </a:p>
        </p:txBody>
      </p:sp>
      <p:sp>
        <p:nvSpPr>
          <p:cNvPr id="26" name="TextBox 26"/>
          <p:cNvSpPr txBox="1"/>
          <p:nvPr/>
        </p:nvSpPr>
        <p:spPr>
          <a:xfrm>
            <a:off x="3728680" y="3368516"/>
            <a:ext cx="924639"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React search UI</a:t>
            </a:r>
          </a:p>
        </p:txBody>
      </p:sp>
      <p:sp>
        <p:nvSpPr>
          <p:cNvPr id="27" name="TextBox 27"/>
          <p:cNvSpPr txBox="1"/>
          <p:nvPr/>
        </p:nvSpPr>
        <p:spPr>
          <a:xfrm>
            <a:off x="3195507" y="3539966"/>
            <a:ext cx="199098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Hybrid search (semantic + filter)</a:t>
            </a:r>
          </a:p>
        </p:txBody>
      </p:sp>
      <p:sp>
        <p:nvSpPr>
          <p:cNvPr id="28" name="Ellipse 28"/>
          <p:cNvSpPr/>
          <p:nvPr/>
        </p:nvSpPr>
        <p:spPr>
          <a:xfrm>
            <a:off x="6896100" y="2533650"/>
            <a:ext cx="304800" cy="304800"/>
          </a:xfrm>
          <a:prstGeom prst="ellipse">
            <a:avLst/>
          </a:prstGeom>
          <a:solidFill>
            <a:srgbClr val="1A3A5C"/>
          </a:solidFill>
          <a:ln>
            <a:noFill/>
          </a:ln>
        </p:spPr>
      </p:sp>
      <p:sp>
        <p:nvSpPr>
          <p:cNvPr id="29" name="TextBox 29"/>
          <p:cNvSpPr txBox="1"/>
          <p:nvPr/>
        </p:nvSpPr>
        <p:spPr>
          <a:xfrm>
            <a:off x="6999115" y="2646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30" name="Rectangle 30"/>
          <p:cNvSpPr/>
          <p:nvPr/>
        </p:nvSpPr>
        <p:spPr>
          <a:xfrm>
            <a:off x="6286500" y="1619250"/>
            <a:ext cx="1905000" cy="857250"/>
          </a:xfrm>
          <a:prstGeom prst="roundRect">
            <a:avLst>
              <a:gd name="adj" fmla="val 11111"/>
            </a:avLst>
          </a:prstGeom>
          <a:solidFill>
            <a:srgbClr val="1A3A5C"/>
          </a:solidFill>
          <a:ln>
            <a:noFill/>
          </a:ln>
        </p:spPr>
      </p:sp>
      <p:sp>
        <p:nvSpPr>
          <p:cNvPr id="31" name="TextBox 31"/>
          <p:cNvSpPr txBox="1"/>
          <p:nvPr/>
        </p:nvSpPr>
        <p:spPr>
          <a:xfrm>
            <a:off x="6935829" y="1772602"/>
            <a:ext cx="60634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3</a:t>
            </a:r>
          </a:p>
        </p:txBody>
      </p:sp>
      <p:sp>
        <p:nvSpPr>
          <p:cNvPr id="32" name="TextBox 32"/>
          <p:cNvSpPr txBox="1"/>
          <p:nvPr/>
        </p:nvSpPr>
        <p:spPr>
          <a:xfrm>
            <a:off x="6672215" y="1998345"/>
            <a:ext cx="1133570"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LLM Enrichment +</a:t>
            </a:r>
          </a:p>
        </p:txBody>
      </p:sp>
      <p:sp>
        <p:nvSpPr>
          <p:cNvPr id="33" name="TextBox 33"/>
          <p:cNvSpPr txBox="1"/>
          <p:nvPr/>
        </p:nvSpPr>
        <p:spPr>
          <a:xfrm>
            <a:off x="6636067" y="2188845"/>
            <a:ext cx="1205865"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Approval Workflow</a:t>
            </a:r>
          </a:p>
        </p:txBody>
      </p:sp>
      <p:sp>
        <p:nvSpPr>
          <p:cNvPr id="34" name="TextBox 34"/>
          <p:cNvSpPr txBox="1"/>
          <p:nvPr/>
        </p:nvSpPr>
        <p:spPr>
          <a:xfrm>
            <a:off x="6808102" y="2942749"/>
            <a:ext cx="480797"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a:ea typeface="Microsoft YaHei"/>
                <a:cs typeface="Arial"/>
              </a:rPr>
              <a:t>4 tuần</a:t>
            </a:r>
          </a:p>
        </p:txBody>
      </p:sp>
      <p:sp>
        <p:nvSpPr>
          <p:cNvPr id="35" name="TextBox 35"/>
          <p:cNvSpPr txBox="1"/>
          <p:nvPr/>
        </p:nvSpPr>
        <p:spPr>
          <a:xfrm>
            <a:off x="6432554" y="3197066"/>
            <a:ext cx="1231892"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RAG pipeline (Claude)</a:t>
            </a:r>
          </a:p>
        </p:txBody>
      </p:sp>
      <p:sp>
        <p:nvSpPr>
          <p:cNvPr id="36" name="TextBox 36"/>
          <p:cNvSpPr txBox="1"/>
          <p:nvPr/>
        </p:nvSpPr>
        <p:spPr>
          <a:xfrm>
            <a:off x="6390382" y="3368516"/>
            <a:ext cx="1316236"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Auto-generate drafts</a:t>
            </a:r>
          </a:p>
        </p:txBody>
      </p:sp>
      <p:sp>
        <p:nvSpPr>
          <p:cNvPr id="37" name="TextBox 37"/>
          <p:cNvSpPr txBox="1"/>
          <p:nvPr/>
        </p:nvSpPr>
        <p:spPr>
          <a:xfrm>
            <a:off x="6393394" y="3539966"/>
            <a:ext cx="1310211"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Review + approve flow</a:t>
            </a:r>
          </a:p>
        </p:txBody>
      </p:sp>
      <p:sp>
        <p:nvSpPr>
          <p:cNvPr id="38" name="Ellipse 38"/>
          <p:cNvSpPr/>
          <p:nvPr/>
        </p:nvSpPr>
        <p:spPr>
          <a:xfrm>
            <a:off x="9753600" y="2533650"/>
            <a:ext cx="304800" cy="304800"/>
          </a:xfrm>
          <a:prstGeom prst="ellipse">
            <a:avLst/>
          </a:prstGeom>
          <a:solidFill>
            <a:srgbClr val="38A169"/>
          </a:solidFill>
          <a:ln>
            <a:noFill/>
          </a:ln>
        </p:spPr>
      </p:sp>
      <p:sp>
        <p:nvSpPr>
          <p:cNvPr id="39" name="TextBox 39"/>
          <p:cNvSpPr txBox="1"/>
          <p:nvPr/>
        </p:nvSpPr>
        <p:spPr>
          <a:xfrm>
            <a:off x="9856615" y="26460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40" name="Rectangle 40"/>
          <p:cNvSpPr/>
          <p:nvPr/>
        </p:nvSpPr>
        <p:spPr>
          <a:xfrm>
            <a:off x="9144000" y="1619250"/>
            <a:ext cx="1905000" cy="857250"/>
          </a:xfrm>
          <a:prstGeom prst="roundRect">
            <a:avLst>
              <a:gd name="adj" fmla="val 11111"/>
            </a:avLst>
          </a:prstGeom>
          <a:solidFill>
            <a:srgbClr val="38A169"/>
          </a:solidFill>
          <a:ln>
            <a:noFill/>
          </a:ln>
        </p:spPr>
      </p:sp>
      <p:sp>
        <p:nvSpPr>
          <p:cNvPr id="41" name="TextBox 41"/>
          <p:cNvSpPr txBox="1"/>
          <p:nvPr/>
        </p:nvSpPr>
        <p:spPr>
          <a:xfrm>
            <a:off x="9793329" y="1772602"/>
            <a:ext cx="60634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Phase 4</a:t>
            </a:r>
          </a:p>
        </p:txBody>
      </p:sp>
      <p:sp>
        <p:nvSpPr>
          <p:cNvPr id="42" name="TextBox 42"/>
          <p:cNvSpPr txBox="1"/>
          <p:nvPr/>
        </p:nvSpPr>
        <p:spPr>
          <a:xfrm>
            <a:off x="9447562" y="1998345"/>
            <a:ext cx="1297876"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Similarity Detection</a:t>
            </a:r>
          </a:p>
        </p:txBody>
      </p:sp>
      <p:sp>
        <p:nvSpPr>
          <p:cNvPr id="43" name="TextBox 43"/>
          <p:cNvSpPr txBox="1"/>
          <p:nvPr/>
        </p:nvSpPr>
        <p:spPr>
          <a:xfrm>
            <a:off x="9477137" y="2188845"/>
            <a:ext cx="1238726" cy="182880"/>
          </a:xfrm>
          <a:prstGeom prst="rect">
            <a:avLst/>
          </a:prstGeom>
          <a:noFill/>
          <a:ln>
            <a:noFill/>
          </a:ln>
        </p:spPr>
        <p:txBody>
          <a:bodyPr wrap="none" lIns="0" tIns="0" rIns="0" bIns="0" anchor="t" anchorCtr="0">
            <a:spAutoFit/>
          </a:bodyPr>
          <a:lstStyle/>
          <a:p>
            <a:pPr algn="ctr"/>
            <a:r>
              <a:rPr lang="zh-CN" sz="900" dirty="0">
                <a:solidFill>
                  <a:srgbClr val="FFFFFF">
                    <a:alphaMod val="90000"/>
                  </a:srgbClr>
                </a:solidFill>
                <a:latin typeface="Arial"/>
                <a:ea typeface="Microsoft YaHei"/>
                <a:cs typeface="Arial"/>
              </a:rPr>
              <a:t>+ Recommendations</a:t>
            </a:r>
          </a:p>
        </p:txBody>
      </p:sp>
      <p:sp>
        <p:nvSpPr>
          <p:cNvPr id="44" name="TextBox 44"/>
          <p:cNvSpPr txBox="1"/>
          <p:nvPr/>
        </p:nvSpPr>
        <p:spPr>
          <a:xfrm>
            <a:off x="9665602" y="2942749"/>
            <a:ext cx="480797" cy="198120"/>
          </a:xfrm>
          <a:prstGeom prst="rect">
            <a:avLst/>
          </a:prstGeom>
          <a:noFill/>
          <a:ln>
            <a:noFill/>
          </a:ln>
        </p:spPr>
        <p:txBody>
          <a:bodyPr wrap="none" lIns="0" tIns="0" rIns="0" bIns="0" anchor="t" anchorCtr="0">
            <a:spAutoFit/>
          </a:bodyPr>
          <a:lstStyle/>
          <a:p>
            <a:pPr algn="ctr"/>
            <a:r>
              <a:rPr lang="zh-CN" sz="975" b="1" dirty="0">
                <a:solidFill>
                  <a:srgbClr val="38A169"/>
                </a:solidFill>
                <a:latin typeface="Arial"/>
                <a:ea typeface="Microsoft YaHei"/>
                <a:cs typeface="Arial"/>
              </a:rPr>
              <a:t>3 tuần</a:t>
            </a:r>
          </a:p>
        </p:txBody>
      </p:sp>
      <p:sp>
        <p:nvSpPr>
          <p:cNvPr id="45" name="TextBox 45"/>
          <p:cNvSpPr txBox="1"/>
          <p:nvPr/>
        </p:nvSpPr>
        <p:spPr>
          <a:xfrm>
            <a:off x="9124378" y="3197066"/>
            <a:ext cx="1563243"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Duplicate detection alerts</a:t>
            </a:r>
          </a:p>
        </p:txBody>
      </p:sp>
      <p:sp>
        <p:nvSpPr>
          <p:cNvPr id="46" name="TextBox 46"/>
          <p:cNvSpPr txBox="1"/>
          <p:nvPr/>
        </p:nvSpPr>
        <p:spPr>
          <a:xfrm>
            <a:off x="9226796" y="3368516"/>
            <a:ext cx="1358408"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Cross-sell suggestions</a:t>
            </a:r>
          </a:p>
        </p:txBody>
      </p:sp>
      <p:sp>
        <p:nvSpPr>
          <p:cNvPr id="47" name="TextBox 47"/>
          <p:cNvSpPr txBox="1"/>
          <p:nvPr/>
        </p:nvSpPr>
        <p:spPr>
          <a:xfrm>
            <a:off x="9154501" y="3539966"/>
            <a:ext cx="1502997" cy="167640"/>
          </a:xfrm>
          <a:prstGeom prst="rect">
            <a:avLst/>
          </a:prstGeom>
          <a:noFill/>
          <a:ln>
            <a:noFill/>
          </a:ln>
        </p:spPr>
        <p:txBody>
          <a:bodyPr wrap="none" lIns="0" tIns="0" rIns="0" bIns="0" anchor="t" anchorCtr="0">
            <a:spAutoFit/>
          </a:bodyPr>
          <a:lstStyle/>
          <a:p>
            <a:pPr algn="ctr"/>
            <a:r>
              <a:rPr lang="zh-CN" sz="825" dirty="0">
                <a:solidFill>
                  <a:srgbClr val="718096"/>
                </a:solidFill>
                <a:latin typeface="Arial"/>
                <a:ea typeface="Microsoft YaHei"/>
                <a:cs typeface="Arial"/>
              </a:rPr>
              <a:t>Channel recommendations</a:t>
            </a:r>
          </a:p>
        </p:txBody>
      </p:sp>
      <p:sp>
        <p:nvSpPr>
          <p:cNvPr id="48" name="Rectangle 48"/>
          <p:cNvSpPr/>
          <p:nvPr/>
        </p:nvSpPr>
        <p:spPr>
          <a:xfrm>
            <a:off x="571500" y="4191000"/>
            <a:ext cx="11049000" cy="762000"/>
          </a:xfrm>
          <a:prstGeom prst="roundRect">
            <a:avLst>
              <a:gd name="adj" fmla="val 15000"/>
            </a:avLst>
          </a:prstGeom>
          <a:solidFill>
            <a:srgbClr val="F4F7FA"/>
          </a:solidFill>
          <a:ln>
            <a:noFill/>
          </a:ln>
        </p:spPr>
      </p:sp>
      <p:sp>
        <p:nvSpPr>
          <p:cNvPr id="49" name="TextBox 49"/>
          <p:cNvSpPr txBox="1"/>
          <p:nvPr/>
        </p:nvSpPr>
        <p:spPr>
          <a:xfrm>
            <a:off x="4617777" y="4347210"/>
            <a:ext cx="2956446"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Arial"/>
                <a:ea typeface="Microsoft YaHei"/>
                <a:cs typeface="Arial"/>
              </a:rPr>
              <a:t>Tổng thời gian: 12 tuần (3 tháng)</a:t>
            </a:r>
          </a:p>
        </p:txBody>
      </p:sp>
      <p:sp>
        <p:nvSpPr>
          <p:cNvPr id="50" name="TextBox 50"/>
          <p:cNvSpPr txBox="1"/>
          <p:nvPr/>
        </p:nvSpPr>
        <p:spPr>
          <a:xfrm>
            <a:off x="1949827" y="4657249"/>
            <a:ext cx="219634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Infrastructure: $0 (đã có sẵn)</a:t>
            </a:r>
          </a:p>
        </p:txBody>
      </p:sp>
      <p:sp>
        <p:nvSpPr>
          <p:cNvPr id="51" name="TextBox 51"/>
          <p:cNvSpPr txBox="1"/>
          <p:nvPr/>
        </p:nvSpPr>
        <p:spPr>
          <a:xfrm>
            <a:off x="4841188" y="4657249"/>
            <a:ext cx="2509623"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API Cost: ~$20/tháng (5K products)</a:t>
            </a:r>
          </a:p>
        </p:txBody>
      </p:sp>
      <p:sp>
        <p:nvSpPr>
          <p:cNvPr id="52" name="TextBox 52"/>
          <p:cNvSpPr txBox="1"/>
          <p:nvPr/>
        </p:nvSpPr>
        <p:spPr>
          <a:xfrm>
            <a:off x="8145506" y="4657249"/>
            <a:ext cx="1996988"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Team: 1 Backend + 1 Frontend</a:t>
            </a:r>
          </a:p>
        </p:txBody>
      </p:sp>
      <p:sp>
        <p:nvSpPr>
          <p:cNvPr id="53" name="Rectangle 53"/>
          <p:cNvSpPr/>
          <p:nvPr/>
        </p:nvSpPr>
        <p:spPr>
          <a:xfrm>
            <a:off x="571500" y="5191125"/>
            <a:ext cx="11049000" cy="1238250"/>
          </a:xfrm>
          <a:prstGeom prst="roundRect">
            <a:avLst>
              <a:gd name="adj" fmla="val 9231"/>
            </a:avLst>
          </a:prstGeom>
          <a:solidFill>
            <a:srgbClr val="FFFFFF"/>
          </a:solidFill>
          <a:ln w="9525">
            <a:solidFill>
              <a:srgbClr val="E2E8F0"/>
            </a:solidFill>
          </a:ln>
        </p:spPr>
      </p:sp>
      <p:sp>
        <p:nvSpPr>
          <p:cNvPr id="54" name="TextBox 54"/>
          <p:cNvSpPr txBox="1"/>
          <p:nvPr/>
        </p:nvSpPr>
        <p:spPr>
          <a:xfrm>
            <a:off x="747712" y="5355431"/>
            <a:ext cx="2228225"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a:ea typeface="Microsoft YaHei"/>
                <a:cs typeface="Arial"/>
              </a:rPr>
              <a:t>Key Deliverables mỗi Phase</a:t>
            </a:r>
          </a:p>
        </p:txBody>
      </p:sp>
      <p:sp>
        <p:nvSpPr>
          <p:cNvPr id="55" name="TextBox 55"/>
          <p:cNvSpPr txBox="1"/>
          <p:nvPr/>
        </p:nvSpPr>
        <p:spPr>
          <a:xfrm>
            <a:off x="749618" y="5657374"/>
            <a:ext cx="4218408" cy="198120"/>
          </a:xfrm>
          <a:prstGeom prst="rect">
            <a:avLst/>
          </a:prstGeom>
          <a:noFill/>
          <a:ln>
            <a:noFill/>
          </a:ln>
        </p:spPr>
        <p:txBody>
          <a:bodyPr wrap="none" lIns="0" tIns="0" rIns="0" bIns="0" anchor="t" anchorCtr="0">
            <a:spAutoFit/>
          </a:bodyPr>
          <a:lstStyle/>
          <a:p>
            <a:pPr algn="l"/>
            <a:r>
              <a:rPr lang="zh-CN" sz="975" dirty="0">
                <a:solidFill>
                  <a:srgbClr val="2E86AB"/>
                </a:solidFill>
                <a:latin typeface="Arial"/>
                <a:ea typeface="Microsoft YaHei"/>
                <a:cs typeface="Arial"/>
              </a:rPr>
              <a:t>Phase 1: Embedding service chạy được, full index 5K products</a:t>
            </a:r>
          </a:p>
        </p:txBody>
      </p:sp>
      <p:sp>
        <p:nvSpPr>
          <p:cNvPr id="56" name="TextBox 56"/>
          <p:cNvSpPr txBox="1"/>
          <p:nvPr/>
        </p:nvSpPr>
        <p:spPr>
          <a:xfrm>
            <a:off x="749618" y="5876449"/>
            <a:ext cx="5079921" cy="198120"/>
          </a:xfrm>
          <a:prstGeom prst="rect">
            <a:avLst/>
          </a:prstGeom>
          <a:noFill/>
          <a:ln>
            <a:noFill/>
          </a:ln>
        </p:spPr>
        <p:txBody>
          <a:bodyPr wrap="none" lIns="0" tIns="0" rIns="0" bIns="0" anchor="t" anchorCtr="0">
            <a:spAutoFit/>
          </a:bodyPr>
          <a:lstStyle/>
          <a:p>
            <a:pPr algn="l"/>
            <a:r>
              <a:rPr lang="zh-CN" sz="975" dirty="0">
                <a:solidFill>
                  <a:srgbClr val="45B69C"/>
                </a:solidFill>
                <a:latin typeface="Arial"/>
                <a:ea typeface="Microsoft YaHei"/>
                <a:cs typeface="Arial"/>
              </a:rPr>
              <a:t>Phase 2: User có thể search sản phẩm bằng ngôn ngữ tự nhiên trong PIM UI</a:t>
            </a:r>
          </a:p>
        </p:txBody>
      </p:sp>
      <p:sp>
        <p:nvSpPr>
          <p:cNvPr id="57" name="TextBox 57"/>
          <p:cNvSpPr txBox="1"/>
          <p:nvPr/>
        </p:nvSpPr>
        <p:spPr>
          <a:xfrm>
            <a:off x="749618" y="6095524"/>
            <a:ext cx="5713595" cy="198120"/>
          </a:xfrm>
          <a:prstGeom prst="rect">
            <a:avLst/>
          </a:prstGeom>
          <a:noFill/>
          <a:ln>
            <a:noFill/>
          </a:ln>
        </p:spPr>
        <p:txBody>
          <a:bodyPr wrap="none" lIns="0" tIns="0" rIns="0" bIns="0" anchor="t" anchorCtr="0">
            <a:spAutoFit/>
          </a:bodyPr>
          <a:lstStyle/>
          <a:p>
            <a:pPr algn="l"/>
            <a:r>
              <a:rPr lang="zh-CN" sz="975" dirty="0">
                <a:solidFill>
                  <a:srgbClr val="1A3A5C"/>
                </a:solidFill>
                <a:latin typeface="Arial"/>
                <a:ea typeface="Microsoft YaHei"/>
                <a:cs typeface="Arial"/>
              </a:rPr>
              <a:t>Phase 3: Marketing team nhận AI-drafted content cho sản phẩm mới (cần approve)</a:t>
            </a:r>
          </a:p>
        </p:txBody>
      </p:sp>
      <p:sp>
        <p:nvSpPr>
          <p:cNvPr id="58" name="TextBox 58"/>
          <p:cNvSpPr txBox="1"/>
          <p:nvPr/>
        </p:nvSpPr>
        <p:spPr>
          <a:xfrm>
            <a:off x="749618" y="6314599"/>
            <a:ext cx="4118729" cy="198120"/>
          </a:xfrm>
          <a:prstGeom prst="rect">
            <a:avLst/>
          </a:prstGeom>
          <a:noFill/>
          <a:ln>
            <a:noFill/>
          </a:ln>
        </p:spPr>
        <p:txBody>
          <a:bodyPr wrap="none" lIns="0" tIns="0" rIns="0" bIns="0" anchor="t" anchorCtr="0">
            <a:spAutoFit/>
          </a:bodyPr>
          <a:lstStyle/>
          <a:p>
            <a:pPr algn="l"/>
            <a:r>
              <a:rPr lang="zh-CN" sz="975" dirty="0">
                <a:solidFill>
                  <a:srgbClr val="38A169"/>
                </a:solidFill>
                <a:latin typeface="Arial"/>
                <a:ea typeface="Microsoft YaHei"/>
                <a:cs typeface="Arial"/>
              </a:rPr>
              <a:t>Phase 4: Hệ thống tự phát hiện duplicate và gợi ý cross-sell</a:t>
            </a:r>
          </a:p>
        </p:txBody>
      </p:sp>
      <p:sp>
        <p:nvSpPr>
          <p:cNvPr id="59" name="TextBox 59"/>
          <p:cNvSpPr txBox="1"/>
          <p:nvPr/>
        </p:nvSpPr>
        <p:spPr>
          <a:xfrm>
            <a:off x="11536775" y="6570345"/>
            <a:ext cx="95155" cy="182880"/>
          </a:xfrm>
          <a:prstGeom prst="rect">
            <a:avLst/>
          </a:prstGeom>
          <a:noFill/>
          <a:ln>
            <a:noFill/>
          </a:ln>
        </p:spPr>
        <p:txBody>
          <a:bodyPr wrap="none" lIns="0" tIns="0" rIns="0" bIns="0" anchor="t" anchorCtr="0">
            <a:spAutoFit/>
          </a:bodyPr>
          <a:lstStyle/>
          <a:p>
            <a:pPr algn="r"/>
            <a:r>
              <a:rPr lang="zh-CN" sz="900" dirty="0">
                <a:solidFill>
                  <a:srgbClr val="A0AEC0"/>
                </a:solidFill>
                <a:latin typeface="Arial"/>
                <a:ea typeface="Microsoft YaHei"/>
                <a:cs typeface="Arial"/>
              </a:rPr>
              <a:t>9</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