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82" autoAdjust="0"/>
  </p:normalViewPr>
  <p:slideViewPr>
    <p:cSldViewPr snapToGrid="0" snapToObjects="1">
      <p:cViewPr varScale="1">
        <p:scale>
          <a:sx n="56" d="100"/>
          <a:sy n="56" d="100"/>
        </p:scale>
        <p:origin x="2664" y="6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066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bài trình bày tổng quan về landscape công nghệ và công cụ AI để tạo và render hình ảnh sản phẩm tự động, phục vụ nghiên cứu cho hệ thống PIM.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Chúng ta có ba trụ cột chính cần nắm: các quy trình tạo hình từ text-to-image đến material generation, hệ sinh thái open-source với Stable Diffusion và FLUX dẫn đầu, và các API thương mại từ OpenAI đến Adobe Firefly. Đặc thù sản phẩm nội thất của chúng ta tập trung vào variant đổi màu vải, packshot từ CAD, lifestyle scene và upscae cho catalogue in ấn.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Có mười lăm quy trình tạo hình điển hình mà chúng ta cần biết. Từ text-to-image cơ bản cho concept moodboard, đến ControlNet giữ silhouette khi đổi màu, cho tới 3D-to-image render packshot đa góc từ file CAD. Mỗi quy trình có use case cụ thể cho sản phẩm nội thất.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diffusion models, Stable Diffusion vẫn là họ model phổ biến nhất nhưng FLUX.1 đang dẫn đầu về chất lượng. ComfyUI là pipeline linh hoạt nhất cho production. Phần conditioning adapters rất quan trọng: ControlNet giữ structure, IP-Adapter truyền style từ reference image, và IC-Light đồng bộ ánh sáng giữa các ảnh.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Ba nhóm công cụ hỗ trợ: segmentation với SAM 2 và BRIA RMBG cho tách nền chất lượng cao, upscale với Real-ESRGAN là lựa chọn phổ biến nhất cho tăng phân giải, và 3D rendering với Blender headless cho packshot ổn định cùng TripoSR và Hunyuan3D-2 cho image-to-3D.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Video diffusion đang phát triển nhanh với Hunyuan-Video và CogVideoX dẫn đầu open-source. Use case PIM là tạo reel TikTok và video xoay ba trăm sáu mươi độ từ ảnh tĩnh sản phẩm. Material generation với MaPa sinh texture PBR cho 3D viewer trên web, phục vụ swatch vải, gỗ, da.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API thương mại, OpenAI gpt-image dẫn đầu về prompt-following và render text. Adobe Firefly và Bria AI an toàn nhất về IP vì trained trên licensed data. Black Forest Labs FLUX Kontext mạnh về edit ảnh giữ context. Cần lưu ý Midjourney hạn chế redistribution.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Multi-model gateway giúp truy cập nhiều model qua một API: fal.ai cho low-latency realtime, Replicate cho đa dạng model, RunPod cho control cao nhất với giá tốt. Edit utility APIs như Photoroom, Cloudinary, Clipdrop cung cấp các chức năng tách nền, upscale, relight sẵn dùng cho production.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Đây là workflow quan trọng nhất cho PIM nội thất: auto-generate variant đổi màu. Bắt đầu từ packshot gốc cộng swatch màu mới, segment vùng vải bằng SAM 2, inpaint bằng FLUX với ControlNet giữ silhouette và IP-Adapter truyền màu từ swatch, cuối cùng refine bằng Real-ESRGAN. Khuyến nghị POC với fal.ai trong một tuần.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Hai workflow song song: 3D CAD to packshot dùng Blender headless với camera rig tám góc, cho kết quả deterministic không phụ thuộc AI. Lifestyle scene từ packshot dùng rembg tách nền rồi outpainting hoặc AnyDoor ghép vào scene, IC-Light hài hòa ánh sáng. Catalogue upscaling đơn giản với Real-ESRGAN x4 rồi chuyển sang CMYK cho in ấn.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sánh self-host và managed API: self-host thắng về chi phí dài hạn, privacy, và khả năng custom LoRA. Managed API thắng về setup time, chất lượng SOTA, và khả năng scale. Khuyến nghị bắt đầu với managed API cho POC nhanh, chuyển self-host khi volume lớn và workflow đã ổn định.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Sáu khuyến nghị cho R&amp;D Phase 3 theo thứ tự ưu tiên. Tuần một đến hai: POC variant đổi màu với fal.ai và tách nền với Photoroom. Tuần ba đến bốn: 3D render Blender và thử nghiệm image-to-3D. Tháng hai trở đi: upscale catalogue và xây pipeline production với ComfyUI trên RunPod.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Tổng kết: cần lưu ý pháp lý về output license và GDPR khi dùng API ngoài. Tận dụng tài nguyên cộng đồng như Hugging Face Spaces và Civitai để thử model trước khi self-host. Bước tiếp theo là POC variant đổi màu với fal.ai, validate chất lượng, rồi xây pipeline production.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714500"/>
            <a:ext cx="57150" cy="3429000"/>
          </a:xfrm>
          <a:prstGeom prst="roundRect">
            <a:avLst>
              <a:gd name="adj" fmla="val 50000"/>
            </a:avLst>
          </a:prstGeom>
          <a:solidFill>
            <a:srgbClr val="C1856B"/>
          </a:solidFill>
          <a:ln>
            <a:noFill/>
          </a:ln>
        </p:spPr>
        <p:txBody>
          <a:bodyPr/>
          <a:lstStyle/>
          <a:p>
            <a:endParaRPr lang="da-DK"/>
          </a:p>
        </p:txBody>
      </p:sp>
      <p:grpSp>
        <p:nvGrpSpPr>
          <p:cNvPr id="7" name="Group 7"/>
          <p:cNvGrpSpPr/>
          <p:nvPr/>
        </p:nvGrpSpPr>
        <p:grpSpPr>
          <a:xfrm>
            <a:off x="906780" y="2468880"/>
            <a:ext cx="5308492" cy="1303020"/>
            <a:chOff x="906780" y="2468880"/>
            <a:chExt cx="5308492" cy="1303020"/>
          </a:xfrm>
        </p:grpSpPr>
        <p:sp>
          <p:nvSpPr>
            <p:cNvPr id="5" name="TextBox 5"/>
            <p:cNvSpPr txBox="1"/>
            <p:nvPr/>
          </p:nvSpPr>
          <p:spPr>
            <a:xfrm>
              <a:off x="906780" y="2468880"/>
              <a:ext cx="4977251"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AI Image Rendering</a:t>
              </a:r>
            </a:p>
          </p:txBody>
        </p:sp>
        <p:sp>
          <p:nvSpPr>
            <p:cNvPr id="6" name="TextBox 6"/>
            <p:cNvSpPr txBox="1"/>
            <p:nvPr/>
          </p:nvSpPr>
          <p:spPr>
            <a:xfrm>
              <a:off x="906780" y="3040380"/>
              <a:ext cx="5308492" cy="731520"/>
            </a:xfrm>
            <a:prstGeom prst="rect">
              <a:avLst/>
            </a:prstGeom>
            <a:noFill/>
            <a:ln>
              <a:noFill/>
            </a:ln>
          </p:spPr>
          <p:txBody>
            <a:bodyPr wrap="none" lIns="0" tIns="0" rIns="0" bIns="0" anchor="t" anchorCtr="0">
              <a:spAutoFit/>
            </a:bodyPr>
            <a:lstStyle/>
            <a:p>
              <a:pPr algn="l"/>
              <a:r>
                <a:rPr lang="zh-CN" sz="3600" b="1" dirty="0">
                  <a:solidFill>
                    <a:srgbClr val="3C3C3B"/>
                  </a:solidFill>
                  <a:latin typeface="Segoe UI"/>
                  <a:ea typeface="Microsoft YaHei"/>
                  <a:cs typeface="Segoe UI"/>
                </a:rPr>
                <a:t>Công Nghệ &amp; Công Cụ</a:t>
              </a:r>
            </a:p>
          </p:txBody>
        </p:sp>
      </p:grpSp>
      <p:grpSp>
        <p:nvGrpSpPr>
          <p:cNvPr id="9" name="Group 9"/>
          <p:cNvGrpSpPr/>
          <p:nvPr/>
        </p:nvGrpSpPr>
        <p:grpSpPr>
          <a:xfrm>
            <a:off x="929640" y="3806190"/>
            <a:ext cx="8169021" cy="365760"/>
            <a:chOff x="929640" y="3806190"/>
            <a:chExt cx="8169021" cy="365760"/>
          </a:xfrm>
        </p:grpSpPr>
        <p:sp>
          <p:nvSpPr>
            <p:cNvPr id="8" name="TextBox 8"/>
            <p:cNvSpPr txBox="1"/>
            <p:nvPr/>
          </p:nvSpPr>
          <p:spPr>
            <a:xfrm>
              <a:off x="929640" y="3806190"/>
              <a:ext cx="8169021" cy="365760"/>
            </a:xfrm>
            <a:prstGeom prst="rect">
              <a:avLst/>
            </a:prstGeom>
            <a:noFill/>
            <a:ln>
              <a:noFill/>
            </a:ln>
          </p:spPr>
          <p:txBody>
            <a:bodyPr wrap="none" lIns="0" tIns="0" rIns="0" bIns="0" anchor="t" anchorCtr="0">
              <a:spAutoFit/>
            </a:bodyPr>
            <a:lstStyle/>
            <a:p>
              <a:pPr algn="l"/>
              <a:r>
                <a:rPr lang="zh-CN" sz="1800" dirty="0">
                  <a:solidFill>
                    <a:srgbClr val="88817E"/>
                  </a:solidFill>
                  <a:latin typeface="Segoe UI"/>
                  <a:ea typeface="Microsoft YaHei"/>
                  <a:cs typeface="Segoe UI"/>
                </a:rPr>
                <a:t>Landscape R&amp;D cho hệ thống PIM — Quy trình, Open-source &amp; API</a:t>
              </a:r>
            </a:p>
          </p:txBody>
        </p:sp>
      </p:grpSp>
      <p:grpSp>
        <p:nvGrpSpPr>
          <p:cNvPr id="12" name="Group 12"/>
          <p:cNvGrpSpPr/>
          <p:nvPr/>
        </p:nvGrpSpPr>
        <p:grpSpPr>
          <a:xfrm>
            <a:off x="937260" y="5394960"/>
            <a:ext cx="6190869" cy="610552"/>
            <a:chOff x="937260" y="5394960"/>
            <a:chExt cx="6190869" cy="610552"/>
          </a:xfrm>
        </p:grpSpPr>
        <p:sp>
          <p:nvSpPr>
            <p:cNvPr id="10" name="TextBox 10"/>
            <p:cNvSpPr txBox="1"/>
            <p:nvPr/>
          </p:nvSpPr>
          <p:spPr>
            <a:xfrm>
              <a:off x="937260" y="5394960"/>
              <a:ext cx="6190869" cy="243840"/>
            </a:xfrm>
            <a:prstGeom prst="rect">
              <a:avLst/>
            </a:prstGeom>
            <a:noFill/>
            <a:ln>
              <a:noFill/>
            </a:ln>
          </p:spPr>
          <p:txBody>
            <a:bodyPr wrap="none" lIns="0" tIns="0" rIns="0" bIns="0" anchor="t" anchorCtr="0">
              <a:spAutoFit/>
            </a:bodyPr>
            <a:lstStyle/>
            <a:p>
              <a:pPr algn="l"/>
              <a:r>
                <a:rPr lang="zh-CN" sz="1200" dirty="0">
                  <a:solidFill>
                    <a:srgbClr val="B6ADA4"/>
                  </a:solidFill>
                  <a:latin typeface="Segoe UI"/>
                  <a:ea typeface="Microsoft YaHei"/>
                  <a:cs typeface="Segoe UI"/>
                </a:rPr>
                <a:t>T2I · I2I · Inpainting · ControlNet · 3D Render · Upscale · Image-to-Video</a:t>
              </a:r>
            </a:p>
          </p:txBody>
        </p:sp>
        <p:sp>
          <p:nvSpPr>
            <p:cNvPr id="11" name="TextBox 11"/>
            <p:cNvSpPr txBox="1"/>
            <p:nvPr/>
          </p:nvSpPr>
          <p:spPr>
            <a:xfrm>
              <a:off x="939165" y="5792152"/>
              <a:ext cx="693753"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May 2026</a:t>
              </a:r>
            </a:p>
          </p:txBody>
        </p:sp>
      </p:grpSp>
      <p:grpSp>
        <p:nvGrpSpPr>
          <p:cNvPr id="20" name="Group 20"/>
          <p:cNvGrpSpPr/>
          <p:nvPr/>
        </p:nvGrpSpPr>
        <p:grpSpPr>
          <a:xfrm>
            <a:off x="8858250" y="1619250"/>
            <a:ext cx="2286000" cy="3571875"/>
            <a:chOff x="8858250" y="1619250"/>
            <a:chExt cx="2286000" cy="3571875"/>
          </a:xfrm>
        </p:grpSpPr>
        <p:sp>
          <p:nvSpPr>
            <p:cNvPr id="13" name="Ellipse 13"/>
            <p:cNvSpPr/>
            <p:nvPr/>
          </p:nvSpPr>
          <p:spPr>
            <a:xfrm>
              <a:off x="8858250" y="1714500"/>
              <a:ext cx="2286000" cy="2286000"/>
            </a:xfrm>
            <a:prstGeom prst="ellipse">
              <a:avLst/>
            </a:prstGeom>
            <a:solidFill>
              <a:srgbClr val="586A68">
                <a:alpha val="8000"/>
              </a:srgbClr>
            </a:solidFill>
            <a:ln>
              <a:noFill/>
            </a:ln>
          </p:spPr>
          <p:txBody>
            <a:bodyPr/>
            <a:lstStyle/>
            <a:p>
              <a:endParaRPr lang="da-DK"/>
            </a:p>
          </p:txBody>
        </p:sp>
        <p:sp>
          <p:nvSpPr>
            <p:cNvPr id="14" name="Ellipse 14"/>
            <p:cNvSpPr/>
            <p:nvPr/>
          </p:nvSpPr>
          <p:spPr>
            <a:xfrm>
              <a:off x="9239250" y="2095500"/>
              <a:ext cx="1524000" cy="1524000"/>
            </a:xfrm>
            <a:prstGeom prst="ellipse">
              <a:avLst/>
            </a:prstGeom>
            <a:solidFill>
              <a:srgbClr val="586A68">
                <a:alpha val="12000"/>
              </a:srgbClr>
            </a:solidFill>
            <a:ln>
              <a:noFill/>
            </a:ln>
          </p:spPr>
          <p:txBody>
            <a:bodyPr/>
            <a:lstStyle/>
            <a:p>
              <a:endParaRPr lang="da-DK"/>
            </a:p>
          </p:txBody>
        </p:sp>
        <p:sp>
          <p:nvSpPr>
            <p:cNvPr id="15" name="Ellipse 15"/>
            <p:cNvSpPr/>
            <p:nvPr/>
          </p:nvSpPr>
          <p:spPr>
            <a:xfrm>
              <a:off x="10287000" y="3619500"/>
              <a:ext cx="762000" cy="762000"/>
            </a:xfrm>
            <a:prstGeom prst="ellipse">
              <a:avLst/>
            </a:prstGeom>
            <a:solidFill>
              <a:srgbClr val="C1856B">
                <a:alpha val="15000"/>
              </a:srgbClr>
            </a:solidFill>
            <a:ln>
              <a:noFill/>
            </a:ln>
          </p:spPr>
          <p:txBody>
            <a:bodyPr/>
            <a:lstStyle/>
            <a:p>
              <a:endParaRPr lang="da-DK"/>
            </a:p>
          </p:txBody>
        </p:sp>
        <p:sp>
          <p:nvSpPr>
            <p:cNvPr id="16" name="Ellipse 16"/>
            <p:cNvSpPr/>
            <p:nvPr/>
          </p:nvSpPr>
          <p:spPr>
            <a:xfrm>
              <a:off x="9048750" y="1619250"/>
              <a:ext cx="571500" cy="571500"/>
            </a:xfrm>
            <a:prstGeom prst="ellipse">
              <a:avLst/>
            </a:prstGeom>
            <a:solidFill>
              <a:srgbClr val="C1856B">
                <a:alpha val="10000"/>
              </a:srgbClr>
            </a:solidFill>
            <a:ln>
              <a:noFill/>
            </a:ln>
          </p:spPr>
          <p:txBody>
            <a:bodyPr/>
            <a:lstStyle/>
            <a:p>
              <a:endParaRPr lang="da-DK"/>
            </a:p>
          </p:txBody>
        </p:sp>
        <p:sp>
          <p:nvSpPr>
            <p:cNvPr id="17" name="Ellipse 17"/>
            <p:cNvSpPr/>
            <p:nvPr/>
          </p:nvSpPr>
          <p:spPr>
            <a:xfrm>
              <a:off x="8991600" y="4705350"/>
              <a:ext cx="114300" cy="114300"/>
            </a:xfrm>
            <a:prstGeom prst="ellipse">
              <a:avLst/>
            </a:prstGeom>
            <a:solidFill>
              <a:srgbClr val="586A68">
                <a:alpha val="30000"/>
              </a:srgbClr>
            </a:solidFill>
            <a:ln>
              <a:noFill/>
            </a:ln>
          </p:spPr>
          <p:txBody>
            <a:bodyPr/>
            <a:lstStyle/>
            <a:p>
              <a:endParaRPr lang="da-DK"/>
            </a:p>
          </p:txBody>
        </p:sp>
        <p:sp>
          <p:nvSpPr>
            <p:cNvPr id="18" name="Ellipse 18"/>
            <p:cNvSpPr/>
            <p:nvPr/>
          </p:nvSpPr>
          <p:spPr>
            <a:xfrm>
              <a:off x="9486900" y="4914900"/>
              <a:ext cx="76200" cy="76200"/>
            </a:xfrm>
            <a:prstGeom prst="ellipse">
              <a:avLst/>
            </a:prstGeom>
            <a:solidFill>
              <a:srgbClr val="C1856B">
                <a:alpha val="30000"/>
              </a:srgbClr>
            </a:solidFill>
            <a:ln>
              <a:noFill/>
            </a:ln>
          </p:spPr>
          <p:txBody>
            <a:bodyPr/>
            <a:lstStyle/>
            <a:p>
              <a:endParaRPr lang="da-DK"/>
            </a:p>
          </p:txBody>
        </p:sp>
        <p:sp>
          <p:nvSpPr>
            <p:cNvPr id="19" name="Ellipse 19"/>
            <p:cNvSpPr/>
            <p:nvPr/>
          </p:nvSpPr>
          <p:spPr>
            <a:xfrm>
              <a:off x="10144125" y="5095875"/>
              <a:ext cx="95250" cy="95250"/>
            </a:xfrm>
            <a:prstGeom prst="ellipse">
              <a:avLst/>
            </a:prstGeom>
            <a:solidFill>
              <a:srgbClr val="586A68">
                <a:alpha val="20000"/>
              </a:srgbClr>
            </a:solidFill>
            <a:ln>
              <a:noFill/>
            </a:ln>
          </p:spPr>
          <p:txBody>
            <a:bodyPr/>
            <a:lstStyle/>
            <a:p>
              <a:endParaRPr lang="da-DK"/>
            </a:p>
          </p:txBody>
        </p:sp>
      </p:grpSp>
      <p:grpSp>
        <p:nvGrpSpPr>
          <p:cNvPr id="23" name="Group 23"/>
          <p:cNvGrpSpPr/>
          <p:nvPr/>
        </p:nvGrpSpPr>
        <p:grpSpPr>
          <a:xfrm>
            <a:off x="571500" y="6286500"/>
            <a:ext cx="2667000" cy="19050"/>
            <a:chOff x="571500" y="6286500"/>
            <a:chExt cx="2667000" cy="19050"/>
          </a:xfrm>
        </p:grpSpPr>
        <p:sp>
          <p:nvSpPr>
            <p:cNvPr id="21" name="Rectangle 21"/>
            <p:cNvSpPr/>
            <p:nvPr/>
          </p:nvSpPr>
          <p:spPr>
            <a:xfrm>
              <a:off x="571500" y="6286500"/>
              <a:ext cx="1905000" cy="19050"/>
            </a:xfrm>
            <a:prstGeom prst="rect">
              <a:avLst/>
            </a:prstGeom>
            <a:solidFill>
              <a:srgbClr val="586A68">
                <a:alpha val="30000"/>
              </a:srgbClr>
            </a:solidFill>
            <a:ln>
              <a:noFill/>
            </a:ln>
          </p:spPr>
          <p:txBody>
            <a:bodyPr/>
            <a:lstStyle/>
            <a:p>
              <a:endParaRPr lang="da-DK"/>
            </a:p>
          </p:txBody>
        </p:sp>
        <p:sp>
          <p:nvSpPr>
            <p:cNvPr id="22" name="Rectangle 22"/>
            <p:cNvSpPr/>
            <p:nvPr/>
          </p:nvSpPr>
          <p:spPr>
            <a:xfrm>
              <a:off x="2667000" y="6286500"/>
              <a:ext cx="571500" cy="19050"/>
            </a:xfrm>
            <a:prstGeom prst="rect">
              <a:avLst/>
            </a:prstGeom>
            <a:solidFill>
              <a:srgbClr val="C1856B">
                <a:alpha val="40000"/>
              </a:srgbClr>
            </a:solidFill>
            <a:ln>
              <a:noFill/>
            </a:ln>
          </p:spPr>
          <p:txBody>
            <a:bodyPr/>
            <a:lstStyle/>
            <a:p>
              <a:endParaRPr lang="da-DK"/>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974703" cy="722948"/>
            <a:chOff x="558165" y="458152"/>
            <a:chExt cx="4974703" cy="722948"/>
          </a:xfrm>
        </p:grpSpPr>
        <p:sp>
          <p:nvSpPr>
            <p:cNvPr id="4" name="TextBox 4"/>
            <p:cNvSpPr txBox="1"/>
            <p:nvPr/>
          </p:nvSpPr>
          <p:spPr>
            <a:xfrm>
              <a:off x="558165" y="458152"/>
              <a:ext cx="724424"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Overview</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835638"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Tổng Quan Quy Trình &amp; Công Cụ</a:t>
              </a:r>
            </a:p>
          </p:txBody>
        </p:sp>
      </p:grpSp>
      <p:grpSp>
        <p:nvGrpSpPr>
          <p:cNvPr id="24" name="Group 24"/>
          <p:cNvGrpSpPr/>
          <p:nvPr/>
        </p:nvGrpSpPr>
        <p:grpSpPr>
          <a:xfrm>
            <a:off x="571500" y="1333500"/>
            <a:ext cx="3524250" cy="4762500"/>
            <a:chOff x="571500" y="1333500"/>
            <a:chExt cx="3524250" cy="4762500"/>
          </a:xfrm>
        </p:grpSpPr>
        <p:sp>
          <p:nvSpPr>
            <p:cNvPr id="8" name="Rectangle 8"/>
            <p:cNvSpPr/>
            <p:nvPr/>
          </p:nvSpPr>
          <p:spPr>
            <a:xfrm>
              <a:off x="571500"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9" name="TextBox 9"/>
            <p:cNvSpPr txBox="1"/>
            <p:nvPr/>
          </p:nvSpPr>
          <p:spPr>
            <a:xfrm>
              <a:off x="746760" y="1537335"/>
              <a:ext cx="1787900"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QUY TRÌNH TẠO HÌNH</a:t>
              </a:r>
            </a:p>
          </p:txBody>
        </p:sp>
        <p:sp>
          <p:nvSpPr>
            <p:cNvPr id="10" name="Rectangle 10"/>
            <p:cNvSpPr/>
            <p:nvPr/>
          </p:nvSpPr>
          <p:spPr>
            <a:xfrm>
              <a:off x="762000" y="1790700"/>
              <a:ext cx="381000" cy="19050"/>
            </a:xfrm>
            <a:prstGeom prst="rect">
              <a:avLst/>
            </a:prstGeom>
            <a:solidFill>
              <a:srgbClr val="C1856B"/>
            </a:solidFill>
            <a:ln>
              <a:noFill/>
            </a:ln>
          </p:spPr>
          <p:txBody>
            <a:bodyPr/>
            <a:lstStyle/>
            <a:p>
              <a:endParaRPr lang="da-DK"/>
            </a:p>
          </p:txBody>
        </p:sp>
        <p:sp>
          <p:nvSpPr>
            <p:cNvPr id="11" name="TextBox 11"/>
            <p:cNvSpPr txBox="1"/>
            <p:nvPr/>
          </p:nvSpPr>
          <p:spPr>
            <a:xfrm>
              <a:off x="747712" y="1974056"/>
              <a:ext cx="165520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Text-to-Image (T2I)</a:t>
              </a:r>
            </a:p>
          </p:txBody>
        </p:sp>
        <p:sp>
          <p:nvSpPr>
            <p:cNvPr id="12" name="TextBox 12"/>
            <p:cNvSpPr txBox="1"/>
            <p:nvPr/>
          </p:nvSpPr>
          <p:spPr>
            <a:xfrm>
              <a:off x="747712" y="2240756"/>
              <a:ext cx="169628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Image-to-Image (I2I)</a:t>
              </a:r>
            </a:p>
          </p:txBody>
        </p:sp>
        <p:sp>
          <p:nvSpPr>
            <p:cNvPr id="13" name="TextBox 13"/>
            <p:cNvSpPr txBox="1"/>
            <p:nvPr/>
          </p:nvSpPr>
          <p:spPr>
            <a:xfrm>
              <a:off x="747712" y="2507456"/>
              <a:ext cx="194274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Inpainting / Outpainting</a:t>
              </a:r>
            </a:p>
          </p:txBody>
        </p:sp>
        <p:sp>
          <p:nvSpPr>
            <p:cNvPr id="14" name="TextBox 14"/>
            <p:cNvSpPr txBox="1"/>
            <p:nvPr/>
          </p:nvSpPr>
          <p:spPr>
            <a:xfrm>
              <a:off x="747712" y="2774156"/>
              <a:ext cx="190166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ControlNet conditioning</a:t>
              </a:r>
            </a:p>
          </p:txBody>
        </p:sp>
        <p:sp>
          <p:nvSpPr>
            <p:cNvPr id="15" name="TextBox 15"/>
            <p:cNvSpPr txBox="1"/>
            <p:nvPr/>
          </p:nvSpPr>
          <p:spPr>
            <a:xfrm>
              <a:off x="747712" y="3040856"/>
              <a:ext cx="189345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IP-Adapter / Reference</a:t>
              </a:r>
            </a:p>
          </p:txBody>
        </p:sp>
        <p:sp>
          <p:nvSpPr>
            <p:cNvPr id="16" name="TextBox 16"/>
            <p:cNvSpPr txBox="1"/>
            <p:nvPr/>
          </p:nvSpPr>
          <p:spPr>
            <a:xfrm>
              <a:off x="747712" y="3307556"/>
              <a:ext cx="1351240"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LoRA / Fine-tune</a:t>
              </a:r>
            </a:p>
          </p:txBody>
        </p:sp>
        <p:sp>
          <p:nvSpPr>
            <p:cNvPr id="17" name="TextBox 17"/>
            <p:cNvSpPr txBox="1"/>
            <p:nvPr/>
          </p:nvSpPr>
          <p:spPr>
            <a:xfrm>
              <a:off x="747712" y="3574256"/>
              <a:ext cx="160591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Background removal</a:t>
              </a:r>
            </a:p>
          </p:txBody>
        </p:sp>
        <p:sp>
          <p:nvSpPr>
            <p:cNvPr id="18" name="TextBox 18"/>
            <p:cNvSpPr txBox="1"/>
            <p:nvPr/>
          </p:nvSpPr>
          <p:spPr>
            <a:xfrm>
              <a:off x="747712" y="3840956"/>
              <a:ext cx="176200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Upscale / Restoration</a:t>
              </a:r>
            </a:p>
          </p:txBody>
        </p:sp>
        <p:sp>
          <p:nvSpPr>
            <p:cNvPr id="19" name="TextBox 19"/>
            <p:cNvSpPr txBox="1"/>
            <p:nvPr/>
          </p:nvSpPr>
          <p:spPr>
            <a:xfrm>
              <a:off x="747712" y="4107656"/>
              <a:ext cx="1835944"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3D-to-Image (Blender)</a:t>
              </a:r>
            </a:p>
          </p:txBody>
        </p:sp>
        <p:sp>
          <p:nvSpPr>
            <p:cNvPr id="20" name="TextBox 20"/>
            <p:cNvSpPr txBox="1"/>
            <p:nvPr/>
          </p:nvSpPr>
          <p:spPr>
            <a:xfrm>
              <a:off x="747712" y="4374356"/>
              <a:ext cx="101441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Image-to-3D</a:t>
              </a:r>
            </a:p>
          </p:txBody>
        </p:sp>
        <p:sp>
          <p:nvSpPr>
            <p:cNvPr id="21" name="TextBox 21"/>
            <p:cNvSpPr txBox="1"/>
            <p:nvPr/>
          </p:nvSpPr>
          <p:spPr>
            <a:xfrm>
              <a:off x="747712" y="4641056"/>
              <a:ext cx="809030"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Relighting</a:t>
              </a:r>
            </a:p>
          </p:txBody>
        </p:sp>
        <p:sp>
          <p:nvSpPr>
            <p:cNvPr id="22" name="TextBox 22"/>
            <p:cNvSpPr txBox="1"/>
            <p:nvPr/>
          </p:nvSpPr>
          <p:spPr>
            <a:xfrm>
              <a:off x="747712" y="4907756"/>
              <a:ext cx="124444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Image-to-Video</a:t>
              </a:r>
            </a:p>
          </p:txBody>
        </p:sp>
        <p:sp>
          <p:nvSpPr>
            <p:cNvPr id="23" name="TextBox 23"/>
            <p:cNvSpPr txBox="1"/>
            <p:nvPr/>
          </p:nvSpPr>
          <p:spPr>
            <a:xfrm>
              <a:off x="747712" y="5174456"/>
              <a:ext cx="207418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Material / PBR generation</a:t>
              </a:r>
            </a:p>
          </p:txBody>
        </p:sp>
      </p:grpSp>
      <p:grpSp>
        <p:nvGrpSpPr>
          <p:cNvPr id="41" name="Group 41"/>
          <p:cNvGrpSpPr/>
          <p:nvPr/>
        </p:nvGrpSpPr>
        <p:grpSpPr>
          <a:xfrm>
            <a:off x="4333875" y="1333500"/>
            <a:ext cx="3524250" cy="4762500"/>
            <a:chOff x="4333875" y="1333500"/>
            <a:chExt cx="3524250" cy="4762500"/>
          </a:xfrm>
        </p:grpSpPr>
        <p:sp>
          <p:nvSpPr>
            <p:cNvPr id="25" name="Rectangle 25"/>
            <p:cNvSpPr/>
            <p:nvPr/>
          </p:nvSpPr>
          <p:spPr>
            <a:xfrm>
              <a:off x="4333875"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26" name="TextBox 26"/>
            <p:cNvSpPr txBox="1"/>
            <p:nvPr/>
          </p:nvSpPr>
          <p:spPr>
            <a:xfrm>
              <a:off x="4509135" y="1537335"/>
              <a:ext cx="121742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OPEN-SOURCE</a:t>
              </a:r>
            </a:p>
          </p:txBody>
        </p:sp>
        <p:sp>
          <p:nvSpPr>
            <p:cNvPr id="27" name="Rectangle 27"/>
            <p:cNvSpPr/>
            <p:nvPr/>
          </p:nvSpPr>
          <p:spPr>
            <a:xfrm>
              <a:off x="4524375" y="1790700"/>
              <a:ext cx="381000" cy="19050"/>
            </a:xfrm>
            <a:prstGeom prst="rect">
              <a:avLst/>
            </a:prstGeom>
            <a:solidFill>
              <a:srgbClr val="C1856B"/>
            </a:solidFill>
            <a:ln>
              <a:noFill/>
            </a:ln>
          </p:spPr>
          <p:txBody>
            <a:bodyPr/>
            <a:lstStyle/>
            <a:p>
              <a:endParaRPr lang="da-DK"/>
            </a:p>
          </p:txBody>
        </p:sp>
        <p:sp>
          <p:nvSpPr>
            <p:cNvPr id="28" name="TextBox 28"/>
            <p:cNvSpPr txBox="1"/>
            <p:nvPr/>
          </p:nvSpPr>
          <p:spPr>
            <a:xfrm>
              <a:off x="4510088" y="1974056"/>
              <a:ext cx="258353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Stable Diffusion (1.5/SDXL/3.5)</a:t>
              </a:r>
            </a:p>
          </p:txBody>
        </p:sp>
        <p:sp>
          <p:nvSpPr>
            <p:cNvPr id="29" name="TextBox 29"/>
            <p:cNvSpPr txBox="1"/>
            <p:nvPr/>
          </p:nvSpPr>
          <p:spPr>
            <a:xfrm>
              <a:off x="4510088" y="22407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FLUX.1 (schnell/dev/pro)</a:t>
              </a:r>
            </a:p>
          </p:txBody>
        </p:sp>
        <p:sp>
          <p:nvSpPr>
            <p:cNvPr id="30" name="TextBox 30"/>
            <p:cNvSpPr txBox="1"/>
            <p:nvPr/>
          </p:nvSpPr>
          <p:spPr>
            <a:xfrm>
              <a:off x="4510088" y="25074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Diffusers (Hugging Face)</a:t>
              </a:r>
            </a:p>
          </p:txBody>
        </p:sp>
        <p:sp>
          <p:nvSpPr>
            <p:cNvPr id="31" name="TextBox 31"/>
            <p:cNvSpPr txBox="1"/>
            <p:nvPr/>
          </p:nvSpPr>
          <p:spPr>
            <a:xfrm>
              <a:off x="4510088" y="2774156"/>
              <a:ext cx="178665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ComfyUI (node-based)</a:t>
              </a:r>
            </a:p>
          </p:txBody>
        </p:sp>
        <p:sp>
          <p:nvSpPr>
            <p:cNvPr id="32" name="TextBox 32"/>
            <p:cNvSpPr txBox="1"/>
            <p:nvPr/>
          </p:nvSpPr>
          <p:spPr>
            <a:xfrm>
              <a:off x="4510088" y="3040856"/>
              <a:ext cx="194274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ControlNet / IP-Adapter</a:t>
              </a:r>
            </a:p>
          </p:txBody>
        </p:sp>
        <p:sp>
          <p:nvSpPr>
            <p:cNvPr id="33" name="TextBox 33"/>
            <p:cNvSpPr txBox="1"/>
            <p:nvPr/>
          </p:nvSpPr>
          <p:spPr>
            <a:xfrm>
              <a:off x="4510088" y="3307556"/>
              <a:ext cx="142517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SAM 2 / BRIA RMBG</a:t>
              </a:r>
            </a:p>
          </p:txBody>
        </p:sp>
        <p:sp>
          <p:nvSpPr>
            <p:cNvPr id="34" name="TextBox 34"/>
            <p:cNvSpPr txBox="1"/>
            <p:nvPr/>
          </p:nvSpPr>
          <p:spPr>
            <a:xfrm>
              <a:off x="4510088" y="3574256"/>
              <a:ext cx="166342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Real-ESRGAN / SwinIR</a:t>
              </a:r>
            </a:p>
          </p:txBody>
        </p:sp>
        <p:sp>
          <p:nvSpPr>
            <p:cNvPr id="35" name="TextBox 35"/>
            <p:cNvSpPr txBox="1"/>
            <p:nvPr/>
          </p:nvSpPr>
          <p:spPr>
            <a:xfrm>
              <a:off x="4510088" y="3840956"/>
              <a:ext cx="1852374"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Blender + Cycles/Eevee</a:t>
              </a:r>
            </a:p>
          </p:txBody>
        </p:sp>
        <p:sp>
          <p:nvSpPr>
            <p:cNvPr id="36" name="TextBox 36"/>
            <p:cNvSpPr txBox="1"/>
            <p:nvPr/>
          </p:nvSpPr>
          <p:spPr>
            <a:xfrm>
              <a:off x="4510088" y="4107656"/>
              <a:ext cx="180308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TripoSR / Hunyuan3D-2</a:t>
              </a:r>
            </a:p>
          </p:txBody>
        </p:sp>
        <p:sp>
          <p:nvSpPr>
            <p:cNvPr id="37" name="TextBox 37"/>
            <p:cNvSpPr txBox="1"/>
            <p:nvPr/>
          </p:nvSpPr>
          <p:spPr>
            <a:xfrm>
              <a:off x="4510088" y="4374356"/>
              <a:ext cx="177022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Stable Video Diffusion</a:t>
              </a:r>
            </a:p>
          </p:txBody>
        </p:sp>
        <p:sp>
          <p:nvSpPr>
            <p:cNvPr id="38" name="TextBox 38"/>
            <p:cNvSpPr txBox="1"/>
            <p:nvPr/>
          </p:nvSpPr>
          <p:spPr>
            <a:xfrm>
              <a:off x="4510088" y="4641056"/>
              <a:ext cx="193452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AnimateDiff / CogVideoX</a:t>
              </a:r>
            </a:p>
          </p:txBody>
        </p:sp>
        <p:sp>
          <p:nvSpPr>
            <p:cNvPr id="39" name="TextBox 39"/>
            <p:cNvSpPr txBox="1"/>
            <p:nvPr/>
          </p:nvSpPr>
          <p:spPr>
            <a:xfrm>
              <a:off x="4510088" y="4907756"/>
              <a:ext cx="167985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IC-Light (relighting)</a:t>
              </a:r>
            </a:p>
          </p:txBody>
        </p:sp>
        <p:sp>
          <p:nvSpPr>
            <p:cNvPr id="40" name="TextBox 40"/>
            <p:cNvSpPr txBox="1"/>
            <p:nvPr/>
          </p:nvSpPr>
          <p:spPr>
            <a:xfrm>
              <a:off x="4510088" y="5174456"/>
              <a:ext cx="120336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MaPa / DiffSVG</a:t>
              </a:r>
            </a:p>
          </p:txBody>
        </p:sp>
      </p:grpSp>
      <p:grpSp>
        <p:nvGrpSpPr>
          <p:cNvPr id="58" name="Group 58"/>
          <p:cNvGrpSpPr/>
          <p:nvPr/>
        </p:nvGrpSpPr>
        <p:grpSpPr>
          <a:xfrm>
            <a:off x="8096250" y="1333500"/>
            <a:ext cx="3524250" cy="4762500"/>
            <a:chOff x="8096250" y="1333500"/>
            <a:chExt cx="3524250" cy="4762500"/>
          </a:xfrm>
        </p:grpSpPr>
        <p:sp>
          <p:nvSpPr>
            <p:cNvPr id="42" name="Rectangle 42"/>
            <p:cNvSpPr/>
            <p:nvPr/>
          </p:nvSpPr>
          <p:spPr>
            <a:xfrm>
              <a:off x="8096250" y="1333500"/>
              <a:ext cx="3524250" cy="4762500"/>
            </a:xfrm>
            <a:prstGeom prst="roundRect">
              <a:avLst>
                <a:gd name="adj" fmla="val 2162"/>
              </a:avLst>
            </a:prstGeom>
            <a:solidFill>
              <a:srgbClr val="586A68">
                <a:alpha val="6000"/>
              </a:srgbClr>
            </a:solidFill>
            <a:ln>
              <a:noFill/>
            </a:ln>
          </p:spPr>
          <p:txBody>
            <a:bodyPr/>
            <a:lstStyle/>
            <a:p>
              <a:endParaRPr lang="da-DK"/>
            </a:p>
          </p:txBody>
        </p:sp>
        <p:sp>
          <p:nvSpPr>
            <p:cNvPr id="43" name="TextBox 43"/>
            <p:cNvSpPr txBox="1"/>
            <p:nvPr/>
          </p:nvSpPr>
          <p:spPr>
            <a:xfrm>
              <a:off x="8271510" y="1537335"/>
              <a:ext cx="1300239"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API THƯƠNG MẠI</a:t>
              </a:r>
            </a:p>
          </p:txBody>
        </p:sp>
        <p:sp>
          <p:nvSpPr>
            <p:cNvPr id="44" name="Rectangle 44"/>
            <p:cNvSpPr/>
            <p:nvPr/>
          </p:nvSpPr>
          <p:spPr>
            <a:xfrm>
              <a:off x="8286750" y="1790700"/>
              <a:ext cx="381000" cy="19050"/>
            </a:xfrm>
            <a:prstGeom prst="rect">
              <a:avLst/>
            </a:prstGeom>
            <a:solidFill>
              <a:srgbClr val="C1856B"/>
            </a:solidFill>
            <a:ln>
              <a:noFill/>
            </a:ln>
          </p:spPr>
          <p:txBody>
            <a:bodyPr/>
            <a:lstStyle/>
            <a:p>
              <a:endParaRPr lang="da-DK"/>
            </a:p>
          </p:txBody>
        </p:sp>
        <p:sp>
          <p:nvSpPr>
            <p:cNvPr id="45" name="TextBox 45"/>
            <p:cNvSpPr txBox="1"/>
            <p:nvPr/>
          </p:nvSpPr>
          <p:spPr>
            <a:xfrm>
              <a:off x="8272462" y="1974056"/>
              <a:ext cx="191809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OpenAI (gpt-image-1/2)</a:t>
              </a:r>
            </a:p>
          </p:txBody>
        </p:sp>
        <p:sp>
          <p:nvSpPr>
            <p:cNvPr id="46" name="TextBox 46"/>
            <p:cNvSpPr txBox="1"/>
            <p:nvPr/>
          </p:nvSpPr>
          <p:spPr>
            <a:xfrm>
              <a:off x="8272462" y="2240756"/>
              <a:ext cx="143339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Google Imagen 3/4</a:t>
              </a:r>
            </a:p>
          </p:txBody>
        </p:sp>
        <p:sp>
          <p:nvSpPr>
            <p:cNvPr id="47" name="TextBox 47"/>
            <p:cNvSpPr txBox="1"/>
            <p:nvPr/>
          </p:nvSpPr>
          <p:spPr>
            <a:xfrm>
              <a:off x="8272462" y="2507456"/>
              <a:ext cx="167163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Stability AI Platform</a:t>
              </a:r>
            </a:p>
          </p:txBody>
        </p:sp>
        <p:sp>
          <p:nvSpPr>
            <p:cNvPr id="48" name="TextBox 48"/>
            <p:cNvSpPr txBox="1"/>
            <p:nvPr/>
          </p:nvSpPr>
          <p:spPr>
            <a:xfrm>
              <a:off x="8272462" y="2774156"/>
              <a:ext cx="2033111"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Black Forest Labs (FLUX)</a:t>
              </a:r>
            </a:p>
          </p:txBody>
        </p:sp>
        <p:sp>
          <p:nvSpPr>
            <p:cNvPr id="49" name="TextBox 49"/>
            <p:cNvSpPr txBox="1"/>
            <p:nvPr/>
          </p:nvSpPr>
          <p:spPr>
            <a:xfrm>
              <a:off x="8272462" y="3040856"/>
              <a:ext cx="1080135"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Adobe Firefly</a:t>
              </a:r>
            </a:p>
          </p:txBody>
        </p:sp>
        <p:sp>
          <p:nvSpPr>
            <p:cNvPr id="50" name="TextBox 50"/>
            <p:cNvSpPr txBox="1"/>
            <p:nvPr/>
          </p:nvSpPr>
          <p:spPr>
            <a:xfrm>
              <a:off x="8272462" y="3307556"/>
              <a:ext cx="89118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Recraft V3</a:t>
              </a:r>
            </a:p>
          </p:txBody>
        </p:sp>
        <p:sp>
          <p:nvSpPr>
            <p:cNvPr id="51" name="TextBox 51"/>
            <p:cNvSpPr txBox="1"/>
            <p:nvPr/>
          </p:nvSpPr>
          <p:spPr>
            <a:xfrm>
              <a:off x="8272462" y="3574256"/>
              <a:ext cx="1359456"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Bria AI (IP-safe)</a:t>
              </a:r>
            </a:p>
          </p:txBody>
        </p:sp>
        <p:sp>
          <p:nvSpPr>
            <p:cNvPr id="52" name="TextBox 52"/>
            <p:cNvSpPr txBox="1"/>
            <p:nvPr/>
          </p:nvSpPr>
          <p:spPr>
            <a:xfrm>
              <a:off x="8272462" y="3840956"/>
              <a:ext cx="140874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Replicate / fal.ai</a:t>
              </a:r>
            </a:p>
          </p:txBody>
        </p:sp>
        <p:sp>
          <p:nvSpPr>
            <p:cNvPr id="53" name="TextBox 53"/>
            <p:cNvSpPr txBox="1"/>
            <p:nvPr/>
          </p:nvSpPr>
          <p:spPr>
            <a:xfrm>
              <a:off x="8272462" y="4107656"/>
              <a:ext cx="1909882"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Photoroom / remove.bg</a:t>
              </a:r>
            </a:p>
          </p:txBody>
        </p:sp>
        <p:sp>
          <p:nvSpPr>
            <p:cNvPr id="54" name="TextBox 54"/>
            <p:cNvSpPr txBox="1"/>
            <p:nvPr/>
          </p:nvSpPr>
          <p:spPr>
            <a:xfrm>
              <a:off x="8272462" y="4374356"/>
              <a:ext cx="167985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Cloudinary / Clipdrop</a:t>
              </a:r>
            </a:p>
          </p:txBody>
        </p:sp>
        <p:sp>
          <p:nvSpPr>
            <p:cNvPr id="55" name="TextBox 55"/>
            <p:cNvSpPr txBox="1"/>
            <p:nvPr/>
          </p:nvSpPr>
          <p:spPr>
            <a:xfrm>
              <a:off x="8272462" y="4641056"/>
              <a:ext cx="1293733"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Tripo3D / Meshy</a:t>
              </a:r>
            </a:p>
          </p:txBody>
        </p:sp>
        <p:sp>
          <p:nvSpPr>
            <p:cNvPr id="56" name="TextBox 56"/>
            <p:cNvSpPr txBox="1"/>
            <p:nvPr/>
          </p:nvSpPr>
          <p:spPr>
            <a:xfrm>
              <a:off x="8272462" y="4907756"/>
              <a:ext cx="1285518"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Runway Gen-3/4</a:t>
              </a:r>
            </a:p>
          </p:txBody>
        </p:sp>
        <p:sp>
          <p:nvSpPr>
            <p:cNvPr id="57" name="TextBox 57"/>
            <p:cNvSpPr txBox="1"/>
            <p:nvPr/>
          </p:nvSpPr>
          <p:spPr>
            <a:xfrm>
              <a:off x="8272462" y="5174456"/>
              <a:ext cx="1252657" cy="228600"/>
            </a:xfrm>
            <a:prstGeom prst="rect">
              <a:avLst/>
            </a:prstGeom>
            <a:noFill/>
            <a:ln>
              <a:noFill/>
            </a:ln>
          </p:spPr>
          <p:txBody>
            <a:bodyPr wrap="none" lIns="0" tIns="0" rIns="0" bIns="0" anchor="t" anchorCtr="0">
              <a:spAutoFit/>
            </a:bodyPr>
            <a:lstStyle/>
            <a:p>
              <a:pPr algn="l"/>
              <a:r>
                <a:rPr lang="zh-CN" sz="1125" dirty="0">
                  <a:solidFill>
                    <a:srgbClr val="3C3C3B"/>
                  </a:solidFill>
                  <a:latin typeface="Segoe UI"/>
                  <a:ea typeface="Microsoft YaHei"/>
                  <a:cs typeface="Segoe UI"/>
                </a:rPr>
                <a:t>Magnific / Krea</a:t>
              </a:r>
            </a:p>
          </p:txBody>
        </p:sp>
      </p:grpSp>
      <p:grpSp>
        <p:nvGrpSpPr>
          <p:cNvPr id="61" name="Group 61"/>
          <p:cNvGrpSpPr/>
          <p:nvPr/>
        </p:nvGrpSpPr>
        <p:grpSpPr>
          <a:xfrm>
            <a:off x="559118" y="6276499"/>
            <a:ext cx="11072812" cy="476726"/>
            <a:chOff x="559118" y="6276499"/>
            <a:chExt cx="11072812" cy="476726"/>
          </a:xfrm>
        </p:grpSpPr>
        <p:sp>
          <p:nvSpPr>
            <p:cNvPr id="59" name="TextBox 59"/>
            <p:cNvSpPr txBox="1"/>
            <p:nvPr/>
          </p:nvSpPr>
          <p:spPr>
            <a:xfrm>
              <a:off x="559118" y="6276499"/>
              <a:ext cx="742238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Đặc thù sản phẩm nội thất: variant đổi màu vải, packshot từ CAD, lifestyle scene, upscale catalogue 300dpi</a:t>
              </a:r>
            </a:p>
          </p:txBody>
        </p:sp>
        <p:sp>
          <p:nvSpPr>
            <p:cNvPr id="60" name="TextBox 6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blinds(horizontal)">
                                      <p:cBhvr>
                                        <p:cTn id="11" dur="400"/>
                                        <p:tgtEl>
                                          <p:spTgt spid="41"/>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checkerboard(across)">
                                      <p:cBhvr>
                                        <p:cTn id="15"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1" grpId="0"/>
      <p:bldP spid="5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103519" cy="722948"/>
            <a:chOff x="558165" y="458152"/>
            <a:chExt cx="5103519" cy="722948"/>
          </a:xfrm>
        </p:grpSpPr>
        <p:sp>
          <p:nvSpPr>
            <p:cNvPr id="4" name="TextBox 4"/>
            <p:cNvSpPr txBox="1"/>
            <p:nvPr/>
          </p:nvSpPr>
          <p:spPr>
            <a:xfrm>
              <a:off x="558165" y="458152"/>
              <a:ext cx="112314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02 / Quy Trình</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964454"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15 Quy Trình Tạo Hình Điển Hình</a:t>
              </a:r>
            </a:p>
          </p:txBody>
        </p:sp>
      </p:grpSp>
      <p:grpSp>
        <p:nvGrpSpPr>
          <p:cNvPr id="12" name="Group 12"/>
          <p:cNvGrpSpPr/>
          <p:nvPr/>
        </p:nvGrpSpPr>
        <p:grpSpPr>
          <a:xfrm>
            <a:off x="571500" y="1238250"/>
            <a:ext cx="11049000" cy="342900"/>
            <a:chOff x="571500" y="1238250"/>
            <a:chExt cx="11049000" cy="342900"/>
          </a:xfrm>
        </p:grpSpPr>
        <p:sp>
          <p:nvSpPr>
            <p:cNvPr id="8" name="Rectangle 8"/>
            <p:cNvSpPr/>
            <p:nvPr/>
          </p:nvSpPr>
          <p:spPr>
            <a:xfrm>
              <a:off x="571500" y="1238250"/>
              <a:ext cx="11049000" cy="342900"/>
            </a:xfrm>
            <a:prstGeom prst="rect">
              <a:avLst/>
            </a:prstGeom>
            <a:solidFill>
              <a:srgbClr val="586A68"/>
            </a:solidFill>
            <a:ln>
              <a:noFill/>
            </a:ln>
          </p:spPr>
          <p:txBody>
            <a:bodyPr/>
            <a:lstStyle/>
            <a:p>
              <a:endParaRPr lang="da-DK"/>
            </a:p>
          </p:txBody>
        </p:sp>
        <p:sp>
          <p:nvSpPr>
            <p:cNvPr id="9" name="TextBox 9"/>
            <p:cNvSpPr txBox="1"/>
            <p:nvPr/>
          </p:nvSpPr>
          <p:spPr>
            <a:xfrm>
              <a:off x="748665" y="1353502"/>
              <a:ext cx="81566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Quy trình</a:t>
              </a:r>
            </a:p>
          </p:txBody>
        </p:sp>
        <p:sp>
          <p:nvSpPr>
            <p:cNvPr id="10" name="TextBox 10"/>
            <p:cNvSpPr txBox="1"/>
            <p:nvPr/>
          </p:nvSpPr>
          <p:spPr>
            <a:xfrm>
              <a:off x="3034665" y="135350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Mô tả</a:t>
              </a:r>
            </a:p>
          </p:txBody>
        </p:sp>
        <p:sp>
          <p:nvSpPr>
            <p:cNvPr id="11" name="TextBox 11"/>
            <p:cNvSpPr txBox="1"/>
            <p:nvPr/>
          </p:nvSpPr>
          <p:spPr>
            <a:xfrm>
              <a:off x="7130415" y="1353502"/>
              <a:ext cx="144364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Use case sản phẩm</a:t>
              </a:r>
            </a:p>
          </p:txBody>
        </p:sp>
      </p:grpSp>
      <p:grpSp>
        <p:nvGrpSpPr>
          <p:cNvPr id="69" name="Group 69"/>
          <p:cNvGrpSpPr/>
          <p:nvPr/>
        </p:nvGrpSpPr>
        <p:grpSpPr>
          <a:xfrm>
            <a:off x="571500" y="1581150"/>
            <a:ext cx="11049000" cy="4533900"/>
            <a:chOff x="571500" y="1581150"/>
            <a:chExt cx="11049000" cy="4533900"/>
          </a:xfrm>
        </p:grpSpPr>
        <p:sp>
          <p:nvSpPr>
            <p:cNvPr id="13" name="Rectangle 13"/>
            <p:cNvSpPr/>
            <p:nvPr/>
          </p:nvSpPr>
          <p:spPr>
            <a:xfrm>
              <a:off x="571500" y="1581150"/>
              <a:ext cx="11049000" cy="323850"/>
            </a:xfrm>
            <a:prstGeom prst="rect">
              <a:avLst/>
            </a:prstGeom>
            <a:solidFill>
              <a:srgbClr val="F6F5EE"/>
            </a:solidFill>
            <a:ln>
              <a:noFill/>
            </a:ln>
          </p:spPr>
          <p:txBody>
            <a:bodyPr/>
            <a:lstStyle/>
            <a:p>
              <a:endParaRPr lang="da-DK"/>
            </a:p>
          </p:txBody>
        </p:sp>
        <p:sp>
          <p:nvSpPr>
            <p:cNvPr id="14" name="TextBox 14"/>
            <p:cNvSpPr txBox="1"/>
            <p:nvPr/>
          </p:nvSpPr>
          <p:spPr>
            <a:xfrm>
              <a:off x="749618" y="1685449"/>
              <a:ext cx="150500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Text-to-Image (T2I)</a:t>
              </a:r>
            </a:p>
          </p:txBody>
        </p:sp>
        <p:sp>
          <p:nvSpPr>
            <p:cNvPr id="15" name="TextBox 15"/>
            <p:cNvSpPr txBox="1"/>
            <p:nvPr/>
          </p:nvSpPr>
          <p:spPr>
            <a:xfrm>
              <a:off x="3035618" y="1685449"/>
              <a:ext cx="174779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ảnh từ prompt mô tả</a:t>
              </a:r>
            </a:p>
          </p:txBody>
        </p:sp>
        <p:sp>
          <p:nvSpPr>
            <p:cNvPr id="16" name="TextBox 16"/>
            <p:cNvSpPr txBox="1"/>
            <p:nvPr/>
          </p:nvSpPr>
          <p:spPr>
            <a:xfrm>
              <a:off x="7131368" y="1685449"/>
              <a:ext cx="25025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Concept moodboard, lifestyle scene</a:t>
              </a:r>
            </a:p>
          </p:txBody>
        </p:sp>
        <p:sp>
          <p:nvSpPr>
            <p:cNvPr id="17" name="Rectangle 17"/>
            <p:cNvSpPr/>
            <p:nvPr/>
          </p:nvSpPr>
          <p:spPr>
            <a:xfrm>
              <a:off x="571500" y="1905000"/>
              <a:ext cx="11049000" cy="323850"/>
            </a:xfrm>
            <a:prstGeom prst="rect">
              <a:avLst/>
            </a:prstGeom>
            <a:solidFill>
              <a:srgbClr val="586A68">
                <a:alpha val="4000"/>
              </a:srgbClr>
            </a:solidFill>
            <a:ln>
              <a:noFill/>
            </a:ln>
          </p:spPr>
          <p:txBody>
            <a:bodyPr/>
            <a:lstStyle/>
            <a:p>
              <a:endParaRPr lang="da-DK"/>
            </a:p>
          </p:txBody>
        </p:sp>
        <p:sp>
          <p:nvSpPr>
            <p:cNvPr id="18" name="TextBox 18"/>
            <p:cNvSpPr txBox="1"/>
            <p:nvPr/>
          </p:nvSpPr>
          <p:spPr>
            <a:xfrm>
              <a:off x="749618" y="2009299"/>
              <a:ext cx="154238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Image-to-Image (I2I)</a:t>
              </a:r>
            </a:p>
          </p:txBody>
        </p:sp>
        <p:sp>
          <p:nvSpPr>
            <p:cNvPr id="19" name="TextBox 19"/>
            <p:cNvSpPr txBox="1"/>
            <p:nvPr/>
          </p:nvSpPr>
          <p:spPr>
            <a:xfrm>
              <a:off x="3035618" y="2009299"/>
              <a:ext cx="12565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Biến đổi ảnh nguồn</a:t>
              </a:r>
            </a:p>
          </p:txBody>
        </p:sp>
        <p:sp>
          <p:nvSpPr>
            <p:cNvPr id="20" name="TextBox 20"/>
            <p:cNvSpPr txBox="1"/>
            <p:nvPr/>
          </p:nvSpPr>
          <p:spPr>
            <a:xfrm>
              <a:off x="7131368" y="2009299"/>
              <a:ext cx="216074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Re-style, đổi tone, retouching</a:t>
              </a:r>
            </a:p>
          </p:txBody>
        </p:sp>
        <p:sp>
          <p:nvSpPr>
            <p:cNvPr id="21" name="Rectangle 21"/>
            <p:cNvSpPr/>
            <p:nvPr/>
          </p:nvSpPr>
          <p:spPr>
            <a:xfrm>
              <a:off x="571500" y="2228850"/>
              <a:ext cx="11049000" cy="323850"/>
            </a:xfrm>
            <a:prstGeom prst="rect">
              <a:avLst/>
            </a:prstGeom>
            <a:solidFill>
              <a:srgbClr val="F6F5EE"/>
            </a:solidFill>
            <a:ln>
              <a:noFill/>
            </a:ln>
          </p:spPr>
          <p:txBody>
            <a:bodyPr/>
            <a:lstStyle/>
            <a:p>
              <a:endParaRPr lang="da-DK"/>
            </a:p>
          </p:txBody>
        </p:sp>
        <p:sp>
          <p:nvSpPr>
            <p:cNvPr id="22" name="TextBox 22"/>
            <p:cNvSpPr txBox="1"/>
            <p:nvPr/>
          </p:nvSpPr>
          <p:spPr>
            <a:xfrm>
              <a:off x="749618" y="2333149"/>
              <a:ext cx="73497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Inpainting</a:t>
              </a:r>
            </a:p>
          </p:txBody>
        </p:sp>
        <p:sp>
          <p:nvSpPr>
            <p:cNvPr id="23" name="TextBox 23"/>
            <p:cNvSpPr txBox="1"/>
            <p:nvPr/>
          </p:nvSpPr>
          <p:spPr>
            <a:xfrm>
              <a:off x="3035618" y="2333149"/>
              <a:ext cx="135619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Sửa vùng được mask</a:t>
              </a:r>
            </a:p>
          </p:txBody>
        </p:sp>
        <p:sp>
          <p:nvSpPr>
            <p:cNvPr id="24" name="TextBox 24"/>
            <p:cNvSpPr txBox="1"/>
            <p:nvPr/>
          </p:nvSpPr>
          <p:spPr>
            <a:xfrm>
              <a:off x="7131368" y="2333149"/>
              <a:ext cx="24669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Thay vải sofa, đổi màu ghế giữ form</a:t>
              </a:r>
            </a:p>
          </p:txBody>
        </p:sp>
        <p:sp>
          <p:nvSpPr>
            <p:cNvPr id="25" name="Rectangle 25"/>
            <p:cNvSpPr/>
            <p:nvPr/>
          </p:nvSpPr>
          <p:spPr>
            <a:xfrm>
              <a:off x="571500" y="2552700"/>
              <a:ext cx="11049000" cy="323850"/>
            </a:xfrm>
            <a:prstGeom prst="rect">
              <a:avLst/>
            </a:prstGeom>
            <a:solidFill>
              <a:srgbClr val="586A68">
                <a:alpha val="4000"/>
              </a:srgbClr>
            </a:solidFill>
            <a:ln>
              <a:noFill/>
            </a:ln>
          </p:spPr>
          <p:txBody>
            <a:bodyPr/>
            <a:lstStyle/>
            <a:p>
              <a:endParaRPr lang="da-DK"/>
            </a:p>
          </p:txBody>
        </p:sp>
        <p:sp>
          <p:nvSpPr>
            <p:cNvPr id="26" name="TextBox 26"/>
            <p:cNvSpPr txBox="1"/>
            <p:nvPr/>
          </p:nvSpPr>
          <p:spPr>
            <a:xfrm>
              <a:off x="749618" y="2656999"/>
              <a:ext cx="88449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Outpainting</a:t>
              </a:r>
            </a:p>
          </p:txBody>
        </p:sp>
        <p:sp>
          <p:nvSpPr>
            <p:cNvPr id="27" name="TextBox 27"/>
            <p:cNvSpPr txBox="1"/>
            <p:nvPr/>
          </p:nvSpPr>
          <p:spPr>
            <a:xfrm>
              <a:off x="3035618" y="2656999"/>
              <a:ext cx="107851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Mở rộng canvas</a:t>
              </a:r>
            </a:p>
          </p:txBody>
        </p:sp>
        <p:sp>
          <p:nvSpPr>
            <p:cNvPr id="28" name="TextBox 28"/>
            <p:cNvSpPr txBox="1"/>
            <p:nvPr/>
          </p:nvSpPr>
          <p:spPr>
            <a:xfrm>
              <a:off x="7131368" y="2656999"/>
              <a:ext cx="218210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Mở rộng background cho banner</a:t>
              </a:r>
            </a:p>
          </p:txBody>
        </p:sp>
        <p:sp>
          <p:nvSpPr>
            <p:cNvPr id="29" name="Rectangle 29"/>
            <p:cNvSpPr/>
            <p:nvPr/>
          </p:nvSpPr>
          <p:spPr>
            <a:xfrm>
              <a:off x="571500" y="2876550"/>
              <a:ext cx="11049000" cy="323850"/>
            </a:xfrm>
            <a:prstGeom prst="rect">
              <a:avLst/>
            </a:prstGeom>
            <a:solidFill>
              <a:srgbClr val="F6F5EE"/>
            </a:solidFill>
            <a:ln>
              <a:noFill/>
            </a:ln>
          </p:spPr>
          <p:txBody>
            <a:bodyPr/>
            <a:lstStyle/>
            <a:p>
              <a:endParaRPr lang="da-DK"/>
            </a:p>
          </p:txBody>
        </p:sp>
        <p:sp>
          <p:nvSpPr>
            <p:cNvPr id="30" name="TextBox 30"/>
            <p:cNvSpPr txBox="1"/>
            <p:nvPr/>
          </p:nvSpPr>
          <p:spPr>
            <a:xfrm>
              <a:off x="749618" y="2980849"/>
              <a:ext cx="809738"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ControlNet</a:t>
              </a:r>
            </a:p>
          </p:txBody>
        </p:sp>
        <p:sp>
          <p:nvSpPr>
            <p:cNvPr id="31" name="TextBox 31"/>
            <p:cNvSpPr txBox="1"/>
            <p:nvPr/>
          </p:nvSpPr>
          <p:spPr>
            <a:xfrm>
              <a:off x="3035618" y="2980849"/>
              <a:ext cx="28656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Giữ structure (pose/depth/edge) khi gen</a:t>
              </a:r>
            </a:p>
          </p:txBody>
        </p:sp>
        <p:sp>
          <p:nvSpPr>
            <p:cNvPr id="32" name="TextBox 32"/>
            <p:cNvSpPr txBox="1"/>
            <p:nvPr/>
          </p:nvSpPr>
          <p:spPr>
            <a:xfrm>
              <a:off x="7131368" y="2980849"/>
              <a:ext cx="208242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Variant đổi màu giữ silhouette</a:t>
              </a:r>
            </a:p>
          </p:txBody>
        </p:sp>
        <p:sp>
          <p:nvSpPr>
            <p:cNvPr id="33" name="Rectangle 33"/>
            <p:cNvSpPr/>
            <p:nvPr/>
          </p:nvSpPr>
          <p:spPr>
            <a:xfrm>
              <a:off x="571500" y="3200400"/>
              <a:ext cx="11049000" cy="323850"/>
            </a:xfrm>
            <a:prstGeom prst="rect">
              <a:avLst/>
            </a:prstGeom>
            <a:solidFill>
              <a:srgbClr val="586A68">
                <a:alpha val="4000"/>
              </a:srgbClr>
            </a:solidFill>
            <a:ln>
              <a:noFill/>
            </a:ln>
          </p:spPr>
          <p:txBody>
            <a:bodyPr/>
            <a:lstStyle/>
            <a:p>
              <a:endParaRPr lang="da-DK"/>
            </a:p>
          </p:txBody>
        </p:sp>
        <p:sp>
          <p:nvSpPr>
            <p:cNvPr id="34" name="TextBox 34"/>
            <p:cNvSpPr txBox="1"/>
            <p:nvPr/>
          </p:nvSpPr>
          <p:spPr>
            <a:xfrm>
              <a:off x="749618" y="3304699"/>
              <a:ext cx="809738"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IP-Adapter</a:t>
              </a:r>
            </a:p>
          </p:txBody>
        </p:sp>
        <p:sp>
          <p:nvSpPr>
            <p:cNvPr id="35" name="TextBox 35"/>
            <p:cNvSpPr txBox="1"/>
            <p:nvPr/>
          </p:nvSpPr>
          <p:spPr>
            <a:xfrm>
              <a:off x="3035618" y="3304699"/>
              <a:ext cx="278730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Chuyển style/identity từ ảnh tham chiếu</a:t>
              </a:r>
            </a:p>
          </p:txBody>
        </p:sp>
        <p:sp>
          <p:nvSpPr>
            <p:cNvPr id="36" name="TextBox 36"/>
            <p:cNvSpPr txBox="1"/>
            <p:nvPr/>
          </p:nvSpPr>
          <p:spPr>
            <a:xfrm>
              <a:off x="7131368" y="3304699"/>
              <a:ext cx="264490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Giữ nhận diện thương hiệu xuyên series</a:t>
              </a:r>
            </a:p>
          </p:txBody>
        </p:sp>
        <p:sp>
          <p:nvSpPr>
            <p:cNvPr id="37" name="Rectangle 37"/>
            <p:cNvSpPr/>
            <p:nvPr/>
          </p:nvSpPr>
          <p:spPr>
            <a:xfrm>
              <a:off x="571500" y="3524250"/>
              <a:ext cx="11049000" cy="323850"/>
            </a:xfrm>
            <a:prstGeom prst="rect">
              <a:avLst/>
            </a:prstGeom>
            <a:solidFill>
              <a:srgbClr val="F6F5EE"/>
            </a:solidFill>
            <a:ln>
              <a:noFill/>
            </a:ln>
          </p:spPr>
          <p:txBody>
            <a:bodyPr/>
            <a:lstStyle/>
            <a:p>
              <a:endParaRPr lang="da-DK"/>
            </a:p>
          </p:txBody>
        </p:sp>
        <p:sp>
          <p:nvSpPr>
            <p:cNvPr id="38" name="TextBox 38"/>
            <p:cNvSpPr txBox="1"/>
            <p:nvPr/>
          </p:nvSpPr>
          <p:spPr>
            <a:xfrm>
              <a:off x="749618" y="3628549"/>
              <a:ext cx="1228390"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LoRA / Fine-tune</a:t>
              </a:r>
            </a:p>
          </p:txBody>
        </p:sp>
        <p:sp>
          <p:nvSpPr>
            <p:cNvPr id="39" name="TextBox 39"/>
            <p:cNvSpPr txBox="1"/>
            <p:nvPr/>
          </p:nvSpPr>
          <p:spPr>
            <a:xfrm>
              <a:off x="3035618" y="3628549"/>
              <a:ext cx="213226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 ~5-50 ảnh để giữ identity</a:t>
              </a:r>
            </a:p>
          </p:txBody>
        </p:sp>
        <p:sp>
          <p:nvSpPr>
            <p:cNvPr id="40" name="TextBox 40"/>
            <p:cNvSpPr txBox="1"/>
            <p:nvPr/>
          </p:nvSpPr>
          <p:spPr>
            <a:xfrm>
              <a:off x="7131368" y="3628549"/>
              <a:ext cx="271610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Huấn luyện riêng cho mỗi range nội thất</a:t>
              </a:r>
            </a:p>
          </p:txBody>
        </p:sp>
        <p:sp>
          <p:nvSpPr>
            <p:cNvPr id="41" name="Rectangle 41"/>
            <p:cNvSpPr/>
            <p:nvPr/>
          </p:nvSpPr>
          <p:spPr>
            <a:xfrm>
              <a:off x="571500" y="3848100"/>
              <a:ext cx="11049000" cy="323850"/>
            </a:xfrm>
            <a:prstGeom prst="rect">
              <a:avLst/>
            </a:prstGeom>
            <a:solidFill>
              <a:srgbClr val="586A68">
                <a:alpha val="4000"/>
              </a:srgbClr>
            </a:solidFill>
            <a:ln>
              <a:noFill/>
            </a:ln>
          </p:spPr>
          <p:txBody>
            <a:bodyPr/>
            <a:lstStyle/>
            <a:p>
              <a:endParaRPr lang="da-DK"/>
            </a:p>
          </p:txBody>
        </p:sp>
        <p:sp>
          <p:nvSpPr>
            <p:cNvPr id="42" name="TextBox 42"/>
            <p:cNvSpPr txBox="1"/>
            <p:nvPr/>
          </p:nvSpPr>
          <p:spPr>
            <a:xfrm>
              <a:off x="749618" y="3952399"/>
              <a:ext cx="802262"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BG Removal</a:t>
              </a:r>
            </a:p>
          </p:txBody>
        </p:sp>
        <p:sp>
          <p:nvSpPr>
            <p:cNvPr id="43" name="TextBox 43"/>
            <p:cNvSpPr txBox="1"/>
            <p:nvPr/>
          </p:nvSpPr>
          <p:spPr>
            <a:xfrm>
              <a:off x="3035618" y="3952399"/>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Tách object khỏi nền</a:t>
              </a:r>
            </a:p>
          </p:txBody>
        </p:sp>
        <p:sp>
          <p:nvSpPr>
            <p:cNvPr id="44" name="TextBox 44"/>
            <p:cNvSpPr txBox="1"/>
            <p:nvPr/>
          </p:nvSpPr>
          <p:spPr>
            <a:xfrm>
              <a:off x="7131368" y="3952399"/>
              <a:ext cx="179762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Chuẩn hóa packshot trắng</a:t>
              </a:r>
            </a:p>
          </p:txBody>
        </p:sp>
        <p:sp>
          <p:nvSpPr>
            <p:cNvPr id="45" name="Rectangle 45"/>
            <p:cNvSpPr/>
            <p:nvPr/>
          </p:nvSpPr>
          <p:spPr>
            <a:xfrm>
              <a:off x="571500" y="4171950"/>
              <a:ext cx="11049000" cy="323850"/>
            </a:xfrm>
            <a:prstGeom prst="rect">
              <a:avLst/>
            </a:prstGeom>
            <a:solidFill>
              <a:srgbClr val="F6F5EE"/>
            </a:solidFill>
            <a:ln>
              <a:noFill/>
            </a:ln>
          </p:spPr>
          <p:txBody>
            <a:bodyPr/>
            <a:lstStyle/>
            <a:p>
              <a:endParaRPr lang="da-DK"/>
            </a:p>
          </p:txBody>
        </p:sp>
        <p:sp>
          <p:nvSpPr>
            <p:cNvPr id="46" name="TextBox 46"/>
            <p:cNvSpPr txBox="1"/>
            <p:nvPr/>
          </p:nvSpPr>
          <p:spPr>
            <a:xfrm>
              <a:off x="749618" y="4276249"/>
              <a:ext cx="563032"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Upscale</a:t>
              </a:r>
            </a:p>
          </p:txBody>
        </p:sp>
        <p:sp>
          <p:nvSpPr>
            <p:cNvPr id="47" name="TextBox 47"/>
            <p:cNvSpPr txBox="1"/>
            <p:nvPr/>
          </p:nvSpPr>
          <p:spPr>
            <a:xfrm>
              <a:off x="3035618" y="4276249"/>
              <a:ext cx="173355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Tăng phân giải, khử nhiễu</a:t>
              </a:r>
            </a:p>
          </p:txBody>
        </p:sp>
        <p:sp>
          <p:nvSpPr>
            <p:cNvPr id="48" name="TextBox 48"/>
            <p:cNvSpPr txBox="1"/>
            <p:nvPr/>
          </p:nvSpPr>
          <p:spPr>
            <a:xfrm>
              <a:off x="7131368" y="4276249"/>
              <a:ext cx="169083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Catalogue print ≥300 dpi</a:t>
              </a:r>
            </a:p>
          </p:txBody>
        </p:sp>
        <p:sp>
          <p:nvSpPr>
            <p:cNvPr id="49" name="Rectangle 49"/>
            <p:cNvSpPr/>
            <p:nvPr/>
          </p:nvSpPr>
          <p:spPr>
            <a:xfrm>
              <a:off x="571500" y="4495800"/>
              <a:ext cx="11049000" cy="323850"/>
            </a:xfrm>
            <a:prstGeom prst="rect">
              <a:avLst/>
            </a:prstGeom>
            <a:solidFill>
              <a:srgbClr val="586A68">
                <a:alpha val="4000"/>
              </a:srgbClr>
            </a:solidFill>
            <a:ln>
              <a:noFill/>
            </a:ln>
          </p:spPr>
          <p:txBody>
            <a:bodyPr/>
            <a:lstStyle/>
            <a:p>
              <a:endParaRPr lang="da-DK"/>
            </a:p>
          </p:txBody>
        </p:sp>
        <p:sp>
          <p:nvSpPr>
            <p:cNvPr id="50" name="TextBox 50"/>
            <p:cNvSpPr txBox="1"/>
            <p:nvPr/>
          </p:nvSpPr>
          <p:spPr>
            <a:xfrm>
              <a:off x="749618" y="4600099"/>
              <a:ext cx="92187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3D-to-Image</a:t>
              </a:r>
            </a:p>
          </p:txBody>
        </p:sp>
        <p:sp>
          <p:nvSpPr>
            <p:cNvPr id="51" name="TextBox 51"/>
            <p:cNvSpPr txBox="1"/>
            <p:nvPr/>
          </p:nvSpPr>
          <p:spPr>
            <a:xfrm>
              <a:off x="3035618" y="4600099"/>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Render headless từ GLB/FBX</a:t>
              </a:r>
            </a:p>
          </p:txBody>
        </p:sp>
        <p:sp>
          <p:nvSpPr>
            <p:cNvPr id="52" name="TextBox 52"/>
            <p:cNvSpPr txBox="1"/>
            <p:nvPr/>
          </p:nvSpPr>
          <p:spPr>
            <a:xfrm>
              <a:off x="7131368" y="4600099"/>
              <a:ext cx="220346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Packshot đa góc từ CAD nội thất</a:t>
              </a:r>
            </a:p>
          </p:txBody>
        </p:sp>
        <p:sp>
          <p:nvSpPr>
            <p:cNvPr id="53" name="Rectangle 53"/>
            <p:cNvSpPr/>
            <p:nvPr/>
          </p:nvSpPr>
          <p:spPr>
            <a:xfrm>
              <a:off x="571500" y="4819650"/>
              <a:ext cx="11049000" cy="323850"/>
            </a:xfrm>
            <a:prstGeom prst="rect">
              <a:avLst/>
            </a:prstGeom>
            <a:solidFill>
              <a:srgbClr val="F6F5EE"/>
            </a:solidFill>
            <a:ln>
              <a:noFill/>
            </a:ln>
          </p:spPr>
          <p:txBody>
            <a:bodyPr/>
            <a:lstStyle/>
            <a:p>
              <a:endParaRPr lang="da-DK"/>
            </a:p>
          </p:txBody>
        </p:sp>
        <p:sp>
          <p:nvSpPr>
            <p:cNvPr id="54" name="TextBox 54"/>
            <p:cNvSpPr txBox="1"/>
            <p:nvPr/>
          </p:nvSpPr>
          <p:spPr>
            <a:xfrm>
              <a:off x="749618" y="4923949"/>
              <a:ext cx="921877"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Image-to-3D</a:t>
              </a:r>
            </a:p>
          </p:txBody>
        </p:sp>
        <p:sp>
          <p:nvSpPr>
            <p:cNvPr id="55" name="TextBox 55"/>
            <p:cNvSpPr txBox="1"/>
            <p:nvPr/>
          </p:nvSpPr>
          <p:spPr>
            <a:xfrm>
              <a:off x="3035618" y="4923949"/>
              <a:ext cx="136331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mesh từ ảnh 2D</a:t>
              </a:r>
            </a:p>
          </p:txBody>
        </p:sp>
        <p:sp>
          <p:nvSpPr>
            <p:cNvPr id="56" name="TextBox 56"/>
            <p:cNvSpPr txBox="1"/>
            <p:nvPr/>
          </p:nvSpPr>
          <p:spPr>
            <a:xfrm>
              <a:off x="7131368" y="4923949"/>
              <a:ext cx="188306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Prototype 3D từ ảnh studio</a:t>
              </a:r>
            </a:p>
          </p:txBody>
        </p:sp>
        <p:sp>
          <p:nvSpPr>
            <p:cNvPr id="57" name="Rectangle 57"/>
            <p:cNvSpPr/>
            <p:nvPr/>
          </p:nvSpPr>
          <p:spPr>
            <a:xfrm>
              <a:off x="571500" y="5143500"/>
              <a:ext cx="11049000" cy="323850"/>
            </a:xfrm>
            <a:prstGeom prst="rect">
              <a:avLst/>
            </a:prstGeom>
            <a:solidFill>
              <a:srgbClr val="586A68">
                <a:alpha val="4000"/>
              </a:srgbClr>
            </a:solidFill>
            <a:ln>
              <a:noFill/>
            </a:ln>
          </p:spPr>
          <p:txBody>
            <a:bodyPr/>
            <a:lstStyle/>
            <a:p>
              <a:endParaRPr lang="da-DK"/>
            </a:p>
          </p:txBody>
        </p:sp>
        <p:sp>
          <p:nvSpPr>
            <p:cNvPr id="58" name="TextBox 58"/>
            <p:cNvSpPr txBox="1"/>
            <p:nvPr/>
          </p:nvSpPr>
          <p:spPr>
            <a:xfrm>
              <a:off x="749618" y="5247799"/>
              <a:ext cx="734979"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Relighting</a:t>
              </a:r>
            </a:p>
          </p:txBody>
        </p:sp>
        <p:sp>
          <p:nvSpPr>
            <p:cNvPr id="59" name="TextBox 59"/>
            <p:cNvSpPr txBox="1"/>
            <p:nvPr/>
          </p:nvSpPr>
          <p:spPr>
            <a:xfrm>
              <a:off x="3035618" y="5247799"/>
              <a:ext cx="157691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Đổi ánh sáng giữ object</a:t>
              </a:r>
            </a:p>
          </p:txBody>
        </p:sp>
        <p:sp>
          <p:nvSpPr>
            <p:cNvPr id="60" name="TextBox 60"/>
            <p:cNvSpPr txBox="1"/>
            <p:nvPr/>
          </p:nvSpPr>
          <p:spPr>
            <a:xfrm>
              <a:off x="7131368" y="5247799"/>
              <a:ext cx="232450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Đồng bộ lighting packshot + scene</a:t>
              </a:r>
            </a:p>
          </p:txBody>
        </p:sp>
        <p:sp>
          <p:nvSpPr>
            <p:cNvPr id="61" name="Rectangle 61"/>
            <p:cNvSpPr/>
            <p:nvPr/>
          </p:nvSpPr>
          <p:spPr>
            <a:xfrm>
              <a:off x="571500" y="5467350"/>
              <a:ext cx="11049000" cy="323850"/>
            </a:xfrm>
            <a:prstGeom prst="rect">
              <a:avLst/>
            </a:prstGeom>
            <a:solidFill>
              <a:srgbClr val="F6F5EE"/>
            </a:solidFill>
            <a:ln>
              <a:noFill/>
            </a:ln>
          </p:spPr>
          <p:txBody>
            <a:bodyPr/>
            <a:lstStyle/>
            <a:p>
              <a:endParaRPr lang="da-DK"/>
            </a:p>
          </p:txBody>
        </p:sp>
        <p:sp>
          <p:nvSpPr>
            <p:cNvPr id="62" name="TextBox 62"/>
            <p:cNvSpPr txBox="1"/>
            <p:nvPr/>
          </p:nvSpPr>
          <p:spPr>
            <a:xfrm>
              <a:off x="749618" y="5571649"/>
              <a:ext cx="1131203"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Image-to-Video</a:t>
              </a:r>
            </a:p>
          </p:txBody>
        </p:sp>
        <p:sp>
          <p:nvSpPr>
            <p:cNvPr id="63" name="TextBox 63"/>
            <p:cNvSpPr txBox="1"/>
            <p:nvPr/>
          </p:nvSpPr>
          <p:spPr>
            <a:xfrm>
              <a:off x="3035618" y="5571649"/>
              <a:ext cx="184034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video xoay/lia camera</a:t>
              </a:r>
            </a:p>
          </p:txBody>
        </p:sp>
        <p:sp>
          <p:nvSpPr>
            <p:cNvPr id="64" name="TextBox 64"/>
            <p:cNvSpPr txBox="1"/>
            <p:nvPr/>
          </p:nvSpPr>
          <p:spPr>
            <a:xfrm>
              <a:off x="7131368" y="5571649"/>
              <a:ext cx="208954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Reel TikTok/social từ ảnh tĩnh</a:t>
              </a:r>
            </a:p>
          </p:txBody>
        </p:sp>
        <p:sp>
          <p:nvSpPr>
            <p:cNvPr id="65" name="Rectangle 65"/>
            <p:cNvSpPr/>
            <p:nvPr/>
          </p:nvSpPr>
          <p:spPr>
            <a:xfrm>
              <a:off x="571500" y="5791200"/>
              <a:ext cx="11049000" cy="323850"/>
            </a:xfrm>
            <a:prstGeom prst="rect">
              <a:avLst/>
            </a:prstGeom>
            <a:solidFill>
              <a:srgbClr val="586A68">
                <a:alpha val="4000"/>
              </a:srgbClr>
            </a:solidFill>
            <a:ln>
              <a:noFill/>
            </a:ln>
          </p:spPr>
          <p:txBody>
            <a:bodyPr/>
            <a:lstStyle/>
            <a:p>
              <a:endParaRPr lang="da-DK"/>
            </a:p>
          </p:txBody>
        </p:sp>
        <p:sp>
          <p:nvSpPr>
            <p:cNvPr id="66" name="TextBox 66"/>
            <p:cNvSpPr txBox="1"/>
            <p:nvPr/>
          </p:nvSpPr>
          <p:spPr>
            <a:xfrm>
              <a:off x="749618" y="5895499"/>
              <a:ext cx="1056444" cy="198120"/>
            </a:xfrm>
            <a:prstGeom prst="rect">
              <a:avLst/>
            </a:prstGeom>
            <a:noFill/>
            <a:ln>
              <a:noFill/>
            </a:ln>
          </p:spPr>
          <p:txBody>
            <a:bodyPr wrap="none" lIns="0" tIns="0" rIns="0" bIns="0" anchor="t" anchorCtr="0">
              <a:spAutoFit/>
            </a:bodyPr>
            <a:lstStyle/>
            <a:p>
              <a:pPr algn="l"/>
              <a:r>
                <a:rPr lang="zh-CN" sz="975" b="1" dirty="0">
                  <a:solidFill>
                    <a:srgbClr val="586A68"/>
                  </a:solidFill>
                  <a:latin typeface="Segoe UI"/>
                  <a:ea typeface="Microsoft YaHei"/>
                  <a:cs typeface="Segoe UI"/>
                </a:rPr>
                <a:t>Material / PBR</a:t>
              </a:r>
            </a:p>
          </p:txBody>
        </p:sp>
        <p:sp>
          <p:nvSpPr>
            <p:cNvPr id="67" name="TextBox 67"/>
            <p:cNvSpPr txBox="1"/>
            <p:nvPr/>
          </p:nvSpPr>
          <p:spPr>
            <a:xfrm>
              <a:off x="3035618" y="5895499"/>
              <a:ext cx="145587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texture vật liệu</a:t>
              </a:r>
            </a:p>
          </p:txBody>
        </p:sp>
        <p:sp>
          <p:nvSpPr>
            <p:cNvPr id="68" name="TextBox 68"/>
            <p:cNvSpPr txBox="1"/>
            <p:nvPr/>
          </p:nvSpPr>
          <p:spPr>
            <a:xfrm>
              <a:off x="7131368" y="5895499"/>
              <a:ext cx="230314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 gỗ, da cho 3D viewer</a:t>
              </a:r>
            </a:p>
          </p:txBody>
        </p:sp>
      </p:grpSp>
      <p:sp>
        <p:nvSpPr>
          <p:cNvPr id="70" name="TextBox 7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536598" cy="722948"/>
            <a:chOff x="558165" y="458152"/>
            <a:chExt cx="6536598"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03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397533"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Diffusion Models &amp; Conditioning Adapters</a:t>
              </a:r>
            </a:p>
          </p:txBody>
        </p:sp>
      </p:grpSp>
      <p:grpSp>
        <p:nvGrpSpPr>
          <p:cNvPr id="31" name="Group 31"/>
          <p:cNvGrpSpPr/>
          <p:nvPr/>
        </p:nvGrpSpPr>
        <p:grpSpPr>
          <a:xfrm>
            <a:off x="558165" y="1267778"/>
            <a:ext cx="11062335" cy="1113472"/>
            <a:chOff x="558165" y="1267778"/>
            <a:chExt cx="11062335" cy="1113472"/>
          </a:xfrm>
        </p:grpSpPr>
        <p:sp>
          <p:nvSpPr>
            <p:cNvPr id="8" name="TextBox 8"/>
            <p:cNvSpPr txBox="1"/>
            <p:nvPr/>
          </p:nvSpPr>
          <p:spPr>
            <a:xfrm>
              <a:off x="558165" y="1267778"/>
              <a:ext cx="222459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DIFFUSION MODELS &amp; RUNNERS</a:t>
              </a:r>
            </a:p>
          </p:txBody>
        </p:sp>
        <p:sp>
          <p:nvSpPr>
            <p:cNvPr id="9" name="Rectangle 9"/>
            <p:cNvSpPr/>
            <p:nvPr/>
          </p:nvSpPr>
          <p:spPr>
            <a:xfrm>
              <a:off x="571500" y="1476375"/>
              <a:ext cx="11049000" cy="19050"/>
            </a:xfrm>
            <a:prstGeom prst="rect">
              <a:avLst/>
            </a:prstGeom>
            <a:solidFill>
              <a:srgbClr val="586A68">
                <a:alpha val="20000"/>
              </a:srgbClr>
            </a:solidFill>
            <a:ln>
              <a:noFill/>
            </a:ln>
          </p:spPr>
          <p:txBody>
            <a:bodyPr/>
            <a:lstStyle/>
            <a:p>
              <a:endParaRPr lang="da-DK"/>
            </a:p>
          </p:txBody>
        </p:sp>
        <p:sp>
          <p:nvSpPr>
            <p:cNvPr id="10" name="Rectangle 10"/>
            <p:cNvSpPr/>
            <p:nvPr/>
          </p:nvSpPr>
          <p:spPr>
            <a:xfrm>
              <a:off x="571500" y="1619250"/>
              <a:ext cx="2095500" cy="762000"/>
            </a:xfrm>
            <a:prstGeom prst="roundRect">
              <a:avLst>
                <a:gd name="adj" fmla="val 10000"/>
              </a:avLst>
            </a:prstGeom>
            <a:solidFill>
              <a:srgbClr val="586A68"/>
            </a:solidFill>
            <a:ln>
              <a:noFill/>
            </a:ln>
          </p:spPr>
          <p:txBody>
            <a:bodyPr/>
            <a:lstStyle/>
            <a:p>
              <a:endParaRPr lang="da-DK"/>
            </a:p>
          </p:txBody>
        </p:sp>
        <p:sp>
          <p:nvSpPr>
            <p:cNvPr id="11" name="TextBox 11"/>
            <p:cNvSpPr txBox="1"/>
            <p:nvPr/>
          </p:nvSpPr>
          <p:spPr>
            <a:xfrm>
              <a:off x="932128" y="1783556"/>
              <a:ext cx="137424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Stable Diffusion</a:t>
              </a:r>
            </a:p>
          </p:txBody>
        </p:sp>
        <p:sp>
          <p:nvSpPr>
            <p:cNvPr id="12" name="TextBox 12"/>
            <p:cNvSpPr txBox="1"/>
            <p:nvPr/>
          </p:nvSpPr>
          <p:spPr>
            <a:xfrm>
              <a:off x="1111615" y="2017395"/>
              <a:ext cx="1015270"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1.5 / SDXL / 3.5</a:t>
              </a:r>
            </a:p>
          </p:txBody>
        </p:sp>
        <p:sp>
          <p:nvSpPr>
            <p:cNvPr id="13" name="TextBox 13"/>
            <p:cNvSpPr txBox="1"/>
            <p:nvPr/>
          </p:nvSpPr>
          <p:spPr>
            <a:xfrm>
              <a:off x="915948" y="2196941"/>
              <a:ext cx="1406604"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CreativeML Open RAIL++</a:t>
              </a:r>
            </a:p>
          </p:txBody>
        </p:sp>
        <p:sp>
          <p:nvSpPr>
            <p:cNvPr id="14" name="Rectangle 14"/>
            <p:cNvSpPr/>
            <p:nvPr/>
          </p:nvSpPr>
          <p:spPr>
            <a:xfrm>
              <a:off x="2857500" y="1619250"/>
              <a:ext cx="2095500" cy="762000"/>
            </a:xfrm>
            <a:prstGeom prst="roundRect">
              <a:avLst>
                <a:gd name="adj" fmla="val 10000"/>
              </a:avLst>
            </a:prstGeom>
            <a:solidFill>
              <a:srgbClr val="586A68"/>
            </a:solidFill>
            <a:ln>
              <a:noFill/>
            </a:ln>
          </p:spPr>
          <p:txBody>
            <a:bodyPr/>
            <a:lstStyle/>
            <a:p>
              <a:endParaRPr lang="da-DK"/>
            </a:p>
          </p:txBody>
        </p:sp>
        <p:sp>
          <p:nvSpPr>
            <p:cNvPr id="15" name="TextBox 15"/>
            <p:cNvSpPr txBox="1"/>
            <p:nvPr/>
          </p:nvSpPr>
          <p:spPr>
            <a:xfrm>
              <a:off x="3627867" y="1783556"/>
              <a:ext cx="55476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FLUX.1</a:t>
              </a:r>
            </a:p>
          </p:txBody>
        </p:sp>
        <p:sp>
          <p:nvSpPr>
            <p:cNvPr id="16" name="TextBox 16"/>
            <p:cNvSpPr txBox="1"/>
            <p:nvPr/>
          </p:nvSpPr>
          <p:spPr>
            <a:xfrm>
              <a:off x="3305604" y="2017395"/>
              <a:ext cx="1199293"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schnell / dev / pro</a:t>
              </a:r>
            </a:p>
          </p:txBody>
        </p:sp>
        <p:sp>
          <p:nvSpPr>
            <p:cNvPr id="17" name="TextBox 17"/>
            <p:cNvSpPr txBox="1"/>
            <p:nvPr/>
          </p:nvSpPr>
          <p:spPr>
            <a:xfrm>
              <a:off x="2912769" y="2196941"/>
              <a:ext cx="1984962"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SOTA open — Apache-2.0 (schnell)</a:t>
              </a:r>
            </a:p>
          </p:txBody>
        </p:sp>
        <p:sp>
          <p:nvSpPr>
            <p:cNvPr id="18" name="Rectangle 18"/>
            <p:cNvSpPr/>
            <p:nvPr/>
          </p:nvSpPr>
          <p:spPr>
            <a:xfrm>
              <a:off x="5143500" y="1619250"/>
              <a:ext cx="2095500" cy="762000"/>
            </a:xfrm>
            <a:prstGeom prst="roundRect">
              <a:avLst>
                <a:gd name="adj" fmla="val 10000"/>
              </a:avLst>
            </a:prstGeom>
            <a:solidFill>
              <a:srgbClr val="586A68">
                <a:alpha val="85000"/>
              </a:srgbClr>
            </a:solidFill>
            <a:ln>
              <a:noFill/>
            </a:ln>
          </p:spPr>
          <p:txBody>
            <a:bodyPr/>
            <a:lstStyle/>
            <a:p>
              <a:endParaRPr lang="da-DK"/>
            </a:p>
          </p:txBody>
        </p:sp>
        <p:sp>
          <p:nvSpPr>
            <p:cNvPr id="19" name="Freeform 19"/>
            <p:cNvSpPr/>
            <p:nvPr/>
          </p:nvSpPr>
          <p:spPr>
            <a:xfrm>
              <a:off x="5712358" y="1797876"/>
              <a:ext cx="157677" cy="141821"/>
            </a:xfrm>
            <a:custGeom>
              <a:avLst/>
              <a:gdLst/>
              <a:ahLst/>
              <a:cxnLst/>
              <a:rect l="l" t="t" r="r" b="b"/>
              <a:pathLst>
                <a:path w="157677" h="141821">
                  <a:moveTo>
                    <a:pt x="79000" y="0"/>
                  </a:moveTo>
                  <a:cubicBezTo>
                    <a:pt x="42361" y="0"/>
                    <a:pt x="12649" y="29508"/>
                    <a:pt x="12649" y="65900"/>
                  </a:cubicBezTo>
                  <a:cubicBezTo>
                    <a:pt x="12649" y="72961"/>
                    <a:pt x="13780" y="79750"/>
                    <a:pt x="15843" y="86125"/>
                  </a:cubicBezTo>
                  <a:cubicBezTo>
                    <a:pt x="16250" y="84715"/>
                    <a:pt x="17132" y="83306"/>
                    <a:pt x="18485" y="82461"/>
                  </a:cubicBezTo>
                  <a:cubicBezTo>
                    <a:pt x="19479" y="81829"/>
                    <a:pt x="20634" y="81498"/>
                    <a:pt x="21812" y="81509"/>
                  </a:cubicBezTo>
                  <a:cubicBezTo>
                    <a:pt x="23673" y="81509"/>
                    <a:pt x="25521" y="82296"/>
                    <a:pt x="27146" y="83312"/>
                  </a:cubicBezTo>
                  <a:cubicBezTo>
                    <a:pt x="28912" y="84411"/>
                    <a:pt x="30194" y="85903"/>
                    <a:pt x="31655" y="87719"/>
                  </a:cubicBezTo>
                  <a:cubicBezTo>
                    <a:pt x="33090" y="89510"/>
                    <a:pt x="34563" y="91599"/>
                    <a:pt x="35998" y="93758"/>
                  </a:cubicBezTo>
                  <a:lnTo>
                    <a:pt x="35998" y="93669"/>
                  </a:lnTo>
                  <a:cubicBezTo>
                    <a:pt x="36106" y="91611"/>
                    <a:pt x="36671" y="89719"/>
                    <a:pt x="37675" y="88119"/>
                  </a:cubicBezTo>
                  <a:cubicBezTo>
                    <a:pt x="38678" y="86519"/>
                    <a:pt x="40234" y="85027"/>
                    <a:pt x="42513" y="84671"/>
                  </a:cubicBezTo>
                  <a:cubicBezTo>
                    <a:pt x="44418" y="84372"/>
                    <a:pt x="46298" y="85052"/>
                    <a:pt x="47511" y="85960"/>
                  </a:cubicBezTo>
                  <a:cubicBezTo>
                    <a:pt x="48724" y="86868"/>
                    <a:pt x="49479" y="87948"/>
                    <a:pt x="50051" y="88925"/>
                  </a:cubicBezTo>
                  <a:cubicBezTo>
                    <a:pt x="51003" y="90557"/>
                    <a:pt x="51397" y="91897"/>
                    <a:pt x="51530" y="92367"/>
                  </a:cubicBezTo>
                  <a:cubicBezTo>
                    <a:pt x="51594" y="92532"/>
                    <a:pt x="55677" y="102222"/>
                    <a:pt x="62052" y="108496"/>
                  </a:cubicBezTo>
                  <a:cubicBezTo>
                    <a:pt x="65964" y="112338"/>
                    <a:pt x="68466" y="116262"/>
                    <a:pt x="68923" y="120637"/>
                  </a:cubicBezTo>
                  <a:cubicBezTo>
                    <a:pt x="69272" y="124047"/>
                    <a:pt x="68313" y="127362"/>
                    <a:pt x="66510" y="130620"/>
                  </a:cubicBezTo>
                  <a:cubicBezTo>
                    <a:pt x="70555" y="131388"/>
                    <a:pt x="74727" y="131807"/>
                    <a:pt x="79000" y="131807"/>
                  </a:cubicBezTo>
                  <a:cubicBezTo>
                    <a:pt x="83172" y="131807"/>
                    <a:pt x="87243" y="131407"/>
                    <a:pt x="91199" y="130677"/>
                  </a:cubicBezTo>
                  <a:cubicBezTo>
                    <a:pt x="89376" y="127394"/>
                    <a:pt x="88405" y="124066"/>
                    <a:pt x="88760" y="120637"/>
                  </a:cubicBezTo>
                  <a:cubicBezTo>
                    <a:pt x="89205" y="116256"/>
                    <a:pt x="91713" y="112338"/>
                    <a:pt x="95625" y="108490"/>
                  </a:cubicBezTo>
                  <a:cubicBezTo>
                    <a:pt x="102000" y="102222"/>
                    <a:pt x="106083" y="92532"/>
                    <a:pt x="106147" y="92367"/>
                  </a:cubicBezTo>
                  <a:cubicBezTo>
                    <a:pt x="106280" y="91897"/>
                    <a:pt x="106674" y="90557"/>
                    <a:pt x="107626" y="88925"/>
                  </a:cubicBezTo>
                  <a:cubicBezTo>
                    <a:pt x="108198" y="87948"/>
                    <a:pt x="108947" y="86874"/>
                    <a:pt x="110166" y="85960"/>
                  </a:cubicBezTo>
                  <a:cubicBezTo>
                    <a:pt x="111601" y="84896"/>
                    <a:pt x="113393" y="84433"/>
                    <a:pt x="115164" y="84671"/>
                  </a:cubicBezTo>
                  <a:cubicBezTo>
                    <a:pt x="117443" y="85027"/>
                    <a:pt x="118999" y="86512"/>
                    <a:pt x="120002" y="88119"/>
                  </a:cubicBezTo>
                  <a:cubicBezTo>
                    <a:pt x="121006" y="89726"/>
                    <a:pt x="121571" y="91611"/>
                    <a:pt x="121685" y="93669"/>
                  </a:cubicBezTo>
                  <a:lnTo>
                    <a:pt x="121685" y="93764"/>
                  </a:lnTo>
                  <a:cubicBezTo>
                    <a:pt x="123114" y="91605"/>
                    <a:pt x="124587" y="89510"/>
                    <a:pt x="126022" y="87719"/>
                  </a:cubicBezTo>
                  <a:cubicBezTo>
                    <a:pt x="127483" y="85903"/>
                    <a:pt x="128765" y="84417"/>
                    <a:pt x="130531" y="83312"/>
                  </a:cubicBezTo>
                  <a:cubicBezTo>
                    <a:pt x="132163" y="82296"/>
                    <a:pt x="134004" y="81509"/>
                    <a:pt x="135865" y="81502"/>
                  </a:cubicBezTo>
                  <a:cubicBezTo>
                    <a:pt x="137043" y="81497"/>
                    <a:pt x="138197" y="81830"/>
                    <a:pt x="139192" y="82461"/>
                  </a:cubicBezTo>
                  <a:cubicBezTo>
                    <a:pt x="140640" y="83369"/>
                    <a:pt x="141561" y="84925"/>
                    <a:pt x="141922" y="86430"/>
                  </a:cubicBezTo>
                  <a:lnTo>
                    <a:pt x="141961" y="86684"/>
                  </a:lnTo>
                  <a:cubicBezTo>
                    <a:pt x="144206" y="79985"/>
                    <a:pt x="145351" y="72966"/>
                    <a:pt x="145351" y="65900"/>
                  </a:cubicBezTo>
                  <a:cubicBezTo>
                    <a:pt x="145351" y="29508"/>
                    <a:pt x="115646" y="0"/>
                    <a:pt x="79000" y="0"/>
                  </a:cubicBezTo>
                  <a:moveTo>
                    <a:pt x="55518" y="34627"/>
                  </a:moveTo>
                  <a:cubicBezTo>
                    <a:pt x="57095" y="34614"/>
                    <a:pt x="58651" y="34994"/>
                    <a:pt x="60046" y="35731"/>
                  </a:cubicBezTo>
                  <a:cubicBezTo>
                    <a:pt x="62262" y="36905"/>
                    <a:pt x="63921" y="38912"/>
                    <a:pt x="64656" y="41310"/>
                  </a:cubicBezTo>
                  <a:cubicBezTo>
                    <a:pt x="65391" y="43708"/>
                    <a:pt x="65142" y="46300"/>
                    <a:pt x="63964" y="48514"/>
                  </a:cubicBezTo>
                  <a:cubicBezTo>
                    <a:pt x="62802" y="50692"/>
                    <a:pt x="59125" y="47155"/>
                    <a:pt x="56966" y="47917"/>
                  </a:cubicBezTo>
                  <a:cubicBezTo>
                    <a:pt x="54553" y="48768"/>
                    <a:pt x="53588" y="53721"/>
                    <a:pt x="51143" y="52426"/>
                  </a:cubicBezTo>
                  <a:cubicBezTo>
                    <a:pt x="47302" y="50405"/>
                    <a:pt x="45333" y="46026"/>
                    <a:pt x="46370" y="41812"/>
                  </a:cubicBezTo>
                  <a:cubicBezTo>
                    <a:pt x="47408" y="37598"/>
                    <a:pt x="51184" y="34633"/>
                    <a:pt x="55524" y="34627"/>
                  </a:cubicBezTo>
                  <a:moveTo>
                    <a:pt x="103061" y="34627"/>
                  </a:moveTo>
                  <a:cubicBezTo>
                    <a:pt x="107399" y="34636"/>
                    <a:pt x="111173" y="37602"/>
                    <a:pt x="112209" y="41815"/>
                  </a:cubicBezTo>
                  <a:cubicBezTo>
                    <a:pt x="113245" y="46029"/>
                    <a:pt x="111276" y="50406"/>
                    <a:pt x="107436" y="52426"/>
                  </a:cubicBezTo>
                  <a:cubicBezTo>
                    <a:pt x="104991" y="53721"/>
                    <a:pt x="104032" y="48768"/>
                    <a:pt x="101619" y="47917"/>
                  </a:cubicBezTo>
                  <a:cubicBezTo>
                    <a:pt x="99460" y="47155"/>
                    <a:pt x="95777" y="50692"/>
                    <a:pt x="94615" y="48514"/>
                  </a:cubicBezTo>
                  <a:cubicBezTo>
                    <a:pt x="93436" y="46300"/>
                    <a:pt x="93187" y="43708"/>
                    <a:pt x="93922" y="41310"/>
                  </a:cubicBezTo>
                  <a:cubicBezTo>
                    <a:pt x="94657" y="38912"/>
                    <a:pt x="96316" y="36905"/>
                    <a:pt x="98533" y="35731"/>
                  </a:cubicBezTo>
                  <a:cubicBezTo>
                    <a:pt x="99927" y="34994"/>
                    <a:pt x="101483" y="34614"/>
                    <a:pt x="103061" y="34627"/>
                  </a:cubicBezTo>
                  <a:moveTo>
                    <a:pt x="35243" y="44469"/>
                  </a:moveTo>
                  <a:cubicBezTo>
                    <a:pt x="38611" y="44469"/>
                    <a:pt x="41342" y="47200"/>
                    <a:pt x="41342" y="50568"/>
                  </a:cubicBezTo>
                  <a:cubicBezTo>
                    <a:pt x="41342" y="53937"/>
                    <a:pt x="38611" y="56667"/>
                    <a:pt x="35243" y="56667"/>
                  </a:cubicBezTo>
                  <a:cubicBezTo>
                    <a:pt x="31876" y="56667"/>
                    <a:pt x="29146" y="53938"/>
                    <a:pt x="29146" y="50571"/>
                  </a:cubicBezTo>
                  <a:cubicBezTo>
                    <a:pt x="29146" y="47205"/>
                    <a:pt x="31876" y="44475"/>
                    <a:pt x="35243" y="44475"/>
                  </a:cubicBezTo>
                  <a:moveTo>
                    <a:pt x="123114" y="44475"/>
                  </a:moveTo>
                  <a:cubicBezTo>
                    <a:pt x="126481" y="44475"/>
                    <a:pt x="129210" y="47205"/>
                    <a:pt x="129210" y="50571"/>
                  </a:cubicBezTo>
                  <a:cubicBezTo>
                    <a:pt x="129210" y="53938"/>
                    <a:pt x="126481" y="56667"/>
                    <a:pt x="123114" y="56667"/>
                  </a:cubicBezTo>
                  <a:cubicBezTo>
                    <a:pt x="119747" y="56667"/>
                    <a:pt x="117018" y="53938"/>
                    <a:pt x="117018" y="50571"/>
                  </a:cubicBezTo>
                  <a:cubicBezTo>
                    <a:pt x="117018" y="47205"/>
                    <a:pt x="119747" y="44475"/>
                    <a:pt x="123114" y="44475"/>
                  </a:cubicBezTo>
                  <a:moveTo>
                    <a:pt x="56547" y="65583"/>
                  </a:moveTo>
                  <a:cubicBezTo>
                    <a:pt x="60281" y="65646"/>
                    <a:pt x="69025" y="72930"/>
                    <a:pt x="79229" y="72974"/>
                  </a:cubicBezTo>
                  <a:cubicBezTo>
                    <a:pt x="89433" y="72930"/>
                    <a:pt x="98177" y="65640"/>
                    <a:pt x="101911" y="65583"/>
                  </a:cubicBezTo>
                  <a:cubicBezTo>
                    <a:pt x="103156" y="65564"/>
                    <a:pt x="103848" y="66345"/>
                    <a:pt x="103848" y="68466"/>
                  </a:cubicBezTo>
                  <a:cubicBezTo>
                    <a:pt x="103848" y="74092"/>
                    <a:pt x="101156" y="83249"/>
                    <a:pt x="93923" y="88798"/>
                  </a:cubicBezTo>
                  <a:cubicBezTo>
                    <a:pt x="92526" y="83998"/>
                    <a:pt x="85058" y="80124"/>
                    <a:pt x="83572" y="80416"/>
                  </a:cubicBezTo>
                  <a:cubicBezTo>
                    <a:pt x="83526" y="80421"/>
                    <a:pt x="83483" y="80433"/>
                    <a:pt x="83445" y="80454"/>
                  </a:cubicBezTo>
                  <a:lnTo>
                    <a:pt x="83166" y="80620"/>
                  </a:lnTo>
                  <a:lnTo>
                    <a:pt x="83102" y="80670"/>
                  </a:lnTo>
                  <a:lnTo>
                    <a:pt x="82912" y="80823"/>
                  </a:lnTo>
                  <a:cubicBezTo>
                    <a:pt x="82836" y="80895"/>
                    <a:pt x="82762" y="80971"/>
                    <a:pt x="82690" y="81051"/>
                  </a:cubicBezTo>
                  <a:lnTo>
                    <a:pt x="82486" y="81305"/>
                  </a:lnTo>
                  <a:cubicBezTo>
                    <a:pt x="82354" y="81489"/>
                    <a:pt x="82231" y="81680"/>
                    <a:pt x="82118" y="81877"/>
                  </a:cubicBezTo>
                  <a:lnTo>
                    <a:pt x="82029" y="82036"/>
                  </a:lnTo>
                  <a:cubicBezTo>
                    <a:pt x="81822" y="82408"/>
                    <a:pt x="81589" y="82810"/>
                    <a:pt x="81331" y="83242"/>
                  </a:cubicBezTo>
                  <a:cubicBezTo>
                    <a:pt x="81173" y="83500"/>
                    <a:pt x="80997" y="83746"/>
                    <a:pt x="80804" y="83979"/>
                  </a:cubicBezTo>
                  <a:cubicBezTo>
                    <a:pt x="80478" y="84397"/>
                    <a:pt x="80110" y="84780"/>
                    <a:pt x="79705" y="85122"/>
                  </a:cubicBezTo>
                  <a:cubicBezTo>
                    <a:pt x="79557" y="85245"/>
                    <a:pt x="79398" y="85367"/>
                    <a:pt x="79229" y="85490"/>
                  </a:cubicBezTo>
                  <a:cubicBezTo>
                    <a:pt x="78631" y="85050"/>
                    <a:pt x="78095" y="84531"/>
                    <a:pt x="77635" y="83947"/>
                  </a:cubicBezTo>
                  <a:cubicBezTo>
                    <a:pt x="77460" y="83731"/>
                    <a:pt x="77298" y="83504"/>
                    <a:pt x="77153" y="83268"/>
                  </a:cubicBezTo>
                  <a:cubicBezTo>
                    <a:pt x="76365" y="82042"/>
                    <a:pt x="76029" y="80962"/>
                    <a:pt x="75013" y="80448"/>
                  </a:cubicBezTo>
                  <a:cubicBezTo>
                    <a:pt x="74797" y="80347"/>
                    <a:pt x="74352" y="80397"/>
                    <a:pt x="73743" y="80588"/>
                  </a:cubicBezTo>
                  <a:cubicBezTo>
                    <a:pt x="73345" y="80715"/>
                    <a:pt x="72887" y="80899"/>
                    <a:pt x="72371" y="81140"/>
                  </a:cubicBezTo>
                  <a:cubicBezTo>
                    <a:pt x="72117" y="81259"/>
                    <a:pt x="71852" y="81392"/>
                    <a:pt x="71577" y="81540"/>
                  </a:cubicBezTo>
                  <a:lnTo>
                    <a:pt x="70752" y="82010"/>
                  </a:lnTo>
                  <a:cubicBezTo>
                    <a:pt x="70468" y="82180"/>
                    <a:pt x="70180" y="82362"/>
                    <a:pt x="69888" y="82556"/>
                  </a:cubicBezTo>
                  <a:cubicBezTo>
                    <a:pt x="69597" y="82752"/>
                    <a:pt x="69311" y="82955"/>
                    <a:pt x="69031" y="83166"/>
                  </a:cubicBezTo>
                  <a:cubicBezTo>
                    <a:pt x="68455" y="83598"/>
                    <a:pt x="67903" y="84062"/>
                    <a:pt x="67380" y="84557"/>
                  </a:cubicBezTo>
                  <a:cubicBezTo>
                    <a:pt x="67115" y="84802"/>
                    <a:pt x="66861" y="85058"/>
                    <a:pt x="66618" y="85325"/>
                  </a:cubicBezTo>
                  <a:cubicBezTo>
                    <a:pt x="66382" y="85586"/>
                    <a:pt x="66158" y="85858"/>
                    <a:pt x="65945" y="86138"/>
                  </a:cubicBezTo>
                  <a:lnTo>
                    <a:pt x="65932" y="86150"/>
                  </a:lnTo>
                  <a:cubicBezTo>
                    <a:pt x="65730" y="86422"/>
                    <a:pt x="65540" y="86702"/>
                    <a:pt x="65361" y="86989"/>
                  </a:cubicBezTo>
                  <a:lnTo>
                    <a:pt x="65354" y="86995"/>
                  </a:lnTo>
                  <a:cubicBezTo>
                    <a:pt x="65088" y="87421"/>
                    <a:pt x="64865" y="87872"/>
                    <a:pt x="64687" y="88341"/>
                  </a:cubicBezTo>
                  <a:cubicBezTo>
                    <a:pt x="64632" y="88494"/>
                    <a:pt x="64582" y="88648"/>
                    <a:pt x="64535" y="88805"/>
                  </a:cubicBezTo>
                  <a:cubicBezTo>
                    <a:pt x="57302" y="83249"/>
                    <a:pt x="54610" y="74092"/>
                    <a:pt x="54610" y="68466"/>
                  </a:cubicBezTo>
                  <a:cubicBezTo>
                    <a:pt x="54610" y="66345"/>
                    <a:pt x="55302" y="65564"/>
                    <a:pt x="56547" y="65583"/>
                  </a:cubicBezTo>
                  <a:moveTo>
                    <a:pt x="61855" y="131331"/>
                  </a:moveTo>
                  <a:cubicBezTo>
                    <a:pt x="67088" y="123774"/>
                    <a:pt x="66719" y="118110"/>
                    <a:pt x="59538" y="111049"/>
                  </a:cubicBezTo>
                  <a:cubicBezTo>
                    <a:pt x="52362" y="103988"/>
                    <a:pt x="48177" y="93663"/>
                    <a:pt x="48177" y="93663"/>
                  </a:cubicBezTo>
                  <a:cubicBezTo>
                    <a:pt x="48177" y="93663"/>
                    <a:pt x="46615" y="87662"/>
                    <a:pt x="43059" y="88214"/>
                  </a:cubicBezTo>
                  <a:cubicBezTo>
                    <a:pt x="39503" y="88767"/>
                    <a:pt x="36900" y="97733"/>
                    <a:pt x="44342" y="103213"/>
                  </a:cubicBezTo>
                  <a:cubicBezTo>
                    <a:pt x="51791" y="108699"/>
                    <a:pt x="42862" y="112420"/>
                    <a:pt x="39992" y="107277"/>
                  </a:cubicBezTo>
                  <a:cubicBezTo>
                    <a:pt x="37135" y="102121"/>
                    <a:pt x="29305" y="88887"/>
                    <a:pt x="25248" y="86354"/>
                  </a:cubicBezTo>
                  <a:cubicBezTo>
                    <a:pt x="21190" y="83820"/>
                    <a:pt x="18332" y="85242"/>
                    <a:pt x="19291" y="90462"/>
                  </a:cubicBezTo>
                  <a:cubicBezTo>
                    <a:pt x="20250" y="95682"/>
                    <a:pt x="37211" y="108325"/>
                    <a:pt x="35560" y="111061"/>
                  </a:cubicBezTo>
                  <a:cubicBezTo>
                    <a:pt x="33909" y="113798"/>
                    <a:pt x="28092" y="107848"/>
                    <a:pt x="28092" y="107848"/>
                  </a:cubicBezTo>
                  <a:cubicBezTo>
                    <a:pt x="28092" y="107848"/>
                    <a:pt x="9893" y="91548"/>
                    <a:pt x="5931" y="95796"/>
                  </a:cubicBezTo>
                  <a:cubicBezTo>
                    <a:pt x="1969" y="100044"/>
                    <a:pt x="8934" y="103607"/>
                    <a:pt x="18866" y="109512"/>
                  </a:cubicBezTo>
                  <a:cubicBezTo>
                    <a:pt x="28797" y="115430"/>
                    <a:pt x="29572" y="116992"/>
                    <a:pt x="28162" y="119228"/>
                  </a:cubicBezTo>
                  <a:cubicBezTo>
                    <a:pt x="26753" y="121463"/>
                    <a:pt x="4826" y="103283"/>
                    <a:pt x="2762" y="110992"/>
                  </a:cubicBezTo>
                  <a:cubicBezTo>
                    <a:pt x="711" y="118701"/>
                    <a:pt x="25140" y="120942"/>
                    <a:pt x="23635" y="126263"/>
                  </a:cubicBezTo>
                  <a:cubicBezTo>
                    <a:pt x="22123" y="131591"/>
                    <a:pt x="6426" y="116186"/>
                    <a:pt x="3213" y="122187"/>
                  </a:cubicBezTo>
                  <a:cubicBezTo>
                    <a:pt x="0" y="128194"/>
                    <a:pt x="25375" y="135242"/>
                    <a:pt x="25578" y="135293"/>
                  </a:cubicBezTo>
                  <a:cubicBezTo>
                    <a:pt x="33769" y="137389"/>
                    <a:pt x="54585" y="141821"/>
                    <a:pt x="61855" y="131331"/>
                  </a:cubicBezTo>
                  <a:moveTo>
                    <a:pt x="95821" y="131331"/>
                  </a:moveTo>
                  <a:cubicBezTo>
                    <a:pt x="90589" y="123774"/>
                    <a:pt x="90957" y="118110"/>
                    <a:pt x="98139" y="111049"/>
                  </a:cubicBezTo>
                  <a:cubicBezTo>
                    <a:pt x="105315" y="103988"/>
                    <a:pt x="109499" y="93663"/>
                    <a:pt x="109499" y="93663"/>
                  </a:cubicBezTo>
                  <a:cubicBezTo>
                    <a:pt x="109499" y="93663"/>
                    <a:pt x="111061" y="87662"/>
                    <a:pt x="114617" y="88214"/>
                  </a:cubicBezTo>
                  <a:cubicBezTo>
                    <a:pt x="118173" y="88767"/>
                    <a:pt x="120777" y="97733"/>
                    <a:pt x="113335" y="103213"/>
                  </a:cubicBezTo>
                  <a:cubicBezTo>
                    <a:pt x="105886" y="108699"/>
                    <a:pt x="114814" y="112420"/>
                    <a:pt x="117685" y="107277"/>
                  </a:cubicBezTo>
                  <a:cubicBezTo>
                    <a:pt x="120548" y="102121"/>
                    <a:pt x="128372" y="88887"/>
                    <a:pt x="132429" y="86354"/>
                  </a:cubicBezTo>
                  <a:cubicBezTo>
                    <a:pt x="136487" y="83820"/>
                    <a:pt x="139344" y="85242"/>
                    <a:pt x="138386" y="90462"/>
                  </a:cubicBezTo>
                  <a:cubicBezTo>
                    <a:pt x="137427" y="95682"/>
                    <a:pt x="120466" y="108325"/>
                    <a:pt x="122117" y="111061"/>
                  </a:cubicBezTo>
                  <a:cubicBezTo>
                    <a:pt x="123768" y="113798"/>
                    <a:pt x="129584" y="107848"/>
                    <a:pt x="129584" y="107848"/>
                  </a:cubicBezTo>
                  <a:cubicBezTo>
                    <a:pt x="129584" y="107848"/>
                    <a:pt x="147784" y="91548"/>
                    <a:pt x="151746" y="95796"/>
                  </a:cubicBezTo>
                  <a:cubicBezTo>
                    <a:pt x="155708" y="100044"/>
                    <a:pt x="148742" y="103607"/>
                    <a:pt x="138811" y="109512"/>
                  </a:cubicBezTo>
                  <a:cubicBezTo>
                    <a:pt x="128880" y="115430"/>
                    <a:pt x="128105" y="116992"/>
                    <a:pt x="129515" y="119228"/>
                  </a:cubicBezTo>
                  <a:cubicBezTo>
                    <a:pt x="130924" y="121463"/>
                    <a:pt x="152851" y="103283"/>
                    <a:pt x="154915" y="110992"/>
                  </a:cubicBezTo>
                  <a:cubicBezTo>
                    <a:pt x="156966" y="118701"/>
                    <a:pt x="132537" y="120942"/>
                    <a:pt x="134042" y="126263"/>
                  </a:cubicBezTo>
                  <a:cubicBezTo>
                    <a:pt x="135553" y="131591"/>
                    <a:pt x="151251" y="116186"/>
                    <a:pt x="154464" y="122187"/>
                  </a:cubicBezTo>
                  <a:cubicBezTo>
                    <a:pt x="157677" y="128194"/>
                    <a:pt x="132302" y="135242"/>
                    <a:pt x="132099" y="135293"/>
                  </a:cubicBezTo>
                  <a:cubicBezTo>
                    <a:pt x="123908" y="137389"/>
                    <a:pt x="103092" y="141821"/>
                    <a:pt x="95821" y="131331"/>
                  </a:cubicBezTo>
                </a:path>
              </a:pathLst>
            </a:custGeom>
            <a:solidFill>
              <a:srgbClr val="FFFFFF"/>
            </a:solidFill>
            <a:ln>
              <a:noFill/>
            </a:ln>
          </p:spPr>
          <p:txBody>
            <a:bodyPr/>
            <a:lstStyle/>
            <a:p>
              <a:endParaRPr lang="da-DK"/>
            </a:p>
          </p:txBody>
        </p:sp>
        <p:sp>
          <p:nvSpPr>
            <p:cNvPr id="20" name="TextBox 20"/>
            <p:cNvSpPr txBox="1"/>
            <p:nvPr/>
          </p:nvSpPr>
          <p:spPr>
            <a:xfrm>
              <a:off x="5771537" y="1783556"/>
              <a:ext cx="83942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Diffusers</a:t>
              </a:r>
            </a:p>
          </p:txBody>
        </p:sp>
        <p:sp>
          <p:nvSpPr>
            <p:cNvPr id="21" name="TextBox 21"/>
            <p:cNvSpPr txBox="1"/>
            <p:nvPr/>
          </p:nvSpPr>
          <p:spPr>
            <a:xfrm>
              <a:off x="5778913" y="2017395"/>
              <a:ext cx="824674"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Hugging Face</a:t>
              </a:r>
            </a:p>
          </p:txBody>
        </p:sp>
        <p:sp>
          <p:nvSpPr>
            <p:cNvPr id="22" name="TextBox 22"/>
            <p:cNvSpPr txBox="1"/>
            <p:nvPr/>
          </p:nvSpPr>
          <p:spPr>
            <a:xfrm>
              <a:off x="5493972" y="2196941"/>
              <a:ext cx="1394555"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Python lib — Apache-2.0</a:t>
              </a:r>
            </a:p>
          </p:txBody>
        </p:sp>
        <p:sp>
          <p:nvSpPr>
            <p:cNvPr id="23" name="Rectangle 23"/>
            <p:cNvSpPr/>
            <p:nvPr/>
          </p:nvSpPr>
          <p:spPr>
            <a:xfrm>
              <a:off x="7429500" y="1619250"/>
              <a:ext cx="2095500" cy="762000"/>
            </a:xfrm>
            <a:prstGeom prst="roundRect">
              <a:avLst>
                <a:gd name="adj" fmla="val 10000"/>
              </a:avLst>
            </a:prstGeom>
            <a:solidFill>
              <a:srgbClr val="586A68">
                <a:alpha val="85000"/>
              </a:srgbClr>
            </a:solidFill>
            <a:ln>
              <a:noFill/>
            </a:ln>
          </p:spPr>
          <p:txBody>
            <a:bodyPr/>
            <a:lstStyle/>
            <a:p>
              <a:endParaRPr lang="da-DK"/>
            </a:p>
          </p:txBody>
        </p:sp>
        <p:sp>
          <p:nvSpPr>
            <p:cNvPr id="24" name="TextBox 24"/>
            <p:cNvSpPr txBox="1"/>
            <p:nvPr/>
          </p:nvSpPr>
          <p:spPr>
            <a:xfrm>
              <a:off x="8135172" y="1783556"/>
              <a:ext cx="68415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ComfyUI</a:t>
              </a:r>
            </a:p>
          </p:txBody>
        </p:sp>
        <p:sp>
          <p:nvSpPr>
            <p:cNvPr id="25" name="TextBox 25"/>
            <p:cNvSpPr txBox="1"/>
            <p:nvPr/>
          </p:nvSpPr>
          <p:spPr>
            <a:xfrm>
              <a:off x="7844742" y="2017395"/>
              <a:ext cx="1265015"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Node-based pipeline</a:t>
              </a:r>
            </a:p>
          </p:txBody>
        </p:sp>
        <p:sp>
          <p:nvSpPr>
            <p:cNvPr id="26" name="TextBox 26"/>
            <p:cNvSpPr txBox="1"/>
            <p:nvPr/>
          </p:nvSpPr>
          <p:spPr>
            <a:xfrm>
              <a:off x="7761899" y="2196941"/>
              <a:ext cx="1430703"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GPL-3.0 — linh hoạt nhất</a:t>
              </a:r>
            </a:p>
          </p:txBody>
        </p:sp>
        <p:sp>
          <p:nvSpPr>
            <p:cNvPr id="27" name="Rectangle 27"/>
            <p:cNvSpPr/>
            <p:nvPr/>
          </p:nvSpPr>
          <p:spPr>
            <a:xfrm>
              <a:off x="9715500" y="1619250"/>
              <a:ext cx="1905000" cy="762000"/>
            </a:xfrm>
            <a:prstGeom prst="roundRect">
              <a:avLst>
                <a:gd name="adj" fmla="val 10000"/>
              </a:avLst>
            </a:prstGeom>
            <a:solidFill>
              <a:srgbClr val="586A68">
                <a:alpha val="70000"/>
              </a:srgbClr>
            </a:solidFill>
            <a:ln>
              <a:noFill/>
            </a:ln>
          </p:spPr>
          <p:txBody>
            <a:bodyPr/>
            <a:lstStyle/>
            <a:p>
              <a:endParaRPr lang="da-DK"/>
            </a:p>
          </p:txBody>
        </p:sp>
        <p:sp>
          <p:nvSpPr>
            <p:cNvPr id="28" name="TextBox 28"/>
            <p:cNvSpPr txBox="1"/>
            <p:nvPr/>
          </p:nvSpPr>
          <p:spPr>
            <a:xfrm>
              <a:off x="10317295" y="1783556"/>
              <a:ext cx="70140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a:ea typeface="Microsoft YaHei"/>
                  <a:cs typeface="Segoe UI"/>
                </a:rPr>
                <a:t>InvokeAI</a:t>
              </a:r>
            </a:p>
          </p:txBody>
        </p:sp>
        <p:sp>
          <p:nvSpPr>
            <p:cNvPr id="29" name="TextBox 29"/>
            <p:cNvSpPr txBox="1"/>
            <p:nvPr/>
          </p:nvSpPr>
          <p:spPr>
            <a:xfrm>
              <a:off x="10255663" y="2017395"/>
              <a:ext cx="824674"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Segoe UI"/>
                  <a:ea typeface="Microsoft YaHei"/>
                  <a:cs typeface="Segoe UI"/>
                </a:rPr>
                <a:t>Pro-grade UI</a:t>
              </a:r>
            </a:p>
          </p:txBody>
        </p:sp>
        <p:sp>
          <p:nvSpPr>
            <p:cNvPr id="30" name="TextBox 30"/>
            <p:cNvSpPr txBox="1"/>
            <p:nvPr/>
          </p:nvSpPr>
          <p:spPr>
            <a:xfrm>
              <a:off x="10326172" y="2196941"/>
              <a:ext cx="683657" cy="167640"/>
            </a:xfrm>
            <a:prstGeom prst="rect">
              <a:avLst/>
            </a:prstGeom>
            <a:noFill/>
            <a:ln>
              <a:noFill/>
            </a:ln>
          </p:spPr>
          <p:txBody>
            <a:bodyPr wrap="none" lIns="0" tIns="0" rIns="0" bIns="0" anchor="t" anchorCtr="0">
              <a:spAutoFit/>
            </a:bodyPr>
            <a:lstStyle/>
            <a:p>
              <a:pPr algn="ctr"/>
              <a:r>
                <a:rPr lang="zh-CN" sz="825" dirty="0">
                  <a:solidFill>
                    <a:srgbClr val="FFFFFF">
                      <a:alphaMod val="60000"/>
                    </a:srgbClr>
                  </a:solidFill>
                  <a:latin typeface="Segoe UI"/>
                  <a:ea typeface="Microsoft YaHei"/>
                  <a:cs typeface="Segoe UI"/>
                </a:rPr>
                <a:t>Apache-2.0</a:t>
              </a:r>
            </a:p>
          </p:txBody>
        </p:sp>
      </p:grpSp>
      <p:sp>
        <p:nvSpPr>
          <p:cNvPr id="32" name="Rectangle 32"/>
          <p:cNvSpPr/>
          <p:nvPr/>
        </p:nvSpPr>
        <p:spPr>
          <a:xfrm>
            <a:off x="571500" y="2667000"/>
            <a:ext cx="11049000" cy="9525"/>
          </a:xfrm>
          <a:prstGeom prst="rect">
            <a:avLst/>
          </a:prstGeom>
          <a:solidFill>
            <a:srgbClr val="88817E">
              <a:alpha val="20000"/>
            </a:srgbClr>
          </a:solidFill>
          <a:ln>
            <a:noFill/>
          </a:ln>
        </p:spPr>
        <p:txBody>
          <a:bodyPr/>
          <a:lstStyle/>
          <a:p>
            <a:endParaRPr lang="da-DK"/>
          </a:p>
        </p:txBody>
      </p:sp>
      <p:grpSp>
        <p:nvGrpSpPr>
          <p:cNvPr id="65" name="Group 65"/>
          <p:cNvGrpSpPr/>
          <p:nvPr/>
        </p:nvGrpSpPr>
        <p:grpSpPr>
          <a:xfrm>
            <a:off x="558165" y="2839402"/>
            <a:ext cx="11062335" cy="2637473"/>
            <a:chOff x="558165" y="2839402"/>
            <a:chExt cx="11062335" cy="2637473"/>
          </a:xfrm>
        </p:grpSpPr>
        <p:sp>
          <p:nvSpPr>
            <p:cNvPr id="33" name="TextBox 33"/>
            <p:cNvSpPr txBox="1"/>
            <p:nvPr/>
          </p:nvSpPr>
          <p:spPr>
            <a:xfrm>
              <a:off x="558165" y="2839402"/>
              <a:ext cx="1926707"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CONDITIONING &amp; ADAPTERS</a:t>
              </a:r>
            </a:p>
          </p:txBody>
        </p:sp>
        <p:sp>
          <p:nvSpPr>
            <p:cNvPr id="34" name="Rectangle 34"/>
            <p:cNvSpPr/>
            <p:nvPr/>
          </p:nvSpPr>
          <p:spPr>
            <a:xfrm>
              <a:off x="571500" y="3048000"/>
              <a:ext cx="11049000" cy="19050"/>
            </a:xfrm>
            <a:prstGeom prst="rect">
              <a:avLst/>
            </a:prstGeom>
            <a:solidFill>
              <a:srgbClr val="C1856B">
                <a:alpha val="30000"/>
              </a:srgbClr>
            </a:solidFill>
            <a:ln>
              <a:noFill/>
            </a:ln>
          </p:spPr>
          <p:txBody>
            <a:bodyPr/>
            <a:lstStyle/>
            <a:p>
              <a:endParaRPr lang="da-DK"/>
            </a:p>
          </p:txBody>
        </p:sp>
        <p:sp>
          <p:nvSpPr>
            <p:cNvPr id="35" name="Rectangle 35"/>
            <p:cNvSpPr/>
            <p:nvPr/>
          </p:nvSpPr>
          <p:spPr>
            <a:xfrm>
              <a:off x="571500" y="3238500"/>
              <a:ext cx="3333750" cy="1047750"/>
            </a:xfrm>
            <a:prstGeom prst="roundRect">
              <a:avLst>
                <a:gd name="adj" fmla="val 7273"/>
              </a:avLst>
            </a:prstGeom>
            <a:solidFill>
              <a:srgbClr val="C1856B">
                <a:alpha val="8000"/>
              </a:srgbClr>
            </a:solidFill>
            <a:ln>
              <a:noFill/>
            </a:ln>
          </p:spPr>
          <p:txBody>
            <a:bodyPr/>
            <a:lstStyle/>
            <a:p>
              <a:endParaRPr lang="da-DK"/>
            </a:p>
          </p:txBody>
        </p:sp>
        <p:sp>
          <p:nvSpPr>
            <p:cNvPr id="36" name="TextBox 36"/>
            <p:cNvSpPr txBox="1"/>
            <p:nvPr/>
          </p:nvSpPr>
          <p:spPr>
            <a:xfrm>
              <a:off x="746760" y="3375660"/>
              <a:ext cx="99660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ControlNet</a:t>
              </a:r>
            </a:p>
          </p:txBody>
        </p:sp>
        <p:sp>
          <p:nvSpPr>
            <p:cNvPr id="37" name="TextBox 37"/>
            <p:cNvSpPr txBox="1"/>
            <p:nvPr/>
          </p:nvSpPr>
          <p:spPr>
            <a:xfrm>
              <a:off x="749618" y="3628549"/>
              <a:ext cx="219634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Guide bằng canny, depth, pose,</a:t>
              </a:r>
            </a:p>
          </p:txBody>
        </p:sp>
        <p:sp>
          <p:nvSpPr>
            <p:cNvPr id="38" name="TextBox 38"/>
            <p:cNvSpPr txBox="1"/>
            <p:nvPr/>
          </p:nvSpPr>
          <p:spPr>
            <a:xfrm>
              <a:off x="749618" y="3819049"/>
              <a:ext cx="18474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segmentation, normal map</a:t>
              </a:r>
            </a:p>
          </p:txBody>
        </p:sp>
        <p:sp>
          <p:nvSpPr>
            <p:cNvPr id="39" name="TextBox 39"/>
            <p:cNvSpPr txBox="1"/>
            <p:nvPr/>
          </p:nvSpPr>
          <p:spPr>
            <a:xfrm>
              <a:off x="750570" y="4055745"/>
              <a:ext cx="76552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lllyasviel</a:t>
              </a:r>
            </a:p>
          </p:txBody>
        </p:sp>
        <p:sp>
          <p:nvSpPr>
            <p:cNvPr id="40" name="Rectangle 40"/>
            <p:cNvSpPr/>
            <p:nvPr/>
          </p:nvSpPr>
          <p:spPr>
            <a:xfrm>
              <a:off x="4095750" y="3238500"/>
              <a:ext cx="3333750" cy="1047750"/>
            </a:xfrm>
            <a:prstGeom prst="roundRect">
              <a:avLst>
                <a:gd name="adj" fmla="val 7273"/>
              </a:avLst>
            </a:prstGeom>
            <a:solidFill>
              <a:srgbClr val="C1856B">
                <a:alpha val="8000"/>
              </a:srgbClr>
            </a:solidFill>
            <a:ln>
              <a:noFill/>
            </a:ln>
          </p:spPr>
          <p:txBody>
            <a:bodyPr/>
            <a:lstStyle/>
            <a:p>
              <a:endParaRPr lang="da-DK"/>
            </a:p>
          </p:txBody>
        </p:sp>
        <p:sp>
          <p:nvSpPr>
            <p:cNvPr id="41" name="TextBox 41"/>
            <p:cNvSpPr txBox="1"/>
            <p:nvPr/>
          </p:nvSpPr>
          <p:spPr>
            <a:xfrm>
              <a:off x="4271010" y="3375660"/>
              <a:ext cx="99660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IP-Adapter</a:t>
              </a:r>
            </a:p>
          </p:txBody>
        </p:sp>
        <p:sp>
          <p:nvSpPr>
            <p:cNvPr id="42" name="TextBox 42"/>
            <p:cNvSpPr txBox="1"/>
            <p:nvPr/>
          </p:nvSpPr>
          <p:spPr>
            <a:xfrm>
              <a:off x="4273868" y="3628549"/>
              <a:ext cx="246690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Reference image cho style/identity</a:t>
              </a:r>
            </a:p>
          </p:txBody>
        </p:sp>
        <p:sp>
          <p:nvSpPr>
            <p:cNvPr id="43" name="TextBox 43"/>
            <p:cNvSpPr txBox="1"/>
            <p:nvPr/>
          </p:nvSpPr>
          <p:spPr>
            <a:xfrm>
              <a:off x="4273868" y="3819049"/>
              <a:ext cx="215362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Chuyển style từ ảnh tham chiếu</a:t>
              </a:r>
            </a:p>
          </p:txBody>
        </p:sp>
        <p:sp>
          <p:nvSpPr>
            <p:cNvPr id="44" name="TextBox 44"/>
            <p:cNvSpPr txBox="1"/>
            <p:nvPr/>
          </p:nvSpPr>
          <p:spPr>
            <a:xfrm>
              <a:off x="4274820" y="4055745"/>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sp>
          <p:nvSpPr>
            <p:cNvPr id="45" name="Rectangle 45"/>
            <p:cNvSpPr/>
            <p:nvPr/>
          </p:nvSpPr>
          <p:spPr>
            <a:xfrm>
              <a:off x="7620000" y="3238500"/>
              <a:ext cx="4000500" cy="1047750"/>
            </a:xfrm>
            <a:prstGeom prst="roundRect">
              <a:avLst>
                <a:gd name="adj" fmla="val 7273"/>
              </a:avLst>
            </a:prstGeom>
            <a:solidFill>
              <a:srgbClr val="C1856B">
                <a:alpha val="8000"/>
              </a:srgbClr>
            </a:solidFill>
            <a:ln>
              <a:noFill/>
            </a:ln>
          </p:spPr>
          <p:txBody>
            <a:bodyPr/>
            <a:lstStyle/>
            <a:p>
              <a:endParaRPr lang="da-DK"/>
            </a:p>
          </p:txBody>
        </p:sp>
        <p:sp>
          <p:nvSpPr>
            <p:cNvPr id="46" name="TextBox 46"/>
            <p:cNvSpPr txBox="1"/>
            <p:nvPr/>
          </p:nvSpPr>
          <p:spPr>
            <a:xfrm>
              <a:off x="7795260" y="3375660"/>
              <a:ext cx="2128342"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T2I-Adapter / InstantID</a:t>
              </a:r>
            </a:p>
          </p:txBody>
        </p:sp>
        <p:sp>
          <p:nvSpPr>
            <p:cNvPr id="47" name="TextBox 47"/>
            <p:cNvSpPr txBox="1"/>
            <p:nvPr/>
          </p:nvSpPr>
          <p:spPr>
            <a:xfrm>
              <a:off x="7798118" y="3628549"/>
              <a:ext cx="19898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Nhẹ hơn ControlNet, ít VRAM</a:t>
              </a:r>
            </a:p>
          </p:txBody>
        </p:sp>
        <p:sp>
          <p:nvSpPr>
            <p:cNvPr id="48" name="TextBox 48"/>
            <p:cNvSpPr txBox="1"/>
            <p:nvPr/>
          </p:nvSpPr>
          <p:spPr>
            <a:xfrm>
              <a:off x="7798118" y="3819049"/>
              <a:ext cx="20824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Bảo toàn identity (chân dung)</a:t>
              </a:r>
            </a:p>
          </p:txBody>
        </p:sp>
        <p:sp>
          <p:nvSpPr>
            <p:cNvPr id="49" name="TextBox 49"/>
            <p:cNvSpPr txBox="1"/>
            <p:nvPr/>
          </p:nvSpPr>
          <p:spPr>
            <a:xfrm>
              <a:off x="7799070" y="4055745"/>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sp>
          <p:nvSpPr>
            <p:cNvPr id="50" name="Rectangle 50"/>
            <p:cNvSpPr/>
            <p:nvPr/>
          </p:nvSpPr>
          <p:spPr>
            <a:xfrm>
              <a:off x="571500" y="4429125"/>
              <a:ext cx="3333750" cy="1047750"/>
            </a:xfrm>
            <a:prstGeom prst="roundRect">
              <a:avLst>
                <a:gd name="adj" fmla="val 7273"/>
              </a:avLst>
            </a:prstGeom>
            <a:solidFill>
              <a:srgbClr val="C1856B">
                <a:alpha val="8000"/>
              </a:srgbClr>
            </a:solidFill>
            <a:ln>
              <a:noFill/>
            </a:ln>
          </p:spPr>
          <p:txBody>
            <a:bodyPr/>
            <a:lstStyle/>
            <a:p>
              <a:endParaRPr lang="da-DK"/>
            </a:p>
          </p:txBody>
        </p:sp>
        <p:sp>
          <p:nvSpPr>
            <p:cNvPr id="51" name="TextBox 51"/>
            <p:cNvSpPr txBox="1"/>
            <p:nvPr/>
          </p:nvSpPr>
          <p:spPr>
            <a:xfrm>
              <a:off x="746760" y="4566285"/>
              <a:ext cx="738969"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AnyDoor</a:t>
              </a:r>
            </a:p>
          </p:txBody>
        </p:sp>
        <p:sp>
          <p:nvSpPr>
            <p:cNvPr id="52" name="TextBox 52"/>
            <p:cNvSpPr txBox="1"/>
            <p:nvPr/>
          </p:nvSpPr>
          <p:spPr>
            <a:xfrm>
              <a:off x="749618" y="4819174"/>
              <a:ext cx="147723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Object teleportation</a:t>
              </a:r>
            </a:p>
          </p:txBody>
        </p:sp>
        <p:sp>
          <p:nvSpPr>
            <p:cNvPr id="53" name="TextBox 53"/>
            <p:cNvSpPr txBox="1"/>
            <p:nvPr/>
          </p:nvSpPr>
          <p:spPr>
            <a:xfrm>
              <a:off x="749618" y="5009674"/>
              <a:ext cx="159827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Ghép vật vào scene mới</a:t>
              </a:r>
            </a:p>
          </p:txBody>
        </p:sp>
        <p:sp>
          <p:nvSpPr>
            <p:cNvPr id="54" name="TextBox 54"/>
            <p:cNvSpPr txBox="1"/>
            <p:nvPr/>
          </p:nvSpPr>
          <p:spPr>
            <a:xfrm>
              <a:off x="750570" y="5246370"/>
              <a:ext cx="125187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Composite use case</a:t>
              </a:r>
            </a:p>
          </p:txBody>
        </p:sp>
        <p:sp>
          <p:nvSpPr>
            <p:cNvPr id="55" name="Rectangle 55"/>
            <p:cNvSpPr/>
            <p:nvPr/>
          </p:nvSpPr>
          <p:spPr>
            <a:xfrm>
              <a:off x="4095750" y="4429125"/>
              <a:ext cx="3333750" cy="1047750"/>
            </a:xfrm>
            <a:prstGeom prst="roundRect">
              <a:avLst>
                <a:gd name="adj" fmla="val 7273"/>
              </a:avLst>
            </a:prstGeom>
            <a:solidFill>
              <a:srgbClr val="C1856B">
                <a:alpha val="8000"/>
              </a:srgbClr>
            </a:solidFill>
            <a:ln>
              <a:noFill/>
            </a:ln>
          </p:spPr>
          <p:txBody>
            <a:bodyPr/>
            <a:lstStyle/>
            <a:p>
              <a:endParaRPr lang="da-DK"/>
            </a:p>
          </p:txBody>
        </p:sp>
        <p:sp>
          <p:nvSpPr>
            <p:cNvPr id="56" name="TextBox 56"/>
            <p:cNvSpPr txBox="1"/>
            <p:nvPr/>
          </p:nvSpPr>
          <p:spPr>
            <a:xfrm>
              <a:off x="4271010" y="4566285"/>
              <a:ext cx="748170"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IC-Light</a:t>
              </a:r>
            </a:p>
          </p:txBody>
        </p:sp>
        <p:sp>
          <p:nvSpPr>
            <p:cNvPr id="57" name="TextBox 57"/>
            <p:cNvSpPr txBox="1"/>
            <p:nvPr/>
          </p:nvSpPr>
          <p:spPr>
            <a:xfrm>
              <a:off x="4273868" y="4819174"/>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Relighting nhất quán</a:t>
              </a:r>
            </a:p>
          </p:txBody>
        </p:sp>
        <p:sp>
          <p:nvSpPr>
            <p:cNvPr id="58" name="TextBox 58"/>
            <p:cNvSpPr txBox="1"/>
            <p:nvPr/>
          </p:nvSpPr>
          <p:spPr>
            <a:xfrm>
              <a:off x="4273868" y="5009674"/>
              <a:ext cx="20468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Đồng bộ ánh sáng giữa các ảnh</a:t>
              </a:r>
            </a:p>
          </p:txBody>
        </p:sp>
        <p:sp>
          <p:nvSpPr>
            <p:cNvPr id="59" name="TextBox 59"/>
            <p:cNvSpPr txBox="1"/>
            <p:nvPr/>
          </p:nvSpPr>
          <p:spPr>
            <a:xfrm>
              <a:off x="4274820" y="5246370"/>
              <a:ext cx="76552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lllyasviel</a:t>
              </a:r>
            </a:p>
          </p:txBody>
        </p:sp>
        <p:sp>
          <p:nvSpPr>
            <p:cNvPr id="60" name="Rectangle 60"/>
            <p:cNvSpPr/>
            <p:nvPr/>
          </p:nvSpPr>
          <p:spPr>
            <a:xfrm>
              <a:off x="7620000" y="4429125"/>
              <a:ext cx="4000500" cy="1047750"/>
            </a:xfrm>
            <a:prstGeom prst="roundRect">
              <a:avLst>
                <a:gd name="adj" fmla="val 7273"/>
              </a:avLst>
            </a:prstGeom>
            <a:solidFill>
              <a:srgbClr val="C1856B">
                <a:alpha val="8000"/>
              </a:srgbClr>
            </a:solidFill>
            <a:ln>
              <a:noFill/>
            </a:ln>
          </p:spPr>
          <p:txBody>
            <a:bodyPr/>
            <a:lstStyle/>
            <a:p>
              <a:endParaRPr lang="da-DK"/>
            </a:p>
          </p:txBody>
        </p:sp>
        <p:sp>
          <p:nvSpPr>
            <p:cNvPr id="61" name="TextBox 61"/>
            <p:cNvSpPr txBox="1"/>
            <p:nvPr/>
          </p:nvSpPr>
          <p:spPr>
            <a:xfrm>
              <a:off x="7795260" y="4566285"/>
              <a:ext cx="1079411"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PhotoMaker</a:t>
              </a:r>
            </a:p>
          </p:txBody>
        </p:sp>
        <p:sp>
          <p:nvSpPr>
            <p:cNvPr id="62" name="TextBox 62"/>
            <p:cNvSpPr txBox="1"/>
            <p:nvPr/>
          </p:nvSpPr>
          <p:spPr>
            <a:xfrm>
              <a:off x="7798118" y="4819174"/>
              <a:ext cx="245978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Customizing realistic human photos</a:t>
              </a:r>
            </a:p>
          </p:txBody>
        </p:sp>
        <p:sp>
          <p:nvSpPr>
            <p:cNvPr id="63" name="TextBox 63"/>
            <p:cNvSpPr txBox="1"/>
            <p:nvPr/>
          </p:nvSpPr>
          <p:spPr>
            <a:xfrm>
              <a:off x="7798118" y="5009674"/>
              <a:ext cx="189018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Bảo toàn identity nhiều góc</a:t>
              </a:r>
            </a:p>
          </p:txBody>
        </p:sp>
        <p:sp>
          <p:nvSpPr>
            <p:cNvPr id="64" name="TextBox 64"/>
            <p:cNvSpPr txBox="1"/>
            <p:nvPr/>
          </p:nvSpPr>
          <p:spPr>
            <a:xfrm>
              <a:off x="7799070" y="5246370"/>
              <a:ext cx="71294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by Tencent</a:t>
              </a:r>
            </a:p>
          </p:txBody>
        </p:sp>
      </p:grpSp>
      <p:grpSp>
        <p:nvGrpSpPr>
          <p:cNvPr id="68" name="Group 68"/>
          <p:cNvGrpSpPr/>
          <p:nvPr/>
        </p:nvGrpSpPr>
        <p:grpSpPr>
          <a:xfrm>
            <a:off x="559118" y="5800249"/>
            <a:ext cx="11072812" cy="952976"/>
            <a:chOff x="559118" y="5800249"/>
            <a:chExt cx="11072812" cy="952976"/>
          </a:xfrm>
        </p:grpSpPr>
        <p:sp>
          <p:nvSpPr>
            <p:cNvPr id="66" name="TextBox 66"/>
            <p:cNvSpPr txBox="1"/>
            <p:nvPr/>
          </p:nvSpPr>
          <p:spPr>
            <a:xfrm>
              <a:off x="559118" y="5800249"/>
              <a:ext cx="895316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Diffusion models sinh ảnh từ noise; Adapters điều khiển output giữ structure/style/identity mà không cần retrain toàn bộ model.</a:t>
              </a:r>
            </a:p>
          </p:txBody>
        </p:sp>
        <p:sp>
          <p:nvSpPr>
            <p:cNvPr id="67" name="TextBox 67"/>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dissolve">
                                      <p:cBhvr>
                                        <p:cTn id="11"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166252" cy="722948"/>
            <a:chOff x="558165" y="458152"/>
            <a:chExt cx="6166252"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04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02718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Segmentation · Upscale · 3D Rendering</a:t>
              </a:r>
            </a:p>
          </p:txBody>
        </p:sp>
      </p:grpSp>
      <p:grpSp>
        <p:nvGrpSpPr>
          <p:cNvPr id="27" name="Group 27"/>
          <p:cNvGrpSpPr/>
          <p:nvPr/>
        </p:nvGrpSpPr>
        <p:grpSpPr>
          <a:xfrm>
            <a:off x="571500" y="1238250"/>
            <a:ext cx="3429000" cy="5048250"/>
            <a:chOff x="571500" y="1238250"/>
            <a:chExt cx="3429000" cy="5048250"/>
          </a:xfrm>
        </p:grpSpPr>
        <p:sp>
          <p:nvSpPr>
            <p:cNvPr id="8" name="Rectangle 8"/>
            <p:cNvSpPr/>
            <p:nvPr/>
          </p:nvSpPr>
          <p:spPr>
            <a:xfrm>
              <a:off x="571500" y="1238250"/>
              <a:ext cx="3429000" cy="5048250"/>
            </a:xfrm>
            <a:prstGeom prst="roundRect">
              <a:avLst>
                <a:gd name="adj" fmla="val 2222"/>
              </a:avLst>
            </a:prstGeom>
            <a:solidFill>
              <a:srgbClr val="586A68">
                <a:alpha val="5000"/>
              </a:srgbClr>
            </a:solidFill>
            <a:ln>
              <a:noFill/>
            </a:ln>
          </p:spPr>
          <p:txBody>
            <a:bodyPr/>
            <a:lstStyle/>
            <a:p>
              <a:endParaRPr lang="da-DK"/>
            </a:p>
          </p:txBody>
        </p:sp>
        <p:sp>
          <p:nvSpPr>
            <p:cNvPr id="9" name="Rectangle 9"/>
            <p:cNvSpPr/>
            <p:nvPr/>
          </p:nvSpPr>
          <p:spPr>
            <a:xfrm>
              <a:off x="571500" y="1238250"/>
              <a:ext cx="3429000" cy="381000"/>
            </a:xfrm>
            <a:prstGeom prst="roundRect">
              <a:avLst>
                <a:gd name="adj" fmla="val 20000"/>
              </a:avLst>
            </a:prstGeom>
            <a:solidFill>
              <a:srgbClr val="586A68"/>
            </a:solidFill>
            <a:ln>
              <a:noFill/>
            </a:ln>
          </p:spPr>
          <p:txBody>
            <a:bodyPr/>
            <a:lstStyle/>
            <a:p>
              <a:endParaRPr lang="da-DK"/>
            </a:p>
          </p:txBody>
        </p:sp>
        <p:sp>
          <p:nvSpPr>
            <p:cNvPr id="10" name="Rectangle 10"/>
            <p:cNvSpPr/>
            <p:nvPr/>
          </p:nvSpPr>
          <p:spPr>
            <a:xfrm>
              <a:off x="571500" y="1543050"/>
              <a:ext cx="3429000" cy="76200"/>
            </a:xfrm>
            <a:prstGeom prst="rect">
              <a:avLst/>
            </a:prstGeom>
            <a:solidFill>
              <a:srgbClr val="586A68"/>
            </a:solidFill>
            <a:ln>
              <a:noFill/>
            </a:ln>
          </p:spPr>
          <p:txBody>
            <a:bodyPr/>
            <a:lstStyle/>
            <a:p>
              <a:endParaRPr lang="da-DK"/>
            </a:p>
          </p:txBody>
        </p:sp>
        <p:sp>
          <p:nvSpPr>
            <p:cNvPr id="11" name="TextBox 11"/>
            <p:cNvSpPr txBox="1"/>
            <p:nvPr/>
          </p:nvSpPr>
          <p:spPr>
            <a:xfrm>
              <a:off x="1177728" y="1382078"/>
              <a:ext cx="22165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BACKGROUND / SEGMENTATION</a:t>
              </a:r>
            </a:p>
          </p:txBody>
        </p:sp>
        <p:sp>
          <p:nvSpPr>
            <p:cNvPr id="12" name="TextBox 12"/>
            <p:cNvSpPr txBox="1"/>
            <p:nvPr/>
          </p:nvSpPr>
          <p:spPr>
            <a:xfrm>
              <a:off x="747712" y="1783556"/>
              <a:ext cx="537514"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rembg</a:t>
              </a:r>
            </a:p>
          </p:txBody>
        </p:sp>
        <p:sp>
          <p:nvSpPr>
            <p:cNvPr id="13" name="TextBox 13"/>
            <p:cNvSpPr txBox="1"/>
            <p:nvPr/>
          </p:nvSpPr>
          <p:spPr>
            <a:xfrm>
              <a:off x="749618" y="1990249"/>
              <a:ext cx="226754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Wrapper U2-Net / ISNet, dễ dùng</a:t>
              </a:r>
            </a:p>
          </p:txBody>
        </p:sp>
        <p:sp>
          <p:nvSpPr>
            <p:cNvPr id="14" name="Rectangle 14"/>
            <p:cNvSpPr/>
            <p:nvPr/>
          </p:nvSpPr>
          <p:spPr>
            <a:xfrm>
              <a:off x="762000" y="2238375"/>
              <a:ext cx="3048000" cy="9525"/>
            </a:xfrm>
            <a:prstGeom prst="rect">
              <a:avLst/>
            </a:prstGeom>
            <a:solidFill>
              <a:srgbClr val="88817E">
                <a:alpha val="20000"/>
              </a:srgbClr>
            </a:solidFill>
            <a:ln>
              <a:noFill/>
            </a:ln>
          </p:spPr>
          <p:txBody>
            <a:bodyPr/>
            <a:lstStyle/>
            <a:p>
              <a:endParaRPr lang="da-DK"/>
            </a:p>
          </p:txBody>
        </p:sp>
        <p:sp>
          <p:nvSpPr>
            <p:cNvPr id="15" name="TextBox 15"/>
            <p:cNvSpPr txBox="1"/>
            <p:nvPr/>
          </p:nvSpPr>
          <p:spPr>
            <a:xfrm>
              <a:off x="747712" y="2355056"/>
              <a:ext cx="1210348"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BRIA RMBG-2.0</a:t>
              </a:r>
            </a:p>
          </p:txBody>
        </p:sp>
        <p:sp>
          <p:nvSpPr>
            <p:cNvPr id="16" name="TextBox 16"/>
            <p:cNvSpPr txBox="1"/>
            <p:nvPr/>
          </p:nvSpPr>
          <p:spPr>
            <a:xfrm>
              <a:off x="749618" y="2561749"/>
              <a:ext cx="249538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SOTA open weight cho object cutout</a:t>
              </a:r>
            </a:p>
          </p:txBody>
        </p:sp>
        <p:sp>
          <p:nvSpPr>
            <p:cNvPr id="17" name="Rectangle 17"/>
            <p:cNvSpPr/>
            <p:nvPr/>
          </p:nvSpPr>
          <p:spPr>
            <a:xfrm>
              <a:off x="762000" y="2809875"/>
              <a:ext cx="3048000" cy="9525"/>
            </a:xfrm>
            <a:prstGeom prst="rect">
              <a:avLst/>
            </a:prstGeom>
            <a:solidFill>
              <a:srgbClr val="88817E">
                <a:alpha val="20000"/>
              </a:srgbClr>
            </a:solidFill>
            <a:ln>
              <a:noFill/>
            </a:ln>
          </p:spPr>
          <p:txBody>
            <a:bodyPr/>
            <a:lstStyle/>
            <a:p>
              <a:endParaRPr lang="da-DK"/>
            </a:p>
          </p:txBody>
        </p:sp>
        <p:sp>
          <p:nvSpPr>
            <p:cNvPr id="18" name="TextBox 18"/>
            <p:cNvSpPr txBox="1"/>
            <p:nvPr/>
          </p:nvSpPr>
          <p:spPr>
            <a:xfrm>
              <a:off x="747712" y="2926556"/>
              <a:ext cx="1149965"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SAM 2 (Meta)</a:t>
              </a:r>
            </a:p>
          </p:txBody>
        </p:sp>
        <p:sp>
          <p:nvSpPr>
            <p:cNvPr id="19" name="Freeform 19"/>
            <p:cNvSpPr/>
            <p:nvPr/>
          </p:nvSpPr>
          <p:spPr>
            <a:xfrm>
              <a:off x="1905000" y="2956086"/>
              <a:ext cx="133350" cy="88578"/>
            </a:xfrm>
            <a:custGeom>
              <a:avLst/>
              <a:gdLst/>
              <a:ahLst/>
              <a:cxnLst/>
              <a:rect l="l" t="t" r="r" b="b"/>
              <a:pathLst>
                <a:path w="133350" h="88578">
                  <a:moveTo>
                    <a:pt x="38421" y="6"/>
                  </a:moveTo>
                  <a:cubicBezTo>
                    <a:pt x="27487" y="6"/>
                    <a:pt x="17958" y="7118"/>
                    <a:pt x="11357" y="17302"/>
                  </a:cubicBezTo>
                  <a:cubicBezTo>
                    <a:pt x="3912" y="28776"/>
                    <a:pt x="0" y="43639"/>
                    <a:pt x="0" y="57896"/>
                  </a:cubicBezTo>
                  <a:cubicBezTo>
                    <a:pt x="0" y="61819"/>
                    <a:pt x="389" y="65503"/>
                    <a:pt x="1167" y="68859"/>
                  </a:cubicBezTo>
                  <a:cubicBezTo>
                    <a:pt x="1549" y="70483"/>
                    <a:pt x="2041" y="72079"/>
                    <a:pt x="2639" y="73637"/>
                  </a:cubicBezTo>
                  <a:cubicBezTo>
                    <a:pt x="3212" y="75099"/>
                    <a:pt x="3902" y="76513"/>
                    <a:pt x="4701" y="77865"/>
                  </a:cubicBezTo>
                  <a:cubicBezTo>
                    <a:pt x="8568" y="84305"/>
                    <a:pt x="14802" y="88572"/>
                    <a:pt x="24664" y="88572"/>
                  </a:cubicBezTo>
                  <a:cubicBezTo>
                    <a:pt x="32982" y="88572"/>
                    <a:pt x="39294" y="84844"/>
                    <a:pt x="46695" y="74993"/>
                  </a:cubicBezTo>
                  <a:cubicBezTo>
                    <a:pt x="50917" y="69370"/>
                    <a:pt x="53051" y="65958"/>
                    <a:pt x="61491" y="50990"/>
                  </a:cubicBezTo>
                  <a:lnTo>
                    <a:pt x="65692" y="43550"/>
                  </a:lnTo>
                  <a:lnTo>
                    <a:pt x="66725" y="41744"/>
                  </a:lnTo>
                  <a:cubicBezTo>
                    <a:pt x="67064" y="42300"/>
                    <a:pt x="67397" y="42833"/>
                    <a:pt x="67742" y="43411"/>
                  </a:cubicBezTo>
                  <a:lnTo>
                    <a:pt x="79699" y="63386"/>
                  </a:lnTo>
                  <a:cubicBezTo>
                    <a:pt x="83722" y="70109"/>
                    <a:pt x="88950" y="77587"/>
                    <a:pt x="93423" y="81799"/>
                  </a:cubicBezTo>
                  <a:cubicBezTo>
                    <a:pt x="99235" y="87283"/>
                    <a:pt x="104491" y="88578"/>
                    <a:pt x="110425" y="88578"/>
                  </a:cubicBezTo>
                  <a:cubicBezTo>
                    <a:pt x="116398" y="88578"/>
                    <a:pt x="120848" y="86605"/>
                    <a:pt x="124066" y="83894"/>
                  </a:cubicBezTo>
                  <a:cubicBezTo>
                    <a:pt x="125862" y="82360"/>
                    <a:pt x="127384" y="80532"/>
                    <a:pt x="128566" y="78488"/>
                  </a:cubicBezTo>
                  <a:cubicBezTo>
                    <a:pt x="131578" y="73270"/>
                    <a:pt x="133350" y="66669"/>
                    <a:pt x="133350" y="57679"/>
                  </a:cubicBezTo>
                  <a:cubicBezTo>
                    <a:pt x="133350" y="42566"/>
                    <a:pt x="129566" y="27915"/>
                    <a:pt x="121771" y="16285"/>
                  </a:cubicBezTo>
                  <a:cubicBezTo>
                    <a:pt x="114648" y="5662"/>
                    <a:pt x="105341" y="6"/>
                    <a:pt x="95567" y="6"/>
                  </a:cubicBezTo>
                  <a:cubicBezTo>
                    <a:pt x="89750" y="6"/>
                    <a:pt x="83966" y="2600"/>
                    <a:pt x="78604" y="7273"/>
                  </a:cubicBezTo>
                  <a:cubicBezTo>
                    <a:pt x="74982" y="10440"/>
                    <a:pt x="71620" y="14441"/>
                    <a:pt x="68492" y="18663"/>
                  </a:cubicBezTo>
                  <a:cubicBezTo>
                    <a:pt x="64658" y="13802"/>
                    <a:pt x="61074" y="10068"/>
                    <a:pt x="57613" y="7240"/>
                  </a:cubicBezTo>
                  <a:cubicBezTo>
                    <a:pt x="51045" y="1872"/>
                    <a:pt x="44750" y="0"/>
                    <a:pt x="38421" y="0"/>
                  </a:cubicBezTo>
                  <a:close/>
                  <a:moveTo>
                    <a:pt x="94873" y="11413"/>
                  </a:moveTo>
                  <a:cubicBezTo>
                    <a:pt x="101246" y="11413"/>
                    <a:pt x="107030" y="15624"/>
                    <a:pt x="111497" y="22519"/>
                  </a:cubicBezTo>
                  <a:cubicBezTo>
                    <a:pt x="117787" y="32232"/>
                    <a:pt x="120648" y="45828"/>
                    <a:pt x="120648" y="58079"/>
                  </a:cubicBezTo>
                  <a:cubicBezTo>
                    <a:pt x="120648" y="66681"/>
                    <a:pt x="118604" y="74193"/>
                    <a:pt x="110430" y="74193"/>
                  </a:cubicBezTo>
                  <a:cubicBezTo>
                    <a:pt x="107208" y="74193"/>
                    <a:pt x="104724" y="72915"/>
                    <a:pt x="101185" y="68614"/>
                  </a:cubicBezTo>
                  <a:cubicBezTo>
                    <a:pt x="98429" y="65275"/>
                    <a:pt x="93723" y="58179"/>
                    <a:pt x="85450" y="44400"/>
                  </a:cubicBezTo>
                  <a:lnTo>
                    <a:pt x="82021" y="38688"/>
                  </a:lnTo>
                  <a:cubicBezTo>
                    <a:pt x="79793" y="34961"/>
                    <a:pt x="77468" y="31293"/>
                    <a:pt x="75048" y="27687"/>
                  </a:cubicBezTo>
                  <a:cubicBezTo>
                    <a:pt x="75437" y="27081"/>
                    <a:pt x="75832" y="26442"/>
                    <a:pt x="76221" y="25870"/>
                  </a:cubicBezTo>
                  <a:cubicBezTo>
                    <a:pt x="82444" y="16608"/>
                    <a:pt x="87989" y="11413"/>
                    <a:pt x="94879" y="11413"/>
                  </a:cubicBezTo>
                  <a:close/>
                  <a:moveTo>
                    <a:pt x="38194" y="14485"/>
                  </a:moveTo>
                  <a:cubicBezTo>
                    <a:pt x="45222" y="14485"/>
                    <a:pt x="49628" y="18880"/>
                    <a:pt x="53057" y="22519"/>
                  </a:cubicBezTo>
                  <a:cubicBezTo>
                    <a:pt x="54762" y="24336"/>
                    <a:pt x="57152" y="27359"/>
                    <a:pt x="59913" y="31293"/>
                  </a:cubicBezTo>
                  <a:lnTo>
                    <a:pt x="54246" y="39994"/>
                  </a:lnTo>
                  <a:cubicBezTo>
                    <a:pt x="50040" y="46456"/>
                    <a:pt x="43789" y="56757"/>
                    <a:pt x="38483" y="64097"/>
                  </a:cubicBezTo>
                  <a:cubicBezTo>
                    <a:pt x="31865" y="73259"/>
                    <a:pt x="28426" y="74193"/>
                    <a:pt x="24670" y="74193"/>
                  </a:cubicBezTo>
                  <a:cubicBezTo>
                    <a:pt x="21758" y="74193"/>
                    <a:pt x="18902" y="72876"/>
                    <a:pt x="16985" y="69781"/>
                  </a:cubicBezTo>
                  <a:cubicBezTo>
                    <a:pt x="15524" y="67414"/>
                    <a:pt x="14407" y="63502"/>
                    <a:pt x="14407" y="58413"/>
                  </a:cubicBezTo>
                  <a:cubicBezTo>
                    <a:pt x="14407" y="46072"/>
                    <a:pt x="17908" y="33215"/>
                    <a:pt x="23631" y="24586"/>
                  </a:cubicBezTo>
                  <a:cubicBezTo>
                    <a:pt x="26153" y="20769"/>
                    <a:pt x="28987" y="17774"/>
                    <a:pt x="32148" y="16069"/>
                  </a:cubicBezTo>
                  <a:cubicBezTo>
                    <a:pt x="33998" y="15041"/>
                    <a:pt x="36077" y="14496"/>
                    <a:pt x="38194" y="14485"/>
                  </a:cubicBezTo>
                  <a:close/>
                </a:path>
              </a:pathLst>
            </a:custGeom>
            <a:solidFill>
              <a:srgbClr val="88817E"/>
            </a:solidFill>
            <a:ln>
              <a:noFill/>
            </a:ln>
          </p:spPr>
          <p:txBody>
            <a:bodyPr/>
            <a:lstStyle/>
            <a:p>
              <a:endParaRPr lang="da-DK"/>
            </a:p>
          </p:txBody>
        </p:sp>
        <p:sp>
          <p:nvSpPr>
            <p:cNvPr id="20" name="TextBox 20"/>
            <p:cNvSpPr txBox="1"/>
            <p:nvPr/>
          </p:nvSpPr>
          <p:spPr>
            <a:xfrm>
              <a:off x="749618" y="3133249"/>
              <a:ext cx="252386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Segmentation đa năng prompt-based</a:t>
              </a:r>
            </a:p>
          </p:txBody>
        </p:sp>
        <p:sp>
          <p:nvSpPr>
            <p:cNvPr id="21" name="Rectangle 21"/>
            <p:cNvSpPr/>
            <p:nvPr/>
          </p:nvSpPr>
          <p:spPr>
            <a:xfrm>
              <a:off x="762000" y="3381375"/>
              <a:ext cx="3048000" cy="9525"/>
            </a:xfrm>
            <a:prstGeom prst="rect">
              <a:avLst/>
            </a:prstGeom>
            <a:solidFill>
              <a:srgbClr val="88817E">
                <a:alpha val="20000"/>
              </a:srgbClr>
            </a:solidFill>
            <a:ln>
              <a:noFill/>
            </a:ln>
          </p:spPr>
          <p:txBody>
            <a:bodyPr/>
            <a:lstStyle/>
            <a:p>
              <a:endParaRPr lang="da-DK"/>
            </a:p>
          </p:txBody>
        </p:sp>
        <p:sp>
          <p:nvSpPr>
            <p:cNvPr id="22" name="TextBox 22"/>
            <p:cNvSpPr txBox="1"/>
            <p:nvPr/>
          </p:nvSpPr>
          <p:spPr>
            <a:xfrm>
              <a:off x="747712" y="3498056"/>
              <a:ext cx="74453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CarveKit</a:t>
              </a:r>
            </a:p>
          </p:txBody>
        </p:sp>
        <p:sp>
          <p:nvSpPr>
            <p:cNvPr id="23" name="TextBox 23"/>
            <p:cNvSpPr txBox="1"/>
            <p:nvPr/>
          </p:nvSpPr>
          <p:spPr>
            <a:xfrm>
              <a:off x="749618" y="3704749"/>
              <a:ext cx="208954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Pipeline cutout chất lượng cao</a:t>
              </a:r>
            </a:p>
          </p:txBody>
        </p:sp>
        <p:sp>
          <p:nvSpPr>
            <p:cNvPr id="24" name="Rectangle 24"/>
            <p:cNvSpPr/>
            <p:nvPr/>
          </p:nvSpPr>
          <p:spPr>
            <a:xfrm>
              <a:off x="762000" y="3952875"/>
              <a:ext cx="3048000" cy="9525"/>
            </a:xfrm>
            <a:prstGeom prst="rect">
              <a:avLst/>
            </a:prstGeom>
            <a:solidFill>
              <a:srgbClr val="88817E">
                <a:alpha val="20000"/>
              </a:srgbClr>
            </a:solidFill>
            <a:ln>
              <a:noFill/>
            </a:ln>
          </p:spPr>
          <p:txBody>
            <a:bodyPr/>
            <a:lstStyle/>
            <a:p>
              <a:endParaRPr lang="da-DK"/>
            </a:p>
          </p:txBody>
        </p:sp>
        <p:sp>
          <p:nvSpPr>
            <p:cNvPr id="25" name="TextBox 25"/>
            <p:cNvSpPr txBox="1"/>
            <p:nvPr/>
          </p:nvSpPr>
          <p:spPr>
            <a:xfrm>
              <a:off x="747712" y="4069556"/>
              <a:ext cx="666905"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MODNet</a:t>
              </a:r>
            </a:p>
          </p:txBody>
        </p:sp>
        <p:sp>
          <p:nvSpPr>
            <p:cNvPr id="26" name="TextBox 26"/>
            <p:cNvSpPr txBox="1"/>
            <p:nvPr/>
          </p:nvSpPr>
          <p:spPr>
            <a:xfrm>
              <a:off x="749618" y="4276249"/>
              <a:ext cx="127787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Matting chân dung</a:t>
              </a:r>
            </a:p>
          </p:txBody>
        </p:sp>
      </p:grpSp>
      <p:grpSp>
        <p:nvGrpSpPr>
          <p:cNvPr id="46" name="Group 46"/>
          <p:cNvGrpSpPr/>
          <p:nvPr/>
        </p:nvGrpSpPr>
        <p:grpSpPr>
          <a:xfrm>
            <a:off x="4191000" y="1238250"/>
            <a:ext cx="3429000" cy="5048250"/>
            <a:chOff x="4191000" y="1238250"/>
            <a:chExt cx="3429000" cy="5048250"/>
          </a:xfrm>
        </p:grpSpPr>
        <p:sp>
          <p:nvSpPr>
            <p:cNvPr id="28" name="Rectangle 28"/>
            <p:cNvSpPr/>
            <p:nvPr/>
          </p:nvSpPr>
          <p:spPr>
            <a:xfrm>
              <a:off x="4191000" y="1238250"/>
              <a:ext cx="3429000" cy="5048250"/>
            </a:xfrm>
            <a:prstGeom prst="roundRect">
              <a:avLst>
                <a:gd name="adj" fmla="val 2222"/>
              </a:avLst>
            </a:prstGeom>
            <a:solidFill>
              <a:srgbClr val="C1856B">
                <a:alpha val="5000"/>
              </a:srgbClr>
            </a:solidFill>
            <a:ln>
              <a:noFill/>
            </a:ln>
          </p:spPr>
          <p:txBody>
            <a:bodyPr/>
            <a:lstStyle/>
            <a:p>
              <a:endParaRPr lang="da-DK"/>
            </a:p>
          </p:txBody>
        </p:sp>
        <p:sp>
          <p:nvSpPr>
            <p:cNvPr id="29" name="Rectangle 29"/>
            <p:cNvSpPr/>
            <p:nvPr/>
          </p:nvSpPr>
          <p:spPr>
            <a:xfrm>
              <a:off x="4191000" y="1238250"/>
              <a:ext cx="3429000" cy="381000"/>
            </a:xfrm>
            <a:prstGeom prst="roundRect">
              <a:avLst>
                <a:gd name="adj" fmla="val 20000"/>
              </a:avLst>
            </a:prstGeom>
            <a:solidFill>
              <a:srgbClr val="C1856B"/>
            </a:solidFill>
            <a:ln>
              <a:noFill/>
            </a:ln>
          </p:spPr>
          <p:txBody>
            <a:bodyPr/>
            <a:lstStyle/>
            <a:p>
              <a:endParaRPr lang="da-DK"/>
            </a:p>
          </p:txBody>
        </p:sp>
        <p:sp>
          <p:nvSpPr>
            <p:cNvPr id="30" name="Rectangle 30"/>
            <p:cNvSpPr/>
            <p:nvPr/>
          </p:nvSpPr>
          <p:spPr>
            <a:xfrm>
              <a:off x="4191000" y="1543050"/>
              <a:ext cx="3429000" cy="76200"/>
            </a:xfrm>
            <a:prstGeom prst="rect">
              <a:avLst/>
            </a:prstGeom>
            <a:solidFill>
              <a:srgbClr val="C1856B"/>
            </a:solidFill>
            <a:ln>
              <a:noFill/>
            </a:ln>
          </p:spPr>
          <p:txBody>
            <a:bodyPr/>
            <a:lstStyle/>
            <a:p>
              <a:endParaRPr lang="da-DK"/>
            </a:p>
          </p:txBody>
        </p:sp>
        <p:sp>
          <p:nvSpPr>
            <p:cNvPr id="31" name="TextBox 31"/>
            <p:cNvSpPr txBox="1"/>
            <p:nvPr/>
          </p:nvSpPr>
          <p:spPr>
            <a:xfrm>
              <a:off x="4990452" y="1382078"/>
              <a:ext cx="183009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UPSCALE &amp; RESTORATION</a:t>
              </a:r>
            </a:p>
          </p:txBody>
        </p:sp>
        <p:sp>
          <p:nvSpPr>
            <p:cNvPr id="32" name="TextBox 32"/>
            <p:cNvSpPr txBox="1"/>
            <p:nvPr/>
          </p:nvSpPr>
          <p:spPr>
            <a:xfrm>
              <a:off x="4367212" y="1783556"/>
              <a:ext cx="102920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Real-ESRGAN</a:t>
              </a:r>
            </a:p>
          </p:txBody>
        </p:sp>
        <p:sp>
          <p:nvSpPr>
            <p:cNvPr id="33" name="TextBox 33"/>
            <p:cNvSpPr txBox="1"/>
            <p:nvPr/>
          </p:nvSpPr>
          <p:spPr>
            <a:xfrm>
              <a:off x="4369118" y="1990249"/>
              <a:ext cx="271610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General upscaler 4x phổ biến (Tencent)</a:t>
              </a:r>
            </a:p>
          </p:txBody>
        </p:sp>
        <p:sp>
          <p:nvSpPr>
            <p:cNvPr id="34" name="Rectangle 34"/>
            <p:cNvSpPr/>
            <p:nvPr/>
          </p:nvSpPr>
          <p:spPr>
            <a:xfrm>
              <a:off x="4381500" y="2238375"/>
              <a:ext cx="3048000" cy="9525"/>
            </a:xfrm>
            <a:prstGeom prst="rect">
              <a:avLst/>
            </a:prstGeom>
            <a:solidFill>
              <a:srgbClr val="88817E">
                <a:alpha val="20000"/>
              </a:srgbClr>
            </a:solidFill>
            <a:ln>
              <a:noFill/>
            </a:ln>
          </p:spPr>
          <p:txBody>
            <a:bodyPr/>
            <a:lstStyle/>
            <a:p>
              <a:endParaRPr lang="da-DK"/>
            </a:p>
          </p:txBody>
        </p:sp>
        <p:sp>
          <p:nvSpPr>
            <p:cNvPr id="35" name="TextBox 35"/>
            <p:cNvSpPr txBox="1"/>
            <p:nvPr/>
          </p:nvSpPr>
          <p:spPr>
            <a:xfrm>
              <a:off x="4367212" y="2355056"/>
              <a:ext cx="177966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GFPGAN / CodeFormer</a:t>
              </a:r>
            </a:p>
          </p:txBody>
        </p:sp>
        <p:sp>
          <p:nvSpPr>
            <p:cNvPr id="36" name="TextBox 36"/>
            <p:cNvSpPr txBox="1"/>
            <p:nvPr/>
          </p:nvSpPr>
          <p:spPr>
            <a:xfrm>
              <a:off x="4369118" y="2561749"/>
              <a:ext cx="136331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Khôi phục mặt người</a:t>
              </a:r>
            </a:p>
          </p:txBody>
        </p:sp>
        <p:sp>
          <p:nvSpPr>
            <p:cNvPr id="37" name="Rectangle 37"/>
            <p:cNvSpPr/>
            <p:nvPr/>
          </p:nvSpPr>
          <p:spPr>
            <a:xfrm>
              <a:off x="4381500" y="2809875"/>
              <a:ext cx="3048000" cy="9525"/>
            </a:xfrm>
            <a:prstGeom prst="rect">
              <a:avLst/>
            </a:prstGeom>
            <a:solidFill>
              <a:srgbClr val="88817E">
                <a:alpha val="20000"/>
              </a:srgbClr>
            </a:solidFill>
            <a:ln>
              <a:noFill/>
            </a:ln>
          </p:spPr>
          <p:txBody>
            <a:bodyPr/>
            <a:lstStyle/>
            <a:p>
              <a:endParaRPr lang="da-DK"/>
            </a:p>
          </p:txBody>
        </p:sp>
        <p:sp>
          <p:nvSpPr>
            <p:cNvPr id="38" name="TextBox 38"/>
            <p:cNvSpPr txBox="1"/>
            <p:nvPr/>
          </p:nvSpPr>
          <p:spPr>
            <a:xfrm>
              <a:off x="4367212" y="2926556"/>
              <a:ext cx="54614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SwinIR</a:t>
              </a:r>
            </a:p>
          </p:txBody>
        </p:sp>
        <p:sp>
          <p:nvSpPr>
            <p:cNvPr id="39" name="TextBox 39"/>
            <p:cNvSpPr txBox="1"/>
            <p:nvPr/>
          </p:nvSpPr>
          <p:spPr>
            <a:xfrm>
              <a:off x="4369118" y="3133249"/>
              <a:ext cx="123515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Restoration SOTA</a:t>
              </a:r>
            </a:p>
          </p:txBody>
        </p:sp>
        <p:sp>
          <p:nvSpPr>
            <p:cNvPr id="40" name="Rectangle 40"/>
            <p:cNvSpPr/>
            <p:nvPr/>
          </p:nvSpPr>
          <p:spPr>
            <a:xfrm>
              <a:off x="4381500" y="3381375"/>
              <a:ext cx="3048000" cy="9525"/>
            </a:xfrm>
            <a:prstGeom prst="rect">
              <a:avLst/>
            </a:prstGeom>
            <a:solidFill>
              <a:srgbClr val="88817E">
                <a:alpha val="20000"/>
              </a:srgbClr>
            </a:solidFill>
            <a:ln>
              <a:noFill/>
            </a:ln>
          </p:spPr>
          <p:txBody>
            <a:bodyPr/>
            <a:lstStyle/>
            <a:p>
              <a:endParaRPr lang="da-DK"/>
            </a:p>
          </p:txBody>
        </p:sp>
        <p:sp>
          <p:nvSpPr>
            <p:cNvPr id="41" name="TextBox 41"/>
            <p:cNvSpPr txBox="1"/>
            <p:nvPr/>
          </p:nvSpPr>
          <p:spPr>
            <a:xfrm>
              <a:off x="4367212" y="3498056"/>
              <a:ext cx="45987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APISR</a:t>
              </a:r>
            </a:p>
          </p:txBody>
        </p:sp>
        <p:sp>
          <p:nvSpPr>
            <p:cNvPr id="42" name="TextBox 42"/>
            <p:cNvSpPr txBox="1"/>
            <p:nvPr/>
          </p:nvSpPr>
          <p:spPr>
            <a:xfrm>
              <a:off x="4369118" y="3704749"/>
              <a:ext cx="200410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Tối ưu cho ảnh nét vẽ / anime</a:t>
              </a:r>
            </a:p>
          </p:txBody>
        </p:sp>
        <p:sp>
          <p:nvSpPr>
            <p:cNvPr id="43" name="Rectangle 43"/>
            <p:cNvSpPr/>
            <p:nvPr/>
          </p:nvSpPr>
          <p:spPr>
            <a:xfrm>
              <a:off x="4381500" y="3952875"/>
              <a:ext cx="3048000" cy="9525"/>
            </a:xfrm>
            <a:prstGeom prst="rect">
              <a:avLst/>
            </a:prstGeom>
            <a:solidFill>
              <a:srgbClr val="88817E">
                <a:alpha val="20000"/>
              </a:srgbClr>
            </a:solidFill>
            <a:ln>
              <a:noFill/>
            </a:ln>
          </p:spPr>
          <p:txBody>
            <a:bodyPr/>
            <a:lstStyle/>
            <a:p>
              <a:endParaRPr lang="da-DK"/>
            </a:p>
          </p:txBody>
        </p:sp>
        <p:sp>
          <p:nvSpPr>
            <p:cNvPr id="44" name="TextBox 44"/>
            <p:cNvSpPr txBox="1"/>
            <p:nvPr/>
          </p:nvSpPr>
          <p:spPr>
            <a:xfrm>
              <a:off x="4367212" y="4069556"/>
              <a:ext cx="1227600"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SD x4 Upscaler</a:t>
              </a:r>
            </a:p>
          </p:txBody>
        </p:sp>
        <p:sp>
          <p:nvSpPr>
            <p:cNvPr id="45" name="TextBox 45"/>
            <p:cNvSpPr txBox="1"/>
            <p:nvPr/>
          </p:nvSpPr>
          <p:spPr>
            <a:xfrm>
              <a:off x="4369118" y="4276249"/>
              <a:ext cx="168371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Diffusion-based upscale</a:t>
              </a:r>
            </a:p>
          </p:txBody>
        </p:sp>
      </p:grpSp>
      <p:grpSp>
        <p:nvGrpSpPr>
          <p:cNvPr id="71" name="Group 71"/>
          <p:cNvGrpSpPr/>
          <p:nvPr/>
        </p:nvGrpSpPr>
        <p:grpSpPr>
          <a:xfrm>
            <a:off x="7810500" y="1238250"/>
            <a:ext cx="3810000" cy="5048250"/>
            <a:chOff x="7810500" y="1238250"/>
            <a:chExt cx="3810000" cy="5048250"/>
          </a:xfrm>
        </p:grpSpPr>
        <p:sp>
          <p:nvSpPr>
            <p:cNvPr id="47" name="Rectangle 47"/>
            <p:cNvSpPr/>
            <p:nvPr/>
          </p:nvSpPr>
          <p:spPr>
            <a:xfrm>
              <a:off x="7810500" y="1238250"/>
              <a:ext cx="3810000" cy="5048250"/>
            </a:xfrm>
            <a:prstGeom prst="roundRect">
              <a:avLst>
                <a:gd name="adj" fmla="val 2000"/>
              </a:avLst>
            </a:prstGeom>
            <a:solidFill>
              <a:srgbClr val="753438">
                <a:alpha val="5000"/>
              </a:srgbClr>
            </a:solidFill>
            <a:ln>
              <a:noFill/>
            </a:ln>
          </p:spPr>
          <p:txBody>
            <a:bodyPr/>
            <a:lstStyle/>
            <a:p>
              <a:endParaRPr lang="da-DK"/>
            </a:p>
          </p:txBody>
        </p:sp>
        <p:sp>
          <p:nvSpPr>
            <p:cNvPr id="48" name="Rectangle 48"/>
            <p:cNvSpPr/>
            <p:nvPr/>
          </p:nvSpPr>
          <p:spPr>
            <a:xfrm>
              <a:off x="7810500" y="1238250"/>
              <a:ext cx="3810000" cy="381000"/>
            </a:xfrm>
            <a:prstGeom prst="roundRect">
              <a:avLst>
                <a:gd name="adj" fmla="val 20000"/>
              </a:avLst>
            </a:prstGeom>
            <a:solidFill>
              <a:srgbClr val="753438"/>
            </a:solidFill>
            <a:ln>
              <a:noFill/>
            </a:ln>
          </p:spPr>
          <p:txBody>
            <a:bodyPr/>
            <a:lstStyle/>
            <a:p>
              <a:endParaRPr lang="da-DK"/>
            </a:p>
          </p:txBody>
        </p:sp>
        <p:sp>
          <p:nvSpPr>
            <p:cNvPr id="49" name="Rectangle 49"/>
            <p:cNvSpPr/>
            <p:nvPr/>
          </p:nvSpPr>
          <p:spPr>
            <a:xfrm>
              <a:off x="7810500" y="1543050"/>
              <a:ext cx="3810000" cy="76200"/>
            </a:xfrm>
            <a:prstGeom prst="rect">
              <a:avLst/>
            </a:prstGeom>
            <a:solidFill>
              <a:srgbClr val="753438"/>
            </a:solidFill>
            <a:ln>
              <a:noFill/>
            </a:ln>
          </p:spPr>
          <p:txBody>
            <a:bodyPr/>
            <a:lstStyle/>
            <a:p>
              <a:endParaRPr lang="da-DK"/>
            </a:p>
          </p:txBody>
        </p:sp>
        <p:sp>
          <p:nvSpPr>
            <p:cNvPr id="50" name="TextBox 50"/>
            <p:cNvSpPr txBox="1"/>
            <p:nvPr/>
          </p:nvSpPr>
          <p:spPr>
            <a:xfrm>
              <a:off x="9211054" y="1382078"/>
              <a:ext cx="100889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3D RENDERING</a:t>
              </a:r>
            </a:p>
          </p:txBody>
        </p:sp>
        <p:sp>
          <p:nvSpPr>
            <p:cNvPr id="51" name="TextBox 51"/>
            <p:cNvSpPr txBox="1"/>
            <p:nvPr/>
          </p:nvSpPr>
          <p:spPr>
            <a:xfrm>
              <a:off x="7986712" y="1783556"/>
              <a:ext cx="1943564"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Blender + Cycles/Eevee</a:t>
              </a:r>
            </a:p>
          </p:txBody>
        </p:sp>
        <p:sp>
          <p:nvSpPr>
            <p:cNvPr id="52" name="Freeform 52"/>
            <p:cNvSpPr/>
            <p:nvPr/>
          </p:nvSpPr>
          <p:spPr>
            <a:xfrm>
              <a:off x="9523616" y="1802685"/>
              <a:ext cx="135164" cy="108887"/>
            </a:xfrm>
            <a:custGeom>
              <a:avLst/>
              <a:gdLst/>
              <a:ahLst/>
              <a:cxnLst/>
              <a:rect l="l" t="t" r="r" b="b"/>
              <a:pathLst>
                <a:path w="135164" h="108887">
                  <a:moveTo>
                    <a:pt x="70892" y="61435"/>
                  </a:moveTo>
                  <a:cubicBezTo>
                    <a:pt x="71148" y="56990"/>
                    <a:pt x="73326" y="53068"/>
                    <a:pt x="76615" y="50290"/>
                  </a:cubicBezTo>
                  <a:cubicBezTo>
                    <a:pt x="80066" y="47423"/>
                    <a:pt x="84419" y="45868"/>
                    <a:pt x="88906" y="45900"/>
                  </a:cubicBezTo>
                  <a:cubicBezTo>
                    <a:pt x="93628" y="45900"/>
                    <a:pt x="97968" y="47567"/>
                    <a:pt x="101190" y="50290"/>
                  </a:cubicBezTo>
                  <a:cubicBezTo>
                    <a:pt x="104480" y="53068"/>
                    <a:pt x="106652" y="56990"/>
                    <a:pt x="106902" y="61430"/>
                  </a:cubicBezTo>
                  <a:cubicBezTo>
                    <a:pt x="107152" y="66003"/>
                    <a:pt x="105319" y="70242"/>
                    <a:pt x="102096" y="73393"/>
                  </a:cubicBezTo>
                  <a:cubicBezTo>
                    <a:pt x="98547" y="76782"/>
                    <a:pt x="93814" y="78653"/>
                    <a:pt x="88906" y="78604"/>
                  </a:cubicBezTo>
                  <a:cubicBezTo>
                    <a:pt x="83994" y="78653"/>
                    <a:pt x="79258" y="76783"/>
                    <a:pt x="75704" y="73393"/>
                  </a:cubicBezTo>
                  <a:cubicBezTo>
                    <a:pt x="72481" y="70242"/>
                    <a:pt x="70648" y="66003"/>
                    <a:pt x="70898" y="61435"/>
                  </a:cubicBezTo>
                  <a:moveTo>
                    <a:pt x="42222" y="70420"/>
                  </a:moveTo>
                  <a:cubicBezTo>
                    <a:pt x="42255" y="72165"/>
                    <a:pt x="42811" y="75543"/>
                    <a:pt x="43644" y="78188"/>
                  </a:cubicBezTo>
                  <a:cubicBezTo>
                    <a:pt x="45444" y="83878"/>
                    <a:pt x="48464" y="89106"/>
                    <a:pt x="52495" y="93506"/>
                  </a:cubicBezTo>
                  <a:cubicBezTo>
                    <a:pt x="56818" y="98259"/>
                    <a:pt x="62095" y="102048"/>
                    <a:pt x="67981" y="104624"/>
                  </a:cubicBezTo>
                  <a:cubicBezTo>
                    <a:pt x="74386" y="107448"/>
                    <a:pt x="81316" y="108887"/>
                    <a:pt x="88317" y="108847"/>
                  </a:cubicBezTo>
                  <a:cubicBezTo>
                    <a:pt x="95316" y="108861"/>
                    <a:pt x="102239" y="107399"/>
                    <a:pt x="108636" y="104558"/>
                  </a:cubicBezTo>
                  <a:cubicBezTo>
                    <a:pt x="114517" y="101957"/>
                    <a:pt x="119789" y="98152"/>
                    <a:pt x="124110" y="93389"/>
                  </a:cubicBezTo>
                  <a:cubicBezTo>
                    <a:pt x="128134" y="88974"/>
                    <a:pt x="131152" y="83738"/>
                    <a:pt x="132956" y="78043"/>
                  </a:cubicBezTo>
                  <a:cubicBezTo>
                    <a:pt x="134689" y="72525"/>
                    <a:pt x="135164" y="66689"/>
                    <a:pt x="134345" y="60963"/>
                  </a:cubicBezTo>
                  <a:cubicBezTo>
                    <a:pt x="133564" y="55478"/>
                    <a:pt x="131641" y="50217"/>
                    <a:pt x="128699" y="45522"/>
                  </a:cubicBezTo>
                  <a:cubicBezTo>
                    <a:pt x="125974" y="41155"/>
                    <a:pt x="122489" y="37310"/>
                    <a:pt x="118409" y="34171"/>
                  </a:cubicBezTo>
                  <a:lnTo>
                    <a:pt x="118420" y="34171"/>
                  </a:lnTo>
                  <a:lnTo>
                    <a:pt x="76760" y="2184"/>
                  </a:lnTo>
                  <a:lnTo>
                    <a:pt x="76648" y="2100"/>
                  </a:lnTo>
                  <a:cubicBezTo>
                    <a:pt x="73915" y="0"/>
                    <a:pt x="69320" y="11"/>
                    <a:pt x="66314" y="2111"/>
                  </a:cubicBezTo>
                  <a:cubicBezTo>
                    <a:pt x="63275" y="4234"/>
                    <a:pt x="62930" y="7751"/>
                    <a:pt x="65630" y="9973"/>
                  </a:cubicBezTo>
                  <a:lnTo>
                    <a:pt x="65625" y="9979"/>
                  </a:lnTo>
                  <a:lnTo>
                    <a:pt x="82994" y="24109"/>
                  </a:lnTo>
                  <a:lnTo>
                    <a:pt x="30043" y="24164"/>
                  </a:lnTo>
                  <a:lnTo>
                    <a:pt x="29970" y="24164"/>
                  </a:lnTo>
                  <a:cubicBezTo>
                    <a:pt x="25592" y="24170"/>
                    <a:pt x="21386" y="27042"/>
                    <a:pt x="20553" y="30676"/>
                  </a:cubicBezTo>
                  <a:cubicBezTo>
                    <a:pt x="19697" y="34371"/>
                    <a:pt x="22664" y="37438"/>
                    <a:pt x="27220" y="37455"/>
                  </a:cubicBezTo>
                  <a:lnTo>
                    <a:pt x="27220" y="37466"/>
                  </a:lnTo>
                  <a:lnTo>
                    <a:pt x="54057" y="37410"/>
                  </a:lnTo>
                  <a:lnTo>
                    <a:pt x="6162" y="74176"/>
                  </a:lnTo>
                  <a:lnTo>
                    <a:pt x="5973" y="74315"/>
                  </a:lnTo>
                  <a:cubicBezTo>
                    <a:pt x="1456" y="77771"/>
                    <a:pt x="0" y="83527"/>
                    <a:pt x="2845" y="87166"/>
                  </a:cubicBezTo>
                  <a:cubicBezTo>
                    <a:pt x="5734" y="90872"/>
                    <a:pt x="11874" y="90878"/>
                    <a:pt x="16441" y="87189"/>
                  </a:cubicBezTo>
                  <a:lnTo>
                    <a:pt x="42578" y="65803"/>
                  </a:lnTo>
                  <a:cubicBezTo>
                    <a:pt x="42578" y="65803"/>
                    <a:pt x="42194" y="68692"/>
                    <a:pt x="42228" y="70420"/>
                  </a:cubicBezTo>
                  <a:close/>
                  <a:moveTo>
                    <a:pt x="109397" y="80093"/>
                  </a:moveTo>
                  <a:cubicBezTo>
                    <a:pt x="104007" y="85583"/>
                    <a:pt x="96473" y="88694"/>
                    <a:pt x="88311" y="88706"/>
                  </a:cubicBezTo>
                  <a:cubicBezTo>
                    <a:pt x="80143" y="88728"/>
                    <a:pt x="72604" y="85638"/>
                    <a:pt x="67214" y="80160"/>
                  </a:cubicBezTo>
                  <a:cubicBezTo>
                    <a:pt x="64669" y="77605"/>
                    <a:pt x="62706" y="74531"/>
                    <a:pt x="61458" y="71148"/>
                  </a:cubicBezTo>
                  <a:cubicBezTo>
                    <a:pt x="59144" y="64708"/>
                    <a:pt x="59715" y="57584"/>
                    <a:pt x="63025" y="51595"/>
                  </a:cubicBezTo>
                  <a:cubicBezTo>
                    <a:pt x="64652" y="48669"/>
                    <a:pt x="66827" y="46083"/>
                    <a:pt x="69431" y="43978"/>
                  </a:cubicBezTo>
                  <a:cubicBezTo>
                    <a:pt x="74665" y="39711"/>
                    <a:pt x="81327" y="37405"/>
                    <a:pt x="88300" y="37394"/>
                  </a:cubicBezTo>
                  <a:cubicBezTo>
                    <a:pt x="95279" y="37382"/>
                    <a:pt x="101941" y="39672"/>
                    <a:pt x="107180" y="43922"/>
                  </a:cubicBezTo>
                  <a:cubicBezTo>
                    <a:pt x="109847" y="46095"/>
                    <a:pt x="112014" y="48667"/>
                    <a:pt x="113581" y="51518"/>
                  </a:cubicBezTo>
                  <a:cubicBezTo>
                    <a:pt x="115203" y="54438"/>
                    <a:pt x="116191" y="57668"/>
                    <a:pt x="116481" y="60997"/>
                  </a:cubicBezTo>
                  <a:cubicBezTo>
                    <a:pt x="116776" y="64407"/>
                    <a:pt x="116322" y="67841"/>
                    <a:pt x="115153" y="71059"/>
                  </a:cubicBezTo>
                  <a:cubicBezTo>
                    <a:pt x="113905" y="74447"/>
                    <a:pt x="111944" y="77528"/>
                    <a:pt x="109403" y="80093"/>
                  </a:cubicBezTo>
                </a:path>
              </a:pathLst>
            </a:custGeom>
            <a:solidFill>
              <a:srgbClr val="88817E"/>
            </a:solidFill>
            <a:ln>
              <a:noFill/>
            </a:ln>
          </p:spPr>
          <p:txBody>
            <a:bodyPr/>
            <a:lstStyle/>
            <a:p>
              <a:endParaRPr lang="da-DK"/>
            </a:p>
          </p:txBody>
        </p:sp>
        <p:sp>
          <p:nvSpPr>
            <p:cNvPr id="53" name="TextBox 53"/>
            <p:cNvSpPr txBox="1"/>
            <p:nvPr/>
          </p:nvSpPr>
          <p:spPr>
            <a:xfrm>
              <a:off x="7988618" y="1990249"/>
              <a:ext cx="24313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Render industrial, Python API mạnh</a:t>
              </a:r>
            </a:p>
          </p:txBody>
        </p:sp>
        <p:sp>
          <p:nvSpPr>
            <p:cNvPr id="54" name="Rectangle 54"/>
            <p:cNvSpPr/>
            <p:nvPr/>
          </p:nvSpPr>
          <p:spPr>
            <a:xfrm>
              <a:off x="8001000" y="2238375"/>
              <a:ext cx="3429000" cy="9525"/>
            </a:xfrm>
            <a:prstGeom prst="rect">
              <a:avLst/>
            </a:prstGeom>
            <a:solidFill>
              <a:srgbClr val="88817E">
                <a:alpha val="20000"/>
              </a:srgbClr>
            </a:solidFill>
            <a:ln>
              <a:noFill/>
            </a:ln>
          </p:spPr>
          <p:txBody>
            <a:bodyPr/>
            <a:lstStyle/>
            <a:p>
              <a:endParaRPr lang="da-DK"/>
            </a:p>
          </p:txBody>
        </p:sp>
        <p:sp>
          <p:nvSpPr>
            <p:cNvPr id="55" name="TextBox 55"/>
            <p:cNvSpPr txBox="1"/>
            <p:nvPr/>
          </p:nvSpPr>
          <p:spPr>
            <a:xfrm>
              <a:off x="7986712" y="2355056"/>
              <a:ext cx="1555391"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BlenderProc (DLR)</a:t>
              </a:r>
            </a:p>
          </p:txBody>
        </p:sp>
        <p:sp>
          <p:nvSpPr>
            <p:cNvPr id="56" name="TextBox 56"/>
            <p:cNvSpPr txBox="1"/>
            <p:nvPr/>
          </p:nvSpPr>
          <p:spPr>
            <a:xfrm>
              <a:off x="7988618" y="2561749"/>
              <a:ext cx="243130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Pipeline synthetic data automation</a:t>
              </a:r>
            </a:p>
          </p:txBody>
        </p:sp>
        <p:sp>
          <p:nvSpPr>
            <p:cNvPr id="57" name="Rectangle 57"/>
            <p:cNvSpPr/>
            <p:nvPr/>
          </p:nvSpPr>
          <p:spPr>
            <a:xfrm>
              <a:off x="8001000" y="2809875"/>
              <a:ext cx="3429000" cy="9525"/>
            </a:xfrm>
            <a:prstGeom prst="rect">
              <a:avLst/>
            </a:prstGeom>
            <a:solidFill>
              <a:srgbClr val="88817E">
                <a:alpha val="20000"/>
              </a:srgbClr>
            </a:solidFill>
            <a:ln>
              <a:noFill/>
            </a:ln>
          </p:spPr>
          <p:txBody>
            <a:bodyPr/>
            <a:lstStyle/>
            <a:p>
              <a:endParaRPr lang="da-DK"/>
            </a:p>
          </p:txBody>
        </p:sp>
        <p:sp>
          <p:nvSpPr>
            <p:cNvPr id="58" name="TextBox 58"/>
            <p:cNvSpPr txBox="1"/>
            <p:nvPr/>
          </p:nvSpPr>
          <p:spPr>
            <a:xfrm>
              <a:off x="7986712" y="2926556"/>
              <a:ext cx="2047077"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TripoSR / Stable Fast 3D</a:t>
              </a:r>
            </a:p>
          </p:txBody>
        </p:sp>
        <p:sp>
          <p:nvSpPr>
            <p:cNvPr id="59" name="TextBox 59"/>
            <p:cNvSpPr txBox="1"/>
            <p:nvPr/>
          </p:nvSpPr>
          <p:spPr>
            <a:xfrm>
              <a:off x="7988618" y="3133249"/>
              <a:ext cx="25381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Single-image-to-mesh trong vài giây</a:t>
              </a:r>
            </a:p>
          </p:txBody>
        </p:sp>
        <p:sp>
          <p:nvSpPr>
            <p:cNvPr id="60" name="Rectangle 60"/>
            <p:cNvSpPr/>
            <p:nvPr/>
          </p:nvSpPr>
          <p:spPr>
            <a:xfrm>
              <a:off x="8001000" y="3381375"/>
              <a:ext cx="3429000" cy="9525"/>
            </a:xfrm>
            <a:prstGeom prst="rect">
              <a:avLst/>
            </a:prstGeom>
            <a:solidFill>
              <a:srgbClr val="88817E">
                <a:alpha val="20000"/>
              </a:srgbClr>
            </a:solidFill>
            <a:ln>
              <a:noFill/>
            </a:ln>
          </p:spPr>
          <p:txBody>
            <a:bodyPr/>
            <a:lstStyle/>
            <a:p>
              <a:endParaRPr lang="da-DK"/>
            </a:p>
          </p:txBody>
        </p:sp>
        <p:sp>
          <p:nvSpPr>
            <p:cNvPr id="61" name="TextBox 61"/>
            <p:cNvSpPr txBox="1"/>
            <p:nvPr/>
          </p:nvSpPr>
          <p:spPr>
            <a:xfrm>
              <a:off x="7986712" y="3498056"/>
              <a:ext cx="1978069"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Hunyuan3D-2 (Tencent)</a:t>
              </a:r>
            </a:p>
          </p:txBody>
        </p:sp>
        <p:sp>
          <p:nvSpPr>
            <p:cNvPr id="62" name="TextBox 62"/>
            <p:cNvSpPr txBox="1"/>
            <p:nvPr/>
          </p:nvSpPr>
          <p:spPr>
            <a:xfrm>
              <a:off x="7988618" y="3704749"/>
              <a:ext cx="216786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SOTA open-source image-to-3D</a:t>
              </a:r>
            </a:p>
          </p:txBody>
        </p:sp>
        <p:sp>
          <p:nvSpPr>
            <p:cNvPr id="63" name="Rectangle 63"/>
            <p:cNvSpPr/>
            <p:nvPr/>
          </p:nvSpPr>
          <p:spPr>
            <a:xfrm>
              <a:off x="8001000" y="3952875"/>
              <a:ext cx="3429000" cy="9525"/>
            </a:xfrm>
            <a:prstGeom prst="rect">
              <a:avLst/>
            </a:prstGeom>
            <a:solidFill>
              <a:srgbClr val="88817E">
                <a:alpha val="20000"/>
              </a:srgbClr>
            </a:solidFill>
            <a:ln>
              <a:noFill/>
            </a:ln>
          </p:spPr>
          <p:txBody>
            <a:bodyPr/>
            <a:lstStyle/>
            <a:p>
              <a:endParaRPr lang="da-DK"/>
            </a:p>
          </p:txBody>
        </p:sp>
        <p:sp>
          <p:nvSpPr>
            <p:cNvPr id="64" name="TextBox 64"/>
            <p:cNvSpPr txBox="1"/>
            <p:nvPr/>
          </p:nvSpPr>
          <p:spPr>
            <a:xfrm>
              <a:off x="7986712" y="4069556"/>
              <a:ext cx="1805547"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Three.js / Babylon.js</a:t>
              </a:r>
            </a:p>
          </p:txBody>
        </p:sp>
        <p:sp>
          <p:nvSpPr>
            <p:cNvPr id="65" name="Freeform 65"/>
            <p:cNvSpPr/>
            <p:nvPr/>
          </p:nvSpPr>
          <p:spPr>
            <a:xfrm>
              <a:off x="9525581" y="4076698"/>
              <a:ext cx="132207" cy="133440"/>
            </a:xfrm>
            <a:custGeom>
              <a:avLst/>
              <a:gdLst/>
              <a:ahLst/>
              <a:cxnLst/>
              <a:rect l="l" t="t" r="r" b="b"/>
              <a:pathLst>
                <a:path w="132207" h="133440">
                  <a:moveTo>
                    <a:pt x="1531" y="2"/>
                  </a:moveTo>
                  <a:cubicBezTo>
                    <a:pt x="1077" y="9"/>
                    <a:pt x="652" y="222"/>
                    <a:pt x="375" y="581"/>
                  </a:cubicBezTo>
                  <a:cubicBezTo>
                    <a:pt x="98" y="941"/>
                    <a:pt x="0" y="1406"/>
                    <a:pt x="108" y="1846"/>
                  </a:cubicBezTo>
                  <a:lnTo>
                    <a:pt x="16188" y="66944"/>
                  </a:lnTo>
                  <a:cubicBezTo>
                    <a:pt x="16201" y="67019"/>
                    <a:pt x="16219" y="67093"/>
                    <a:pt x="16244" y="67166"/>
                  </a:cubicBezTo>
                  <a:lnTo>
                    <a:pt x="32301" y="132218"/>
                  </a:lnTo>
                  <a:cubicBezTo>
                    <a:pt x="32429" y="132736"/>
                    <a:pt x="32824" y="133146"/>
                    <a:pt x="33337" y="133293"/>
                  </a:cubicBezTo>
                  <a:cubicBezTo>
                    <a:pt x="33850" y="133440"/>
                    <a:pt x="34402" y="133301"/>
                    <a:pt x="34785" y="132930"/>
                  </a:cubicBezTo>
                  <a:lnTo>
                    <a:pt x="131669" y="39729"/>
                  </a:lnTo>
                  <a:cubicBezTo>
                    <a:pt x="132051" y="39360"/>
                    <a:pt x="132207" y="38815"/>
                    <a:pt x="132078" y="38300"/>
                  </a:cubicBezTo>
                  <a:cubicBezTo>
                    <a:pt x="131950" y="37784"/>
                    <a:pt x="131557" y="37376"/>
                    <a:pt x="131047" y="37229"/>
                  </a:cubicBezTo>
                  <a:lnTo>
                    <a:pt x="98910" y="27966"/>
                  </a:lnTo>
                  <a:cubicBezTo>
                    <a:pt x="98701" y="27847"/>
                    <a:pt x="98466" y="27781"/>
                    <a:pt x="98226" y="27772"/>
                  </a:cubicBezTo>
                  <a:lnTo>
                    <a:pt x="34868" y="9531"/>
                  </a:lnTo>
                  <a:cubicBezTo>
                    <a:pt x="34628" y="9382"/>
                    <a:pt x="34351" y="9305"/>
                    <a:pt x="34068" y="9309"/>
                  </a:cubicBezTo>
                  <a:lnTo>
                    <a:pt x="1953" y="57"/>
                  </a:lnTo>
                  <a:cubicBezTo>
                    <a:pt x="1816" y="19"/>
                    <a:pt x="1673" y="0"/>
                    <a:pt x="1531" y="2"/>
                  </a:cubicBezTo>
                  <a:close/>
                  <a:moveTo>
                    <a:pt x="3609" y="3636"/>
                  </a:moveTo>
                  <a:lnTo>
                    <a:pt x="31146" y="11559"/>
                  </a:lnTo>
                  <a:lnTo>
                    <a:pt x="10476" y="31472"/>
                  </a:lnTo>
                  <a:close/>
                  <a:moveTo>
                    <a:pt x="36146" y="13003"/>
                  </a:moveTo>
                  <a:lnTo>
                    <a:pt x="63172" y="20782"/>
                  </a:lnTo>
                  <a:lnTo>
                    <a:pt x="42891" y="40312"/>
                  </a:lnTo>
                  <a:close/>
                  <a:moveTo>
                    <a:pt x="33246" y="13670"/>
                  </a:moveTo>
                  <a:lnTo>
                    <a:pt x="40008" y="41040"/>
                  </a:lnTo>
                  <a:lnTo>
                    <a:pt x="12910" y="33262"/>
                  </a:lnTo>
                  <a:close/>
                  <a:moveTo>
                    <a:pt x="68139" y="22216"/>
                  </a:moveTo>
                  <a:lnTo>
                    <a:pt x="95242" y="30017"/>
                  </a:lnTo>
                  <a:lnTo>
                    <a:pt x="74895" y="49630"/>
                  </a:lnTo>
                  <a:close/>
                  <a:moveTo>
                    <a:pt x="65250" y="22938"/>
                  </a:moveTo>
                  <a:lnTo>
                    <a:pt x="71962" y="50164"/>
                  </a:lnTo>
                  <a:lnTo>
                    <a:pt x="44997" y="42429"/>
                  </a:lnTo>
                  <a:close/>
                  <a:moveTo>
                    <a:pt x="100254" y="31461"/>
                  </a:moveTo>
                  <a:lnTo>
                    <a:pt x="127741" y="39373"/>
                  </a:lnTo>
                  <a:lnTo>
                    <a:pt x="107099" y="59231"/>
                  </a:lnTo>
                  <a:close/>
                  <a:moveTo>
                    <a:pt x="97343" y="32128"/>
                  </a:moveTo>
                  <a:lnTo>
                    <a:pt x="104094" y="59498"/>
                  </a:lnTo>
                  <a:lnTo>
                    <a:pt x="77001" y="51730"/>
                  </a:lnTo>
                  <a:close/>
                  <a:moveTo>
                    <a:pt x="11599" y="35995"/>
                  </a:moveTo>
                  <a:lnTo>
                    <a:pt x="39180" y="43907"/>
                  </a:lnTo>
                  <a:lnTo>
                    <a:pt x="18477" y="63832"/>
                  </a:lnTo>
                  <a:close/>
                  <a:moveTo>
                    <a:pt x="44131" y="45285"/>
                  </a:moveTo>
                  <a:lnTo>
                    <a:pt x="71228" y="53064"/>
                  </a:lnTo>
                  <a:lnTo>
                    <a:pt x="50892" y="72661"/>
                  </a:lnTo>
                  <a:close/>
                  <a:moveTo>
                    <a:pt x="41252" y="46046"/>
                  </a:moveTo>
                  <a:lnTo>
                    <a:pt x="48120" y="73922"/>
                  </a:lnTo>
                  <a:lnTo>
                    <a:pt x="20544" y="65966"/>
                  </a:lnTo>
                  <a:close/>
                  <a:moveTo>
                    <a:pt x="76112" y="54575"/>
                  </a:moveTo>
                  <a:lnTo>
                    <a:pt x="103699" y="62493"/>
                  </a:lnTo>
                  <a:lnTo>
                    <a:pt x="82974" y="82418"/>
                  </a:lnTo>
                  <a:close/>
                  <a:moveTo>
                    <a:pt x="73223" y="55281"/>
                  </a:moveTo>
                  <a:lnTo>
                    <a:pt x="80085" y="83129"/>
                  </a:lnTo>
                  <a:lnTo>
                    <a:pt x="52537" y="75183"/>
                  </a:lnTo>
                  <a:close/>
                  <a:moveTo>
                    <a:pt x="19716" y="68827"/>
                  </a:moveTo>
                  <a:lnTo>
                    <a:pt x="46792" y="76639"/>
                  </a:lnTo>
                  <a:lnTo>
                    <a:pt x="26478" y="96214"/>
                  </a:lnTo>
                  <a:close/>
                  <a:moveTo>
                    <a:pt x="52243" y="78200"/>
                  </a:moveTo>
                  <a:lnTo>
                    <a:pt x="79263" y="85996"/>
                  </a:lnTo>
                  <a:lnTo>
                    <a:pt x="58993" y="105498"/>
                  </a:lnTo>
                  <a:close/>
                  <a:moveTo>
                    <a:pt x="49242" y="78423"/>
                  </a:moveTo>
                  <a:lnTo>
                    <a:pt x="55988" y="105798"/>
                  </a:lnTo>
                  <a:lnTo>
                    <a:pt x="28901" y="98020"/>
                  </a:lnTo>
                  <a:close/>
                  <a:moveTo>
                    <a:pt x="27595" y="100759"/>
                  </a:moveTo>
                  <a:lnTo>
                    <a:pt x="55582" y="108771"/>
                  </a:lnTo>
                  <a:lnTo>
                    <a:pt x="34568" y="128985"/>
                  </a:lnTo>
                  <a:close/>
                </a:path>
              </a:pathLst>
            </a:custGeom>
            <a:solidFill>
              <a:srgbClr val="88817E"/>
            </a:solidFill>
            <a:ln>
              <a:noFill/>
            </a:ln>
          </p:spPr>
          <p:txBody>
            <a:bodyPr/>
            <a:lstStyle/>
            <a:p>
              <a:endParaRPr lang="da-DK"/>
            </a:p>
          </p:txBody>
        </p:sp>
        <p:sp>
          <p:nvSpPr>
            <p:cNvPr id="66" name="TextBox 66"/>
            <p:cNvSpPr txBox="1"/>
            <p:nvPr/>
          </p:nvSpPr>
          <p:spPr>
            <a:xfrm>
              <a:off x="7988618" y="4276249"/>
              <a:ext cx="134907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3D viewer trên web</a:t>
              </a:r>
            </a:p>
          </p:txBody>
        </p:sp>
        <p:sp>
          <p:nvSpPr>
            <p:cNvPr id="67" name="Rectangle 67"/>
            <p:cNvSpPr/>
            <p:nvPr/>
          </p:nvSpPr>
          <p:spPr>
            <a:xfrm>
              <a:off x="8001000" y="4524375"/>
              <a:ext cx="3429000" cy="9525"/>
            </a:xfrm>
            <a:prstGeom prst="rect">
              <a:avLst/>
            </a:prstGeom>
            <a:solidFill>
              <a:srgbClr val="88817E">
                <a:alpha val="20000"/>
              </a:srgbClr>
            </a:solidFill>
            <a:ln>
              <a:noFill/>
            </a:ln>
          </p:spPr>
          <p:txBody>
            <a:bodyPr/>
            <a:lstStyle/>
            <a:p>
              <a:endParaRPr lang="da-DK"/>
            </a:p>
          </p:txBody>
        </p:sp>
        <p:sp>
          <p:nvSpPr>
            <p:cNvPr id="68" name="TextBox 68"/>
            <p:cNvSpPr txBox="1"/>
            <p:nvPr/>
          </p:nvSpPr>
          <p:spPr>
            <a:xfrm>
              <a:off x="7986712" y="4641056"/>
              <a:ext cx="1883182" cy="228600"/>
            </a:xfrm>
            <a:prstGeom prst="rect">
              <a:avLst/>
            </a:prstGeom>
            <a:noFill/>
            <a:ln>
              <a:noFill/>
            </a:ln>
          </p:spPr>
          <p:txBody>
            <a:bodyPr wrap="none" lIns="0" tIns="0" rIns="0" bIns="0" anchor="t" anchorCtr="0">
              <a:spAutoFit/>
            </a:bodyPr>
            <a:lstStyle/>
            <a:p>
              <a:pPr algn="l"/>
              <a:r>
                <a:rPr lang="zh-CN" sz="1125" b="1" dirty="0">
                  <a:solidFill>
                    <a:srgbClr val="3C3C3B"/>
                  </a:solidFill>
                  <a:latin typeface="Segoe UI"/>
                  <a:ea typeface="Microsoft YaHei"/>
                  <a:cs typeface="Segoe UI"/>
                </a:rPr>
                <a:t>PyTorch3D / Mitsuba 3</a:t>
              </a:r>
            </a:p>
          </p:txBody>
        </p:sp>
        <p:sp>
          <p:nvSpPr>
            <p:cNvPr id="69" name="Freeform 69"/>
            <p:cNvSpPr/>
            <p:nvPr/>
          </p:nvSpPr>
          <p:spPr>
            <a:xfrm>
              <a:off x="9523428" y="4644466"/>
              <a:ext cx="106052" cy="104196"/>
            </a:xfrm>
            <a:custGeom>
              <a:avLst/>
              <a:gdLst/>
              <a:ahLst/>
              <a:cxnLst/>
              <a:rect l="l" t="t" r="r" b="b"/>
              <a:pathLst>
                <a:path w="106052" h="104196">
                  <a:moveTo>
                    <a:pt x="68275" y="3734"/>
                  </a:moveTo>
                  <a:lnTo>
                    <a:pt x="29087" y="42922"/>
                  </a:lnTo>
                  <a:cubicBezTo>
                    <a:pt x="43626" y="42921"/>
                    <a:pt x="57570" y="48696"/>
                    <a:pt x="67851" y="58976"/>
                  </a:cubicBezTo>
                  <a:cubicBezTo>
                    <a:pt x="78131" y="69257"/>
                    <a:pt x="83906" y="83201"/>
                    <a:pt x="83905" y="97740"/>
                  </a:cubicBezTo>
                  <a:cubicBezTo>
                    <a:pt x="106041" y="76071"/>
                    <a:pt x="106052" y="41038"/>
                    <a:pt x="84377" y="19825"/>
                  </a:cubicBezTo>
                  <a:lnTo>
                    <a:pt x="74687" y="29509"/>
                  </a:lnTo>
                  <a:cubicBezTo>
                    <a:pt x="90822" y="45650"/>
                    <a:pt x="90822" y="71926"/>
                    <a:pt x="74687" y="88061"/>
                  </a:cubicBezTo>
                  <a:cubicBezTo>
                    <a:pt x="58552" y="104196"/>
                    <a:pt x="32271" y="104196"/>
                    <a:pt x="16135" y="88061"/>
                  </a:cubicBezTo>
                  <a:cubicBezTo>
                    <a:pt x="0" y="71926"/>
                    <a:pt x="0" y="45645"/>
                    <a:pt x="16135" y="29509"/>
                  </a:cubicBezTo>
                  <a:lnTo>
                    <a:pt x="41955" y="3695"/>
                  </a:lnTo>
                  <a:lnTo>
                    <a:pt x="45189" y="0"/>
                  </a:lnTo>
                  <a:close/>
                  <a:moveTo>
                    <a:pt x="88100" y="25398"/>
                  </a:moveTo>
                  <a:cubicBezTo>
                    <a:pt x="92172" y="25398"/>
                    <a:pt x="95473" y="28699"/>
                    <a:pt x="95473" y="32771"/>
                  </a:cubicBezTo>
                  <a:cubicBezTo>
                    <a:pt x="89491" y="56665"/>
                    <a:pt x="65271" y="71185"/>
                    <a:pt x="41377" y="65203"/>
                  </a:cubicBezTo>
                  <a:cubicBezTo>
                    <a:pt x="17483" y="59220"/>
                    <a:pt x="2963" y="35001"/>
                    <a:pt x="8946" y="11107"/>
                  </a:cubicBezTo>
                  <a:close/>
                </a:path>
              </a:pathLst>
            </a:custGeom>
            <a:solidFill>
              <a:srgbClr val="88817E"/>
            </a:solidFill>
            <a:ln>
              <a:noFill/>
            </a:ln>
          </p:spPr>
          <p:txBody>
            <a:bodyPr/>
            <a:lstStyle/>
            <a:p>
              <a:endParaRPr lang="da-DK"/>
            </a:p>
          </p:txBody>
        </p:sp>
        <p:sp>
          <p:nvSpPr>
            <p:cNvPr id="70" name="TextBox 70"/>
            <p:cNvSpPr txBox="1"/>
            <p:nvPr/>
          </p:nvSpPr>
          <p:spPr>
            <a:xfrm>
              <a:off x="7988618" y="4847749"/>
              <a:ext cx="240282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Differentiable &amp; inverse rendering</a:t>
              </a:r>
            </a:p>
          </p:txBody>
        </p:sp>
      </p:grpSp>
      <p:sp>
        <p:nvSpPr>
          <p:cNvPr id="72" name="TextBox 72"/>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5</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slide(fromBottom)">
                                      <p:cBhvr>
                                        <p:cTn id="11" dur="400"/>
                                        <p:tgtEl>
                                          <p:spTgt spid="46"/>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slide(fromLeft)">
                                      <p:cBhvr>
                                        <p:cTn id="15"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6" grpId="0"/>
      <p:bldP spid="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005232" cy="722948"/>
            <a:chOff x="558165" y="458152"/>
            <a:chExt cx="6005232" cy="722948"/>
          </a:xfrm>
        </p:grpSpPr>
        <p:sp>
          <p:nvSpPr>
            <p:cNvPr id="4" name="TextBox 4"/>
            <p:cNvSpPr txBox="1"/>
            <p:nvPr/>
          </p:nvSpPr>
          <p:spPr>
            <a:xfrm>
              <a:off x="558165" y="458152"/>
              <a:ext cx="133016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05 / Open-Source</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86616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Video Diffusion &amp; Material Generation</a:t>
              </a:r>
            </a:p>
          </p:txBody>
        </p:sp>
      </p:grpSp>
      <p:grpSp>
        <p:nvGrpSpPr>
          <p:cNvPr id="36" name="Group 36"/>
          <p:cNvGrpSpPr/>
          <p:nvPr/>
        </p:nvGrpSpPr>
        <p:grpSpPr>
          <a:xfrm>
            <a:off x="571500" y="1238250"/>
            <a:ext cx="6858000" cy="5048250"/>
            <a:chOff x="571500" y="1238250"/>
            <a:chExt cx="6858000" cy="5048250"/>
          </a:xfrm>
        </p:grpSpPr>
        <p:sp>
          <p:nvSpPr>
            <p:cNvPr id="8" name="Rectangle 8"/>
            <p:cNvSpPr/>
            <p:nvPr/>
          </p:nvSpPr>
          <p:spPr>
            <a:xfrm>
              <a:off x="571500" y="1238250"/>
              <a:ext cx="6858000" cy="5048250"/>
            </a:xfrm>
            <a:prstGeom prst="roundRect">
              <a:avLst>
                <a:gd name="adj" fmla="val 1509"/>
              </a:avLst>
            </a:prstGeom>
            <a:solidFill>
              <a:srgbClr val="586A68">
                <a:alpha val="4000"/>
              </a:srgbClr>
            </a:solidFill>
            <a:ln>
              <a:noFill/>
            </a:ln>
          </p:spPr>
          <p:txBody>
            <a:bodyPr/>
            <a:lstStyle/>
            <a:p>
              <a:endParaRPr lang="da-DK"/>
            </a:p>
          </p:txBody>
        </p:sp>
        <p:sp>
          <p:nvSpPr>
            <p:cNvPr id="9" name="TextBox 9"/>
            <p:cNvSpPr txBox="1"/>
            <p:nvPr/>
          </p:nvSpPr>
          <p:spPr>
            <a:xfrm>
              <a:off x="748665" y="1410652"/>
              <a:ext cx="1258474"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VIDEO DIFFUSION</a:t>
              </a:r>
            </a:p>
          </p:txBody>
        </p:sp>
        <p:sp>
          <p:nvSpPr>
            <p:cNvPr id="10" name="Rectangle 10"/>
            <p:cNvSpPr/>
            <p:nvPr/>
          </p:nvSpPr>
          <p:spPr>
            <a:xfrm>
              <a:off x="762000" y="1619250"/>
              <a:ext cx="571500" cy="19050"/>
            </a:xfrm>
            <a:prstGeom prst="rect">
              <a:avLst/>
            </a:prstGeom>
            <a:solidFill>
              <a:srgbClr val="586A68"/>
            </a:solidFill>
            <a:ln>
              <a:noFill/>
            </a:ln>
          </p:spPr>
          <p:txBody>
            <a:bodyPr/>
            <a:lstStyle/>
            <a:p>
              <a:endParaRPr lang="da-DK"/>
            </a:p>
          </p:txBody>
        </p:sp>
        <p:sp>
          <p:nvSpPr>
            <p:cNvPr id="11" name="Rectangle 11"/>
            <p:cNvSpPr/>
            <p:nvPr/>
          </p:nvSpPr>
          <p:spPr>
            <a:xfrm>
              <a:off x="762000" y="1809750"/>
              <a:ext cx="3143250" cy="857250"/>
            </a:xfrm>
            <a:prstGeom prst="roundRect">
              <a:avLst>
                <a:gd name="adj" fmla="val 8889"/>
              </a:avLst>
            </a:prstGeom>
            <a:solidFill>
              <a:srgbClr val="586A68">
                <a:alpha val="8000"/>
              </a:srgbClr>
            </a:solidFill>
            <a:ln>
              <a:noFill/>
            </a:ln>
          </p:spPr>
          <p:txBody>
            <a:bodyPr/>
            <a:lstStyle/>
            <a:p>
              <a:endParaRPr lang="da-DK"/>
            </a:p>
          </p:txBody>
        </p:sp>
        <p:sp>
          <p:nvSpPr>
            <p:cNvPr id="12" name="TextBox 12"/>
            <p:cNvSpPr txBox="1"/>
            <p:nvPr/>
          </p:nvSpPr>
          <p:spPr>
            <a:xfrm>
              <a:off x="937260" y="1946910"/>
              <a:ext cx="1981124"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Stable Video Diffusion</a:t>
              </a:r>
            </a:p>
          </p:txBody>
        </p:sp>
        <p:sp>
          <p:nvSpPr>
            <p:cNvPr id="13" name="TextBox 13"/>
            <p:cNvSpPr txBox="1"/>
            <p:nvPr/>
          </p:nvSpPr>
          <p:spPr>
            <a:xfrm>
              <a:off x="940118" y="2180749"/>
              <a:ext cx="194002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Image-to-video 14-25 frame</a:t>
              </a:r>
            </a:p>
          </p:txBody>
        </p:sp>
        <p:sp>
          <p:nvSpPr>
            <p:cNvPr id="14" name="TextBox 14"/>
            <p:cNvSpPr txBox="1"/>
            <p:nvPr/>
          </p:nvSpPr>
          <p:spPr>
            <a:xfrm>
              <a:off x="941070" y="2379345"/>
              <a:ext cx="726091"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Stability AI</a:t>
              </a:r>
            </a:p>
          </p:txBody>
        </p:sp>
        <p:sp>
          <p:nvSpPr>
            <p:cNvPr id="15" name="Rectangle 15"/>
            <p:cNvSpPr/>
            <p:nvPr/>
          </p:nvSpPr>
          <p:spPr>
            <a:xfrm>
              <a:off x="4095750" y="1809750"/>
              <a:ext cx="3143250" cy="857250"/>
            </a:xfrm>
            <a:prstGeom prst="roundRect">
              <a:avLst>
                <a:gd name="adj" fmla="val 8889"/>
              </a:avLst>
            </a:prstGeom>
            <a:solidFill>
              <a:srgbClr val="586A68">
                <a:alpha val="8000"/>
              </a:srgbClr>
            </a:solidFill>
            <a:ln>
              <a:noFill/>
            </a:ln>
          </p:spPr>
          <p:txBody>
            <a:bodyPr/>
            <a:lstStyle/>
            <a:p>
              <a:endParaRPr lang="da-DK"/>
            </a:p>
          </p:txBody>
        </p:sp>
        <p:sp>
          <p:nvSpPr>
            <p:cNvPr id="16" name="TextBox 16"/>
            <p:cNvSpPr txBox="1"/>
            <p:nvPr/>
          </p:nvSpPr>
          <p:spPr>
            <a:xfrm>
              <a:off x="4271010" y="1946910"/>
              <a:ext cx="108861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AnimateDiff</a:t>
              </a:r>
            </a:p>
          </p:txBody>
        </p:sp>
        <p:sp>
          <p:nvSpPr>
            <p:cNvPr id="17" name="TextBox 17"/>
            <p:cNvSpPr txBox="1"/>
            <p:nvPr/>
          </p:nvSpPr>
          <p:spPr>
            <a:xfrm>
              <a:off x="4273868" y="2180749"/>
              <a:ext cx="156267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Plug-in animate cho SD</a:t>
              </a:r>
            </a:p>
          </p:txBody>
        </p:sp>
        <p:sp>
          <p:nvSpPr>
            <p:cNvPr id="18" name="TextBox 18"/>
            <p:cNvSpPr txBox="1"/>
            <p:nvPr/>
          </p:nvSpPr>
          <p:spPr>
            <a:xfrm>
              <a:off x="4274820" y="2379345"/>
              <a:ext cx="916686"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Motion module</a:t>
              </a:r>
            </a:p>
          </p:txBody>
        </p:sp>
        <p:sp>
          <p:nvSpPr>
            <p:cNvPr id="19" name="Rectangle 19"/>
            <p:cNvSpPr/>
            <p:nvPr/>
          </p:nvSpPr>
          <p:spPr>
            <a:xfrm>
              <a:off x="762000" y="2809875"/>
              <a:ext cx="3143250" cy="857250"/>
            </a:xfrm>
            <a:prstGeom prst="roundRect">
              <a:avLst>
                <a:gd name="adj" fmla="val 8889"/>
              </a:avLst>
            </a:prstGeom>
            <a:solidFill>
              <a:srgbClr val="586A68">
                <a:alpha val="8000"/>
              </a:srgbClr>
            </a:solidFill>
            <a:ln>
              <a:noFill/>
            </a:ln>
          </p:spPr>
          <p:txBody>
            <a:bodyPr/>
            <a:lstStyle/>
            <a:p>
              <a:endParaRPr lang="da-DK"/>
            </a:p>
          </p:txBody>
        </p:sp>
        <p:sp>
          <p:nvSpPr>
            <p:cNvPr id="20" name="TextBox 20"/>
            <p:cNvSpPr txBox="1"/>
            <p:nvPr/>
          </p:nvSpPr>
          <p:spPr>
            <a:xfrm>
              <a:off x="937260" y="2947035"/>
              <a:ext cx="89538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CogVideoX</a:t>
              </a:r>
            </a:p>
          </p:txBody>
        </p:sp>
        <p:sp>
          <p:nvSpPr>
            <p:cNvPr id="21" name="TextBox 21"/>
            <p:cNvSpPr txBox="1"/>
            <p:nvPr/>
          </p:nvSpPr>
          <p:spPr>
            <a:xfrm>
              <a:off x="940118" y="3180874"/>
              <a:ext cx="115683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open-weight</a:t>
              </a:r>
            </a:p>
          </p:txBody>
        </p:sp>
        <p:sp>
          <p:nvSpPr>
            <p:cNvPr id="22" name="TextBox 22"/>
            <p:cNvSpPr txBox="1"/>
            <p:nvPr/>
          </p:nvSpPr>
          <p:spPr>
            <a:xfrm>
              <a:off x="941070" y="3379470"/>
              <a:ext cx="502634"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Zhipu AI</a:t>
              </a:r>
            </a:p>
          </p:txBody>
        </p:sp>
        <p:sp>
          <p:nvSpPr>
            <p:cNvPr id="23" name="Rectangle 23"/>
            <p:cNvSpPr/>
            <p:nvPr/>
          </p:nvSpPr>
          <p:spPr>
            <a:xfrm>
              <a:off x="4095750" y="2809875"/>
              <a:ext cx="3143250" cy="857250"/>
            </a:xfrm>
            <a:prstGeom prst="roundRect">
              <a:avLst>
                <a:gd name="adj" fmla="val 8889"/>
              </a:avLst>
            </a:prstGeom>
            <a:solidFill>
              <a:srgbClr val="586A68">
                <a:alpha val="8000"/>
              </a:srgbClr>
            </a:solidFill>
            <a:ln>
              <a:noFill/>
            </a:ln>
          </p:spPr>
          <p:txBody>
            <a:bodyPr/>
            <a:lstStyle/>
            <a:p>
              <a:endParaRPr lang="da-DK"/>
            </a:p>
          </p:txBody>
        </p:sp>
        <p:sp>
          <p:nvSpPr>
            <p:cNvPr id="24" name="TextBox 24"/>
            <p:cNvSpPr txBox="1"/>
            <p:nvPr/>
          </p:nvSpPr>
          <p:spPr>
            <a:xfrm>
              <a:off x="4271010" y="2947035"/>
              <a:ext cx="1300239"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Hunyuan-Video</a:t>
              </a:r>
            </a:p>
          </p:txBody>
        </p:sp>
        <p:sp>
          <p:nvSpPr>
            <p:cNvPr id="25" name="TextBox 25"/>
            <p:cNvSpPr txBox="1"/>
            <p:nvPr/>
          </p:nvSpPr>
          <p:spPr>
            <a:xfrm>
              <a:off x="4273868" y="3180874"/>
              <a:ext cx="100019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SOTA open</a:t>
              </a:r>
            </a:p>
          </p:txBody>
        </p:sp>
        <p:sp>
          <p:nvSpPr>
            <p:cNvPr id="26" name="TextBox 26"/>
            <p:cNvSpPr txBox="1"/>
            <p:nvPr/>
          </p:nvSpPr>
          <p:spPr>
            <a:xfrm>
              <a:off x="4274820" y="3379470"/>
              <a:ext cx="528923"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Tencent</a:t>
              </a:r>
            </a:p>
          </p:txBody>
        </p:sp>
        <p:sp>
          <p:nvSpPr>
            <p:cNvPr id="27" name="Rectangle 27"/>
            <p:cNvSpPr/>
            <p:nvPr/>
          </p:nvSpPr>
          <p:spPr>
            <a:xfrm>
              <a:off x="762000" y="3810000"/>
              <a:ext cx="3143250" cy="857250"/>
            </a:xfrm>
            <a:prstGeom prst="roundRect">
              <a:avLst>
                <a:gd name="adj" fmla="val 8889"/>
              </a:avLst>
            </a:prstGeom>
            <a:solidFill>
              <a:srgbClr val="586A68">
                <a:alpha val="8000"/>
              </a:srgbClr>
            </a:solidFill>
            <a:ln>
              <a:noFill/>
            </a:ln>
          </p:spPr>
          <p:txBody>
            <a:bodyPr/>
            <a:lstStyle/>
            <a:p>
              <a:endParaRPr lang="da-DK"/>
            </a:p>
          </p:txBody>
        </p:sp>
        <p:sp>
          <p:nvSpPr>
            <p:cNvPr id="28" name="TextBox 28"/>
            <p:cNvSpPr txBox="1"/>
            <p:nvPr/>
          </p:nvSpPr>
          <p:spPr>
            <a:xfrm>
              <a:off x="937260" y="3947160"/>
              <a:ext cx="895388"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LTX-Video</a:t>
              </a:r>
            </a:p>
          </p:txBody>
        </p:sp>
        <p:sp>
          <p:nvSpPr>
            <p:cNvPr id="29" name="TextBox 29"/>
            <p:cNvSpPr txBox="1"/>
            <p:nvPr/>
          </p:nvSpPr>
          <p:spPr>
            <a:xfrm>
              <a:off x="940118" y="4180999"/>
              <a:ext cx="188306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Latent video, latency thấp</a:t>
              </a:r>
            </a:p>
          </p:txBody>
        </p:sp>
        <p:sp>
          <p:nvSpPr>
            <p:cNvPr id="30" name="TextBox 30"/>
            <p:cNvSpPr txBox="1"/>
            <p:nvPr/>
          </p:nvSpPr>
          <p:spPr>
            <a:xfrm>
              <a:off x="941070" y="4379595"/>
              <a:ext cx="680085"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Lightricks</a:t>
              </a:r>
            </a:p>
          </p:txBody>
        </p:sp>
        <p:sp>
          <p:nvSpPr>
            <p:cNvPr id="31" name="Rectangle 31"/>
            <p:cNvSpPr/>
            <p:nvPr/>
          </p:nvSpPr>
          <p:spPr>
            <a:xfrm>
              <a:off x="4095750" y="3810000"/>
              <a:ext cx="3143250" cy="857250"/>
            </a:xfrm>
            <a:prstGeom prst="roundRect">
              <a:avLst>
                <a:gd name="adj" fmla="val 8889"/>
              </a:avLst>
            </a:prstGeom>
            <a:solidFill>
              <a:srgbClr val="586A68">
                <a:alpha val="8000"/>
              </a:srgbClr>
            </a:solidFill>
            <a:ln>
              <a:noFill/>
            </a:ln>
          </p:spPr>
          <p:txBody>
            <a:bodyPr/>
            <a:lstStyle/>
            <a:p>
              <a:endParaRPr lang="da-DK"/>
            </a:p>
          </p:txBody>
        </p:sp>
        <p:sp>
          <p:nvSpPr>
            <p:cNvPr id="32" name="TextBox 32"/>
            <p:cNvSpPr txBox="1"/>
            <p:nvPr/>
          </p:nvSpPr>
          <p:spPr>
            <a:xfrm>
              <a:off x="4271010" y="3947160"/>
              <a:ext cx="683762"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Mochi-1</a:t>
              </a:r>
            </a:p>
          </p:txBody>
        </p:sp>
        <p:sp>
          <p:nvSpPr>
            <p:cNvPr id="33" name="TextBox 33"/>
            <p:cNvSpPr txBox="1"/>
            <p:nvPr/>
          </p:nvSpPr>
          <p:spPr>
            <a:xfrm>
              <a:off x="4273868" y="4180999"/>
              <a:ext cx="12921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T2V chất lượng cao</a:t>
              </a:r>
            </a:p>
          </p:txBody>
        </p:sp>
        <p:sp>
          <p:nvSpPr>
            <p:cNvPr id="34" name="TextBox 34"/>
            <p:cNvSpPr txBox="1"/>
            <p:nvPr/>
          </p:nvSpPr>
          <p:spPr>
            <a:xfrm>
              <a:off x="4274820" y="4379595"/>
              <a:ext cx="410623" cy="182880"/>
            </a:xfrm>
            <a:prstGeom prst="rect">
              <a:avLst/>
            </a:prstGeom>
            <a:noFill/>
            <a:ln>
              <a:noFill/>
            </a:ln>
          </p:spPr>
          <p:txBody>
            <a:bodyPr wrap="none" lIns="0" tIns="0" rIns="0" bIns="0" anchor="t" anchorCtr="0">
              <a:spAutoFit/>
            </a:bodyPr>
            <a:lstStyle/>
            <a:p>
              <a:pPr algn="l"/>
              <a:r>
                <a:rPr lang="zh-CN" sz="900" dirty="0">
                  <a:solidFill>
                    <a:srgbClr val="B6ADA4"/>
                  </a:solidFill>
                  <a:latin typeface="Segoe UI"/>
                  <a:ea typeface="Microsoft YaHei"/>
                  <a:cs typeface="Segoe UI"/>
                </a:rPr>
                <a:t>Genmo</a:t>
              </a:r>
            </a:p>
          </p:txBody>
        </p:sp>
        <p:sp>
          <p:nvSpPr>
            <p:cNvPr id="35" name="TextBox 35"/>
            <p:cNvSpPr txBox="1"/>
            <p:nvPr/>
          </p:nvSpPr>
          <p:spPr>
            <a:xfrm>
              <a:off x="749618" y="4942999"/>
              <a:ext cx="4923282"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Use case PIM: Reel TikTok/social từ ảnh tĩnh sản phẩm, video xoay 360°</a:t>
              </a:r>
            </a:p>
          </p:txBody>
        </p:sp>
      </p:grpSp>
      <p:grpSp>
        <p:nvGrpSpPr>
          <p:cNvPr id="55" name="Group 55"/>
          <p:cNvGrpSpPr/>
          <p:nvPr/>
        </p:nvGrpSpPr>
        <p:grpSpPr>
          <a:xfrm>
            <a:off x="7620000" y="1238250"/>
            <a:ext cx="4000500" cy="5048250"/>
            <a:chOff x="7620000" y="1238250"/>
            <a:chExt cx="4000500" cy="5048250"/>
          </a:xfrm>
        </p:grpSpPr>
        <p:sp>
          <p:nvSpPr>
            <p:cNvPr id="37" name="Rectangle 37"/>
            <p:cNvSpPr/>
            <p:nvPr/>
          </p:nvSpPr>
          <p:spPr>
            <a:xfrm>
              <a:off x="7620000" y="1238250"/>
              <a:ext cx="4000500" cy="5048250"/>
            </a:xfrm>
            <a:prstGeom prst="roundRect">
              <a:avLst>
                <a:gd name="adj" fmla="val 1905"/>
              </a:avLst>
            </a:prstGeom>
            <a:solidFill>
              <a:srgbClr val="C1856B">
                <a:alpha val="6000"/>
              </a:srgbClr>
            </a:solidFill>
            <a:ln>
              <a:noFill/>
            </a:ln>
          </p:spPr>
          <p:txBody>
            <a:bodyPr/>
            <a:lstStyle/>
            <a:p>
              <a:endParaRPr lang="da-DK"/>
            </a:p>
          </p:txBody>
        </p:sp>
        <p:sp>
          <p:nvSpPr>
            <p:cNvPr id="38" name="TextBox 38"/>
            <p:cNvSpPr txBox="1"/>
            <p:nvPr/>
          </p:nvSpPr>
          <p:spPr>
            <a:xfrm>
              <a:off x="7797165" y="1410652"/>
              <a:ext cx="1475851"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MATERIAL &amp; VECTOR</a:t>
              </a:r>
            </a:p>
          </p:txBody>
        </p:sp>
        <p:sp>
          <p:nvSpPr>
            <p:cNvPr id="39" name="Rectangle 39"/>
            <p:cNvSpPr/>
            <p:nvPr/>
          </p:nvSpPr>
          <p:spPr>
            <a:xfrm>
              <a:off x="7810500" y="1619250"/>
              <a:ext cx="571500" cy="19050"/>
            </a:xfrm>
            <a:prstGeom prst="rect">
              <a:avLst/>
            </a:prstGeom>
            <a:solidFill>
              <a:srgbClr val="C1856B"/>
            </a:solidFill>
            <a:ln>
              <a:noFill/>
            </a:ln>
          </p:spPr>
          <p:txBody>
            <a:bodyPr/>
            <a:lstStyle/>
            <a:p>
              <a:endParaRPr lang="da-DK"/>
            </a:p>
          </p:txBody>
        </p:sp>
        <p:sp>
          <p:nvSpPr>
            <p:cNvPr id="40" name="Rectangle 40"/>
            <p:cNvSpPr/>
            <p:nvPr/>
          </p:nvSpPr>
          <p:spPr>
            <a:xfrm>
              <a:off x="7810500" y="1809750"/>
              <a:ext cx="3619500" cy="952500"/>
            </a:xfrm>
            <a:prstGeom prst="roundRect">
              <a:avLst>
                <a:gd name="adj" fmla="val 8000"/>
              </a:avLst>
            </a:prstGeom>
            <a:solidFill>
              <a:srgbClr val="C1856B">
                <a:alpha val="10000"/>
              </a:srgbClr>
            </a:solidFill>
            <a:ln>
              <a:noFill/>
            </a:ln>
          </p:spPr>
          <p:txBody>
            <a:bodyPr/>
            <a:lstStyle/>
            <a:p>
              <a:endParaRPr lang="da-DK"/>
            </a:p>
          </p:txBody>
        </p:sp>
        <p:sp>
          <p:nvSpPr>
            <p:cNvPr id="41" name="TextBox 41"/>
            <p:cNvSpPr txBox="1"/>
            <p:nvPr/>
          </p:nvSpPr>
          <p:spPr>
            <a:xfrm>
              <a:off x="7985760" y="1965960"/>
              <a:ext cx="2312365"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MaPa / Material Diffusion</a:t>
              </a:r>
            </a:p>
          </p:txBody>
        </p:sp>
        <p:sp>
          <p:nvSpPr>
            <p:cNvPr id="42" name="TextBox 42"/>
            <p:cNvSpPr txBox="1"/>
            <p:nvPr/>
          </p:nvSpPr>
          <p:spPr>
            <a:xfrm>
              <a:off x="7988618" y="2228374"/>
              <a:ext cx="117107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Sinh texture PBR</a:t>
              </a:r>
            </a:p>
          </p:txBody>
        </p:sp>
        <p:sp>
          <p:nvSpPr>
            <p:cNvPr id="43" name="TextBox 43"/>
            <p:cNvSpPr txBox="1"/>
            <p:nvPr/>
          </p:nvSpPr>
          <p:spPr>
            <a:xfrm>
              <a:off x="7988618" y="2447449"/>
              <a:ext cx="195426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albedo / normal / roughness</a:t>
              </a:r>
            </a:p>
          </p:txBody>
        </p:sp>
        <p:sp>
          <p:nvSpPr>
            <p:cNvPr id="44" name="Rectangle 44"/>
            <p:cNvSpPr/>
            <p:nvPr/>
          </p:nvSpPr>
          <p:spPr>
            <a:xfrm>
              <a:off x="7810500" y="2905125"/>
              <a:ext cx="3619500" cy="952500"/>
            </a:xfrm>
            <a:prstGeom prst="roundRect">
              <a:avLst>
                <a:gd name="adj" fmla="val 8000"/>
              </a:avLst>
            </a:prstGeom>
            <a:solidFill>
              <a:srgbClr val="C1856B">
                <a:alpha val="10000"/>
              </a:srgbClr>
            </a:solidFill>
            <a:ln>
              <a:noFill/>
            </a:ln>
          </p:spPr>
          <p:txBody>
            <a:bodyPr/>
            <a:lstStyle/>
            <a:p>
              <a:endParaRPr lang="da-DK"/>
            </a:p>
          </p:txBody>
        </p:sp>
        <p:sp>
          <p:nvSpPr>
            <p:cNvPr id="45" name="TextBox 45"/>
            <p:cNvSpPr txBox="1"/>
            <p:nvPr/>
          </p:nvSpPr>
          <p:spPr>
            <a:xfrm>
              <a:off x="7985760" y="3061335"/>
              <a:ext cx="2109940"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Vector Magic / VTracer</a:t>
              </a:r>
            </a:p>
          </p:txBody>
        </p:sp>
        <p:sp>
          <p:nvSpPr>
            <p:cNvPr id="46" name="TextBox 46"/>
            <p:cNvSpPr txBox="1"/>
            <p:nvPr/>
          </p:nvSpPr>
          <p:spPr>
            <a:xfrm>
              <a:off x="7988618" y="3323749"/>
              <a:ext cx="206818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Raster-to-vector conversion</a:t>
              </a:r>
            </a:p>
          </p:txBody>
        </p:sp>
        <p:sp>
          <p:nvSpPr>
            <p:cNvPr id="47" name="TextBox 47"/>
            <p:cNvSpPr txBox="1"/>
            <p:nvPr/>
          </p:nvSpPr>
          <p:spPr>
            <a:xfrm>
              <a:off x="7988618" y="3542824"/>
              <a:ext cx="179051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SVG output cho web/print</a:t>
              </a:r>
            </a:p>
          </p:txBody>
        </p:sp>
        <p:sp>
          <p:nvSpPr>
            <p:cNvPr id="48" name="Rectangle 48"/>
            <p:cNvSpPr/>
            <p:nvPr/>
          </p:nvSpPr>
          <p:spPr>
            <a:xfrm>
              <a:off x="7810500" y="4000500"/>
              <a:ext cx="3619500" cy="952500"/>
            </a:xfrm>
            <a:prstGeom prst="roundRect">
              <a:avLst>
                <a:gd name="adj" fmla="val 8000"/>
              </a:avLst>
            </a:prstGeom>
            <a:solidFill>
              <a:srgbClr val="C1856B">
                <a:alpha val="10000"/>
              </a:srgbClr>
            </a:solidFill>
            <a:ln>
              <a:noFill/>
            </a:ln>
          </p:spPr>
          <p:txBody>
            <a:bodyPr/>
            <a:lstStyle/>
            <a:p>
              <a:endParaRPr lang="da-DK"/>
            </a:p>
          </p:txBody>
        </p:sp>
        <p:sp>
          <p:nvSpPr>
            <p:cNvPr id="49" name="TextBox 49"/>
            <p:cNvSpPr txBox="1"/>
            <p:nvPr/>
          </p:nvSpPr>
          <p:spPr>
            <a:xfrm>
              <a:off x="7985760" y="4156710"/>
              <a:ext cx="2073135" cy="243840"/>
            </a:xfrm>
            <a:prstGeom prst="rect">
              <a:avLst/>
            </a:prstGeom>
            <a:noFill/>
            <a:ln>
              <a:noFill/>
            </a:ln>
          </p:spPr>
          <p:txBody>
            <a:bodyPr wrap="none" lIns="0" tIns="0" rIns="0" bIns="0" anchor="t" anchorCtr="0">
              <a:spAutoFit/>
            </a:bodyPr>
            <a:lstStyle/>
            <a:p>
              <a:pPr algn="l"/>
              <a:r>
                <a:rPr lang="zh-CN" sz="1200" b="1" dirty="0">
                  <a:solidFill>
                    <a:srgbClr val="C1856B"/>
                  </a:solidFill>
                  <a:latin typeface="Segoe UI"/>
                  <a:ea typeface="Microsoft YaHei"/>
                  <a:cs typeface="Segoe UI"/>
                </a:rPr>
                <a:t>DiffSVG / VectorFusion</a:t>
              </a:r>
            </a:p>
          </p:txBody>
        </p:sp>
        <p:sp>
          <p:nvSpPr>
            <p:cNvPr id="50" name="TextBox 50"/>
            <p:cNvSpPr txBox="1"/>
            <p:nvPr/>
          </p:nvSpPr>
          <p:spPr>
            <a:xfrm>
              <a:off x="7988618" y="4419124"/>
              <a:ext cx="12565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Diffusion sinh SVG</a:t>
              </a:r>
            </a:p>
          </p:txBody>
        </p:sp>
        <p:sp>
          <p:nvSpPr>
            <p:cNvPr id="51" name="TextBox 51"/>
            <p:cNvSpPr txBox="1"/>
            <p:nvPr/>
          </p:nvSpPr>
          <p:spPr>
            <a:xfrm>
              <a:off x="7988618" y="4638199"/>
              <a:ext cx="207530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AI-generated vector graphics</a:t>
              </a:r>
            </a:p>
          </p:txBody>
        </p:sp>
        <p:sp>
          <p:nvSpPr>
            <p:cNvPr id="52" name="TextBox 52"/>
            <p:cNvSpPr txBox="1"/>
            <p:nvPr/>
          </p:nvSpPr>
          <p:spPr>
            <a:xfrm>
              <a:off x="7798118" y="5228749"/>
              <a:ext cx="96459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Use case PIM:</a:t>
              </a:r>
            </a:p>
          </p:txBody>
        </p:sp>
        <p:sp>
          <p:nvSpPr>
            <p:cNvPr id="53" name="TextBox 53"/>
            <p:cNvSpPr txBox="1"/>
            <p:nvPr/>
          </p:nvSpPr>
          <p:spPr>
            <a:xfrm>
              <a:off x="7798118" y="5419249"/>
              <a:ext cx="159827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 gỗ, da cho</a:t>
              </a:r>
            </a:p>
          </p:txBody>
        </p:sp>
        <p:sp>
          <p:nvSpPr>
            <p:cNvPr id="54" name="TextBox 54"/>
            <p:cNvSpPr txBox="1"/>
            <p:nvPr/>
          </p:nvSpPr>
          <p:spPr>
            <a:xfrm>
              <a:off x="7798118" y="5609749"/>
              <a:ext cx="134907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3D viewer trên web</a:t>
              </a:r>
            </a:p>
          </p:txBody>
        </p:sp>
      </p:grpSp>
      <p:sp>
        <p:nvSpPr>
          <p:cNvPr id="56" name="TextBox 56"/>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6</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randombar(horizontal)">
                                      <p:cBhvr>
                                        <p:cTn id="11"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441661" cy="722948"/>
            <a:chOff x="558165" y="458152"/>
            <a:chExt cx="5441661" cy="722948"/>
          </a:xfrm>
        </p:grpSpPr>
        <p:sp>
          <p:nvSpPr>
            <p:cNvPr id="4" name="TextBox 4"/>
            <p:cNvSpPr txBox="1"/>
            <p:nvPr/>
          </p:nvSpPr>
          <p:spPr>
            <a:xfrm>
              <a:off x="558165" y="458152"/>
              <a:ext cx="142984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06 / API Thương Mại</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302596"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API Thương Mại — Image Generation</a:t>
              </a:r>
            </a:p>
          </p:txBody>
        </p:sp>
      </p:grpSp>
      <p:grpSp>
        <p:nvGrpSpPr>
          <p:cNvPr id="13" name="Group 13"/>
          <p:cNvGrpSpPr/>
          <p:nvPr/>
        </p:nvGrpSpPr>
        <p:grpSpPr>
          <a:xfrm>
            <a:off x="571500" y="1238250"/>
            <a:ext cx="11049000" cy="342900"/>
            <a:chOff x="571500" y="1238250"/>
            <a:chExt cx="11049000" cy="342900"/>
          </a:xfrm>
        </p:grpSpPr>
        <p:sp>
          <p:nvSpPr>
            <p:cNvPr id="8" name="Rectangle 8"/>
            <p:cNvSpPr/>
            <p:nvPr/>
          </p:nvSpPr>
          <p:spPr>
            <a:xfrm>
              <a:off x="571500" y="1238250"/>
              <a:ext cx="11049000" cy="342900"/>
            </a:xfrm>
            <a:prstGeom prst="rect">
              <a:avLst/>
            </a:prstGeom>
            <a:solidFill>
              <a:srgbClr val="586A68"/>
            </a:solidFill>
            <a:ln>
              <a:noFill/>
            </a:ln>
          </p:spPr>
          <p:txBody>
            <a:bodyPr/>
            <a:lstStyle/>
            <a:p>
              <a:endParaRPr lang="da-DK"/>
            </a:p>
          </p:txBody>
        </p:sp>
        <p:sp>
          <p:nvSpPr>
            <p:cNvPr id="9" name="TextBox 9"/>
            <p:cNvSpPr txBox="1"/>
            <p:nvPr/>
          </p:nvSpPr>
          <p:spPr>
            <a:xfrm>
              <a:off x="748665" y="1353502"/>
              <a:ext cx="55803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Vendor</a:t>
              </a:r>
            </a:p>
          </p:txBody>
        </p:sp>
        <p:sp>
          <p:nvSpPr>
            <p:cNvPr id="10" name="TextBox 10"/>
            <p:cNvSpPr txBox="1"/>
            <p:nvPr/>
          </p:nvSpPr>
          <p:spPr>
            <a:xfrm>
              <a:off x="2463165" y="1353502"/>
              <a:ext cx="46142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Model</a:t>
              </a:r>
            </a:p>
          </p:txBody>
        </p:sp>
        <p:sp>
          <p:nvSpPr>
            <p:cNvPr id="11" name="TextBox 11"/>
            <p:cNvSpPr txBox="1"/>
            <p:nvPr/>
          </p:nvSpPr>
          <p:spPr>
            <a:xfrm>
              <a:off x="5034915" y="1353502"/>
              <a:ext cx="80761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Điểm mạnh</a:t>
              </a:r>
            </a:p>
          </p:txBody>
        </p:sp>
        <p:sp>
          <p:nvSpPr>
            <p:cNvPr id="12" name="TextBox 12"/>
            <p:cNvSpPr txBox="1"/>
            <p:nvPr/>
          </p:nvSpPr>
          <p:spPr>
            <a:xfrm>
              <a:off x="9321165" y="1353502"/>
              <a:ext cx="60634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License</a:t>
              </a:r>
            </a:p>
          </p:txBody>
        </p:sp>
      </p:grpSp>
      <p:grpSp>
        <p:nvGrpSpPr>
          <p:cNvPr id="71" name="Group 71"/>
          <p:cNvGrpSpPr/>
          <p:nvPr/>
        </p:nvGrpSpPr>
        <p:grpSpPr>
          <a:xfrm>
            <a:off x="571500" y="1581150"/>
            <a:ext cx="11049000" cy="4286250"/>
            <a:chOff x="571500" y="1581150"/>
            <a:chExt cx="11049000" cy="4286250"/>
          </a:xfrm>
        </p:grpSpPr>
        <p:sp>
          <p:nvSpPr>
            <p:cNvPr id="14" name="Rectangle 14"/>
            <p:cNvSpPr/>
            <p:nvPr/>
          </p:nvSpPr>
          <p:spPr>
            <a:xfrm>
              <a:off x="571500" y="1581150"/>
              <a:ext cx="11049000" cy="476250"/>
            </a:xfrm>
            <a:prstGeom prst="rect">
              <a:avLst/>
            </a:prstGeom>
            <a:solidFill>
              <a:srgbClr val="F6F5EE"/>
            </a:solidFill>
            <a:ln>
              <a:noFill/>
            </a:ln>
          </p:spPr>
          <p:txBody>
            <a:bodyPr/>
            <a:lstStyle/>
            <a:p>
              <a:endParaRPr lang="da-DK"/>
            </a:p>
          </p:txBody>
        </p:sp>
        <p:sp>
          <p:nvSpPr>
            <p:cNvPr id="15" name="Freeform 15"/>
            <p:cNvSpPr/>
            <p:nvPr/>
          </p:nvSpPr>
          <p:spPr>
            <a:xfrm>
              <a:off x="759028" y="1692684"/>
              <a:ext cx="215463" cy="212400"/>
            </a:xfrm>
            <a:custGeom>
              <a:avLst/>
              <a:gdLst/>
              <a:ahLst/>
              <a:cxnLst/>
              <a:rect l="l" t="t" r="r" b="b"/>
              <a:pathLst>
                <a:path w="215463" h="212400">
                  <a:moveTo>
                    <a:pt x="197521" y="88516"/>
                  </a:moveTo>
                  <a:cubicBezTo>
                    <a:pt x="202261" y="74242"/>
                    <a:pt x="200620" y="58617"/>
                    <a:pt x="193019" y="45639"/>
                  </a:cubicBezTo>
                  <a:cubicBezTo>
                    <a:pt x="181588" y="25743"/>
                    <a:pt x="158615" y="15509"/>
                    <a:pt x="136180" y="20318"/>
                  </a:cubicBezTo>
                  <a:cubicBezTo>
                    <a:pt x="123536" y="6254"/>
                    <a:pt x="104352" y="0"/>
                    <a:pt x="85849" y="3910"/>
                  </a:cubicBezTo>
                  <a:cubicBezTo>
                    <a:pt x="67346" y="7820"/>
                    <a:pt x="52333" y="21301"/>
                    <a:pt x="46460" y="39278"/>
                  </a:cubicBezTo>
                  <a:cubicBezTo>
                    <a:pt x="31723" y="42300"/>
                    <a:pt x="19003" y="51527"/>
                    <a:pt x="11555" y="64599"/>
                  </a:cubicBezTo>
                  <a:cubicBezTo>
                    <a:pt x="0" y="84463"/>
                    <a:pt x="2622" y="109520"/>
                    <a:pt x="18040" y="126561"/>
                  </a:cubicBezTo>
                  <a:cubicBezTo>
                    <a:pt x="13282" y="140829"/>
                    <a:pt x="14908" y="156455"/>
                    <a:pt x="22502" y="169437"/>
                  </a:cubicBezTo>
                  <a:cubicBezTo>
                    <a:pt x="33946" y="189340"/>
                    <a:pt x="56934" y="199574"/>
                    <a:pt x="79382" y="194759"/>
                  </a:cubicBezTo>
                  <a:cubicBezTo>
                    <a:pt x="89367" y="206003"/>
                    <a:pt x="103711" y="212400"/>
                    <a:pt x="118748" y="212316"/>
                  </a:cubicBezTo>
                  <a:cubicBezTo>
                    <a:pt x="141745" y="212337"/>
                    <a:pt x="162118" y="197491"/>
                    <a:pt x="169143" y="175594"/>
                  </a:cubicBezTo>
                  <a:cubicBezTo>
                    <a:pt x="183878" y="172567"/>
                    <a:pt x="196596" y="163340"/>
                    <a:pt x="204048" y="150272"/>
                  </a:cubicBezTo>
                  <a:cubicBezTo>
                    <a:pt x="215463" y="130443"/>
                    <a:pt x="212829" y="105522"/>
                    <a:pt x="197521" y="88517"/>
                  </a:cubicBezTo>
                  <a:close/>
                  <a:moveTo>
                    <a:pt x="118748" y="198601"/>
                  </a:moveTo>
                  <a:cubicBezTo>
                    <a:pt x="109569" y="198615"/>
                    <a:pt x="100678" y="195398"/>
                    <a:pt x="93633" y="189513"/>
                  </a:cubicBezTo>
                  <a:lnTo>
                    <a:pt x="94872" y="188811"/>
                  </a:lnTo>
                  <a:lnTo>
                    <a:pt x="136593" y="164729"/>
                  </a:lnTo>
                  <a:cubicBezTo>
                    <a:pt x="138705" y="163490"/>
                    <a:pt x="140008" y="161229"/>
                    <a:pt x="140022" y="158780"/>
                  </a:cubicBezTo>
                  <a:lnTo>
                    <a:pt x="140022" y="99958"/>
                  </a:lnTo>
                  <a:lnTo>
                    <a:pt x="157659" y="110162"/>
                  </a:lnTo>
                  <a:cubicBezTo>
                    <a:pt x="157836" y="110251"/>
                    <a:pt x="157959" y="110420"/>
                    <a:pt x="157991" y="110616"/>
                  </a:cubicBezTo>
                  <a:lnTo>
                    <a:pt x="157991" y="159359"/>
                  </a:lnTo>
                  <a:cubicBezTo>
                    <a:pt x="157944" y="181013"/>
                    <a:pt x="140402" y="198555"/>
                    <a:pt x="118748" y="198601"/>
                  </a:cubicBezTo>
                  <a:close/>
                  <a:moveTo>
                    <a:pt x="34398" y="162581"/>
                  </a:moveTo>
                  <a:cubicBezTo>
                    <a:pt x="29795" y="154632"/>
                    <a:pt x="28142" y="145314"/>
                    <a:pt x="29730" y="136267"/>
                  </a:cubicBezTo>
                  <a:lnTo>
                    <a:pt x="30970" y="137011"/>
                  </a:lnTo>
                  <a:lnTo>
                    <a:pt x="72732" y="161094"/>
                  </a:lnTo>
                  <a:cubicBezTo>
                    <a:pt x="74836" y="162328"/>
                    <a:pt x="77443" y="162328"/>
                    <a:pt x="79547" y="161094"/>
                  </a:cubicBezTo>
                  <a:lnTo>
                    <a:pt x="130562" y="131683"/>
                  </a:lnTo>
                  <a:lnTo>
                    <a:pt x="130562" y="152047"/>
                  </a:lnTo>
                  <a:cubicBezTo>
                    <a:pt x="130552" y="152261"/>
                    <a:pt x="130446" y="152459"/>
                    <a:pt x="130272" y="152584"/>
                  </a:cubicBezTo>
                  <a:lnTo>
                    <a:pt x="88015" y="176956"/>
                  </a:lnTo>
                  <a:cubicBezTo>
                    <a:pt x="69237" y="187773"/>
                    <a:pt x="45246" y="181341"/>
                    <a:pt x="34398" y="162581"/>
                  </a:cubicBezTo>
                  <a:close/>
                  <a:moveTo>
                    <a:pt x="23411" y="71704"/>
                  </a:moveTo>
                  <a:cubicBezTo>
                    <a:pt x="28046" y="63704"/>
                    <a:pt x="35362" y="57603"/>
                    <a:pt x="44064" y="54479"/>
                  </a:cubicBezTo>
                  <a:lnTo>
                    <a:pt x="44064" y="104048"/>
                  </a:lnTo>
                  <a:cubicBezTo>
                    <a:pt x="44032" y="106487"/>
                    <a:pt x="45330" y="108750"/>
                    <a:pt x="47451" y="109955"/>
                  </a:cubicBezTo>
                  <a:lnTo>
                    <a:pt x="98218" y="139242"/>
                  </a:lnTo>
                  <a:lnTo>
                    <a:pt x="80580" y="149445"/>
                  </a:lnTo>
                  <a:cubicBezTo>
                    <a:pt x="80386" y="149547"/>
                    <a:pt x="80154" y="149547"/>
                    <a:pt x="79960" y="149445"/>
                  </a:cubicBezTo>
                  <a:lnTo>
                    <a:pt x="37786" y="125115"/>
                  </a:lnTo>
                  <a:cubicBezTo>
                    <a:pt x="19045" y="114252"/>
                    <a:pt x="12618" y="90279"/>
                    <a:pt x="23411" y="71498"/>
                  </a:cubicBezTo>
                  <a:close/>
                  <a:moveTo>
                    <a:pt x="168317" y="105370"/>
                  </a:moveTo>
                  <a:lnTo>
                    <a:pt x="117385" y="75794"/>
                  </a:lnTo>
                  <a:lnTo>
                    <a:pt x="134982" y="65631"/>
                  </a:lnTo>
                  <a:cubicBezTo>
                    <a:pt x="135176" y="65528"/>
                    <a:pt x="135408" y="65528"/>
                    <a:pt x="135602" y="65631"/>
                  </a:cubicBezTo>
                  <a:lnTo>
                    <a:pt x="177776" y="90002"/>
                  </a:lnTo>
                  <a:cubicBezTo>
                    <a:pt x="190940" y="97598"/>
                    <a:pt x="198534" y="112111"/>
                    <a:pt x="197270" y="127256"/>
                  </a:cubicBezTo>
                  <a:cubicBezTo>
                    <a:pt x="196006" y="142401"/>
                    <a:pt x="186110" y="155454"/>
                    <a:pt x="171870" y="160762"/>
                  </a:cubicBezTo>
                  <a:lnTo>
                    <a:pt x="171870" y="111193"/>
                  </a:lnTo>
                  <a:cubicBezTo>
                    <a:pt x="171795" y="108761"/>
                    <a:pt x="170445" y="106548"/>
                    <a:pt x="168316" y="105369"/>
                  </a:cubicBezTo>
                  <a:close/>
                  <a:moveTo>
                    <a:pt x="185873" y="78975"/>
                  </a:moveTo>
                  <a:lnTo>
                    <a:pt x="184633" y="78231"/>
                  </a:lnTo>
                  <a:lnTo>
                    <a:pt x="142954" y="53942"/>
                  </a:lnTo>
                  <a:cubicBezTo>
                    <a:pt x="140837" y="52700"/>
                    <a:pt x="138214" y="52700"/>
                    <a:pt x="136097" y="53942"/>
                  </a:cubicBezTo>
                  <a:lnTo>
                    <a:pt x="85125" y="83352"/>
                  </a:lnTo>
                  <a:lnTo>
                    <a:pt x="85125" y="62989"/>
                  </a:lnTo>
                  <a:cubicBezTo>
                    <a:pt x="85103" y="62778"/>
                    <a:pt x="85198" y="62572"/>
                    <a:pt x="85373" y="62452"/>
                  </a:cubicBezTo>
                  <a:lnTo>
                    <a:pt x="127547" y="38121"/>
                  </a:lnTo>
                  <a:cubicBezTo>
                    <a:pt x="140743" y="30519"/>
                    <a:pt x="157143" y="31229"/>
                    <a:pt x="169632" y="39941"/>
                  </a:cubicBezTo>
                  <a:cubicBezTo>
                    <a:pt x="182122" y="48654"/>
                    <a:pt x="188451" y="63800"/>
                    <a:pt x="185874" y="78809"/>
                  </a:cubicBezTo>
                  <a:close/>
                  <a:moveTo>
                    <a:pt x="75499" y="115076"/>
                  </a:moveTo>
                  <a:lnTo>
                    <a:pt x="57861" y="104914"/>
                  </a:lnTo>
                  <a:cubicBezTo>
                    <a:pt x="57683" y="104807"/>
                    <a:pt x="57561" y="104625"/>
                    <a:pt x="57530" y="104419"/>
                  </a:cubicBezTo>
                  <a:lnTo>
                    <a:pt x="57530" y="55801"/>
                  </a:lnTo>
                  <a:cubicBezTo>
                    <a:pt x="57549" y="40575"/>
                    <a:pt x="66366" y="26732"/>
                    <a:pt x="80154" y="20276"/>
                  </a:cubicBezTo>
                  <a:cubicBezTo>
                    <a:pt x="93943" y="13819"/>
                    <a:pt x="110221" y="15912"/>
                    <a:pt x="121929" y="25646"/>
                  </a:cubicBezTo>
                  <a:lnTo>
                    <a:pt x="120689" y="26349"/>
                  </a:lnTo>
                  <a:lnTo>
                    <a:pt x="78969" y="50430"/>
                  </a:lnTo>
                  <a:cubicBezTo>
                    <a:pt x="76857" y="51669"/>
                    <a:pt x="75554" y="53929"/>
                    <a:pt x="75540" y="56378"/>
                  </a:cubicBezTo>
                  <a:close/>
                  <a:moveTo>
                    <a:pt x="85082" y="94423"/>
                  </a:moveTo>
                  <a:lnTo>
                    <a:pt x="107801" y="81328"/>
                  </a:lnTo>
                  <a:lnTo>
                    <a:pt x="130562" y="94423"/>
                  </a:lnTo>
                  <a:lnTo>
                    <a:pt x="130562" y="120611"/>
                  </a:lnTo>
                  <a:lnTo>
                    <a:pt x="107884" y="133706"/>
                  </a:lnTo>
                  <a:lnTo>
                    <a:pt x="85124" y="120611"/>
                  </a:lnTo>
                  <a:close/>
                </a:path>
              </a:pathLst>
            </a:custGeom>
            <a:solidFill>
              <a:srgbClr val="3C3C3B"/>
            </a:solidFill>
            <a:ln>
              <a:noFill/>
            </a:ln>
          </p:spPr>
          <p:txBody>
            <a:bodyPr/>
            <a:lstStyle/>
            <a:p>
              <a:endParaRPr lang="da-DK"/>
            </a:p>
          </p:txBody>
        </p:sp>
        <p:sp>
          <p:nvSpPr>
            <p:cNvPr id="16" name="TextBox 16"/>
            <p:cNvSpPr txBox="1"/>
            <p:nvPr/>
          </p:nvSpPr>
          <p:spPr>
            <a:xfrm>
              <a:off x="1034415" y="1715452"/>
              <a:ext cx="54998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OpenAI</a:t>
              </a:r>
            </a:p>
          </p:txBody>
        </p:sp>
        <p:sp>
          <p:nvSpPr>
            <p:cNvPr id="17" name="TextBox 17"/>
            <p:cNvSpPr txBox="1"/>
            <p:nvPr/>
          </p:nvSpPr>
          <p:spPr>
            <a:xfrm>
              <a:off x="2464118" y="1666399"/>
              <a:ext cx="181898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gpt-image-1, gpt-image-2</a:t>
              </a:r>
            </a:p>
          </p:txBody>
        </p:sp>
        <p:sp>
          <p:nvSpPr>
            <p:cNvPr id="18" name="TextBox 18"/>
            <p:cNvSpPr txBox="1"/>
            <p:nvPr/>
          </p:nvSpPr>
          <p:spPr>
            <a:xfrm>
              <a:off x="2465070" y="1845945"/>
              <a:ext cx="128473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gpt-image-1.5, mini</a:t>
              </a:r>
            </a:p>
          </p:txBody>
        </p:sp>
        <p:sp>
          <p:nvSpPr>
            <p:cNvPr id="19" name="TextBox 19"/>
            <p:cNvSpPr txBox="1"/>
            <p:nvPr/>
          </p:nvSpPr>
          <p:spPr>
            <a:xfrm>
              <a:off x="5035868" y="1723549"/>
              <a:ext cx="355625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SOTA, prompt-following xuất sắc, render text giỏi</a:t>
              </a:r>
            </a:p>
          </p:txBody>
        </p:sp>
        <p:sp>
          <p:nvSpPr>
            <p:cNvPr id="20" name="TextBox 20"/>
            <p:cNvSpPr txBox="1"/>
            <p:nvPr/>
          </p:nvSpPr>
          <p:spPr>
            <a:xfrm>
              <a:off x="9322118" y="17235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21" name="Rectangle 21"/>
            <p:cNvSpPr/>
            <p:nvPr/>
          </p:nvSpPr>
          <p:spPr>
            <a:xfrm>
              <a:off x="571500" y="2057400"/>
              <a:ext cx="11049000" cy="476250"/>
            </a:xfrm>
            <a:prstGeom prst="rect">
              <a:avLst/>
            </a:prstGeom>
            <a:solidFill>
              <a:srgbClr val="586A68">
                <a:alpha val="4000"/>
              </a:srgbClr>
            </a:solidFill>
            <a:ln>
              <a:noFill/>
            </a:ln>
          </p:spPr>
          <p:txBody>
            <a:bodyPr/>
            <a:lstStyle/>
            <a:p>
              <a:endParaRPr lang="da-DK"/>
            </a:p>
          </p:txBody>
        </p:sp>
        <p:sp>
          <p:nvSpPr>
            <p:cNvPr id="22" name="Freeform 22"/>
            <p:cNvSpPr/>
            <p:nvPr/>
          </p:nvSpPr>
          <p:spPr>
            <a:xfrm>
              <a:off x="764680" y="2171700"/>
              <a:ext cx="204189" cy="209550"/>
            </a:xfrm>
            <a:custGeom>
              <a:avLst/>
              <a:gdLst/>
              <a:ahLst/>
              <a:cxnLst/>
              <a:rect l="l" t="t" r="r" b="b"/>
              <a:pathLst>
                <a:path w="204189" h="209550">
                  <a:moveTo>
                    <a:pt x="106286" y="95345"/>
                  </a:moveTo>
                  <a:lnTo>
                    <a:pt x="106286" y="123984"/>
                  </a:lnTo>
                  <a:lnTo>
                    <a:pt x="174739" y="123984"/>
                  </a:lnTo>
                  <a:cubicBezTo>
                    <a:pt x="172643" y="140049"/>
                    <a:pt x="167291" y="151810"/>
                    <a:pt x="159136" y="160070"/>
                  </a:cubicBezTo>
                  <a:cubicBezTo>
                    <a:pt x="149121" y="170085"/>
                    <a:pt x="133527" y="181025"/>
                    <a:pt x="106286" y="181025"/>
                  </a:cubicBezTo>
                  <a:cubicBezTo>
                    <a:pt x="64140" y="181025"/>
                    <a:pt x="31197" y="147034"/>
                    <a:pt x="31197" y="104889"/>
                  </a:cubicBezTo>
                  <a:cubicBezTo>
                    <a:pt x="31197" y="62743"/>
                    <a:pt x="64140" y="28752"/>
                    <a:pt x="106286" y="28752"/>
                  </a:cubicBezTo>
                  <a:cubicBezTo>
                    <a:pt x="128987" y="28752"/>
                    <a:pt x="145637" y="37719"/>
                    <a:pt x="157861" y="49244"/>
                  </a:cubicBezTo>
                  <a:lnTo>
                    <a:pt x="178004" y="29101"/>
                  </a:lnTo>
                  <a:cubicBezTo>
                    <a:pt x="161004" y="12573"/>
                    <a:pt x="138181" y="0"/>
                    <a:pt x="106286" y="0"/>
                  </a:cubicBezTo>
                  <a:cubicBezTo>
                    <a:pt x="48546" y="0"/>
                    <a:pt x="0" y="47035"/>
                    <a:pt x="0" y="104775"/>
                  </a:cubicBezTo>
                  <a:cubicBezTo>
                    <a:pt x="0" y="162515"/>
                    <a:pt x="48546" y="209550"/>
                    <a:pt x="106286" y="209550"/>
                  </a:cubicBezTo>
                  <a:cubicBezTo>
                    <a:pt x="137482" y="209550"/>
                    <a:pt x="161004" y="199308"/>
                    <a:pt x="179392" y="180213"/>
                  </a:cubicBezTo>
                  <a:cubicBezTo>
                    <a:pt x="198252" y="161353"/>
                    <a:pt x="204189" y="134697"/>
                    <a:pt x="204189" y="113271"/>
                  </a:cubicBezTo>
                  <a:cubicBezTo>
                    <a:pt x="204189" y="106635"/>
                    <a:pt x="203726" y="100462"/>
                    <a:pt x="202679" y="95345"/>
                  </a:cubicBezTo>
                  <a:lnTo>
                    <a:pt x="106286" y="95345"/>
                  </a:lnTo>
                  <a:close/>
                </a:path>
              </a:pathLst>
            </a:custGeom>
            <a:solidFill>
              <a:srgbClr val="3C3C3B"/>
            </a:solidFill>
            <a:ln>
              <a:noFill/>
            </a:ln>
          </p:spPr>
          <p:txBody>
            <a:bodyPr/>
            <a:lstStyle/>
            <a:p>
              <a:endParaRPr lang="da-DK"/>
            </a:p>
          </p:txBody>
        </p:sp>
        <p:sp>
          <p:nvSpPr>
            <p:cNvPr id="23" name="TextBox 23"/>
            <p:cNvSpPr txBox="1"/>
            <p:nvPr/>
          </p:nvSpPr>
          <p:spPr>
            <a:xfrm>
              <a:off x="1034415" y="2191702"/>
              <a:ext cx="517781"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Google</a:t>
              </a:r>
            </a:p>
          </p:txBody>
        </p:sp>
        <p:sp>
          <p:nvSpPr>
            <p:cNvPr id="24" name="TextBox 24"/>
            <p:cNvSpPr txBox="1"/>
            <p:nvPr/>
          </p:nvSpPr>
          <p:spPr>
            <a:xfrm>
              <a:off x="2464118" y="2142649"/>
              <a:ext cx="131347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Imagen 3, Imagen 4</a:t>
              </a:r>
            </a:p>
          </p:txBody>
        </p:sp>
        <p:sp>
          <p:nvSpPr>
            <p:cNvPr id="25" name="TextBox 25"/>
            <p:cNvSpPr txBox="1"/>
            <p:nvPr/>
          </p:nvSpPr>
          <p:spPr>
            <a:xfrm>
              <a:off x="2465070" y="2322195"/>
              <a:ext cx="60779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Vertex AI</a:t>
              </a:r>
            </a:p>
          </p:txBody>
        </p:sp>
        <p:sp>
          <p:nvSpPr>
            <p:cNvPr id="26" name="TextBox 26"/>
            <p:cNvSpPr txBox="1"/>
            <p:nvPr/>
          </p:nvSpPr>
          <p:spPr>
            <a:xfrm>
              <a:off x="5035868" y="2199799"/>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Photorealistic, brand-safe</a:t>
              </a:r>
            </a:p>
          </p:txBody>
        </p:sp>
        <p:sp>
          <p:nvSpPr>
            <p:cNvPr id="27" name="TextBox 27"/>
            <p:cNvSpPr txBox="1"/>
            <p:nvPr/>
          </p:nvSpPr>
          <p:spPr>
            <a:xfrm>
              <a:off x="9322118" y="2199799"/>
              <a:ext cx="12565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(TOS)</a:t>
              </a:r>
            </a:p>
          </p:txBody>
        </p:sp>
        <p:sp>
          <p:nvSpPr>
            <p:cNvPr id="28" name="Rectangle 28"/>
            <p:cNvSpPr/>
            <p:nvPr/>
          </p:nvSpPr>
          <p:spPr>
            <a:xfrm>
              <a:off x="571500" y="2533650"/>
              <a:ext cx="11049000" cy="476250"/>
            </a:xfrm>
            <a:prstGeom prst="rect">
              <a:avLst/>
            </a:prstGeom>
            <a:solidFill>
              <a:srgbClr val="F6F5EE"/>
            </a:solidFill>
            <a:ln>
              <a:noFill/>
            </a:ln>
          </p:spPr>
          <p:txBody>
            <a:bodyPr/>
            <a:lstStyle/>
            <a:p>
              <a:endParaRPr lang="da-DK"/>
            </a:p>
          </p:txBody>
        </p:sp>
        <p:sp>
          <p:nvSpPr>
            <p:cNvPr id="29" name="TextBox 29"/>
            <p:cNvSpPr txBox="1"/>
            <p:nvPr/>
          </p:nvSpPr>
          <p:spPr>
            <a:xfrm>
              <a:off x="748665" y="2667952"/>
              <a:ext cx="888128"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Stability AI</a:t>
              </a:r>
            </a:p>
          </p:txBody>
        </p:sp>
        <p:sp>
          <p:nvSpPr>
            <p:cNvPr id="30" name="TextBox 30"/>
            <p:cNvSpPr txBox="1"/>
            <p:nvPr/>
          </p:nvSpPr>
          <p:spPr>
            <a:xfrm>
              <a:off x="2464118" y="2618899"/>
              <a:ext cx="17193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Stable Image Ultra, Core</a:t>
              </a:r>
            </a:p>
          </p:txBody>
        </p:sp>
        <p:sp>
          <p:nvSpPr>
            <p:cNvPr id="31" name="TextBox 31"/>
            <p:cNvSpPr txBox="1"/>
            <p:nvPr/>
          </p:nvSpPr>
          <p:spPr>
            <a:xfrm>
              <a:off x="2465070" y="2798445"/>
              <a:ext cx="78524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SD3.5 based</a:t>
              </a:r>
            </a:p>
          </p:txBody>
        </p:sp>
        <p:sp>
          <p:nvSpPr>
            <p:cNvPr id="32" name="TextBox 32"/>
            <p:cNvSpPr txBox="1"/>
            <p:nvPr/>
          </p:nvSpPr>
          <p:spPr>
            <a:xfrm>
              <a:off x="5035868" y="2676049"/>
              <a:ext cx="18118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Self-host được, giá hợp lý</a:t>
              </a:r>
            </a:p>
          </p:txBody>
        </p:sp>
        <p:sp>
          <p:nvSpPr>
            <p:cNvPr id="33" name="TextBox 33"/>
            <p:cNvSpPr txBox="1"/>
            <p:nvPr/>
          </p:nvSpPr>
          <p:spPr>
            <a:xfrm>
              <a:off x="9322118" y="2676049"/>
              <a:ext cx="130635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Community License</a:t>
              </a:r>
            </a:p>
          </p:txBody>
        </p:sp>
        <p:sp>
          <p:nvSpPr>
            <p:cNvPr id="34" name="Rectangle 34"/>
            <p:cNvSpPr/>
            <p:nvPr/>
          </p:nvSpPr>
          <p:spPr>
            <a:xfrm>
              <a:off x="571500" y="3009900"/>
              <a:ext cx="11049000" cy="476250"/>
            </a:xfrm>
            <a:prstGeom prst="rect">
              <a:avLst/>
            </a:prstGeom>
            <a:solidFill>
              <a:srgbClr val="586A68">
                <a:alpha val="4000"/>
              </a:srgbClr>
            </a:solidFill>
            <a:ln>
              <a:noFill/>
            </a:ln>
          </p:spPr>
          <p:txBody>
            <a:bodyPr/>
            <a:lstStyle/>
            <a:p>
              <a:endParaRPr lang="da-DK"/>
            </a:p>
          </p:txBody>
        </p:sp>
        <p:sp>
          <p:nvSpPr>
            <p:cNvPr id="35" name="Freeform 35"/>
            <p:cNvSpPr/>
            <p:nvPr/>
          </p:nvSpPr>
          <p:spPr>
            <a:xfrm>
              <a:off x="792239" y="3123876"/>
              <a:ext cx="149680" cy="210075"/>
            </a:xfrm>
            <a:custGeom>
              <a:avLst/>
              <a:gdLst/>
              <a:ahLst/>
              <a:cxnLst/>
              <a:rect l="l" t="t" r="r" b="b"/>
              <a:pathLst>
                <a:path w="149680" h="210075">
                  <a:moveTo>
                    <a:pt x="69315" y="207665"/>
                  </a:moveTo>
                  <a:cubicBezTo>
                    <a:pt x="70660" y="208320"/>
                    <a:pt x="71987" y="209009"/>
                    <a:pt x="73279" y="209743"/>
                  </a:cubicBezTo>
                  <a:cubicBezTo>
                    <a:pt x="74859" y="210075"/>
                    <a:pt x="76510" y="209778"/>
                    <a:pt x="77863" y="208896"/>
                  </a:cubicBezTo>
                  <a:lnTo>
                    <a:pt x="81233" y="206704"/>
                  </a:lnTo>
                  <a:cubicBezTo>
                    <a:pt x="70389" y="199449"/>
                    <a:pt x="58340" y="195782"/>
                    <a:pt x="46326" y="192717"/>
                  </a:cubicBezTo>
                  <a:lnTo>
                    <a:pt x="69315" y="207665"/>
                  </a:lnTo>
                  <a:close/>
                  <a:moveTo>
                    <a:pt x="3874" y="157172"/>
                  </a:moveTo>
                  <a:cubicBezTo>
                    <a:pt x="3215" y="156498"/>
                    <a:pt x="2568" y="155811"/>
                    <a:pt x="1936" y="155111"/>
                  </a:cubicBezTo>
                  <a:cubicBezTo>
                    <a:pt x="642" y="156406"/>
                    <a:pt x="0" y="158216"/>
                    <a:pt x="190" y="160037"/>
                  </a:cubicBezTo>
                  <a:cubicBezTo>
                    <a:pt x="379" y="161859"/>
                    <a:pt x="1380" y="163497"/>
                    <a:pt x="2914" y="164498"/>
                  </a:cubicBezTo>
                  <a:lnTo>
                    <a:pt x="23031" y="177577"/>
                  </a:lnTo>
                  <a:cubicBezTo>
                    <a:pt x="31928" y="181262"/>
                    <a:pt x="41235" y="183567"/>
                    <a:pt x="50395" y="185819"/>
                  </a:cubicBezTo>
                  <a:cubicBezTo>
                    <a:pt x="64679" y="189338"/>
                    <a:pt x="78335" y="192717"/>
                    <a:pt x="90157" y="200907"/>
                  </a:cubicBezTo>
                  <a:lnTo>
                    <a:pt x="96242" y="196952"/>
                  </a:lnTo>
                  <a:cubicBezTo>
                    <a:pt x="82787" y="186841"/>
                    <a:pt x="67193" y="182964"/>
                    <a:pt x="52019" y="179227"/>
                  </a:cubicBezTo>
                  <a:cubicBezTo>
                    <a:pt x="34216" y="174835"/>
                    <a:pt x="17399" y="170697"/>
                    <a:pt x="3874" y="157172"/>
                  </a:cubicBezTo>
                  <a:close/>
                  <a:moveTo>
                    <a:pt x="16220" y="145629"/>
                  </a:moveTo>
                  <a:lnTo>
                    <a:pt x="10414" y="149401"/>
                  </a:lnTo>
                  <a:cubicBezTo>
                    <a:pt x="10615" y="149611"/>
                    <a:pt x="10798" y="149829"/>
                    <a:pt x="11008" y="150039"/>
                  </a:cubicBezTo>
                  <a:cubicBezTo>
                    <a:pt x="25868" y="164899"/>
                    <a:pt x="44405" y="169466"/>
                    <a:pt x="62321" y="173884"/>
                  </a:cubicBezTo>
                  <a:cubicBezTo>
                    <a:pt x="77846" y="177708"/>
                    <a:pt x="92610" y="181358"/>
                    <a:pt x="105105" y="191189"/>
                  </a:cubicBezTo>
                  <a:lnTo>
                    <a:pt x="111059" y="187312"/>
                  </a:lnTo>
                  <a:cubicBezTo>
                    <a:pt x="96984" y="175464"/>
                    <a:pt x="80220" y="171299"/>
                    <a:pt x="63954" y="167292"/>
                  </a:cubicBezTo>
                  <a:cubicBezTo>
                    <a:pt x="46326" y="162952"/>
                    <a:pt x="29675" y="158831"/>
                    <a:pt x="16220" y="145629"/>
                  </a:cubicBezTo>
                  <a:close/>
                  <a:moveTo>
                    <a:pt x="81722" y="163825"/>
                  </a:moveTo>
                  <a:cubicBezTo>
                    <a:pt x="95657" y="167423"/>
                    <a:pt x="108754" y="171718"/>
                    <a:pt x="119852" y="181602"/>
                  </a:cubicBezTo>
                  <a:lnTo>
                    <a:pt x="125702" y="177795"/>
                  </a:lnTo>
                  <a:cubicBezTo>
                    <a:pt x="112744" y="165606"/>
                    <a:pt x="97185" y="160743"/>
                    <a:pt x="81722" y="156814"/>
                  </a:cubicBezTo>
                  <a:lnTo>
                    <a:pt x="81722" y="163825"/>
                  </a:lnTo>
                  <a:close/>
                  <a:moveTo>
                    <a:pt x="87817" y="143420"/>
                  </a:moveTo>
                  <a:cubicBezTo>
                    <a:pt x="85782" y="142925"/>
                    <a:pt x="83751" y="142419"/>
                    <a:pt x="81722" y="141901"/>
                  </a:cubicBezTo>
                  <a:lnTo>
                    <a:pt x="81722" y="148904"/>
                  </a:lnTo>
                  <a:lnTo>
                    <a:pt x="86193" y="150012"/>
                  </a:lnTo>
                  <a:cubicBezTo>
                    <a:pt x="103996" y="154404"/>
                    <a:pt x="120812" y="158552"/>
                    <a:pt x="134337" y="172068"/>
                  </a:cubicBezTo>
                  <a:lnTo>
                    <a:pt x="134398" y="172146"/>
                  </a:lnTo>
                  <a:lnTo>
                    <a:pt x="140187" y="168383"/>
                  </a:lnTo>
                  <a:cubicBezTo>
                    <a:pt x="139829" y="168016"/>
                    <a:pt x="139497" y="167632"/>
                    <a:pt x="139130" y="167265"/>
                  </a:cubicBezTo>
                  <a:cubicBezTo>
                    <a:pt x="124270" y="152414"/>
                    <a:pt x="105742" y="147838"/>
                    <a:pt x="87817" y="143420"/>
                  </a:cubicBezTo>
                  <a:close/>
                  <a:moveTo>
                    <a:pt x="81722" y="126586"/>
                  </a:moveTo>
                  <a:lnTo>
                    <a:pt x="81722" y="133711"/>
                  </a:lnTo>
                  <a:cubicBezTo>
                    <a:pt x="87171" y="135370"/>
                    <a:pt x="92680" y="136741"/>
                    <a:pt x="98128" y="138086"/>
                  </a:cubicBezTo>
                  <a:cubicBezTo>
                    <a:pt x="115931" y="142469"/>
                    <a:pt x="132748" y="146616"/>
                    <a:pt x="146264" y="160141"/>
                  </a:cubicBezTo>
                  <a:cubicBezTo>
                    <a:pt x="146936" y="160813"/>
                    <a:pt x="147600" y="161511"/>
                    <a:pt x="148237" y="162227"/>
                  </a:cubicBezTo>
                  <a:cubicBezTo>
                    <a:pt x="149680" y="159435"/>
                    <a:pt x="148784" y="156003"/>
                    <a:pt x="146159" y="154273"/>
                  </a:cubicBezTo>
                  <a:lnTo>
                    <a:pt x="119406" y="136881"/>
                  </a:lnTo>
                  <a:cubicBezTo>
                    <a:pt x="112910" y="134741"/>
                    <a:pt x="106292" y="133100"/>
                    <a:pt x="99752" y="131485"/>
                  </a:cubicBezTo>
                  <a:cubicBezTo>
                    <a:pt x="93688" y="130057"/>
                    <a:pt x="87675" y="128423"/>
                    <a:pt x="81722" y="126586"/>
                  </a:cubicBezTo>
                  <a:close/>
                  <a:moveTo>
                    <a:pt x="67351" y="153208"/>
                  </a:moveTo>
                  <a:cubicBezTo>
                    <a:pt x="54027" y="149716"/>
                    <a:pt x="41506" y="145455"/>
                    <a:pt x="30810" y="136138"/>
                  </a:cubicBezTo>
                  <a:lnTo>
                    <a:pt x="24925" y="139971"/>
                  </a:lnTo>
                  <a:cubicBezTo>
                    <a:pt x="37490" y="151549"/>
                    <a:pt x="52438" y="156386"/>
                    <a:pt x="67351" y="160219"/>
                  </a:cubicBezTo>
                  <a:lnTo>
                    <a:pt x="67351" y="153208"/>
                  </a:lnTo>
                  <a:close/>
                  <a:moveTo>
                    <a:pt x="67351" y="137736"/>
                  </a:moveTo>
                  <a:cubicBezTo>
                    <a:pt x="59531" y="135226"/>
                    <a:pt x="52179" y="131441"/>
                    <a:pt x="45592" y="126534"/>
                  </a:cubicBezTo>
                  <a:lnTo>
                    <a:pt x="39603" y="130428"/>
                  </a:lnTo>
                  <a:cubicBezTo>
                    <a:pt x="48116" y="137448"/>
                    <a:pt x="57598" y="141718"/>
                    <a:pt x="67351" y="144878"/>
                  </a:cubicBezTo>
                  <a:lnTo>
                    <a:pt x="67351" y="137736"/>
                  </a:lnTo>
                  <a:close/>
                  <a:moveTo>
                    <a:pt x="67351" y="120745"/>
                  </a:moveTo>
                  <a:cubicBezTo>
                    <a:pt x="65016" y="119562"/>
                    <a:pt x="62754" y="118241"/>
                    <a:pt x="60575" y="116790"/>
                  </a:cubicBezTo>
                  <a:lnTo>
                    <a:pt x="54455" y="120771"/>
                  </a:lnTo>
                  <a:cubicBezTo>
                    <a:pt x="58488" y="123714"/>
                    <a:pt x="62810" y="126246"/>
                    <a:pt x="67351" y="128324"/>
                  </a:cubicBezTo>
                  <a:lnTo>
                    <a:pt x="67351" y="120745"/>
                  </a:lnTo>
                  <a:close/>
                  <a:moveTo>
                    <a:pt x="98198" y="123094"/>
                  </a:moveTo>
                  <a:lnTo>
                    <a:pt x="81722" y="112389"/>
                  </a:lnTo>
                  <a:lnTo>
                    <a:pt x="81722" y="117462"/>
                  </a:lnTo>
                  <a:cubicBezTo>
                    <a:pt x="87083" y="119706"/>
                    <a:pt x="92584" y="121592"/>
                    <a:pt x="98198" y="123094"/>
                  </a:cubicBezTo>
                  <a:close/>
                  <a:moveTo>
                    <a:pt x="146159" y="45709"/>
                  </a:moveTo>
                  <a:lnTo>
                    <a:pt x="77863" y="1302"/>
                  </a:lnTo>
                  <a:cubicBezTo>
                    <a:pt x="75836" y="0"/>
                    <a:pt x="73237" y="0"/>
                    <a:pt x="71210" y="1302"/>
                  </a:cubicBezTo>
                  <a:lnTo>
                    <a:pt x="2914" y="45709"/>
                  </a:lnTo>
                  <a:cubicBezTo>
                    <a:pt x="1182" y="46833"/>
                    <a:pt x="137" y="48757"/>
                    <a:pt x="137" y="50821"/>
                  </a:cubicBezTo>
                  <a:cubicBezTo>
                    <a:pt x="137" y="52885"/>
                    <a:pt x="1182" y="54809"/>
                    <a:pt x="2914" y="55933"/>
                  </a:cubicBezTo>
                  <a:lnTo>
                    <a:pt x="67351" y="97817"/>
                  </a:lnTo>
                  <a:lnTo>
                    <a:pt x="67351" y="67362"/>
                  </a:lnTo>
                  <a:cubicBezTo>
                    <a:pt x="67341" y="65380"/>
                    <a:pt x="65736" y="63775"/>
                    <a:pt x="63753" y="63765"/>
                  </a:cubicBezTo>
                  <a:lnTo>
                    <a:pt x="59012" y="63765"/>
                  </a:lnTo>
                  <a:cubicBezTo>
                    <a:pt x="57733" y="63756"/>
                    <a:pt x="56555" y="63069"/>
                    <a:pt x="55916" y="61961"/>
                  </a:cubicBezTo>
                  <a:cubicBezTo>
                    <a:pt x="55277" y="60854"/>
                    <a:pt x="55272" y="59490"/>
                    <a:pt x="55904" y="58378"/>
                  </a:cubicBezTo>
                  <a:lnTo>
                    <a:pt x="71419" y="31494"/>
                  </a:lnTo>
                  <a:cubicBezTo>
                    <a:pt x="72062" y="30380"/>
                    <a:pt x="73250" y="29693"/>
                    <a:pt x="74536" y="29693"/>
                  </a:cubicBezTo>
                  <a:cubicBezTo>
                    <a:pt x="75823" y="29693"/>
                    <a:pt x="77011" y="30380"/>
                    <a:pt x="77653" y="31494"/>
                  </a:cubicBezTo>
                  <a:lnTo>
                    <a:pt x="93169" y="58378"/>
                  </a:lnTo>
                  <a:cubicBezTo>
                    <a:pt x="93801" y="59490"/>
                    <a:pt x="93796" y="60854"/>
                    <a:pt x="93157" y="61961"/>
                  </a:cubicBezTo>
                  <a:cubicBezTo>
                    <a:pt x="92518" y="63069"/>
                    <a:pt x="91340" y="63756"/>
                    <a:pt x="90061" y="63765"/>
                  </a:cubicBezTo>
                  <a:lnTo>
                    <a:pt x="85320" y="63765"/>
                  </a:lnTo>
                  <a:cubicBezTo>
                    <a:pt x="83337" y="63775"/>
                    <a:pt x="81732" y="65380"/>
                    <a:pt x="81722" y="67362"/>
                  </a:cubicBezTo>
                  <a:lnTo>
                    <a:pt x="81722" y="97817"/>
                  </a:lnTo>
                  <a:lnTo>
                    <a:pt x="146159" y="55933"/>
                  </a:lnTo>
                  <a:cubicBezTo>
                    <a:pt x="147883" y="54804"/>
                    <a:pt x="148921" y="52882"/>
                    <a:pt x="148921" y="50821"/>
                  </a:cubicBezTo>
                  <a:cubicBezTo>
                    <a:pt x="148921" y="48760"/>
                    <a:pt x="147883" y="46838"/>
                    <a:pt x="146159" y="45709"/>
                  </a:cubicBezTo>
                  <a:close/>
                </a:path>
              </a:pathLst>
            </a:custGeom>
            <a:solidFill>
              <a:srgbClr val="3C3C3B"/>
            </a:solidFill>
            <a:ln>
              <a:noFill/>
            </a:ln>
          </p:spPr>
          <p:txBody>
            <a:bodyPr/>
            <a:lstStyle/>
            <a:p>
              <a:endParaRPr lang="da-DK"/>
            </a:p>
          </p:txBody>
        </p:sp>
        <p:sp>
          <p:nvSpPr>
            <p:cNvPr id="36" name="TextBox 36"/>
            <p:cNvSpPr txBox="1"/>
            <p:nvPr/>
          </p:nvSpPr>
          <p:spPr>
            <a:xfrm>
              <a:off x="1034415" y="3144202"/>
              <a:ext cx="1411443"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Black Forest Labs</a:t>
              </a:r>
            </a:p>
          </p:txBody>
        </p:sp>
        <p:sp>
          <p:nvSpPr>
            <p:cNvPr id="37" name="TextBox 37"/>
            <p:cNvSpPr txBox="1"/>
            <p:nvPr/>
          </p:nvSpPr>
          <p:spPr>
            <a:xfrm>
              <a:off x="2464118" y="3095149"/>
              <a:ext cx="18474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FLUX 1.1 Pro, FLUX Kontext</a:t>
              </a:r>
            </a:p>
          </p:txBody>
        </p:sp>
        <p:sp>
          <p:nvSpPr>
            <p:cNvPr id="38" name="TextBox 38"/>
            <p:cNvSpPr txBox="1"/>
            <p:nvPr/>
          </p:nvSpPr>
          <p:spPr>
            <a:xfrm>
              <a:off x="2465070" y="3274695"/>
              <a:ext cx="63407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Edit mode</a:t>
              </a:r>
            </a:p>
          </p:txBody>
        </p:sp>
        <p:sp>
          <p:nvSpPr>
            <p:cNvPr id="39" name="TextBox 39"/>
            <p:cNvSpPr txBox="1"/>
            <p:nvPr/>
          </p:nvSpPr>
          <p:spPr>
            <a:xfrm>
              <a:off x="5035868" y="3152299"/>
              <a:ext cx="280154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Edit ảnh giữ context tốt, chất lượng top</a:t>
              </a:r>
            </a:p>
          </p:txBody>
        </p:sp>
        <p:sp>
          <p:nvSpPr>
            <p:cNvPr id="40" name="TextBox 40"/>
            <p:cNvSpPr txBox="1"/>
            <p:nvPr/>
          </p:nvSpPr>
          <p:spPr>
            <a:xfrm>
              <a:off x="9322118" y="315229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41" name="Rectangle 41"/>
            <p:cNvSpPr/>
            <p:nvPr/>
          </p:nvSpPr>
          <p:spPr>
            <a:xfrm>
              <a:off x="571500" y="3486150"/>
              <a:ext cx="11049000" cy="476250"/>
            </a:xfrm>
            <a:prstGeom prst="rect">
              <a:avLst/>
            </a:prstGeom>
            <a:solidFill>
              <a:srgbClr val="F6F5EE"/>
            </a:solidFill>
            <a:ln>
              <a:noFill/>
            </a:ln>
          </p:spPr>
          <p:txBody>
            <a:bodyPr/>
            <a:lstStyle/>
            <a:p>
              <a:endParaRPr lang="da-DK"/>
            </a:p>
          </p:txBody>
        </p:sp>
        <p:sp>
          <p:nvSpPr>
            <p:cNvPr id="42" name="Freeform 42"/>
            <p:cNvSpPr/>
            <p:nvPr/>
          </p:nvSpPr>
          <p:spPr>
            <a:xfrm>
              <a:off x="762000" y="3612464"/>
              <a:ext cx="209550" cy="185522"/>
            </a:xfrm>
            <a:custGeom>
              <a:avLst/>
              <a:gdLst/>
              <a:ahLst/>
              <a:cxnLst/>
              <a:rect l="l" t="t" r="r" b="b"/>
              <a:pathLst>
                <a:path w="209550" h="185522">
                  <a:moveTo>
                    <a:pt x="121941" y="185522"/>
                  </a:moveTo>
                  <a:lnTo>
                    <a:pt x="107185" y="148143"/>
                  </a:lnTo>
                  <a:lnTo>
                    <a:pt x="70915" y="148143"/>
                  </a:lnTo>
                  <a:lnTo>
                    <a:pt x="104897" y="68305"/>
                  </a:lnTo>
                  <a:lnTo>
                    <a:pt x="154334" y="185522"/>
                  </a:lnTo>
                  <a:close/>
                  <a:moveTo>
                    <a:pt x="77568" y="0"/>
                  </a:moveTo>
                  <a:lnTo>
                    <a:pt x="0" y="0"/>
                  </a:lnTo>
                  <a:lnTo>
                    <a:pt x="0" y="185522"/>
                  </a:lnTo>
                  <a:close/>
                  <a:moveTo>
                    <a:pt x="209550" y="0"/>
                  </a:moveTo>
                  <a:lnTo>
                    <a:pt x="131982" y="0"/>
                  </a:lnTo>
                  <a:lnTo>
                    <a:pt x="209550" y="185522"/>
                  </a:lnTo>
                  <a:close/>
                </a:path>
              </a:pathLst>
            </a:custGeom>
            <a:solidFill>
              <a:srgbClr val="3C3C3B"/>
            </a:solidFill>
            <a:ln>
              <a:noFill/>
            </a:ln>
          </p:spPr>
          <p:txBody>
            <a:bodyPr/>
            <a:lstStyle/>
            <a:p>
              <a:endParaRPr lang="da-DK"/>
            </a:p>
          </p:txBody>
        </p:sp>
        <p:sp>
          <p:nvSpPr>
            <p:cNvPr id="43" name="TextBox 43"/>
            <p:cNvSpPr txBox="1"/>
            <p:nvPr/>
          </p:nvSpPr>
          <p:spPr>
            <a:xfrm>
              <a:off x="1034415" y="3620452"/>
              <a:ext cx="4694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Adobe</a:t>
              </a:r>
            </a:p>
          </p:txBody>
        </p:sp>
        <p:sp>
          <p:nvSpPr>
            <p:cNvPr id="44" name="TextBox 44"/>
            <p:cNvSpPr txBox="1"/>
            <p:nvPr/>
          </p:nvSpPr>
          <p:spPr>
            <a:xfrm>
              <a:off x="2464118" y="3571399"/>
              <a:ext cx="105003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Firefly Image 3</a:t>
              </a:r>
            </a:p>
          </p:txBody>
        </p:sp>
        <p:sp>
          <p:nvSpPr>
            <p:cNvPr id="45" name="TextBox 45"/>
            <p:cNvSpPr txBox="1"/>
            <p:nvPr/>
          </p:nvSpPr>
          <p:spPr>
            <a:xfrm>
              <a:off x="2465070" y="3750945"/>
              <a:ext cx="129787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Adobe Stock trained</a:t>
              </a:r>
            </a:p>
          </p:txBody>
        </p:sp>
        <p:sp>
          <p:nvSpPr>
            <p:cNvPr id="46" name="TextBox 46"/>
            <p:cNvSpPr txBox="1"/>
            <p:nvPr/>
          </p:nvSpPr>
          <p:spPr>
            <a:xfrm>
              <a:off x="5035868" y="3628549"/>
              <a:ext cx="232450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 trên licensed data, IP-safe</a:t>
              </a:r>
            </a:p>
          </p:txBody>
        </p:sp>
        <p:sp>
          <p:nvSpPr>
            <p:cNvPr id="47" name="TextBox 47"/>
            <p:cNvSpPr txBox="1"/>
            <p:nvPr/>
          </p:nvSpPr>
          <p:spPr>
            <a:xfrm>
              <a:off x="9322118" y="3628549"/>
              <a:ext cx="1256514"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(TOS)</a:t>
              </a:r>
            </a:p>
          </p:txBody>
        </p:sp>
        <p:sp>
          <p:nvSpPr>
            <p:cNvPr id="48" name="Rectangle 48"/>
            <p:cNvSpPr/>
            <p:nvPr/>
          </p:nvSpPr>
          <p:spPr>
            <a:xfrm>
              <a:off x="571500" y="3962400"/>
              <a:ext cx="11049000" cy="476250"/>
            </a:xfrm>
            <a:prstGeom prst="rect">
              <a:avLst/>
            </a:prstGeom>
            <a:solidFill>
              <a:srgbClr val="586A68">
                <a:alpha val="4000"/>
              </a:srgbClr>
            </a:solidFill>
            <a:ln>
              <a:noFill/>
            </a:ln>
          </p:spPr>
          <p:txBody>
            <a:bodyPr/>
            <a:lstStyle/>
            <a:p>
              <a:endParaRPr lang="da-DK"/>
            </a:p>
          </p:txBody>
        </p:sp>
        <p:sp>
          <p:nvSpPr>
            <p:cNvPr id="49" name="TextBox 49"/>
            <p:cNvSpPr txBox="1"/>
            <p:nvPr/>
          </p:nvSpPr>
          <p:spPr>
            <a:xfrm>
              <a:off x="748665" y="4096702"/>
              <a:ext cx="6465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Recraft</a:t>
              </a:r>
            </a:p>
          </p:txBody>
        </p:sp>
        <p:sp>
          <p:nvSpPr>
            <p:cNvPr id="50" name="TextBox 50"/>
            <p:cNvSpPr txBox="1"/>
            <p:nvPr/>
          </p:nvSpPr>
          <p:spPr>
            <a:xfrm>
              <a:off x="2464118" y="4047649"/>
              <a:ext cx="77235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Recraft V3</a:t>
              </a:r>
            </a:p>
          </p:txBody>
        </p:sp>
        <p:sp>
          <p:nvSpPr>
            <p:cNvPr id="51" name="TextBox 51"/>
            <p:cNvSpPr txBox="1"/>
            <p:nvPr/>
          </p:nvSpPr>
          <p:spPr>
            <a:xfrm>
              <a:off x="2465070" y="4227195"/>
              <a:ext cx="104155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Vector + raster</a:t>
              </a:r>
            </a:p>
          </p:txBody>
        </p:sp>
        <p:sp>
          <p:nvSpPr>
            <p:cNvPr id="52" name="TextBox 52"/>
            <p:cNvSpPr txBox="1"/>
            <p:nvPr/>
          </p:nvSpPr>
          <p:spPr>
            <a:xfrm>
              <a:off x="5035868" y="4104799"/>
              <a:ext cx="192578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Vector + raster + brand kit</a:t>
              </a:r>
            </a:p>
          </p:txBody>
        </p:sp>
        <p:sp>
          <p:nvSpPr>
            <p:cNvPr id="53" name="TextBox 53"/>
            <p:cNvSpPr txBox="1"/>
            <p:nvPr/>
          </p:nvSpPr>
          <p:spPr>
            <a:xfrm>
              <a:off x="9322118" y="410479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54" name="Rectangle 54"/>
            <p:cNvSpPr/>
            <p:nvPr/>
          </p:nvSpPr>
          <p:spPr>
            <a:xfrm>
              <a:off x="571500" y="4438650"/>
              <a:ext cx="11049000" cy="476250"/>
            </a:xfrm>
            <a:prstGeom prst="rect">
              <a:avLst/>
            </a:prstGeom>
            <a:solidFill>
              <a:srgbClr val="F6F5EE"/>
            </a:solidFill>
            <a:ln>
              <a:noFill/>
            </a:ln>
          </p:spPr>
          <p:txBody>
            <a:bodyPr/>
            <a:lstStyle/>
            <a:p>
              <a:endParaRPr lang="da-DK"/>
            </a:p>
          </p:txBody>
        </p:sp>
        <p:sp>
          <p:nvSpPr>
            <p:cNvPr id="55" name="TextBox 55"/>
            <p:cNvSpPr txBox="1"/>
            <p:nvPr/>
          </p:nvSpPr>
          <p:spPr>
            <a:xfrm>
              <a:off x="748665" y="4572952"/>
              <a:ext cx="525832"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Bria AI</a:t>
              </a:r>
            </a:p>
          </p:txBody>
        </p:sp>
        <p:sp>
          <p:nvSpPr>
            <p:cNvPr id="56" name="TextBox 56"/>
            <p:cNvSpPr txBox="1"/>
            <p:nvPr/>
          </p:nvSpPr>
          <p:spPr>
            <a:xfrm>
              <a:off x="2464118" y="4523899"/>
              <a:ext cx="5801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Bria 2.3</a:t>
              </a:r>
            </a:p>
          </p:txBody>
        </p:sp>
        <p:sp>
          <p:nvSpPr>
            <p:cNvPr id="57" name="TextBox 57"/>
            <p:cNvSpPr txBox="1"/>
            <p:nvPr/>
          </p:nvSpPr>
          <p:spPr>
            <a:xfrm>
              <a:off x="2465070" y="4703445"/>
              <a:ext cx="144246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Licensed-data trained</a:t>
              </a:r>
            </a:p>
          </p:txBody>
        </p:sp>
        <p:sp>
          <p:nvSpPr>
            <p:cNvPr id="58" name="TextBox 58"/>
            <p:cNvSpPr txBox="1"/>
            <p:nvPr/>
          </p:nvSpPr>
          <p:spPr>
            <a:xfrm>
              <a:off x="5035868" y="4581049"/>
              <a:ext cx="342097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Trained-on-licensed-data, hợp pháp doanh nghiệp</a:t>
              </a:r>
            </a:p>
          </p:txBody>
        </p:sp>
        <p:sp>
          <p:nvSpPr>
            <p:cNvPr id="59" name="TextBox 59"/>
            <p:cNvSpPr txBox="1"/>
            <p:nvPr/>
          </p:nvSpPr>
          <p:spPr>
            <a:xfrm>
              <a:off x="9322118" y="45810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sp>
          <p:nvSpPr>
            <p:cNvPr id="60" name="Rectangle 60"/>
            <p:cNvSpPr/>
            <p:nvPr/>
          </p:nvSpPr>
          <p:spPr>
            <a:xfrm>
              <a:off x="571500" y="4914900"/>
              <a:ext cx="11049000" cy="476250"/>
            </a:xfrm>
            <a:prstGeom prst="rect">
              <a:avLst/>
            </a:prstGeom>
            <a:solidFill>
              <a:srgbClr val="586A68">
                <a:alpha val="4000"/>
              </a:srgbClr>
            </a:solidFill>
            <a:ln>
              <a:noFill/>
            </a:ln>
          </p:spPr>
          <p:txBody>
            <a:bodyPr/>
            <a:lstStyle/>
            <a:p>
              <a:endParaRPr lang="da-DK"/>
            </a:p>
          </p:txBody>
        </p:sp>
        <p:sp>
          <p:nvSpPr>
            <p:cNvPr id="61" name="TextBox 61"/>
            <p:cNvSpPr txBox="1"/>
            <p:nvPr/>
          </p:nvSpPr>
          <p:spPr>
            <a:xfrm>
              <a:off x="748665" y="5049202"/>
              <a:ext cx="8639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Midjourney</a:t>
              </a:r>
            </a:p>
          </p:txBody>
        </p:sp>
        <p:sp>
          <p:nvSpPr>
            <p:cNvPr id="62" name="TextBox 62"/>
            <p:cNvSpPr txBox="1"/>
            <p:nvPr/>
          </p:nvSpPr>
          <p:spPr>
            <a:xfrm>
              <a:off x="2464118" y="5000149"/>
              <a:ext cx="58012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v6.1, v7</a:t>
              </a:r>
            </a:p>
          </p:txBody>
        </p:sp>
        <p:sp>
          <p:nvSpPr>
            <p:cNvPr id="63" name="TextBox 63"/>
            <p:cNvSpPr txBox="1"/>
            <p:nvPr/>
          </p:nvSpPr>
          <p:spPr>
            <a:xfrm>
              <a:off x="2465070" y="5179695"/>
              <a:ext cx="110728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Web/Discord only</a:t>
              </a:r>
            </a:p>
          </p:txBody>
        </p:sp>
        <p:sp>
          <p:nvSpPr>
            <p:cNvPr id="64" name="TextBox 64"/>
            <p:cNvSpPr txBox="1"/>
            <p:nvPr/>
          </p:nvSpPr>
          <p:spPr>
            <a:xfrm>
              <a:off x="5035868" y="5057299"/>
              <a:ext cx="124939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Aesthetic dẫn đầu</a:t>
              </a:r>
            </a:p>
          </p:txBody>
        </p:sp>
        <p:sp>
          <p:nvSpPr>
            <p:cNvPr id="65" name="TextBox 65"/>
            <p:cNvSpPr txBox="1"/>
            <p:nvPr/>
          </p:nvSpPr>
          <p:spPr>
            <a:xfrm>
              <a:off x="9322118" y="5057299"/>
              <a:ext cx="1569791" cy="198120"/>
            </a:xfrm>
            <a:prstGeom prst="rect">
              <a:avLst/>
            </a:prstGeom>
            <a:noFill/>
            <a:ln>
              <a:noFill/>
            </a:ln>
          </p:spPr>
          <p:txBody>
            <a:bodyPr wrap="none" lIns="0" tIns="0" rIns="0" bIns="0" anchor="t" anchorCtr="0">
              <a:spAutoFit/>
            </a:bodyPr>
            <a:lstStyle/>
            <a:p>
              <a:pPr algn="l"/>
              <a:r>
                <a:rPr lang="zh-CN" sz="975" dirty="0">
                  <a:solidFill>
                    <a:srgbClr val="C1856B"/>
                  </a:solidFill>
                  <a:latin typeface="Segoe UI"/>
                  <a:ea typeface="Microsoft YaHei"/>
                  <a:cs typeface="Segoe UI"/>
                </a:rPr>
                <a:t>Hạn chế redistribution</a:t>
              </a:r>
            </a:p>
          </p:txBody>
        </p:sp>
        <p:sp>
          <p:nvSpPr>
            <p:cNvPr id="66" name="Rectangle 66"/>
            <p:cNvSpPr/>
            <p:nvPr/>
          </p:nvSpPr>
          <p:spPr>
            <a:xfrm>
              <a:off x="571500" y="5391150"/>
              <a:ext cx="11049000" cy="476250"/>
            </a:xfrm>
            <a:prstGeom prst="rect">
              <a:avLst/>
            </a:prstGeom>
            <a:solidFill>
              <a:srgbClr val="F6F5EE"/>
            </a:solidFill>
            <a:ln>
              <a:noFill/>
            </a:ln>
          </p:spPr>
          <p:txBody>
            <a:bodyPr/>
            <a:lstStyle/>
            <a:p>
              <a:endParaRPr lang="da-DK"/>
            </a:p>
          </p:txBody>
        </p:sp>
        <p:sp>
          <p:nvSpPr>
            <p:cNvPr id="67" name="TextBox 67"/>
            <p:cNvSpPr txBox="1"/>
            <p:nvPr/>
          </p:nvSpPr>
          <p:spPr>
            <a:xfrm>
              <a:off x="748665" y="5525452"/>
              <a:ext cx="727108"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Ideogram</a:t>
              </a:r>
            </a:p>
          </p:txBody>
        </p:sp>
        <p:sp>
          <p:nvSpPr>
            <p:cNvPr id="68" name="TextBox 68"/>
            <p:cNvSpPr txBox="1"/>
            <p:nvPr/>
          </p:nvSpPr>
          <p:spPr>
            <a:xfrm>
              <a:off x="2464118" y="5476399"/>
              <a:ext cx="45908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v2, v3</a:t>
              </a:r>
            </a:p>
          </p:txBody>
        </p:sp>
        <p:sp>
          <p:nvSpPr>
            <p:cNvPr id="69" name="TextBox 69"/>
            <p:cNvSpPr txBox="1"/>
            <p:nvPr/>
          </p:nvSpPr>
          <p:spPr>
            <a:xfrm>
              <a:off x="5035868" y="5533549"/>
              <a:ext cx="282290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Render text trong ảnh (poster, banner)</a:t>
              </a:r>
            </a:p>
          </p:txBody>
        </p:sp>
        <p:sp>
          <p:nvSpPr>
            <p:cNvPr id="70" name="TextBox 70"/>
            <p:cNvSpPr txBox="1"/>
            <p:nvPr/>
          </p:nvSpPr>
          <p:spPr>
            <a:xfrm>
              <a:off x="9322118" y="5533549"/>
              <a:ext cx="1021556"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Commercial OK</a:t>
              </a:r>
            </a:p>
          </p:txBody>
        </p:sp>
      </p:grpSp>
      <p:grpSp>
        <p:nvGrpSpPr>
          <p:cNvPr id="75" name="Group 75"/>
          <p:cNvGrpSpPr/>
          <p:nvPr/>
        </p:nvGrpSpPr>
        <p:grpSpPr>
          <a:xfrm>
            <a:off x="571500" y="6048375"/>
            <a:ext cx="11060430" cy="704850"/>
            <a:chOff x="571500" y="6048375"/>
            <a:chExt cx="11060430" cy="704850"/>
          </a:xfrm>
        </p:grpSpPr>
        <p:sp>
          <p:nvSpPr>
            <p:cNvPr id="72" name="Rectangle 72"/>
            <p:cNvSpPr/>
            <p:nvPr/>
          </p:nvSpPr>
          <p:spPr>
            <a:xfrm>
              <a:off x="571500" y="6048375"/>
              <a:ext cx="114300" cy="114300"/>
            </a:xfrm>
            <a:prstGeom prst="roundRect">
              <a:avLst>
                <a:gd name="adj" fmla="val 16667"/>
              </a:avLst>
            </a:prstGeom>
            <a:solidFill>
              <a:srgbClr val="C1856B"/>
            </a:solidFill>
            <a:ln>
              <a:noFill/>
            </a:ln>
          </p:spPr>
          <p:txBody>
            <a:bodyPr/>
            <a:lstStyle/>
            <a:p>
              <a:endParaRPr lang="da-DK"/>
            </a:p>
          </p:txBody>
        </p:sp>
        <p:sp>
          <p:nvSpPr>
            <p:cNvPr id="73" name="TextBox 73"/>
            <p:cNvSpPr txBox="1"/>
            <p:nvPr/>
          </p:nvSpPr>
          <p:spPr>
            <a:xfrm>
              <a:off x="750570" y="6055995"/>
              <a:ext cx="424224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 Hạn chế thương mại — cần kiểm tra TOS trước khi dùng production</a:t>
              </a:r>
            </a:p>
          </p:txBody>
        </p:sp>
        <p:sp>
          <p:nvSpPr>
            <p:cNvPr id="74" name="TextBox 74"/>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395030" cy="722948"/>
            <a:chOff x="558165" y="458152"/>
            <a:chExt cx="4395030" cy="722948"/>
          </a:xfrm>
        </p:grpSpPr>
        <p:sp>
          <p:nvSpPr>
            <p:cNvPr id="4" name="TextBox 4"/>
            <p:cNvSpPr txBox="1"/>
            <p:nvPr/>
          </p:nvSpPr>
          <p:spPr>
            <a:xfrm>
              <a:off x="558165" y="458152"/>
              <a:ext cx="1429845"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07 / API Thương Mại</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255965"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Gateway &amp; Edit/Utility APIs</a:t>
              </a:r>
            </a:p>
          </p:txBody>
        </p:sp>
      </p:grpSp>
      <p:grpSp>
        <p:nvGrpSpPr>
          <p:cNvPr id="36" name="Group 36"/>
          <p:cNvGrpSpPr/>
          <p:nvPr/>
        </p:nvGrpSpPr>
        <p:grpSpPr>
          <a:xfrm>
            <a:off x="558165" y="1267778"/>
            <a:ext cx="11062335" cy="2018347"/>
            <a:chOff x="558165" y="1267778"/>
            <a:chExt cx="11062335" cy="2018347"/>
          </a:xfrm>
        </p:grpSpPr>
        <p:sp>
          <p:nvSpPr>
            <p:cNvPr id="8" name="TextBox 8"/>
            <p:cNvSpPr txBox="1"/>
            <p:nvPr/>
          </p:nvSpPr>
          <p:spPr>
            <a:xfrm>
              <a:off x="558165" y="1267778"/>
              <a:ext cx="1757636"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MULTI-MODEL GATEWAY</a:t>
              </a:r>
            </a:p>
          </p:txBody>
        </p:sp>
        <p:sp>
          <p:nvSpPr>
            <p:cNvPr id="9" name="Rectangle 9"/>
            <p:cNvSpPr/>
            <p:nvPr/>
          </p:nvSpPr>
          <p:spPr>
            <a:xfrm>
              <a:off x="571500" y="1476375"/>
              <a:ext cx="11049000" cy="19050"/>
            </a:xfrm>
            <a:prstGeom prst="rect">
              <a:avLst/>
            </a:prstGeom>
            <a:solidFill>
              <a:srgbClr val="586A68">
                <a:alpha val="20000"/>
              </a:srgbClr>
            </a:solidFill>
            <a:ln>
              <a:noFill/>
            </a:ln>
          </p:spPr>
          <p:txBody>
            <a:bodyPr/>
            <a:lstStyle/>
            <a:p>
              <a:endParaRPr lang="da-DK"/>
            </a:p>
          </p:txBody>
        </p:sp>
        <p:sp>
          <p:nvSpPr>
            <p:cNvPr id="10" name="Rectangle 10"/>
            <p:cNvSpPr/>
            <p:nvPr/>
          </p:nvSpPr>
          <p:spPr>
            <a:xfrm>
              <a:off x="571500" y="1619250"/>
              <a:ext cx="3524250" cy="762000"/>
            </a:xfrm>
            <a:prstGeom prst="roundRect">
              <a:avLst>
                <a:gd name="adj" fmla="val 10000"/>
              </a:avLst>
            </a:prstGeom>
            <a:solidFill>
              <a:srgbClr val="586A68">
                <a:alpha val="8000"/>
              </a:srgbClr>
            </a:solidFill>
            <a:ln>
              <a:noFill/>
            </a:ln>
          </p:spPr>
          <p:txBody>
            <a:bodyPr/>
            <a:lstStyle/>
            <a:p>
              <a:endParaRPr lang="da-DK"/>
            </a:p>
          </p:txBody>
        </p:sp>
        <p:sp>
          <p:nvSpPr>
            <p:cNvPr id="11" name="Freeform 11"/>
            <p:cNvSpPr/>
            <p:nvPr/>
          </p:nvSpPr>
          <p:spPr>
            <a:xfrm>
              <a:off x="762000" y="1771650"/>
              <a:ext cx="152400" cy="152400"/>
            </a:xfrm>
            <a:custGeom>
              <a:avLst/>
              <a:gdLst/>
              <a:ahLst/>
              <a:cxnLst/>
              <a:rect l="l" t="t" r="r" b="b"/>
              <a:pathLst>
                <a:path w="152400" h="152400">
                  <a:moveTo>
                    <a:pt x="152400" y="65164"/>
                  </a:moveTo>
                  <a:lnTo>
                    <a:pt x="152400" y="82385"/>
                  </a:lnTo>
                  <a:lnTo>
                    <a:pt x="91961" y="82385"/>
                  </a:lnTo>
                  <a:lnTo>
                    <a:pt x="91961" y="152400"/>
                  </a:lnTo>
                  <a:lnTo>
                    <a:pt x="72695" y="152400"/>
                  </a:lnTo>
                  <a:lnTo>
                    <a:pt x="72695" y="65164"/>
                  </a:lnTo>
                  <a:close/>
                  <a:moveTo>
                    <a:pt x="152400" y="32582"/>
                  </a:moveTo>
                  <a:lnTo>
                    <a:pt x="152400" y="49835"/>
                  </a:lnTo>
                  <a:lnTo>
                    <a:pt x="55594" y="49835"/>
                  </a:lnTo>
                  <a:lnTo>
                    <a:pt x="55594" y="152400"/>
                  </a:lnTo>
                  <a:lnTo>
                    <a:pt x="36335" y="152400"/>
                  </a:lnTo>
                  <a:lnTo>
                    <a:pt x="36335" y="32582"/>
                  </a:lnTo>
                  <a:close/>
                  <a:moveTo>
                    <a:pt x="152400" y="0"/>
                  </a:moveTo>
                  <a:lnTo>
                    <a:pt x="152400" y="17253"/>
                  </a:lnTo>
                  <a:lnTo>
                    <a:pt x="19266" y="17253"/>
                  </a:lnTo>
                  <a:lnTo>
                    <a:pt x="19266" y="152400"/>
                  </a:lnTo>
                  <a:lnTo>
                    <a:pt x="0" y="152400"/>
                  </a:lnTo>
                  <a:lnTo>
                    <a:pt x="0" y="0"/>
                  </a:lnTo>
                  <a:close/>
                </a:path>
              </a:pathLst>
            </a:custGeom>
            <a:solidFill>
              <a:srgbClr val="586A68"/>
            </a:solidFill>
            <a:ln>
              <a:noFill/>
            </a:ln>
          </p:spPr>
          <p:txBody>
            <a:bodyPr/>
            <a:lstStyle/>
            <a:p>
              <a:endParaRPr lang="da-DK"/>
            </a:p>
          </p:txBody>
        </p:sp>
        <p:sp>
          <p:nvSpPr>
            <p:cNvPr id="12" name="TextBox 12"/>
            <p:cNvSpPr txBox="1"/>
            <p:nvPr/>
          </p:nvSpPr>
          <p:spPr>
            <a:xfrm>
              <a:off x="957262" y="1764506"/>
              <a:ext cx="796296"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Replicate</a:t>
              </a:r>
            </a:p>
          </p:txBody>
        </p:sp>
        <p:sp>
          <p:nvSpPr>
            <p:cNvPr id="13" name="TextBox 13"/>
            <p:cNvSpPr txBox="1"/>
            <p:nvPr/>
          </p:nvSpPr>
          <p:spPr>
            <a:xfrm>
              <a:off x="749618" y="1971199"/>
              <a:ext cx="213938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REST cho hàng trăm model open</a:t>
              </a:r>
            </a:p>
          </p:txBody>
        </p:sp>
        <p:sp>
          <p:nvSpPr>
            <p:cNvPr id="14" name="TextBox 14"/>
            <p:cNvSpPr txBox="1"/>
            <p:nvPr/>
          </p:nvSpPr>
          <p:spPr>
            <a:xfrm>
              <a:off x="750570" y="2169795"/>
              <a:ext cx="215226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Billing per-second, cold start lâu</a:t>
              </a:r>
            </a:p>
          </p:txBody>
        </p:sp>
        <p:sp>
          <p:nvSpPr>
            <p:cNvPr id="15" name="Rectangle 15"/>
            <p:cNvSpPr/>
            <p:nvPr/>
          </p:nvSpPr>
          <p:spPr>
            <a:xfrm>
              <a:off x="4286250" y="1619250"/>
              <a:ext cx="3524250" cy="762000"/>
            </a:xfrm>
            <a:prstGeom prst="roundRect">
              <a:avLst>
                <a:gd name="adj" fmla="val 10000"/>
              </a:avLst>
            </a:prstGeom>
            <a:solidFill>
              <a:srgbClr val="586A68">
                <a:alpha val="8000"/>
              </a:srgbClr>
            </a:solidFill>
            <a:ln>
              <a:noFill/>
            </a:ln>
          </p:spPr>
          <p:txBody>
            <a:bodyPr/>
            <a:lstStyle/>
            <a:p>
              <a:endParaRPr lang="da-DK"/>
            </a:p>
          </p:txBody>
        </p:sp>
        <p:sp>
          <p:nvSpPr>
            <p:cNvPr id="16" name="TextBox 16"/>
            <p:cNvSpPr txBox="1"/>
            <p:nvPr/>
          </p:nvSpPr>
          <p:spPr>
            <a:xfrm>
              <a:off x="4462462" y="1764506"/>
              <a:ext cx="511635"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fal.ai</a:t>
              </a:r>
            </a:p>
          </p:txBody>
        </p:sp>
        <p:sp>
          <p:nvSpPr>
            <p:cNvPr id="17" name="TextBox 17"/>
            <p:cNvSpPr txBox="1"/>
            <p:nvPr/>
          </p:nvSpPr>
          <p:spPr>
            <a:xfrm>
              <a:off x="4464368" y="1971199"/>
              <a:ext cx="251674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Low-latency (websocket), realtime</a:t>
              </a:r>
            </a:p>
          </p:txBody>
        </p:sp>
        <p:sp>
          <p:nvSpPr>
            <p:cNvPr id="18" name="TextBox 18"/>
            <p:cNvSpPr txBox="1"/>
            <p:nvPr/>
          </p:nvSpPr>
          <p:spPr>
            <a:xfrm>
              <a:off x="4465320" y="2169795"/>
              <a:ext cx="1113853"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Chuyên SDXL/Flux</a:t>
              </a:r>
            </a:p>
          </p:txBody>
        </p:sp>
        <p:sp>
          <p:nvSpPr>
            <p:cNvPr id="19" name="Rectangle 19"/>
            <p:cNvSpPr/>
            <p:nvPr/>
          </p:nvSpPr>
          <p:spPr>
            <a:xfrm>
              <a:off x="8001000" y="1619250"/>
              <a:ext cx="3619500" cy="762000"/>
            </a:xfrm>
            <a:prstGeom prst="roundRect">
              <a:avLst>
                <a:gd name="adj" fmla="val 10000"/>
              </a:avLst>
            </a:prstGeom>
            <a:solidFill>
              <a:srgbClr val="586A68">
                <a:alpha val="8000"/>
              </a:srgbClr>
            </a:solidFill>
            <a:ln>
              <a:noFill/>
            </a:ln>
          </p:spPr>
          <p:txBody>
            <a:bodyPr/>
            <a:lstStyle/>
            <a:p>
              <a:endParaRPr lang="da-DK"/>
            </a:p>
          </p:txBody>
        </p:sp>
        <p:sp>
          <p:nvSpPr>
            <p:cNvPr id="20" name="TextBox 20"/>
            <p:cNvSpPr txBox="1"/>
            <p:nvPr/>
          </p:nvSpPr>
          <p:spPr>
            <a:xfrm>
              <a:off x="8177212" y="1764506"/>
              <a:ext cx="727287"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Runware</a:t>
              </a:r>
            </a:p>
          </p:txBody>
        </p:sp>
        <p:sp>
          <p:nvSpPr>
            <p:cNvPr id="21" name="TextBox 21"/>
            <p:cNvSpPr txBox="1"/>
            <p:nvPr/>
          </p:nvSpPr>
          <p:spPr>
            <a:xfrm>
              <a:off x="8179118" y="1971199"/>
              <a:ext cx="218922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Cost-optimized, batch friendly</a:t>
              </a:r>
            </a:p>
          </p:txBody>
        </p:sp>
        <p:sp>
          <p:nvSpPr>
            <p:cNvPr id="22" name="TextBox 22"/>
            <p:cNvSpPr txBox="1"/>
            <p:nvPr/>
          </p:nvSpPr>
          <p:spPr>
            <a:xfrm>
              <a:off x="8180070" y="2169795"/>
              <a:ext cx="1041559"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High throughput</a:t>
              </a:r>
            </a:p>
          </p:txBody>
        </p:sp>
        <p:sp>
          <p:nvSpPr>
            <p:cNvPr id="23" name="Rectangle 23"/>
            <p:cNvSpPr/>
            <p:nvPr/>
          </p:nvSpPr>
          <p:spPr>
            <a:xfrm>
              <a:off x="571500" y="2524125"/>
              <a:ext cx="3524250" cy="762000"/>
            </a:xfrm>
            <a:prstGeom prst="roundRect">
              <a:avLst>
                <a:gd name="adj" fmla="val 10000"/>
              </a:avLst>
            </a:prstGeom>
            <a:solidFill>
              <a:srgbClr val="586A68">
                <a:alpha val="8000"/>
              </a:srgbClr>
            </a:solidFill>
            <a:ln>
              <a:noFill/>
            </a:ln>
          </p:spPr>
          <p:txBody>
            <a:bodyPr/>
            <a:lstStyle/>
            <a:p>
              <a:endParaRPr lang="da-DK"/>
            </a:p>
          </p:txBody>
        </p:sp>
        <p:sp>
          <p:nvSpPr>
            <p:cNvPr id="24" name="Freeform 24"/>
            <p:cNvSpPr/>
            <p:nvPr/>
          </p:nvSpPr>
          <p:spPr>
            <a:xfrm>
              <a:off x="759358" y="2683700"/>
              <a:ext cx="157677" cy="141821"/>
            </a:xfrm>
            <a:custGeom>
              <a:avLst/>
              <a:gdLst/>
              <a:ahLst/>
              <a:cxnLst/>
              <a:rect l="l" t="t" r="r" b="b"/>
              <a:pathLst>
                <a:path w="157677" h="141821">
                  <a:moveTo>
                    <a:pt x="79000" y="0"/>
                  </a:moveTo>
                  <a:cubicBezTo>
                    <a:pt x="42361" y="0"/>
                    <a:pt x="12649" y="29508"/>
                    <a:pt x="12649" y="65900"/>
                  </a:cubicBezTo>
                  <a:cubicBezTo>
                    <a:pt x="12649" y="72962"/>
                    <a:pt x="13779" y="79750"/>
                    <a:pt x="15843" y="86125"/>
                  </a:cubicBezTo>
                  <a:cubicBezTo>
                    <a:pt x="16250" y="84715"/>
                    <a:pt x="17132" y="83306"/>
                    <a:pt x="18485" y="82461"/>
                  </a:cubicBezTo>
                  <a:cubicBezTo>
                    <a:pt x="19479" y="81829"/>
                    <a:pt x="20634" y="81498"/>
                    <a:pt x="21812" y="81509"/>
                  </a:cubicBezTo>
                  <a:cubicBezTo>
                    <a:pt x="23673" y="81509"/>
                    <a:pt x="25521" y="82296"/>
                    <a:pt x="27146" y="83312"/>
                  </a:cubicBezTo>
                  <a:cubicBezTo>
                    <a:pt x="28912" y="84411"/>
                    <a:pt x="30194" y="85903"/>
                    <a:pt x="31655" y="87719"/>
                  </a:cubicBezTo>
                  <a:cubicBezTo>
                    <a:pt x="33090" y="89510"/>
                    <a:pt x="34563" y="91599"/>
                    <a:pt x="35998" y="93758"/>
                  </a:cubicBezTo>
                  <a:lnTo>
                    <a:pt x="35998" y="93669"/>
                  </a:lnTo>
                  <a:cubicBezTo>
                    <a:pt x="36106" y="91611"/>
                    <a:pt x="36671" y="89719"/>
                    <a:pt x="37675" y="88119"/>
                  </a:cubicBezTo>
                  <a:cubicBezTo>
                    <a:pt x="38678" y="86519"/>
                    <a:pt x="40234" y="85027"/>
                    <a:pt x="42513" y="84671"/>
                  </a:cubicBezTo>
                  <a:cubicBezTo>
                    <a:pt x="44418" y="84372"/>
                    <a:pt x="46298" y="85052"/>
                    <a:pt x="47511" y="85960"/>
                  </a:cubicBezTo>
                  <a:cubicBezTo>
                    <a:pt x="48724" y="86868"/>
                    <a:pt x="49479" y="87948"/>
                    <a:pt x="50051" y="88925"/>
                  </a:cubicBezTo>
                  <a:cubicBezTo>
                    <a:pt x="51003" y="90557"/>
                    <a:pt x="51397" y="91897"/>
                    <a:pt x="51530" y="92367"/>
                  </a:cubicBezTo>
                  <a:cubicBezTo>
                    <a:pt x="51594" y="92532"/>
                    <a:pt x="55677" y="102222"/>
                    <a:pt x="62052" y="108496"/>
                  </a:cubicBezTo>
                  <a:cubicBezTo>
                    <a:pt x="65964" y="112338"/>
                    <a:pt x="68466" y="116262"/>
                    <a:pt x="68923" y="120637"/>
                  </a:cubicBezTo>
                  <a:cubicBezTo>
                    <a:pt x="69272" y="124047"/>
                    <a:pt x="68313" y="127362"/>
                    <a:pt x="66510" y="130619"/>
                  </a:cubicBezTo>
                  <a:cubicBezTo>
                    <a:pt x="70555" y="131388"/>
                    <a:pt x="74727" y="131807"/>
                    <a:pt x="79000" y="131807"/>
                  </a:cubicBezTo>
                  <a:cubicBezTo>
                    <a:pt x="83172" y="131807"/>
                    <a:pt x="87243" y="131407"/>
                    <a:pt x="91199" y="130677"/>
                  </a:cubicBezTo>
                  <a:cubicBezTo>
                    <a:pt x="89376" y="127394"/>
                    <a:pt x="88405" y="124066"/>
                    <a:pt x="88760" y="120637"/>
                  </a:cubicBezTo>
                  <a:cubicBezTo>
                    <a:pt x="89205" y="116256"/>
                    <a:pt x="91713" y="112338"/>
                    <a:pt x="95625" y="108490"/>
                  </a:cubicBezTo>
                  <a:cubicBezTo>
                    <a:pt x="102000" y="102222"/>
                    <a:pt x="106083" y="92532"/>
                    <a:pt x="106147" y="92367"/>
                  </a:cubicBezTo>
                  <a:cubicBezTo>
                    <a:pt x="106280" y="91897"/>
                    <a:pt x="106674" y="90557"/>
                    <a:pt x="107626" y="88925"/>
                  </a:cubicBezTo>
                  <a:cubicBezTo>
                    <a:pt x="108198" y="87948"/>
                    <a:pt x="108947" y="86874"/>
                    <a:pt x="110166" y="85960"/>
                  </a:cubicBezTo>
                  <a:cubicBezTo>
                    <a:pt x="111601" y="84896"/>
                    <a:pt x="113393" y="84433"/>
                    <a:pt x="115164" y="84671"/>
                  </a:cubicBezTo>
                  <a:cubicBezTo>
                    <a:pt x="117443" y="85027"/>
                    <a:pt x="118999" y="86512"/>
                    <a:pt x="120002" y="88119"/>
                  </a:cubicBezTo>
                  <a:cubicBezTo>
                    <a:pt x="121006" y="89726"/>
                    <a:pt x="121571" y="91611"/>
                    <a:pt x="121685" y="93669"/>
                  </a:cubicBezTo>
                  <a:lnTo>
                    <a:pt x="121685" y="93764"/>
                  </a:lnTo>
                  <a:cubicBezTo>
                    <a:pt x="123114" y="91605"/>
                    <a:pt x="124587" y="89510"/>
                    <a:pt x="126022" y="87719"/>
                  </a:cubicBezTo>
                  <a:cubicBezTo>
                    <a:pt x="127483" y="85903"/>
                    <a:pt x="128765" y="84417"/>
                    <a:pt x="130531" y="83312"/>
                  </a:cubicBezTo>
                  <a:cubicBezTo>
                    <a:pt x="132163" y="82296"/>
                    <a:pt x="134004" y="81509"/>
                    <a:pt x="135865" y="81502"/>
                  </a:cubicBezTo>
                  <a:cubicBezTo>
                    <a:pt x="137043" y="81497"/>
                    <a:pt x="138197" y="81830"/>
                    <a:pt x="139192" y="82461"/>
                  </a:cubicBezTo>
                  <a:cubicBezTo>
                    <a:pt x="140640" y="83369"/>
                    <a:pt x="141561" y="84925"/>
                    <a:pt x="141923" y="86430"/>
                  </a:cubicBezTo>
                  <a:lnTo>
                    <a:pt x="141961" y="86684"/>
                  </a:lnTo>
                  <a:cubicBezTo>
                    <a:pt x="144206" y="79985"/>
                    <a:pt x="145351" y="72966"/>
                    <a:pt x="145351" y="65900"/>
                  </a:cubicBezTo>
                  <a:cubicBezTo>
                    <a:pt x="145351" y="29508"/>
                    <a:pt x="115646" y="0"/>
                    <a:pt x="79000" y="0"/>
                  </a:cubicBezTo>
                  <a:moveTo>
                    <a:pt x="55518" y="34627"/>
                  </a:moveTo>
                  <a:cubicBezTo>
                    <a:pt x="57095" y="34614"/>
                    <a:pt x="58651" y="34994"/>
                    <a:pt x="60046" y="35731"/>
                  </a:cubicBezTo>
                  <a:cubicBezTo>
                    <a:pt x="62262" y="36905"/>
                    <a:pt x="63921" y="38912"/>
                    <a:pt x="64656" y="41310"/>
                  </a:cubicBezTo>
                  <a:cubicBezTo>
                    <a:pt x="65391" y="43708"/>
                    <a:pt x="65142" y="46300"/>
                    <a:pt x="63964" y="48514"/>
                  </a:cubicBezTo>
                  <a:cubicBezTo>
                    <a:pt x="62802" y="50692"/>
                    <a:pt x="59125" y="47155"/>
                    <a:pt x="56966" y="47917"/>
                  </a:cubicBezTo>
                  <a:cubicBezTo>
                    <a:pt x="54553" y="48768"/>
                    <a:pt x="53588" y="53721"/>
                    <a:pt x="51143" y="52426"/>
                  </a:cubicBezTo>
                  <a:cubicBezTo>
                    <a:pt x="47302" y="50405"/>
                    <a:pt x="45333" y="46026"/>
                    <a:pt x="46370" y="41812"/>
                  </a:cubicBezTo>
                  <a:cubicBezTo>
                    <a:pt x="47408" y="37598"/>
                    <a:pt x="51184" y="34633"/>
                    <a:pt x="55524" y="34627"/>
                  </a:cubicBezTo>
                  <a:moveTo>
                    <a:pt x="103060" y="34627"/>
                  </a:moveTo>
                  <a:cubicBezTo>
                    <a:pt x="107399" y="34636"/>
                    <a:pt x="111173" y="37602"/>
                    <a:pt x="112209" y="41815"/>
                  </a:cubicBezTo>
                  <a:cubicBezTo>
                    <a:pt x="113245" y="46029"/>
                    <a:pt x="111276" y="50406"/>
                    <a:pt x="107436" y="52426"/>
                  </a:cubicBezTo>
                  <a:cubicBezTo>
                    <a:pt x="104991" y="53721"/>
                    <a:pt x="104032" y="48768"/>
                    <a:pt x="101619" y="47917"/>
                  </a:cubicBezTo>
                  <a:cubicBezTo>
                    <a:pt x="99460" y="47155"/>
                    <a:pt x="95777" y="50692"/>
                    <a:pt x="94615" y="48514"/>
                  </a:cubicBezTo>
                  <a:cubicBezTo>
                    <a:pt x="93436" y="46300"/>
                    <a:pt x="93187" y="43708"/>
                    <a:pt x="93922" y="41310"/>
                  </a:cubicBezTo>
                  <a:cubicBezTo>
                    <a:pt x="94657" y="38912"/>
                    <a:pt x="96316" y="36905"/>
                    <a:pt x="98533" y="35731"/>
                  </a:cubicBezTo>
                  <a:cubicBezTo>
                    <a:pt x="99927" y="34994"/>
                    <a:pt x="101483" y="34614"/>
                    <a:pt x="103060" y="34627"/>
                  </a:cubicBezTo>
                  <a:moveTo>
                    <a:pt x="35243" y="44469"/>
                  </a:moveTo>
                  <a:cubicBezTo>
                    <a:pt x="38611" y="44469"/>
                    <a:pt x="41342" y="47200"/>
                    <a:pt x="41342" y="50568"/>
                  </a:cubicBezTo>
                  <a:cubicBezTo>
                    <a:pt x="41342" y="53937"/>
                    <a:pt x="38611" y="56667"/>
                    <a:pt x="35243" y="56667"/>
                  </a:cubicBezTo>
                  <a:cubicBezTo>
                    <a:pt x="31876" y="56667"/>
                    <a:pt x="29147" y="53938"/>
                    <a:pt x="29147" y="50571"/>
                  </a:cubicBezTo>
                  <a:cubicBezTo>
                    <a:pt x="29147" y="47205"/>
                    <a:pt x="31876" y="44475"/>
                    <a:pt x="35243" y="44475"/>
                  </a:cubicBezTo>
                  <a:moveTo>
                    <a:pt x="123114" y="44475"/>
                  </a:moveTo>
                  <a:cubicBezTo>
                    <a:pt x="126481" y="44475"/>
                    <a:pt x="129210" y="47205"/>
                    <a:pt x="129210" y="50571"/>
                  </a:cubicBezTo>
                  <a:cubicBezTo>
                    <a:pt x="129210" y="53938"/>
                    <a:pt x="126481" y="56667"/>
                    <a:pt x="123114" y="56667"/>
                  </a:cubicBezTo>
                  <a:cubicBezTo>
                    <a:pt x="119747" y="56667"/>
                    <a:pt x="117018" y="53938"/>
                    <a:pt x="117018" y="50571"/>
                  </a:cubicBezTo>
                  <a:cubicBezTo>
                    <a:pt x="117018" y="47205"/>
                    <a:pt x="119747" y="44475"/>
                    <a:pt x="123114" y="44475"/>
                  </a:cubicBezTo>
                  <a:moveTo>
                    <a:pt x="56547" y="65583"/>
                  </a:moveTo>
                  <a:cubicBezTo>
                    <a:pt x="60281" y="65646"/>
                    <a:pt x="69025" y="72930"/>
                    <a:pt x="79229" y="72974"/>
                  </a:cubicBezTo>
                  <a:cubicBezTo>
                    <a:pt x="89433" y="72930"/>
                    <a:pt x="98177" y="65640"/>
                    <a:pt x="101911" y="65583"/>
                  </a:cubicBezTo>
                  <a:cubicBezTo>
                    <a:pt x="103156" y="65564"/>
                    <a:pt x="103848" y="66345"/>
                    <a:pt x="103848" y="68466"/>
                  </a:cubicBezTo>
                  <a:cubicBezTo>
                    <a:pt x="103848" y="74092"/>
                    <a:pt x="101156" y="83249"/>
                    <a:pt x="93923" y="88798"/>
                  </a:cubicBezTo>
                  <a:cubicBezTo>
                    <a:pt x="92526" y="83998"/>
                    <a:pt x="85058" y="80124"/>
                    <a:pt x="83572" y="80416"/>
                  </a:cubicBezTo>
                  <a:cubicBezTo>
                    <a:pt x="83526" y="80421"/>
                    <a:pt x="83483" y="80433"/>
                    <a:pt x="83445" y="80454"/>
                  </a:cubicBezTo>
                  <a:lnTo>
                    <a:pt x="83166" y="80620"/>
                  </a:lnTo>
                  <a:lnTo>
                    <a:pt x="83102" y="80670"/>
                  </a:lnTo>
                  <a:lnTo>
                    <a:pt x="82912" y="80823"/>
                  </a:lnTo>
                  <a:cubicBezTo>
                    <a:pt x="82836" y="80895"/>
                    <a:pt x="82762" y="80971"/>
                    <a:pt x="82690" y="81051"/>
                  </a:cubicBezTo>
                  <a:lnTo>
                    <a:pt x="82486" y="81305"/>
                  </a:lnTo>
                  <a:cubicBezTo>
                    <a:pt x="82354" y="81489"/>
                    <a:pt x="82231" y="81680"/>
                    <a:pt x="82118" y="81877"/>
                  </a:cubicBezTo>
                  <a:lnTo>
                    <a:pt x="82029" y="82036"/>
                  </a:lnTo>
                  <a:cubicBezTo>
                    <a:pt x="81822" y="82408"/>
                    <a:pt x="81589" y="82810"/>
                    <a:pt x="81331" y="83242"/>
                  </a:cubicBezTo>
                  <a:cubicBezTo>
                    <a:pt x="81173" y="83500"/>
                    <a:pt x="80997" y="83746"/>
                    <a:pt x="80804" y="83979"/>
                  </a:cubicBezTo>
                  <a:cubicBezTo>
                    <a:pt x="80478" y="84397"/>
                    <a:pt x="80110" y="84780"/>
                    <a:pt x="79705" y="85122"/>
                  </a:cubicBezTo>
                  <a:cubicBezTo>
                    <a:pt x="79557" y="85245"/>
                    <a:pt x="79398" y="85367"/>
                    <a:pt x="79229" y="85490"/>
                  </a:cubicBezTo>
                  <a:cubicBezTo>
                    <a:pt x="78631" y="85050"/>
                    <a:pt x="78095" y="84531"/>
                    <a:pt x="77635" y="83947"/>
                  </a:cubicBezTo>
                  <a:cubicBezTo>
                    <a:pt x="77460" y="83731"/>
                    <a:pt x="77298" y="83504"/>
                    <a:pt x="77152" y="83268"/>
                  </a:cubicBezTo>
                  <a:cubicBezTo>
                    <a:pt x="76365" y="82042"/>
                    <a:pt x="76029" y="80962"/>
                    <a:pt x="75013" y="80448"/>
                  </a:cubicBezTo>
                  <a:cubicBezTo>
                    <a:pt x="74797" y="80347"/>
                    <a:pt x="74352" y="80397"/>
                    <a:pt x="73743" y="80588"/>
                  </a:cubicBezTo>
                  <a:cubicBezTo>
                    <a:pt x="73345" y="80715"/>
                    <a:pt x="72887" y="80899"/>
                    <a:pt x="72371" y="81140"/>
                  </a:cubicBezTo>
                  <a:cubicBezTo>
                    <a:pt x="72117" y="81259"/>
                    <a:pt x="71852" y="81392"/>
                    <a:pt x="71577" y="81540"/>
                  </a:cubicBezTo>
                  <a:lnTo>
                    <a:pt x="70752" y="82010"/>
                  </a:lnTo>
                  <a:cubicBezTo>
                    <a:pt x="70468" y="82180"/>
                    <a:pt x="70180" y="82362"/>
                    <a:pt x="69888" y="82556"/>
                  </a:cubicBezTo>
                  <a:cubicBezTo>
                    <a:pt x="69597" y="82752"/>
                    <a:pt x="69311" y="82955"/>
                    <a:pt x="69031" y="83166"/>
                  </a:cubicBezTo>
                  <a:cubicBezTo>
                    <a:pt x="68455" y="83598"/>
                    <a:pt x="67903" y="84062"/>
                    <a:pt x="67380" y="84557"/>
                  </a:cubicBezTo>
                  <a:cubicBezTo>
                    <a:pt x="67115" y="84802"/>
                    <a:pt x="66861" y="85058"/>
                    <a:pt x="66618" y="85325"/>
                  </a:cubicBezTo>
                  <a:cubicBezTo>
                    <a:pt x="66382" y="85586"/>
                    <a:pt x="66158" y="85858"/>
                    <a:pt x="65945" y="86138"/>
                  </a:cubicBezTo>
                  <a:lnTo>
                    <a:pt x="65932" y="86150"/>
                  </a:lnTo>
                  <a:cubicBezTo>
                    <a:pt x="65730" y="86422"/>
                    <a:pt x="65540" y="86702"/>
                    <a:pt x="65361" y="86989"/>
                  </a:cubicBezTo>
                  <a:lnTo>
                    <a:pt x="65354" y="86995"/>
                  </a:lnTo>
                  <a:cubicBezTo>
                    <a:pt x="65088" y="87421"/>
                    <a:pt x="64865" y="87872"/>
                    <a:pt x="64687" y="88341"/>
                  </a:cubicBezTo>
                  <a:cubicBezTo>
                    <a:pt x="64632" y="88494"/>
                    <a:pt x="64582" y="88648"/>
                    <a:pt x="64535" y="88805"/>
                  </a:cubicBezTo>
                  <a:cubicBezTo>
                    <a:pt x="57302" y="83249"/>
                    <a:pt x="54610" y="74092"/>
                    <a:pt x="54610" y="68466"/>
                  </a:cubicBezTo>
                  <a:cubicBezTo>
                    <a:pt x="54610" y="66345"/>
                    <a:pt x="55302" y="65564"/>
                    <a:pt x="56547" y="65583"/>
                  </a:cubicBezTo>
                  <a:moveTo>
                    <a:pt x="61855" y="131331"/>
                  </a:moveTo>
                  <a:cubicBezTo>
                    <a:pt x="67088" y="123774"/>
                    <a:pt x="66719" y="118110"/>
                    <a:pt x="59538" y="111049"/>
                  </a:cubicBezTo>
                  <a:cubicBezTo>
                    <a:pt x="52362" y="103988"/>
                    <a:pt x="48177" y="93662"/>
                    <a:pt x="48177" y="93662"/>
                  </a:cubicBezTo>
                  <a:cubicBezTo>
                    <a:pt x="48177" y="93662"/>
                    <a:pt x="46615" y="87662"/>
                    <a:pt x="43059" y="88214"/>
                  </a:cubicBezTo>
                  <a:cubicBezTo>
                    <a:pt x="39503" y="88767"/>
                    <a:pt x="36900" y="97733"/>
                    <a:pt x="44342" y="103213"/>
                  </a:cubicBezTo>
                  <a:cubicBezTo>
                    <a:pt x="51791" y="108699"/>
                    <a:pt x="42862" y="112420"/>
                    <a:pt x="39992" y="107277"/>
                  </a:cubicBezTo>
                  <a:cubicBezTo>
                    <a:pt x="37135" y="102121"/>
                    <a:pt x="29305" y="88887"/>
                    <a:pt x="25248" y="86354"/>
                  </a:cubicBezTo>
                  <a:cubicBezTo>
                    <a:pt x="21190" y="83820"/>
                    <a:pt x="18332" y="85242"/>
                    <a:pt x="19291" y="90462"/>
                  </a:cubicBezTo>
                  <a:cubicBezTo>
                    <a:pt x="20250" y="95682"/>
                    <a:pt x="37211" y="108325"/>
                    <a:pt x="35560" y="111062"/>
                  </a:cubicBezTo>
                  <a:cubicBezTo>
                    <a:pt x="33909" y="113798"/>
                    <a:pt x="28092" y="107848"/>
                    <a:pt x="28092" y="107848"/>
                  </a:cubicBezTo>
                  <a:cubicBezTo>
                    <a:pt x="28092" y="107848"/>
                    <a:pt x="9893" y="91548"/>
                    <a:pt x="5931" y="95796"/>
                  </a:cubicBezTo>
                  <a:cubicBezTo>
                    <a:pt x="1968" y="100044"/>
                    <a:pt x="8934" y="103607"/>
                    <a:pt x="18866" y="109512"/>
                  </a:cubicBezTo>
                  <a:cubicBezTo>
                    <a:pt x="28797" y="115430"/>
                    <a:pt x="29572" y="116992"/>
                    <a:pt x="28162" y="119228"/>
                  </a:cubicBezTo>
                  <a:cubicBezTo>
                    <a:pt x="26753" y="121463"/>
                    <a:pt x="4826" y="103283"/>
                    <a:pt x="2762" y="110992"/>
                  </a:cubicBezTo>
                  <a:cubicBezTo>
                    <a:pt x="711" y="118701"/>
                    <a:pt x="25140" y="120942"/>
                    <a:pt x="23635" y="126263"/>
                  </a:cubicBezTo>
                  <a:cubicBezTo>
                    <a:pt x="22123" y="131591"/>
                    <a:pt x="6426" y="116186"/>
                    <a:pt x="3213" y="122187"/>
                  </a:cubicBezTo>
                  <a:cubicBezTo>
                    <a:pt x="0" y="128194"/>
                    <a:pt x="25375" y="135242"/>
                    <a:pt x="25578" y="135293"/>
                  </a:cubicBezTo>
                  <a:cubicBezTo>
                    <a:pt x="33769" y="137389"/>
                    <a:pt x="54585" y="141821"/>
                    <a:pt x="61855" y="131331"/>
                  </a:cubicBezTo>
                  <a:moveTo>
                    <a:pt x="95822" y="131331"/>
                  </a:moveTo>
                  <a:cubicBezTo>
                    <a:pt x="90589" y="123774"/>
                    <a:pt x="90957" y="118110"/>
                    <a:pt x="98139" y="111049"/>
                  </a:cubicBezTo>
                  <a:cubicBezTo>
                    <a:pt x="105315" y="103988"/>
                    <a:pt x="109499" y="93662"/>
                    <a:pt x="109499" y="93662"/>
                  </a:cubicBezTo>
                  <a:cubicBezTo>
                    <a:pt x="109499" y="93662"/>
                    <a:pt x="111061" y="87662"/>
                    <a:pt x="114617" y="88214"/>
                  </a:cubicBezTo>
                  <a:cubicBezTo>
                    <a:pt x="118174" y="88767"/>
                    <a:pt x="120777" y="97733"/>
                    <a:pt x="113335" y="103213"/>
                  </a:cubicBezTo>
                  <a:cubicBezTo>
                    <a:pt x="105886" y="108699"/>
                    <a:pt x="114814" y="112420"/>
                    <a:pt x="117685" y="107277"/>
                  </a:cubicBezTo>
                  <a:cubicBezTo>
                    <a:pt x="120548" y="102121"/>
                    <a:pt x="128372" y="88887"/>
                    <a:pt x="132429" y="86354"/>
                  </a:cubicBezTo>
                  <a:cubicBezTo>
                    <a:pt x="136487" y="83820"/>
                    <a:pt x="139344" y="85242"/>
                    <a:pt x="138386" y="90462"/>
                  </a:cubicBezTo>
                  <a:cubicBezTo>
                    <a:pt x="137427" y="95682"/>
                    <a:pt x="120466" y="108325"/>
                    <a:pt x="122117" y="111062"/>
                  </a:cubicBezTo>
                  <a:cubicBezTo>
                    <a:pt x="123768" y="113798"/>
                    <a:pt x="129584" y="107848"/>
                    <a:pt x="129584" y="107848"/>
                  </a:cubicBezTo>
                  <a:cubicBezTo>
                    <a:pt x="129584" y="107848"/>
                    <a:pt x="147784" y="91548"/>
                    <a:pt x="151746" y="95796"/>
                  </a:cubicBezTo>
                  <a:cubicBezTo>
                    <a:pt x="155708" y="100044"/>
                    <a:pt x="148742" y="103607"/>
                    <a:pt x="138811" y="109512"/>
                  </a:cubicBezTo>
                  <a:cubicBezTo>
                    <a:pt x="128880" y="115430"/>
                    <a:pt x="128105" y="116992"/>
                    <a:pt x="129515" y="119228"/>
                  </a:cubicBezTo>
                  <a:cubicBezTo>
                    <a:pt x="130924" y="121463"/>
                    <a:pt x="152851" y="103283"/>
                    <a:pt x="154915" y="110992"/>
                  </a:cubicBezTo>
                  <a:cubicBezTo>
                    <a:pt x="156966" y="118701"/>
                    <a:pt x="132537" y="120942"/>
                    <a:pt x="134042" y="126263"/>
                  </a:cubicBezTo>
                  <a:cubicBezTo>
                    <a:pt x="135553" y="131591"/>
                    <a:pt x="151251" y="116186"/>
                    <a:pt x="154464" y="122187"/>
                  </a:cubicBezTo>
                  <a:cubicBezTo>
                    <a:pt x="157677" y="128194"/>
                    <a:pt x="132302" y="135242"/>
                    <a:pt x="132099" y="135293"/>
                  </a:cubicBezTo>
                  <a:cubicBezTo>
                    <a:pt x="123908" y="137389"/>
                    <a:pt x="103092" y="141821"/>
                    <a:pt x="95822" y="131331"/>
                  </a:cubicBezTo>
                </a:path>
              </a:pathLst>
            </a:custGeom>
            <a:solidFill>
              <a:srgbClr val="586A68"/>
            </a:solidFill>
            <a:ln>
              <a:noFill/>
            </a:ln>
          </p:spPr>
          <p:txBody>
            <a:bodyPr/>
            <a:lstStyle/>
            <a:p>
              <a:endParaRPr lang="da-DK"/>
            </a:p>
          </p:txBody>
        </p:sp>
        <p:sp>
          <p:nvSpPr>
            <p:cNvPr id="25" name="TextBox 25"/>
            <p:cNvSpPr txBox="1"/>
            <p:nvPr/>
          </p:nvSpPr>
          <p:spPr>
            <a:xfrm>
              <a:off x="957262" y="2669381"/>
              <a:ext cx="2090208"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HF Inference / Endpoints</a:t>
              </a:r>
            </a:p>
          </p:txBody>
        </p:sp>
        <p:sp>
          <p:nvSpPr>
            <p:cNvPr id="26" name="TextBox 26"/>
            <p:cNvSpPr txBox="1"/>
            <p:nvPr/>
          </p:nvSpPr>
          <p:spPr>
            <a:xfrm>
              <a:off x="749618" y="2876074"/>
              <a:ext cx="188306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Serverless + dedicated GPU</a:t>
              </a:r>
            </a:p>
          </p:txBody>
        </p:sp>
        <p:sp>
          <p:nvSpPr>
            <p:cNvPr id="27" name="TextBox 27"/>
            <p:cNvSpPr txBox="1"/>
            <p:nvPr/>
          </p:nvSpPr>
          <p:spPr>
            <a:xfrm>
              <a:off x="750570" y="3074670"/>
              <a:ext cx="1541050"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Hugging Face ecosystem</a:t>
              </a:r>
            </a:p>
          </p:txBody>
        </p:sp>
        <p:sp>
          <p:nvSpPr>
            <p:cNvPr id="28" name="Rectangle 28"/>
            <p:cNvSpPr/>
            <p:nvPr/>
          </p:nvSpPr>
          <p:spPr>
            <a:xfrm>
              <a:off x="4286250" y="2524125"/>
              <a:ext cx="3524250" cy="762000"/>
            </a:xfrm>
            <a:prstGeom prst="roundRect">
              <a:avLst>
                <a:gd name="adj" fmla="val 10000"/>
              </a:avLst>
            </a:prstGeom>
            <a:solidFill>
              <a:srgbClr val="586A68">
                <a:alpha val="8000"/>
              </a:srgbClr>
            </a:solidFill>
            <a:ln>
              <a:noFill/>
            </a:ln>
          </p:spPr>
          <p:txBody>
            <a:bodyPr/>
            <a:lstStyle/>
            <a:p>
              <a:endParaRPr lang="da-DK"/>
            </a:p>
          </p:txBody>
        </p:sp>
        <p:sp>
          <p:nvSpPr>
            <p:cNvPr id="29" name="TextBox 29"/>
            <p:cNvSpPr txBox="1"/>
            <p:nvPr/>
          </p:nvSpPr>
          <p:spPr>
            <a:xfrm>
              <a:off x="4462462" y="2669381"/>
              <a:ext cx="1874556"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Modal / Banana / Beam</a:t>
              </a:r>
            </a:p>
          </p:txBody>
        </p:sp>
        <p:sp>
          <p:nvSpPr>
            <p:cNvPr id="30" name="TextBox 30"/>
            <p:cNvSpPr txBox="1"/>
            <p:nvPr/>
          </p:nvSpPr>
          <p:spPr>
            <a:xfrm>
              <a:off x="4464368" y="2876074"/>
              <a:ext cx="208242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Serverless GPU tự deploy code</a:t>
              </a:r>
            </a:p>
          </p:txBody>
        </p:sp>
        <p:sp>
          <p:nvSpPr>
            <p:cNvPr id="31" name="TextBox 31"/>
            <p:cNvSpPr txBox="1"/>
            <p:nvPr/>
          </p:nvSpPr>
          <p:spPr>
            <a:xfrm>
              <a:off x="4465320" y="3074670"/>
              <a:ext cx="114014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Custom container</a:t>
              </a:r>
            </a:p>
          </p:txBody>
        </p:sp>
        <p:sp>
          <p:nvSpPr>
            <p:cNvPr id="32" name="Rectangle 32"/>
            <p:cNvSpPr/>
            <p:nvPr/>
          </p:nvSpPr>
          <p:spPr>
            <a:xfrm>
              <a:off x="8001000" y="2524125"/>
              <a:ext cx="3619500" cy="762000"/>
            </a:xfrm>
            <a:prstGeom prst="roundRect">
              <a:avLst>
                <a:gd name="adj" fmla="val 10000"/>
              </a:avLst>
            </a:prstGeom>
            <a:solidFill>
              <a:srgbClr val="586A68">
                <a:alpha val="8000"/>
              </a:srgbClr>
            </a:solidFill>
            <a:ln>
              <a:noFill/>
            </a:ln>
          </p:spPr>
          <p:txBody>
            <a:bodyPr/>
            <a:lstStyle/>
            <a:p>
              <a:endParaRPr lang="da-DK"/>
            </a:p>
          </p:txBody>
        </p:sp>
        <p:sp>
          <p:nvSpPr>
            <p:cNvPr id="33" name="TextBox 33"/>
            <p:cNvSpPr txBox="1"/>
            <p:nvPr/>
          </p:nvSpPr>
          <p:spPr>
            <a:xfrm>
              <a:off x="8177212" y="2669381"/>
              <a:ext cx="1417374" cy="228600"/>
            </a:xfrm>
            <a:prstGeom prst="rect">
              <a:avLst/>
            </a:prstGeom>
            <a:noFill/>
            <a:ln>
              <a:noFill/>
            </a:ln>
          </p:spPr>
          <p:txBody>
            <a:bodyPr wrap="none" lIns="0" tIns="0" rIns="0" bIns="0" anchor="t" anchorCtr="0">
              <a:spAutoFit/>
            </a:bodyPr>
            <a:lstStyle/>
            <a:p>
              <a:pPr algn="l"/>
              <a:r>
                <a:rPr lang="zh-CN" sz="1125" b="1" dirty="0">
                  <a:solidFill>
                    <a:srgbClr val="586A68"/>
                  </a:solidFill>
                  <a:latin typeface="Segoe UI"/>
                  <a:ea typeface="Microsoft YaHei"/>
                  <a:cs typeface="Segoe UI"/>
                </a:rPr>
                <a:t>RunPod / Vast.ai</a:t>
              </a:r>
            </a:p>
          </p:txBody>
        </p:sp>
        <p:sp>
          <p:nvSpPr>
            <p:cNvPr id="34" name="TextBox 34"/>
            <p:cNvSpPr txBox="1"/>
            <p:nvPr/>
          </p:nvSpPr>
          <p:spPr>
            <a:xfrm>
              <a:off x="8179118" y="2876074"/>
              <a:ext cx="132771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GPU thuê theo phút</a:t>
              </a:r>
            </a:p>
          </p:txBody>
        </p:sp>
        <p:sp>
          <p:nvSpPr>
            <p:cNvPr id="35" name="TextBox 35"/>
            <p:cNvSpPr txBox="1"/>
            <p:nvPr/>
          </p:nvSpPr>
          <p:spPr>
            <a:xfrm>
              <a:off x="8180070" y="3074670"/>
              <a:ext cx="163306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Control cao nhất, giá tốt</a:t>
              </a:r>
            </a:p>
          </p:txBody>
        </p:sp>
      </p:grpSp>
      <p:sp>
        <p:nvSpPr>
          <p:cNvPr id="37" name="Rectangle 37"/>
          <p:cNvSpPr/>
          <p:nvPr/>
        </p:nvSpPr>
        <p:spPr>
          <a:xfrm>
            <a:off x="571500" y="3524250"/>
            <a:ext cx="11049000" cy="9525"/>
          </a:xfrm>
          <a:prstGeom prst="rect">
            <a:avLst/>
          </a:prstGeom>
          <a:solidFill>
            <a:srgbClr val="C1856B">
              <a:alpha val="30000"/>
            </a:srgbClr>
          </a:solidFill>
          <a:ln>
            <a:noFill/>
          </a:ln>
        </p:spPr>
        <p:txBody>
          <a:bodyPr/>
          <a:lstStyle/>
          <a:p>
            <a:endParaRPr lang="da-DK"/>
          </a:p>
        </p:txBody>
      </p:sp>
      <p:grpSp>
        <p:nvGrpSpPr>
          <p:cNvPr id="73" name="Group 73"/>
          <p:cNvGrpSpPr/>
          <p:nvPr/>
        </p:nvGrpSpPr>
        <p:grpSpPr>
          <a:xfrm>
            <a:off x="558165" y="3696652"/>
            <a:ext cx="11062335" cy="2208848"/>
            <a:chOff x="558165" y="3696652"/>
            <a:chExt cx="11062335" cy="2208848"/>
          </a:xfrm>
        </p:grpSpPr>
        <p:sp>
          <p:nvSpPr>
            <p:cNvPr id="38" name="TextBox 38"/>
            <p:cNvSpPr txBox="1"/>
            <p:nvPr/>
          </p:nvSpPr>
          <p:spPr>
            <a:xfrm>
              <a:off x="558165" y="3696652"/>
              <a:ext cx="1427545"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EDIT / UTILITY APIs</a:t>
              </a:r>
            </a:p>
          </p:txBody>
        </p:sp>
        <p:sp>
          <p:nvSpPr>
            <p:cNvPr id="39" name="Rectangle 39"/>
            <p:cNvSpPr/>
            <p:nvPr/>
          </p:nvSpPr>
          <p:spPr>
            <a:xfrm>
              <a:off x="571500" y="3905250"/>
              <a:ext cx="11049000" cy="19050"/>
            </a:xfrm>
            <a:prstGeom prst="rect">
              <a:avLst/>
            </a:prstGeom>
            <a:solidFill>
              <a:srgbClr val="C1856B">
                <a:alpha val="30000"/>
              </a:srgbClr>
            </a:solidFill>
            <a:ln>
              <a:noFill/>
            </a:ln>
          </p:spPr>
          <p:txBody>
            <a:bodyPr/>
            <a:lstStyle/>
            <a:p>
              <a:endParaRPr lang="da-DK"/>
            </a:p>
          </p:txBody>
        </p:sp>
        <p:sp>
          <p:nvSpPr>
            <p:cNvPr id="40" name="Rectangle 40"/>
            <p:cNvSpPr/>
            <p:nvPr/>
          </p:nvSpPr>
          <p:spPr>
            <a:xfrm>
              <a:off x="571500"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1" name="TextBox 41"/>
            <p:cNvSpPr txBox="1"/>
            <p:nvPr/>
          </p:nvSpPr>
          <p:spPr>
            <a:xfrm>
              <a:off x="747712" y="4193381"/>
              <a:ext cx="9170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Photoroom</a:t>
              </a:r>
            </a:p>
          </p:txBody>
        </p:sp>
        <p:sp>
          <p:nvSpPr>
            <p:cNvPr id="42" name="TextBox 42"/>
            <p:cNvSpPr txBox="1"/>
            <p:nvPr/>
          </p:nvSpPr>
          <p:spPr>
            <a:xfrm>
              <a:off x="749618" y="4400074"/>
              <a:ext cx="151283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Remove BG, gen scene</a:t>
              </a:r>
            </a:p>
          </p:txBody>
        </p:sp>
        <p:sp>
          <p:nvSpPr>
            <p:cNvPr id="43" name="TextBox 43"/>
            <p:cNvSpPr txBox="1"/>
            <p:nvPr/>
          </p:nvSpPr>
          <p:spPr>
            <a:xfrm>
              <a:off x="750570" y="4598670"/>
              <a:ext cx="1495044"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Brand kit, e-commerce</a:t>
              </a:r>
            </a:p>
          </p:txBody>
        </p:sp>
        <p:sp>
          <p:nvSpPr>
            <p:cNvPr id="44" name="Rectangle 44"/>
            <p:cNvSpPr/>
            <p:nvPr/>
          </p:nvSpPr>
          <p:spPr>
            <a:xfrm>
              <a:off x="3381375"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5" name="TextBox 45"/>
            <p:cNvSpPr txBox="1"/>
            <p:nvPr/>
          </p:nvSpPr>
          <p:spPr>
            <a:xfrm>
              <a:off x="3557588" y="4193381"/>
              <a:ext cx="9170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remove.bg</a:t>
              </a:r>
            </a:p>
          </p:txBody>
        </p:sp>
        <p:sp>
          <p:nvSpPr>
            <p:cNvPr id="46" name="TextBox 46"/>
            <p:cNvSpPr txBox="1"/>
            <p:nvPr/>
          </p:nvSpPr>
          <p:spPr>
            <a:xfrm>
              <a:off x="3559492" y="4400074"/>
              <a:ext cx="148435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Tách nền chuyên dụng</a:t>
              </a:r>
            </a:p>
          </p:txBody>
        </p:sp>
        <p:sp>
          <p:nvSpPr>
            <p:cNvPr id="47" name="TextBox 47"/>
            <p:cNvSpPr txBox="1"/>
            <p:nvPr/>
          </p:nvSpPr>
          <p:spPr>
            <a:xfrm>
              <a:off x="3560445" y="4598670"/>
              <a:ext cx="1731645"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Ổn định, production-ready</a:t>
              </a:r>
            </a:p>
          </p:txBody>
        </p:sp>
        <p:sp>
          <p:nvSpPr>
            <p:cNvPr id="48" name="Rectangle 48"/>
            <p:cNvSpPr/>
            <p:nvPr/>
          </p:nvSpPr>
          <p:spPr>
            <a:xfrm>
              <a:off x="6191250"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49" name="Freeform 49"/>
            <p:cNvSpPr/>
            <p:nvPr/>
          </p:nvSpPr>
          <p:spPr>
            <a:xfrm>
              <a:off x="6378673" y="4226749"/>
              <a:ext cx="155477" cy="99848"/>
            </a:xfrm>
            <a:custGeom>
              <a:avLst/>
              <a:gdLst/>
              <a:ahLst/>
              <a:cxnLst/>
              <a:rect l="l" t="t" r="r" b="b"/>
              <a:pathLst>
                <a:path w="155477" h="99848">
                  <a:moveTo>
                    <a:pt x="155477" y="68136"/>
                  </a:moveTo>
                  <a:cubicBezTo>
                    <a:pt x="155477" y="81933"/>
                    <a:pt x="146741" y="93370"/>
                    <a:pt x="132678" y="97978"/>
                  </a:cubicBezTo>
                  <a:lnTo>
                    <a:pt x="132046" y="98180"/>
                  </a:lnTo>
                  <a:lnTo>
                    <a:pt x="132046" y="88006"/>
                  </a:lnTo>
                  <a:cubicBezTo>
                    <a:pt x="140795" y="84320"/>
                    <a:pt x="145933" y="77036"/>
                    <a:pt x="145933" y="68136"/>
                  </a:cubicBezTo>
                  <a:cubicBezTo>
                    <a:pt x="145887" y="55436"/>
                    <a:pt x="135718" y="45093"/>
                    <a:pt x="123021" y="44832"/>
                  </a:cubicBezTo>
                  <a:lnTo>
                    <a:pt x="119234" y="44832"/>
                  </a:lnTo>
                  <a:lnTo>
                    <a:pt x="118325" y="41222"/>
                  </a:lnTo>
                  <a:cubicBezTo>
                    <a:pt x="113864" y="22809"/>
                    <a:pt x="97442" y="9796"/>
                    <a:pt x="78497" y="9662"/>
                  </a:cubicBezTo>
                  <a:cubicBezTo>
                    <a:pt x="62720" y="9587"/>
                    <a:pt x="48329" y="18660"/>
                    <a:pt x="41597" y="32929"/>
                  </a:cubicBezTo>
                  <a:lnTo>
                    <a:pt x="40436" y="35314"/>
                  </a:lnTo>
                  <a:lnTo>
                    <a:pt x="37785" y="35592"/>
                  </a:lnTo>
                  <a:cubicBezTo>
                    <a:pt x="29112" y="36519"/>
                    <a:pt x="21360" y="41417"/>
                    <a:pt x="16797" y="48851"/>
                  </a:cubicBezTo>
                  <a:cubicBezTo>
                    <a:pt x="8667" y="62094"/>
                    <a:pt x="12813" y="79421"/>
                    <a:pt x="26057" y="87552"/>
                  </a:cubicBezTo>
                  <a:lnTo>
                    <a:pt x="26057" y="98282"/>
                  </a:lnTo>
                  <a:lnTo>
                    <a:pt x="25994" y="98282"/>
                  </a:lnTo>
                  <a:lnTo>
                    <a:pt x="25048" y="97853"/>
                  </a:lnTo>
                  <a:cubicBezTo>
                    <a:pt x="13834" y="92698"/>
                    <a:pt x="5852" y="82383"/>
                    <a:pt x="3675" y="70234"/>
                  </a:cubicBezTo>
                  <a:cubicBezTo>
                    <a:pt x="0" y="49729"/>
                    <a:pt x="13644" y="30127"/>
                    <a:pt x="34149" y="26452"/>
                  </a:cubicBezTo>
                  <a:cubicBezTo>
                    <a:pt x="42914" y="10137"/>
                    <a:pt x="59976" y="0"/>
                    <a:pt x="78497" y="106"/>
                  </a:cubicBezTo>
                  <a:cubicBezTo>
                    <a:pt x="100547" y="265"/>
                    <a:pt x="119994" y="14584"/>
                    <a:pt x="126694" y="35592"/>
                  </a:cubicBezTo>
                  <a:cubicBezTo>
                    <a:pt x="143070" y="37729"/>
                    <a:pt x="155357" y="51622"/>
                    <a:pt x="155477" y="68136"/>
                  </a:cubicBezTo>
                  <a:close/>
                  <a:moveTo>
                    <a:pt x="58210" y="59741"/>
                  </a:moveTo>
                  <a:lnTo>
                    <a:pt x="61796" y="59741"/>
                  </a:lnTo>
                  <a:cubicBezTo>
                    <a:pt x="61961" y="59737"/>
                    <a:pt x="62109" y="59636"/>
                    <a:pt x="62172" y="59483"/>
                  </a:cubicBezTo>
                  <a:cubicBezTo>
                    <a:pt x="62235" y="59329"/>
                    <a:pt x="62201" y="59153"/>
                    <a:pt x="62086" y="59034"/>
                  </a:cubicBezTo>
                  <a:lnTo>
                    <a:pt x="48060" y="44996"/>
                  </a:lnTo>
                  <a:lnTo>
                    <a:pt x="48056" y="44992"/>
                  </a:lnTo>
                  <a:cubicBezTo>
                    <a:pt x="47892" y="44831"/>
                    <a:pt x="47628" y="44833"/>
                    <a:pt x="47467" y="44996"/>
                  </a:cubicBezTo>
                  <a:lnTo>
                    <a:pt x="33430" y="59034"/>
                  </a:lnTo>
                  <a:cubicBezTo>
                    <a:pt x="33312" y="59155"/>
                    <a:pt x="33279" y="59334"/>
                    <a:pt x="33346" y="59488"/>
                  </a:cubicBezTo>
                  <a:cubicBezTo>
                    <a:pt x="33412" y="59643"/>
                    <a:pt x="33564" y="59742"/>
                    <a:pt x="33732" y="59741"/>
                  </a:cubicBezTo>
                  <a:lnTo>
                    <a:pt x="37267" y="59741"/>
                  </a:lnTo>
                  <a:cubicBezTo>
                    <a:pt x="37377" y="59741"/>
                    <a:pt x="37484" y="59784"/>
                    <a:pt x="37562" y="59863"/>
                  </a:cubicBezTo>
                  <a:cubicBezTo>
                    <a:pt x="37640" y="59941"/>
                    <a:pt x="37684" y="60047"/>
                    <a:pt x="37684" y="60157"/>
                  </a:cubicBezTo>
                  <a:lnTo>
                    <a:pt x="37684" y="92272"/>
                  </a:lnTo>
                  <a:cubicBezTo>
                    <a:pt x="37684" y="96455"/>
                    <a:pt x="41075" y="99846"/>
                    <a:pt x="45258" y="99846"/>
                  </a:cubicBezTo>
                  <a:lnTo>
                    <a:pt x="61795" y="99846"/>
                  </a:lnTo>
                  <a:cubicBezTo>
                    <a:pt x="61961" y="99843"/>
                    <a:pt x="62109" y="99741"/>
                    <a:pt x="62172" y="99588"/>
                  </a:cubicBezTo>
                  <a:cubicBezTo>
                    <a:pt x="62235" y="99434"/>
                    <a:pt x="62201" y="99258"/>
                    <a:pt x="62085" y="99139"/>
                  </a:cubicBezTo>
                  <a:lnTo>
                    <a:pt x="59990" y="97044"/>
                  </a:lnTo>
                  <a:cubicBezTo>
                    <a:pt x="58579" y="95629"/>
                    <a:pt x="57785" y="93714"/>
                    <a:pt x="57780" y="91716"/>
                  </a:cubicBezTo>
                  <a:lnTo>
                    <a:pt x="57780" y="60157"/>
                  </a:lnTo>
                  <a:cubicBezTo>
                    <a:pt x="57787" y="59925"/>
                    <a:pt x="57977" y="59741"/>
                    <a:pt x="58209" y="59741"/>
                  </a:cubicBezTo>
                  <a:close/>
                  <a:moveTo>
                    <a:pt x="120243" y="75912"/>
                  </a:moveTo>
                  <a:lnTo>
                    <a:pt x="123842" y="75912"/>
                  </a:lnTo>
                  <a:cubicBezTo>
                    <a:pt x="124013" y="75914"/>
                    <a:pt x="124169" y="75811"/>
                    <a:pt x="124233" y="75651"/>
                  </a:cubicBezTo>
                  <a:cubicBezTo>
                    <a:pt x="124297" y="75492"/>
                    <a:pt x="124257" y="75310"/>
                    <a:pt x="124132" y="75192"/>
                  </a:cubicBezTo>
                  <a:lnTo>
                    <a:pt x="110094" y="61167"/>
                  </a:lnTo>
                  <a:lnTo>
                    <a:pt x="110084" y="61158"/>
                  </a:lnTo>
                  <a:cubicBezTo>
                    <a:pt x="109924" y="61003"/>
                    <a:pt x="109668" y="61007"/>
                    <a:pt x="109513" y="61167"/>
                  </a:cubicBezTo>
                  <a:lnTo>
                    <a:pt x="95475" y="75192"/>
                  </a:lnTo>
                  <a:cubicBezTo>
                    <a:pt x="95351" y="75310"/>
                    <a:pt x="95312" y="75491"/>
                    <a:pt x="95376" y="75650"/>
                  </a:cubicBezTo>
                  <a:cubicBezTo>
                    <a:pt x="95440" y="75809"/>
                    <a:pt x="95595" y="75912"/>
                    <a:pt x="95766" y="75911"/>
                  </a:cubicBezTo>
                  <a:lnTo>
                    <a:pt x="99301" y="75911"/>
                  </a:lnTo>
                  <a:cubicBezTo>
                    <a:pt x="99531" y="75911"/>
                    <a:pt x="99717" y="76098"/>
                    <a:pt x="99717" y="76328"/>
                  </a:cubicBezTo>
                  <a:lnTo>
                    <a:pt x="99717" y="92271"/>
                  </a:lnTo>
                  <a:cubicBezTo>
                    <a:pt x="99717" y="96455"/>
                    <a:pt x="103108" y="99846"/>
                    <a:pt x="107292" y="99846"/>
                  </a:cubicBezTo>
                  <a:lnTo>
                    <a:pt x="123842" y="99846"/>
                  </a:lnTo>
                  <a:cubicBezTo>
                    <a:pt x="124008" y="99843"/>
                    <a:pt x="124156" y="99741"/>
                    <a:pt x="124219" y="99588"/>
                  </a:cubicBezTo>
                  <a:cubicBezTo>
                    <a:pt x="124282" y="99434"/>
                    <a:pt x="124248" y="99257"/>
                    <a:pt x="124132" y="99139"/>
                  </a:cubicBezTo>
                  <a:lnTo>
                    <a:pt x="122036" y="97043"/>
                  </a:lnTo>
                  <a:cubicBezTo>
                    <a:pt x="120626" y="95628"/>
                    <a:pt x="119832" y="93713"/>
                    <a:pt x="119826" y="91716"/>
                  </a:cubicBezTo>
                  <a:lnTo>
                    <a:pt x="119826" y="76328"/>
                  </a:lnTo>
                  <a:cubicBezTo>
                    <a:pt x="119826" y="76218"/>
                    <a:pt x="119870" y="76112"/>
                    <a:pt x="119949" y="76034"/>
                  </a:cubicBezTo>
                  <a:cubicBezTo>
                    <a:pt x="120027" y="75955"/>
                    <a:pt x="120133" y="75912"/>
                    <a:pt x="120244" y="75912"/>
                  </a:cubicBezTo>
                  <a:close/>
                  <a:moveTo>
                    <a:pt x="89227" y="67820"/>
                  </a:moveTo>
                  <a:lnTo>
                    <a:pt x="92812" y="67820"/>
                  </a:lnTo>
                  <a:cubicBezTo>
                    <a:pt x="92981" y="67822"/>
                    <a:pt x="93134" y="67722"/>
                    <a:pt x="93200" y="67567"/>
                  </a:cubicBezTo>
                  <a:cubicBezTo>
                    <a:pt x="93266" y="67413"/>
                    <a:pt x="93233" y="67233"/>
                    <a:pt x="93115" y="67113"/>
                  </a:cubicBezTo>
                  <a:lnTo>
                    <a:pt x="79077" y="53125"/>
                  </a:lnTo>
                  <a:lnTo>
                    <a:pt x="79073" y="53122"/>
                  </a:lnTo>
                  <a:cubicBezTo>
                    <a:pt x="78995" y="53044"/>
                    <a:pt x="78888" y="53001"/>
                    <a:pt x="78778" y="53001"/>
                  </a:cubicBezTo>
                  <a:cubicBezTo>
                    <a:pt x="78667" y="53002"/>
                    <a:pt x="78562" y="53047"/>
                    <a:pt x="78484" y="53125"/>
                  </a:cubicBezTo>
                  <a:lnTo>
                    <a:pt x="64459" y="67139"/>
                  </a:lnTo>
                  <a:cubicBezTo>
                    <a:pt x="64343" y="67258"/>
                    <a:pt x="64309" y="67434"/>
                    <a:pt x="64372" y="67587"/>
                  </a:cubicBezTo>
                  <a:cubicBezTo>
                    <a:pt x="64435" y="67740"/>
                    <a:pt x="64583" y="67842"/>
                    <a:pt x="64749" y="67845"/>
                  </a:cubicBezTo>
                  <a:lnTo>
                    <a:pt x="68322" y="67845"/>
                  </a:lnTo>
                  <a:cubicBezTo>
                    <a:pt x="68554" y="67852"/>
                    <a:pt x="68739" y="68042"/>
                    <a:pt x="68739" y="68275"/>
                  </a:cubicBezTo>
                  <a:lnTo>
                    <a:pt x="68739" y="92272"/>
                  </a:lnTo>
                  <a:cubicBezTo>
                    <a:pt x="68739" y="96455"/>
                    <a:pt x="72130" y="99846"/>
                    <a:pt x="76313" y="99846"/>
                  </a:cubicBezTo>
                  <a:lnTo>
                    <a:pt x="92812" y="99846"/>
                  </a:lnTo>
                  <a:cubicBezTo>
                    <a:pt x="92980" y="99848"/>
                    <a:pt x="93133" y="99748"/>
                    <a:pt x="93199" y="99594"/>
                  </a:cubicBezTo>
                  <a:cubicBezTo>
                    <a:pt x="93265" y="99439"/>
                    <a:pt x="93232" y="99260"/>
                    <a:pt x="93115" y="99139"/>
                  </a:cubicBezTo>
                  <a:lnTo>
                    <a:pt x="91007" y="97044"/>
                  </a:lnTo>
                  <a:cubicBezTo>
                    <a:pt x="89601" y="95627"/>
                    <a:pt x="88812" y="93712"/>
                    <a:pt x="88810" y="91716"/>
                  </a:cubicBezTo>
                  <a:lnTo>
                    <a:pt x="88810" y="68249"/>
                  </a:lnTo>
                  <a:cubicBezTo>
                    <a:pt x="88810" y="68017"/>
                    <a:pt x="88995" y="67827"/>
                    <a:pt x="89227" y="67820"/>
                  </a:cubicBezTo>
                  <a:close/>
                </a:path>
              </a:pathLst>
            </a:custGeom>
            <a:solidFill>
              <a:srgbClr val="C1856B"/>
            </a:solidFill>
            <a:ln>
              <a:noFill/>
            </a:ln>
          </p:spPr>
          <p:txBody>
            <a:bodyPr/>
            <a:lstStyle/>
            <a:p>
              <a:endParaRPr lang="da-DK"/>
            </a:p>
          </p:txBody>
        </p:sp>
        <p:sp>
          <p:nvSpPr>
            <p:cNvPr id="50" name="TextBox 50"/>
            <p:cNvSpPr txBox="1"/>
            <p:nvPr/>
          </p:nvSpPr>
          <p:spPr>
            <a:xfrm>
              <a:off x="6577012" y="4193381"/>
              <a:ext cx="891183"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Cloudinary</a:t>
              </a:r>
            </a:p>
          </p:txBody>
        </p:sp>
        <p:sp>
          <p:nvSpPr>
            <p:cNvPr id="51" name="TextBox 51"/>
            <p:cNvSpPr txBox="1"/>
            <p:nvPr/>
          </p:nvSpPr>
          <p:spPr>
            <a:xfrm>
              <a:off x="6369368" y="4400074"/>
              <a:ext cx="191866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Transform + AI BG + upscale</a:t>
              </a:r>
            </a:p>
          </p:txBody>
        </p:sp>
        <p:sp>
          <p:nvSpPr>
            <p:cNvPr id="52" name="TextBox 52"/>
            <p:cNvSpPr txBox="1"/>
            <p:nvPr/>
          </p:nvSpPr>
          <p:spPr>
            <a:xfrm>
              <a:off x="6370320" y="4598670"/>
              <a:ext cx="1008697"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Có CDN tích hợp</a:t>
              </a:r>
            </a:p>
          </p:txBody>
        </p:sp>
        <p:sp>
          <p:nvSpPr>
            <p:cNvPr id="53" name="Rectangle 53"/>
            <p:cNvSpPr/>
            <p:nvPr/>
          </p:nvSpPr>
          <p:spPr>
            <a:xfrm>
              <a:off x="9001125" y="4048125"/>
              <a:ext cx="2619375" cy="857250"/>
            </a:xfrm>
            <a:prstGeom prst="roundRect">
              <a:avLst>
                <a:gd name="adj" fmla="val 8889"/>
              </a:avLst>
            </a:prstGeom>
            <a:solidFill>
              <a:srgbClr val="C1856B">
                <a:alpha val="8000"/>
              </a:srgbClr>
            </a:solidFill>
            <a:ln>
              <a:noFill/>
            </a:ln>
          </p:spPr>
          <p:txBody>
            <a:bodyPr/>
            <a:lstStyle/>
            <a:p>
              <a:endParaRPr lang="da-DK"/>
            </a:p>
          </p:txBody>
        </p:sp>
        <p:sp>
          <p:nvSpPr>
            <p:cNvPr id="54" name="TextBox 54"/>
            <p:cNvSpPr txBox="1"/>
            <p:nvPr/>
          </p:nvSpPr>
          <p:spPr>
            <a:xfrm>
              <a:off x="9177338" y="4193381"/>
              <a:ext cx="701409"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Clipdrop</a:t>
              </a:r>
            </a:p>
          </p:txBody>
        </p:sp>
        <p:sp>
          <p:nvSpPr>
            <p:cNvPr id="55" name="TextBox 55"/>
            <p:cNvSpPr txBox="1"/>
            <p:nvPr/>
          </p:nvSpPr>
          <p:spPr>
            <a:xfrm>
              <a:off x="9179242" y="4400074"/>
              <a:ext cx="224618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Suite: cleanup, relight, upscale</a:t>
              </a:r>
            </a:p>
          </p:txBody>
        </p:sp>
        <p:sp>
          <p:nvSpPr>
            <p:cNvPr id="56" name="TextBox 56"/>
            <p:cNvSpPr txBox="1"/>
            <p:nvPr/>
          </p:nvSpPr>
          <p:spPr>
            <a:xfrm>
              <a:off x="9180195" y="4598670"/>
              <a:ext cx="72609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Stability AI</a:t>
              </a:r>
            </a:p>
          </p:txBody>
        </p:sp>
        <p:sp>
          <p:nvSpPr>
            <p:cNvPr id="57" name="Rectangle 57"/>
            <p:cNvSpPr/>
            <p:nvPr/>
          </p:nvSpPr>
          <p:spPr>
            <a:xfrm>
              <a:off x="571500" y="5048250"/>
              <a:ext cx="2619375" cy="857250"/>
            </a:xfrm>
            <a:prstGeom prst="roundRect">
              <a:avLst>
                <a:gd name="adj" fmla="val 8889"/>
              </a:avLst>
            </a:prstGeom>
            <a:solidFill>
              <a:srgbClr val="C1856B">
                <a:alpha val="8000"/>
              </a:srgbClr>
            </a:solidFill>
            <a:ln>
              <a:noFill/>
            </a:ln>
          </p:spPr>
          <p:txBody>
            <a:bodyPr/>
            <a:lstStyle/>
            <a:p>
              <a:endParaRPr lang="da-DK"/>
            </a:p>
          </p:txBody>
        </p:sp>
        <p:sp>
          <p:nvSpPr>
            <p:cNvPr id="58" name="TextBox 58"/>
            <p:cNvSpPr txBox="1"/>
            <p:nvPr/>
          </p:nvSpPr>
          <p:spPr>
            <a:xfrm>
              <a:off x="747712" y="5193506"/>
              <a:ext cx="1313861"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Magnific / Krea</a:t>
              </a:r>
            </a:p>
          </p:txBody>
        </p:sp>
        <p:sp>
          <p:nvSpPr>
            <p:cNvPr id="59" name="TextBox 59"/>
            <p:cNvSpPr txBox="1"/>
            <p:nvPr/>
          </p:nvSpPr>
          <p:spPr>
            <a:xfrm>
              <a:off x="749618" y="5400199"/>
              <a:ext cx="1413153"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AI upscale &amp; enhance</a:t>
              </a:r>
            </a:p>
          </p:txBody>
        </p:sp>
        <p:sp>
          <p:nvSpPr>
            <p:cNvPr id="60" name="TextBox 60"/>
            <p:cNvSpPr txBox="1"/>
            <p:nvPr/>
          </p:nvSpPr>
          <p:spPr>
            <a:xfrm>
              <a:off x="750570" y="5598795"/>
              <a:ext cx="142932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Hi-detail, wow factor</a:t>
              </a:r>
            </a:p>
          </p:txBody>
        </p:sp>
        <p:sp>
          <p:nvSpPr>
            <p:cNvPr id="61" name="Rectangle 61"/>
            <p:cNvSpPr/>
            <p:nvPr/>
          </p:nvSpPr>
          <p:spPr>
            <a:xfrm>
              <a:off x="3381375" y="5048250"/>
              <a:ext cx="2619375" cy="857250"/>
            </a:xfrm>
            <a:prstGeom prst="roundRect">
              <a:avLst>
                <a:gd name="adj" fmla="val 8889"/>
              </a:avLst>
            </a:prstGeom>
            <a:solidFill>
              <a:srgbClr val="C1856B">
                <a:alpha val="8000"/>
              </a:srgbClr>
            </a:solidFill>
            <a:ln>
              <a:noFill/>
            </a:ln>
          </p:spPr>
          <p:txBody>
            <a:bodyPr/>
            <a:lstStyle/>
            <a:p>
              <a:endParaRPr lang="da-DK"/>
            </a:p>
          </p:txBody>
        </p:sp>
        <p:sp>
          <p:nvSpPr>
            <p:cNvPr id="62" name="TextBox 62"/>
            <p:cNvSpPr txBox="1"/>
            <p:nvPr/>
          </p:nvSpPr>
          <p:spPr>
            <a:xfrm>
              <a:off x="3557588" y="5193506"/>
              <a:ext cx="1615773" cy="228600"/>
            </a:xfrm>
            <a:prstGeom prst="rect">
              <a:avLst/>
            </a:prstGeom>
            <a:noFill/>
            <a:ln>
              <a:noFill/>
            </a:ln>
          </p:spPr>
          <p:txBody>
            <a:bodyPr wrap="none" lIns="0" tIns="0" rIns="0" bIns="0" anchor="t" anchorCtr="0">
              <a:spAutoFit/>
            </a:bodyPr>
            <a:lstStyle/>
            <a:p>
              <a:pPr algn="l"/>
              <a:r>
                <a:rPr lang="zh-CN" sz="1125" b="1" dirty="0">
                  <a:solidFill>
                    <a:srgbClr val="C1856B"/>
                  </a:solidFill>
                  <a:latin typeface="Segoe UI"/>
                  <a:ea typeface="Microsoft YaHei"/>
                  <a:cs typeface="Segoe UI"/>
                </a:rPr>
                <a:t>Pebblely / Booth.ai</a:t>
              </a:r>
            </a:p>
          </p:txBody>
        </p:sp>
        <p:sp>
          <p:nvSpPr>
            <p:cNvPr id="63" name="TextBox 63"/>
            <p:cNvSpPr txBox="1"/>
            <p:nvPr/>
          </p:nvSpPr>
          <p:spPr>
            <a:xfrm>
              <a:off x="3559492" y="5400199"/>
              <a:ext cx="1961388"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Lifestyle scene từ packshot</a:t>
              </a:r>
            </a:p>
          </p:txBody>
        </p:sp>
        <p:sp>
          <p:nvSpPr>
            <p:cNvPr id="64" name="TextBox 64"/>
            <p:cNvSpPr txBox="1"/>
            <p:nvPr/>
          </p:nvSpPr>
          <p:spPr>
            <a:xfrm>
              <a:off x="3560445" y="5598795"/>
              <a:ext cx="1343882"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E-commerce focused</a:t>
              </a:r>
            </a:p>
          </p:txBody>
        </p:sp>
        <p:sp>
          <p:nvSpPr>
            <p:cNvPr id="65" name="Rectangle 65"/>
            <p:cNvSpPr/>
            <p:nvPr/>
          </p:nvSpPr>
          <p:spPr>
            <a:xfrm>
              <a:off x="6191250" y="5048250"/>
              <a:ext cx="2619375" cy="857250"/>
            </a:xfrm>
            <a:prstGeom prst="roundRect">
              <a:avLst>
                <a:gd name="adj" fmla="val 8889"/>
              </a:avLst>
            </a:prstGeom>
            <a:solidFill>
              <a:srgbClr val="753438">
                <a:alpha val="8000"/>
              </a:srgbClr>
            </a:solidFill>
            <a:ln>
              <a:noFill/>
            </a:ln>
          </p:spPr>
          <p:txBody>
            <a:bodyPr/>
            <a:lstStyle/>
            <a:p>
              <a:endParaRPr lang="da-DK"/>
            </a:p>
          </p:txBody>
        </p:sp>
        <p:sp>
          <p:nvSpPr>
            <p:cNvPr id="66" name="TextBox 66"/>
            <p:cNvSpPr txBox="1"/>
            <p:nvPr/>
          </p:nvSpPr>
          <p:spPr>
            <a:xfrm>
              <a:off x="6367462" y="5193506"/>
              <a:ext cx="1356991" cy="228600"/>
            </a:xfrm>
            <a:prstGeom prst="rect">
              <a:avLst/>
            </a:prstGeom>
            <a:noFill/>
            <a:ln>
              <a:noFill/>
            </a:ln>
          </p:spPr>
          <p:txBody>
            <a:bodyPr wrap="none" lIns="0" tIns="0" rIns="0" bIns="0" anchor="t" anchorCtr="0">
              <a:spAutoFit/>
            </a:bodyPr>
            <a:lstStyle/>
            <a:p>
              <a:pPr algn="l"/>
              <a:r>
                <a:rPr lang="zh-CN" sz="1125" b="1" dirty="0">
                  <a:solidFill>
                    <a:srgbClr val="753438"/>
                  </a:solidFill>
                  <a:latin typeface="Segoe UI"/>
                  <a:ea typeface="Microsoft YaHei"/>
                  <a:cs typeface="Segoe UI"/>
                </a:rPr>
                <a:t>Tripo3D / Meshy</a:t>
              </a:r>
            </a:p>
          </p:txBody>
        </p:sp>
        <p:sp>
          <p:nvSpPr>
            <p:cNvPr id="67" name="TextBox 67"/>
            <p:cNvSpPr txBox="1"/>
            <p:nvPr/>
          </p:nvSpPr>
          <p:spPr>
            <a:xfrm>
              <a:off x="6369368" y="5400199"/>
              <a:ext cx="166235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Image-to-3D thương mại</a:t>
              </a:r>
            </a:p>
          </p:txBody>
        </p:sp>
        <p:sp>
          <p:nvSpPr>
            <p:cNvPr id="68" name="TextBox 68"/>
            <p:cNvSpPr txBox="1"/>
            <p:nvPr/>
          </p:nvSpPr>
          <p:spPr>
            <a:xfrm>
              <a:off x="6370320" y="5598795"/>
              <a:ext cx="1251871"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3D mesh generation</a:t>
              </a:r>
            </a:p>
          </p:txBody>
        </p:sp>
        <p:sp>
          <p:nvSpPr>
            <p:cNvPr id="69" name="Rectangle 69"/>
            <p:cNvSpPr/>
            <p:nvPr/>
          </p:nvSpPr>
          <p:spPr>
            <a:xfrm>
              <a:off x="9001125" y="5048250"/>
              <a:ext cx="2619375" cy="857250"/>
            </a:xfrm>
            <a:prstGeom prst="roundRect">
              <a:avLst>
                <a:gd name="adj" fmla="val 8889"/>
              </a:avLst>
            </a:prstGeom>
            <a:solidFill>
              <a:srgbClr val="753438">
                <a:alpha val="8000"/>
              </a:srgbClr>
            </a:solidFill>
            <a:ln>
              <a:noFill/>
            </a:ln>
          </p:spPr>
          <p:txBody>
            <a:bodyPr/>
            <a:lstStyle/>
            <a:p>
              <a:endParaRPr lang="da-DK"/>
            </a:p>
          </p:txBody>
        </p:sp>
        <p:sp>
          <p:nvSpPr>
            <p:cNvPr id="70" name="TextBox 70"/>
            <p:cNvSpPr txBox="1"/>
            <p:nvPr/>
          </p:nvSpPr>
          <p:spPr>
            <a:xfrm>
              <a:off x="9177338" y="5193506"/>
              <a:ext cx="1348365" cy="228600"/>
            </a:xfrm>
            <a:prstGeom prst="rect">
              <a:avLst/>
            </a:prstGeom>
            <a:noFill/>
            <a:ln>
              <a:noFill/>
            </a:ln>
          </p:spPr>
          <p:txBody>
            <a:bodyPr wrap="none" lIns="0" tIns="0" rIns="0" bIns="0" anchor="t" anchorCtr="0">
              <a:spAutoFit/>
            </a:bodyPr>
            <a:lstStyle/>
            <a:p>
              <a:pPr algn="l"/>
              <a:r>
                <a:rPr lang="zh-CN" sz="1125" b="1" dirty="0">
                  <a:solidFill>
                    <a:srgbClr val="753438"/>
                  </a:solidFill>
                  <a:latin typeface="Segoe UI"/>
                  <a:ea typeface="Microsoft YaHei"/>
                  <a:cs typeface="Segoe UI"/>
                </a:rPr>
                <a:t>Runway Gen-3/4</a:t>
              </a:r>
            </a:p>
          </p:txBody>
        </p:sp>
        <p:sp>
          <p:nvSpPr>
            <p:cNvPr id="71" name="TextBox 71"/>
            <p:cNvSpPr txBox="1"/>
            <p:nvPr/>
          </p:nvSpPr>
          <p:spPr>
            <a:xfrm>
              <a:off x="9179242" y="5400199"/>
              <a:ext cx="147011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Image/text-to-video</a:t>
              </a:r>
            </a:p>
          </p:txBody>
        </p:sp>
        <p:sp>
          <p:nvSpPr>
            <p:cNvPr id="72" name="TextBox 72"/>
            <p:cNvSpPr txBox="1"/>
            <p:nvPr/>
          </p:nvSpPr>
          <p:spPr>
            <a:xfrm>
              <a:off x="9180195" y="5598795"/>
              <a:ext cx="936403"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Chất lượng cao</a:t>
              </a:r>
            </a:p>
          </p:txBody>
        </p:sp>
      </p:grpSp>
      <p:sp>
        <p:nvSpPr>
          <p:cNvPr id="74" name="TextBox 74"/>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8</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box(in)">
                                      <p:cBhvr>
                                        <p:cTn id="11"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6729822" cy="722948"/>
            <a:chOff x="558165" y="458152"/>
            <a:chExt cx="6729822" cy="722948"/>
          </a:xfrm>
        </p:grpSpPr>
        <p:sp>
          <p:nvSpPr>
            <p:cNvPr id="4" name="TextBox 4"/>
            <p:cNvSpPr txBox="1"/>
            <p:nvPr/>
          </p:nvSpPr>
          <p:spPr>
            <a:xfrm>
              <a:off x="558165" y="458152"/>
              <a:ext cx="145284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08 / Quy Trình Mẫu</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6590757"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Workflow: Auto-generate Variant Đổi Màu</a:t>
              </a:r>
            </a:p>
          </p:txBody>
        </p:sp>
      </p:grpSp>
      <p:grpSp>
        <p:nvGrpSpPr>
          <p:cNvPr id="38" name="Group 38"/>
          <p:cNvGrpSpPr/>
          <p:nvPr/>
        </p:nvGrpSpPr>
        <p:grpSpPr>
          <a:xfrm>
            <a:off x="571500" y="1524000"/>
            <a:ext cx="11239500" cy="1524000"/>
            <a:chOff x="571500" y="1524000"/>
            <a:chExt cx="11239500" cy="1524000"/>
          </a:xfrm>
        </p:grpSpPr>
        <p:sp>
          <p:nvSpPr>
            <p:cNvPr id="8" name="Rectangle 8"/>
            <p:cNvSpPr/>
            <p:nvPr/>
          </p:nvSpPr>
          <p:spPr>
            <a:xfrm>
              <a:off x="571500" y="1714500"/>
              <a:ext cx="1905000" cy="1143000"/>
            </a:xfrm>
            <a:prstGeom prst="roundRect">
              <a:avLst>
                <a:gd name="adj" fmla="val 6667"/>
              </a:avLst>
            </a:prstGeom>
            <a:solidFill>
              <a:srgbClr val="586A68"/>
            </a:solidFill>
            <a:ln>
              <a:noFill/>
            </a:ln>
          </p:spPr>
          <p:txBody>
            <a:bodyPr/>
            <a:lstStyle/>
            <a:p>
              <a:endParaRPr lang="da-DK"/>
            </a:p>
          </p:txBody>
        </p:sp>
        <p:sp>
          <p:nvSpPr>
            <p:cNvPr id="9" name="TextBox 9"/>
            <p:cNvSpPr txBox="1"/>
            <p:nvPr/>
          </p:nvSpPr>
          <p:spPr>
            <a:xfrm>
              <a:off x="1309390" y="2029778"/>
              <a:ext cx="42922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INPUT</a:t>
              </a:r>
            </a:p>
          </p:txBody>
        </p:sp>
        <p:sp>
          <p:nvSpPr>
            <p:cNvPr id="10" name="TextBox 10"/>
            <p:cNvSpPr txBox="1"/>
            <p:nvPr/>
          </p:nvSpPr>
          <p:spPr>
            <a:xfrm>
              <a:off x="1059501" y="2275999"/>
              <a:ext cx="928997"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Packshot gốc</a:t>
              </a:r>
            </a:p>
          </p:txBody>
        </p:sp>
        <p:sp>
          <p:nvSpPr>
            <p:cNvPr id="11" name="TextBox 11"/>
            <p:cNvSpPr txBox="1"/>
            <p:nvPr/>
          </p:nvSpPr>
          <p:spPr>
            <a:xfrm>
              <a:off x="913543" y="2485549"/>
              <a:ext cx="1220914"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Swatch màu mới</a:t>
              </a:r>
            </a:p>
          </p:txBody>
        </p:sp>
        <p:sp>
          <p:nvSpPr>
            <p:cNvPr id="12" name="Line 12"/>
            <p:cNvSpPr/>
            <p:nvPr/>
          </p:nvSpPr>
          <p:spPr>
            <a:xfrm>
              <a:off x="247650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13" name="Polygon 13"/>
            <p:cNvSpPr/>
            <p:nvPr/>
          </p:nvSpPr>
          <p:spPr>
            <a:xfrm>
              <a:off x="280987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14" name="Rectangle 14"/>
            <p:cNvSpPr/>
            <p:nvPr/>
          </p:nvSpPr>
          <p:spPr>
            <a:xfrm>
              <a:off x="2952750" y="1714500"/>
              <a:ext cx="1905000" cy="1143000"/>
            </a:xfrm>
            <a:prstGeom prst="roundRect">
              <a:avLst>
                <a:gd name="adj" fmla="val 6667"/>
              </a:avLst>
            </a:prstGeom>
            <a:solidFill>
              <a:srgbClr val="C1856B"/>
            </a:solidFill>
            <a:ln>
              <a:noFill/>
            </a:ln>
          </p:spPr>
          <p:txBody>
            <a:bodyPr/>
            <a:lstStyle/>
            <a:p>
              <a:endParaRPr lang="da-DK"/>
            </a:p>
          </p:txBody>
        </p:sp>
        <p:sp>
          <p:nvSpPr>
            <p:cNvPr id="15" name="TextBox 15"/>
            <p:cNvSpPr txBox="1"/>
            <p:nvPr/>
          </p:nvSpPr>
          <p:spPr>
            <a:xfrm>
              <a:off x="3565849" y="2029778"/>
              <a:ext cx="67880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SEGMENT</a:t>
              </a:r>
            </a:p>
          </p:txBody>
        </p:sp>
        <p:sp>
          <p:nvSpPr>
            <p:cNvPr id="16" name="TextBox 16"/>
            <p:cNvSpPr txBox="1"/>
            <p:nvPr/>
          </p:nvSpPr>
          <p:spPr>
            <a:xfrm>
              <a:off x="3522631" y="2275999"/>
              <a:ext cx="76523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SAM 2 hoặc</a:t>
              </a:r>
            </a:p>
          </p:txBody>
        </p:sp>
        <p:sp>
          <p:nvSpPr>
            <p:cNvPr id="17" name="TextBox 17"/>
            <p:cNvSpPr txBox="1"/>
            <p:nvPr/>
          </p:nvSpPr>
          <p:spPr>
            <a:xfrm>
              <a:off x="3561790" y="2485549"/>
              <a:ext cx="68691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BRIA RMBG</a:t>
              </a:r>
            </a:p>
          </p:txBody>
        </p:sp>
        <p:sp>
          <p:nvSpPr>
            <p:cNvPr id="18" name="Line 18"/>
            <p:cNvSpPr/>
            <p:nvPr/>
          </p:nvSpPr>
          <p:spPr>
            <a:xfrm>
              <a:off x="485775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19" name="Polygon 19"/>
            <p:cNvSpPr/>
            <p:nvPr/>
          </p:nvSpPr>
          <p:spPr>
            <a:xfrm>
              <a:off x="519112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20" name="Rectangle 20"/>
            <p:cNvSpPr/>
            <p:nvPr/>
          </p:nvSpPr>
          <p:spPr>
            <a:xfrm>
              <a:off x="5334000" y="1524000"/>
              <a:ext cx="2286000" cy="1524000"/>
            </a:xfrm>
            <a:prstGeom prst="roundRect">
              <a:avLst>
                <a:gd name="adj" fmla="val 5000"/>
              </a:avLst>
            </a:prstGeom>
            <a:solidFill>
              <a:srgbClr val="586A68"/>
            </a:solidFill>
            <a:ln>
              <a:noFill/>
            </a:ln>
          </p:spPr>
          <p:txBody>
            <a:bodyPr/>
            <a:lstStyle/>
            <a:p>
              <a:endParaRPr lang="da-DK"/>
            </a:p>
          </p:txBody>
        </p:sp>
        <p:sp>
          <p:nvSpPr>
            <p:cNvPr id="21" name="TextBox 21"/>
            <p:cNvSpPr txBox="1"/>
            <p:nvPr/>
          </p:nvSpPr>
          <p:spPr>
            <a:xfrm>
              <a:off x="6193956" y="1791652"/>
              <a:ext cx="56608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INPAINT</a:t>
              </a:r>
            </a:p>
          </p:txBody>
        </p:sp>
        <p:sp>
          <p:nvSpPr>
            <p:cNvPr id="22" name="TextBox 22"/>
            <p:cNvSpPr txBox="1"/>
            <p:nvPr/>
          </p:nvSpPr>
          <p:spPr>
            <a:xfrm>
              <a:off x="6069461" y="2037874"/>
              <a:ext cx="81507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SDXL / FLUX</a:t>
              </a:r>
            </a:p>
          </p:txBody>
        </p:sp>
        <p:sp>
          <p:nvSpPr>
            <p:cNvPr id="23" name="TextBox 23"/>
            <p:cNvSpPr txBox="1"/>
            <p:nvPr/>
          </p:nvSpPr>
          <p:spPr>
            <a:xfrm>
              <a:off x="5478506" y="2256949"/>
              <a:ext cx="1996988"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ControlNet (depth, canny)</a:t>
              </a:r>
            </a:p>
          </p:txBody>
        </p:sp>
        <p:sp>
          <p:nvSpPr>
            <p:cNvPr id="24" name="TextBox 24"/>
            <p:cNvSpPr txBox="1"/>
            <p:nvPr/>
          </p:nvSpPr>
          <p:spPr>
            <a:xfrm>
              <a:off x="5542586" y="2476024"/>
              <a:ext cx="186882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 IP-Adapter (swatch ref)</a:t>
              </a:r>
            </a:p>
          </p:txBody>
        </p:sp>
        <p:sp>
          <p:nvSpPr>
            <p:cNvPr id="25" name="TextBox 25"/>
            <p:cNvSpPr txBox="1"/>
            <p:nvPr/>
          </p:nvSpPr>
          <p:spPr>
            <a:xfrm>
              <a:off x="5716334" y="2760345"/>
              <a:ext cx="1521333" cy="182880"/>
            </a:xfrm>
            <a:prstGeom prst="rect">
              <a:avLst/>
            </a:prstGeom>
            <a:noFill/>
            <a:ln>
              <a:noFill/>
            </a:ln>
          </p:spPr>
          <p:txBody>
            <a:bodyPr wrap="none" lIns="0" tIns="0" rIns="0" bIns="0" anchor="t" anchorCtr="0">
              <a:spAutoFit/>
            </a:bodyPr>
            <a:lstStyle/>
            <a:p>
              <a:pPr algn="ctr"/>
              <a:r>
                <a:rPr lang="zh-CN" sz="900" dirty="0">
                  <a:solidFill>
                    <a:srgbClr val="FFFFFF">
                      <a:alphaMod val="60000"/>
                    </a:srgbClr>
                  </a:solidFill>
                  <a:latin typeface="Segoe UI"/>
                  <a:ea typeface="Microsoft YaHei"/>
                  <a:cs typeface="Segoe UI"/>
                </a:rPr>
                <a:t>→ Đổi màu giữ silhouette</a:t>
              </a:r>
            </a:p>
          </p:txBody>
        </p:sp>
        <p:sp>
          <p:nvSpPr>
            <p:cNvPr id="26" name="Line 26"/>
            <p:cNvSpPr/>
            <p:nvPr/>
          </p:nvSpPr>
          <p:spPr>
            <a:xfrm>
              <a:off x="762000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27" name="Polygon 27"/>
            <p:cNvSpPr/>
            <p:nvPr/>
          </p:nvSpPr>
          <p:spPr>
            <a:xfrm>
              <a:off x="795337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28" name="Rectangle 28"/>
            <p:cNvSpPr/>
            <p:nvPr/>
          </p:nvSpPr>
          <p:spPr>
            <a:xfrm>
              <a:off x="8096250" y="1714500"/>
              <a:ext cx="1714500" cy="1143000"/>
            </a:xfrm>
            <a:prstGeom prst="roundRect">
              <a:avLst>
                <a:gd name="adj" fmla="val 6667"/>
              </a:avLst>
            </a:prstGeom>
            <a:solidFill>
              <a:srgbClr val="C1856B"/>
            </a:solidFill>
            <a:ln>
              <a:noFill/>
            </a:ln>
          </p:spPr>
          <p:txBody>
            <a:bodyPr/>
            <a:lstStyle/>
            <a:p>
              <a:endParaRPr lang="da-DK"/>
            </a:p>
          </p:txBody>
        </p:sp>
        <p:sp>
          <p:nvSpPr>
            <p:cNvPr id="29" name="TextBox 29"/>
            <p:cNvSpPr txBox="1"/>
            <p:nvPr/>
          </p:nvSpPr>
          <p:spPr>
            <a:xfrm>
              <a:off x="8694609" y="2029778"/>
              <a:ext cx="51778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REFINE</a:t>
              </a:r>
            </a:p>
          </p:txBody>
        </p:sp>
        <p:sp>
          <p:nvSpPr>
            <p:cNvPr id="30" name="TextBox 30"/>
            <p:cNvSpPr txBox="1"/>
            <p:nvPr/>
          </p:nvSpPr>
          <p:spPr>
            <a:xfrm>
              <a:off x="8428482" y="2275999"/>
              <a:ext cx="1050036"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Real-ESRGAN x2</a:t>
              </a:r>
            </a:p>
          </p:txBody>
        </p:sp>
        <p:sp>
          <p:nvSpPr>
            <p:cNvPr id="31" name="TextBox 31"/>
            <p:cNvSpPr txBox="1"/>
            <p:nvPr/>
          </p:nvSpPr>
          <p:spPr>
            <a:xfrm>
              <a:off x="8328803" y="2485549"/>
              <a:ext cx="1249394"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Upscale + sharpen</a:t>
              </a:r>
            </a:p>
          </p:txBody>
        </p:sp>
        <p:sp>
          <p:nvSpPr>
            <p:cNvPr id="32" name="Line 32"/>
            <p:cNvSpPr/>
            <p:nvPr/>
          </p:nvSpPr>
          <p:spPr>
            <a:xfrm>
              <a:off x="9810750" y="2286000"/>
              <a:ext cx="381000" cy="9525"/>
            </a:xfrm>
            <a:custGeom>
              <a:avLst/>
              <a:gdLst/>
              <a:ahLst/>
              <a:cxnLst/>
              <a:rect l="l" t="t" r="r" b="b"/>
              <a:pathLst>
                <a:path w="381000" h="9525">
                  <a:moveTo>
                    <a:pt x="0" y="0"/>
                  </a:moveTo>
                  <a:lnTo>
                    <a:pt x="381000" y="0"/>
                  </a:lnTo>
                </a:path>
              </a:pathLst>
            </a:custGeom>
            <a:noFill/>
            <a:ln w="19050">
              <a:solidFill>
                <a:srgbClr val="88817E"/>
              </a:solidFill>
            </a:ln>
          </p:spPr>
          <p:txBody>
            <a:bodyPr/>
            <a:lstStyle/>
            <a:p>
              <a:endParaRPr lang="da-DK"/>
            </a:p>
          </p:txBody>
        </p:sp>
        <p:sp>
          <p:nvSpPr>
            <p:cNvPr id="33" name="Polygon 33"/>
            <p:cNvSpPr/>
            <p:nvPr/>
          </p:nvSpPr>
          <p:spPr>
            <a:xfrm>
              <a:off x="10144125" y="2238375"/>
              <a:ext cx="123825" cy="95250"/>
            </a:xfrm>
            <a:custGeom>
              <a:avLst/>
              <a:gdLst/>
              <a:ahLst/>
              <a:cxnLst/>
              <a:rect l="l" t="t" r="r" b="b"/>
              <a:pathLst>
                <a:path w="123825" h="95250">
                  <a:moveTo>
                    <a:pt x="0" y="0"/>
                  </a:moveTo>
                  <a:lnTo>
                    <a:pt x="123825" y="47625"/>
                  </a:lnTo>
                  <a:lnTo>
                    <a:pt x="0" y="95250"/>
                  </a:lnTo>
                  <a:close/>
                </a:path>
              </a:pathLst>
            </a:custGeom>
            <a:solidFill>
              <a:srgbClr val="88817E"/>
            </a:solidFill>
            <a:ln>
              <a:noFill/>
            </a:ln>
          </p:spPr>
          <p:txBody>
            <a:bodyPr/>
            <a:lstStyle/>
            <a:p>
              <a:endParaRPr lang="da-DK"/>
            </a:p>
          </p:txBody>
        </p:sp>
        <p:sp>
          <p:nvSpPr>
            <p:cNvPr id="34" name="Rectangle 34"/>
            <p:cNvSpPr/>
            <p:nvPr/>
          </p:nvSpPr>
          <p:spPr>
            <a:xfrm>
              <a:off x="10287000" y="1714500"/>
              <a:ext cx="1524000" cy="1143000"/>
            </a:xfrm>
            <a:prstGeom prst="roundRect">
              <a:avLst>
                <a:gd name="adj" fmla="val 6667"/>
              </a:avLst>
            </a:prstGeom>
            <a:solidFill>
              <a:srgbClr val="586A68">
                <a:alpha val="70000"/>
              </a:srgbClr>
            </a:solidFill>
            <a:ln>
              <a:noFill/>
            </a:ln>
          </p:spPr>
          <p:txBody>
            <a:bodyPr/>
            <a:lstStyle/>
            <a:p>
              <a:endParaRPr lang="da-DK"/>
            </a:p>
          </p:txBody>
        </p:sp>
        <p:sp>
          <p:nvSpPr>
            <p:cNvPr id="35" name="TextBox 35"/>
            <p:cNvSpPr txBox="1"/>
            <p:nvPr/>
          </p:nvSpPr>
          <p:spPr>
            <a:xfrm>
              <a:off x="10753880" y="2029778"/>
              <a:ext cx="59024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egoe UI"/>
                  <a:ea typeface="Microsoft YaHei"/>
                  <a:cs typeface="Segoe UI"/>
                </a:rPr>
                <a:t>OUTPUT</a:t>
              </a:r>
            </a:p>
          </p:txBody>
        </p:sp>
        <p:sp>
          <p:nvSpPr>
            <p:cNvPr id="36" name="TextBox 36"/>
            <p:cNvSpPr txBox="1"/>
            <p:nvPr/>
          </p:nvSpPr>
          <p:spPr>
            <a:xfrm>
              <a:off x="10780300" y="2275999"/>
              <a:ext cx="537400"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Variant</a:t>
              </a:r>
            </a:p>
          </p:txBody>
        </p:sp>
        <p:sp>
          <p:nvSpPr>
            <p:cNvPr id="37" name="TextBox 37"/>
            <p:cNvSpPr txBox="1"/>
            <p:nvPr/>
          </p:nvSpPr>
          <p:spPr>
            <a:xfrm>
              <a:off x="10701980" y="2485549"/>
              <a:ext cx="694039" cy="198120"/>
            </a:xfrm>
            <a:prstGeom prst="rect">
              <a:avLst/>
            </a:prstGeom>
            <a:noFill/>
            <a:ln>
              <a:noFill/>
            </a:ln>
          </p:spPr>
          <p:txBody>
            <a:bodyPr wrap="none" lIns="0" tIns="0" rIns="0" bIns="0" anchor="t" anchorCtr="0">
              <a:spAutoFit/>
            </a:bodyPr>
            <a:lstStyle/>
            <a:p>
              <a:pPr algn="ctr"/>
              <a:r>
                <a:rPr lang="zh-CN" sz="975" dirty="0">
                  <a:solidFill>
                    <a:srgbClr val="FFFFFF">
                      <a:alphaMod val="85000"/>
                    </a:srgbClr>
                  </a:solidFill>
                  <a:latin typeface="Segoe UI"/>
                  <a:ea typeface="Microsoft YaHei"/>
                  <a:cs typeface="Segoe UI"/>
                </a:rPr>
                <a:t>chuẩn hóa</a:t>
              </a:r>
            </a:p>
          </p:txBody>
        </p:sp>
      </p:grpSp>
      <p:grpSp>
        <p:nvGrpSpPr>
          <p:cNvPr id="52" name="Group 52"/>
          <p:cNvGrpSpPr/>
          <p:nvPr/>
        </p:nvGrpSpPr>
        <p:grpSpPr>
          <a:xfrm>
            <a:off x="556260" y="3524250"/>
            <a:ext cx="11064240" cy="2093119"/>
            <a:chOff x="556260" y="3524250"/>
            <a:chExt cx="11064240" cy="2093119"/>
          </a:xfrm>
        </p:grpSpPr>
        <p:sp>
          <p:nvSpPr>
            <p:cNvPr id="39" name="Rectangle 39"/>
            <p:cNvSpPr/>
            <p:nvPr/>
          </p:nvSpPr>
          <p:spPr>
            <a:xfrm>
              <a:off x="571500" y="3524250"/>
              <a:ext cx="11049000" cy="19050"/>
            </a:xfrm>
            <a:prstGeom prst="rect">
              <a:avLst/>
            </a:prstGeom>
            <a:solidFill>
              <a:srgbClr val="88817E">
                <a:alpha val="15000"/>
              </a:srgbClr>
            </a:solidFill>
            <a:ln>
              <a:noFill/>
            </a:ln>
          </p:spPr>
          <p:txBody>
            <a:bodyPr/>
            <a:lstStyle/>
            <a:p>
              <a:endParaRPr lang="da-DK"/>
            </a:p>
          </p:txBody>
        </p:sp>
        <p:sp>
          <p:nvSpPr>
            <p:cNvPr id="40" name="TextBox 40"/>
            <p:cNvSpPr txBox="1"/>
            <p:nvPr/>
          </p:nvSpPr>
          <p:spPr>
            <a:xfrm>
              <a:off x="556260" y="3775710"/>
              <a:ext cx="1281836" cy="243840"/>
            </a:xfrm>
            <a:prstGeom prst="rect">
              <a:avLst/>
            </a:prstGeom>
            <a:noFill/>
            <a:ln>
              <a:noFill/>
            </a:ln>
          </p:spPr>
          <p:txBody>
            <a:bodyPr wrap="none" lIns="0" tIns="0" rIns="0" bIns="0" anchor="t" anchorCtr="0">
              <a:spAutoFit/>
            </a:bodyPr>
            <a:lstStyle/>
            <a:p>
              <a:pPr algn="l"/>
              <a:r>
                <a:rPr lang="zh-CN" sz="1200" b="1" dirty="0">
                  <a:solidFill>
                    <a:srgbClr val="586A68"/>
                  </a:solidFill>
                  <a:latin typeface="Segoe UI"/>
                  <a:ea typeface="Microsoft YaHei"/>
                  <a:cs typeface="Segoe UI"/>
                </a:rPr>
                <a:t>Điểm mấu chốt</a:t>
              </a:r>
            </a:p>
          </p:txBody>
        </p:sp>
        <p:sp>
          <p:nvSpPr>
            <p:cNvPr id="41" name="Rectangle 41"/>
            <p:cNvSpPr/>
            <p:nvPr/>
          </p:nvSpPr>
          <p:spPr>
            <a:xfrm>
              <a:off x="571500" y="4095750"/>
              <a:ext cx="5334000" cy="952500"/>
            </a:xfrm>
            <a:prstGeom prst="roundRect">
              <a:avLst>
                <a:gd name="adj" fmla="val 8000"/>
              </a:avLst>
            </a:prstGeom>
            <a:solidFill>
              <a:srgbClr val="586A68">
                <a:alpha val="4000"/>
              </a:srgbClr>
            </a:solidFill>
            <a:ln>
              <a:noFill/>
            </a:ln>
          </p:spPr>
          <p:txBody>
            <a:bodyPr/>
            <a:lstStyle/>
            <a:p>
              <a:endParaRPr lang="da-DK"/>
            </a:p>
          </p:txBody>
        </p:sp>
        <p:sp>
          <p:nvSpPr>
            <p:cNvPr id="42" name="TextBox 42"/>
            <p:cNvSpPr txBox="1"/>
            <p:nvPr/>
          </p:nvSpPr>
          <p:spPr>
            <a:xfrm>
              <a:off x="748665" y="4249102"/>
              <a:ext cx="199111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ControlNet giữ structure</a:t>
              </a:r>
            </a:p>
          </p:txBody>
        </p:sp>
        <p:sp>
          <p:nvSpPr>
            <p:cNvPr id="43" name="TextBox 43"/>
            <p:cNvSpPr txBox="1"/>
            <p:nvPr/>
          </p:nvSpPr>
          <p:spPr>
            <a:xfrm>
              <a:off x="749618" y="4466749"/>
              <a:ext cx="297241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Depth map + canny edge đảm bảo silhouette</a:t>
              </a:r>
            </a:p>
          </p:txBody>
        </p:sp>
        <p:sp>
          <p:nvSpPr>
            <p:cNvPr id="44" name="TextBox 44"/>
            <p:cNvSpPr txBox="1"/>
            <p:nvPr/>
          </p:nvSpPr>
          <p:spPr>
            <a:xfrm>
              <a:off x="749618" y="4657249"/>
              <a:ext cx="236010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không bị biến dạng khi đổi màu/vải</a:t>
              </a:r>
            </a:p>
          </p:txBody>
        </p:sp>
        <p:sp>
          <p:nvSpPr>
            <p:cNvPr id="45" name="TextBox 45"/>
            <p:cNvSpPr txBox="1"/>
            <p:nvPr/>
          </p:nvSpPr>
          <p:spPr>
            <a:xfrm>
              <a:off x="749618" y="4847749"/>
              <a:ext cx="211090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 Giữ form ghế/sofa chính xác</a:t>
              </a:r>
            </a:p>
          </p:txBody>
        </p:sp>
        <p:sp>
          <p:nvSpPr>
            <p:cNvPr id="46" name="Rectangle 46"/>
            <p:cNvSpPr/>
            <p:nvPr/>
          </p:nvSpPr>
          <p:spPr>
            <a:xfrm>
              <a:off x="6096000" y="4095750"/>
              <a:ext cx="5524500" cy="952500"/>
            </a:xfrm>
            <a:prstGeom prst="roundRect">
              <a:avLst>
                <a:gd name="adj" fmla="val 8000"/>
              </a:avLst>
            </a:prstGeom>
            <a:solidFill>
              <a:srgbClr val="C1856B">
                <a:alpha val="6000"/>
              </a:srgbClr>
            </a:solidFill>
            <a:ln>
              <a:noFill/>
            </a:ln>
          </p:spPr>
          <p:txBody>
            <a:bodyPr/>
            <a:lstStyle/>
            <a:p>
              <a:endParaRPr lang="da-DK"/>
            </a:p>
          </p:txBody>
        </p:sp>
        <p:sp>
          <p:nvSpPr>
            <p:cNvPr id="47" name="TextBox 47"/>
            <p:cNvSpPr txBox="1"/>
            <p:nvPr/>
          </p:nvSpPr>
          <p:spPr>
            <a:xfrm>
              <a:off x="6273165" y="4249102"/>
              <a:ext cx="1902554"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IP-Adapter truyền style</a:t>
              </a:r>
            </a:p>
          </p:txBody>
        </p:sp>
        <p:sp>
          <p:nvSpPr>
            <p:cNvPr id="48" name="TextBox 48"/>
            <p:cNvSpPr txBox="1"/>
            <p:nvPr/>
          </p:nvSpPr>
          <p:spPr>
            <a:xfrm>
              <a:off x="6274118" y="4466749"/>
              <a:ext cx="282290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Swatch vải/màu mới làm reference image</a:t>
              </a:r>
            </a:p>
          </p:txBody>
        </p:sp>
        <p:sp>
          <p:nvSpPr>
            <p:cNvPr id="49" name="TextBox 49"/>
            <p:cNvSpPr txBox="1"/>
            <p:nvPr/>
          </p:nvSpPr>
          <p:spPr>
            <a:xfrm>
              <a:off x="6274118" y="4657249"/>
              <a:ext cx="253810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Model học texture + color từ swatch</a:t>
              </a:r>
            </a:p>
          </p:txBody>
        </p:sp>
        <p:sp>
          <p:nvSpPr>
            <p:cNvPr id="50" name="TextBox 50"/>
            <p:cNvSpPr txBox="1"/>
            <p:nvPr/>
          </p:nvSpPr>
          <p:spPr>
            <a:xfrm>
              <a:off x="6274118" y="4847749"/>
              <a:ext cx="280866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 Kết quả realistic, đúng màu mong muốn</a:t>
              </a:r>
            </a:p>
          </p:txBody>
        </p:sp>
        <p:sp>
          <p:nvSpPr>
            <p:cNvPr id="51" name="TextBox 51"/>
            <p:cNvSpPr txBox="1"/>
            <p:nvPr/>
          </p:nvSpPr>
          <p:spPr>
            <a:xfrm>
              <a:off x="559118" y="5419249"/>
              <a:ext cx="688126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Recommended POC: fal.ai (FLUX dev + ControlNet) — setup trong 1 tuần, chi phí thấp cho prototype</a:t>
              </a:r>
            </a:p>
          </p:txBody>
        </p:sp>
      </p:grpSp>
      <p:sp>
        <p:nvSpPr>
          <p:cNvPr id="53" name="TextBox 5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9</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400"/>
                                        <p:tgtEl>
                                          <p:spTgt spid="38"/>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barn(inVertical)">
                                      <p:cBhvr>
                                        <p:cTn id="11"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4845887" cy="722948"/>
            <a:chOff x="558165" y="458152"/>
            <a:chExt cx="4845887" cy="722948"/>
          </a:xfrm>
        </p:grpSpPr>
        <p:sp>
          <p:nvSpPr>
            <p:cNvPr id="4" name="TextBox 4"/>
            <p:cNvSpPr txBox="1"/>
            <p:nvPr/>
          </p:nvSpPr>
          <p:spPr>
            <a:xfrm>
              <a:off x="558165" y="458152"/>
              <a:ext cx="1452848"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09 / Quy Trình Mẫu</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470682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3D Packshot &amp; Lifestyle Scene</a:t>
              </a:r>
            </a:p>
          </p:txBody>
        </p:sp>
      </p:grpSp>
      <p:grpSp>
        <p:nvGrpSpPr>
          <p:cNvPr id="26" name="Group 26"/>
          <p:cNvGrpSpPr/>
          <p:nvPr/>
        </p:nvGrpSpPr>
        <p:grpSpPr>
          <a:xfrm>
            <a:off x="558165" y="1267778"/>
            <a:ext cx="5347335" cy="3494722"/>
            <a:chOff x="558165" y="1267778"/>
            <a:chExt cx="5347335" cy="3494722"/>
          </a:xfrm>
        </p:grpSpPr>
        <p:sp>
          <p:nvSpPr>
            <p:cNvPr id="8" name="TextBox 8"/>
            <p:cNvSpPr txBox="1"/>
            <p:nvPr/>
          </p:nvSpPr>
          <p:spPr>
            <a:xfrm>
              <a:off x="558165" y="1267778"/>
              <a:ext cx="1983065"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3D CAD → PACKSHOT ĐA GÓC</a:t>
              </a:r>
            </a:p>
          </p:txBody>
        </p:sp>
        <p:sp>
          <p:nvSpPr>
            <p:cNvPr id="9" name="Rectangle 9"/>
            <p:cNvSpPr/>
            <p:nvPr/>
          </p:nvSpPr>
          <p:spPr>
            <a:xfrm>
              <a:off x="571500" y="1476375"/>
              <a:ext cx="5334000" cy="19050"/>
            </a:xfrm>
            <a:prstGeom prst="rect">
              <a:avLst/>
            </a:prstGeom>
            <a:solidFill>
              <a:srgbClr val="586A68">
                <a:alpha val="30000"/>
              </a:srgbClr>
            </a:solidFill>
            <a:ln>
              <a:noFill/>
            </a:ln>
          </p:spPr>
          <p:txBody>
            <a:bodyPr/>
            <a:lstStyle/>
            <a:p>
              <a:endParaRPr lang="da-DK"/>
            </a:p>
          </p:txBody>
        </p:sp>
        <p:sp>
          <p:nvSpPr>
            <p:cNvPr id="10" name="Rectangle 10"/>
            <p:cNvSpPr/>
            <p:nvPr/>
          </p:nvSpPr>
          <p:spPr>
            <a:xfrm>
              <a:off x="571500" y="1619250"/>
              <a:ext cx="5334000" cy="571500"/>
            </a:xfrm>
            <a:prstGeom prst="roundRect">
              <a:avLst>
                <a:gd name="adj" fmla="val 13333"/>
              </a:avLst>
            </a:prstGeom>
            <a:solidFill>
              <a:srgbClr val="586A68"/>
            </a:solidFill>
            <a:ln>
              <a:noFill/>
            </a:ln>
          </p:spPr>
          <p:txBody>
            <a:bodyPr/>
            <a:lstStyle/>
            <a:p>
              <a:endParaRPr lang="da-DK"/>
            </a:p>
          </p:txBody>
        </p:sp>
        <p:sp>
          <p:nvSpPr>
            <p:cNvPr id="11" name="TextBox 11"/>
            <p:cNvSpPr txBox="1"/>
            <p:nvPr/>
          </p:nvSpPr>
          <p:spPr>
            <a:xfrm>
              <a:off x="748665" y="1839278"/>
              <a:ext cx="18703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1. GLB / FBX từ designer</a:t>
              </a:r>
            </a:p>
          </p:txBody>
        </p:sp>
        <p:sp>
          <p:nvSpPr>
            <p:cNvPr id="12" name="Line 12"/>
            <p:cNvSpPr/>
            <p:nvPr/>
          </p:nvSpPr>
          <p:spPr>
            <a:xfrm>
              <a:off x="3238500" y="21907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13" name="Polygon 13"/>
            <p:cNvSpPr/>
            <p:nvPr/>
          </p:nvSpPr>
          <p:spPr>
            <a:xfrm>
              <a:off x="3181350" y="23336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4" name="Rectangle 14"/>
            <p:cNvSpPr/>
            <p:nvPr/>
          </p:nvSpPr>
          <p:spPr>
            <a:xfrm>
              <a:off x="571500" y="2476500"/>
              <a:ext cx="5334000" cy="666750"/>
            </a:xfrm>
            <a:prstGeom prst="roundRect">
              <a:avLst>
                <a:gd name="adj" fmla="val 11429"/>
              </a:avLst>
            </a:prstGeom>
            <a:solidFill>
              <a:srgbClr val="586A68">
                <a:alpha val="85000"/>
              </a:srgbClr>
            </a:solidFill>
            <a:ln>
              <a:noFill/>
            </a:ln>
          </p:spPr>
          <p:txBody>
            <a:bodyPr/>
            <a:lstStyle/>
            <a:p>
              <a:endParaRPr lang="da-DK"/>
            </a:p>
          </p:txBody>
        </p:sp>
        <p:sp>
          <p:nvSpPr>
            <p:cNvPr id="15" name="TextBox 15"/>
            <p:cNvSpPr txBox="1"/>
            <p:nvPr/>
          </p:nvSpPr>
          <p:spPr>
            <a:xfrm>
              <a:off x="748665" y="2648902"/>
              <a:ext cx="284452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2. Blender headless (Python script)</a:t>
              </a:r>
            </a:p>
          </p:txBody>
        </p:sp>
        <p:sp>
          <p:nvSpPr>
            <p:cNvPr id="16" name="TextBox 16"/>
            <p:cNvSpPr txBox="1"/>
            <p:nvPr/>
          </p:nvSpPr>
          <p:spPr>
            <a:xfrm>
              <a:off x="749618" y="2866549"/>
              <a:ext cx="2680502"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HDRi lighting preset + camera rig 8 góc</a:t>
              </a:r>
            </a:p>
          </p:txBody>
        </p:sp>
        <p:sp>
          <p:nvSpPr>
            <p:cNvPr id="17" name="Line 17"/>
            <p:cNvSpPr/>
            <p:nvPr/>
          </p:nvSpPr>
          <p:spPr>
            <a:xfrm>
              <a:off x="3238500" y="31432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18" name="Polygon 18"/>
            <p:cNvSpPr/>
            <p:nvPr/>
          </p:nvSpPr>
          <p:spPr>
            <a:xfrm>
              <a:off x="3181350" y="32861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19" name="Rectangle 19"/>
            <p:cNvSpPr/>
            <p:nvPr/>
          </p:nvSpPr>
          <p:spPr>
            <a:xfrm>
              <a:off x="571500" y="3429000"/>
              <a:ext cx="5334000" cy="571500"/>
            </a:xfrm>
            <a:prstGeom prst="roundRect">
              <a:avLst>
                <a:gd name="adj" fmla="val 13333"/>
              </a:avLst>
            </a:prstGeom>
            <a:solidFill>
              <a:srgbClr val="586A68">
                <a:alpha val="70000"/>
              </a:srgbClr>
            </a:solidFill>
            <a:ln>
              <a:noFill/>
            </a:ln>
          </p:spPr>
          <p:txBody>
            <a:bodyPr/>
            <a:lstStyle/>
            <a:p>
              <a:endParaRPr lang="da-DK"/>
            </a:p>
          </p:txBody>
        </p:sp>
        <p:sp>
          <p:nvSpPr>
            <p:cNvPr id="20" name="TextBox 20"/>
            <p:cNvSpPr txBox="1"/>
            <p:nvPr/>
          </p:nvSpPr>
          <p:spPr>
            <a:xfrm>
              <a:off x="748665" y="3601402"/>
              <a:ext cx="287672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3. Composite trên nền trắng / scene</a:t>
              </a:r>
            </a:p>
          </p:txBody>
        </p:sp>
        <p:sp>
          <p:nvSpPr>
            <p:cNvPr id="21" name="TextBox 21"/>
            <p:cNvSpPr txBox="1"/>
            <p:nvPr/>
          </p:nvSpPr>
          <p:spPr>
            <a:xfrm>
              <a:off x="749618" y="3780949"/>
              <a:ext cx="3833932"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(Optional) FLUX Kontext: "studio photo, soft shadow"</a:t>
              </a:r>
            </a:p>
          </p:txBody>
        </p:sp>
        <p:sp>
          <p:nvSpPr>
            <p:cNvPr id="22" name="Line 22"/>
            <p:cNvSpPr/>
            <p:nvPr/>
          </p:nvSpPr>
          <p:spPr>
            <a:xfrm>
              <a:off x="3238500" y="400050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23" name="Polygon 23"/>
            <p:cNvSpPr/>
            <p:nvPr/>
          </p:nvSpPr>
          <p:spPr>
            <a:xfrm>
              <a:off x="3181350" y="41433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24" name="Rectangle 24"/>
            <p:cNvSpPr/>
            <p:nvPr/>
          </p:nvSpPr>
          <p:spPr>
            <a:xfrm>
              <a:off x="571500" y="4286250"/>
              <a:ext cx="5334000" cy="476250"/>
            </a:xfrm>
            <a:prstGeom prst="roundRect">
              <a:avLst>
                <a:gd name="adj" fmla="val 16000"/>
              </a:avLst>
            </a:prstGeom>
            <a:solidFill>
              <a:srgbClr val="C1856B">
                <a:alpha val="15000"/>
              </a:srgbClr>
            </a:solidFill>
            <a:ln>
              <a:noFill/>
            </a:ln>
          </p:spPr>
          <p:txBody>
            <a:bodyPr/>
            <a:lstStyle/>
            <a:p>
              <a:endParaRPr lang="da-DK"/>
            </a:p>
          </p:txBody>
        </p:sp>
        <p:sp>
          <p:nvSpPr>
            <p:cNvPr id="25" name="TextBox 25"/>
            <p:cNvSpPr txBox="1"/>
            <p:nvPr/>
          </p:nvSpPr>
          <p:spPr>
            <a:xfrm>
              <a:off x="748665" y="4458652"/>
              <a:ext cx="2264850"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 Bộ packshot đầy đủ (8 góc)</a:t>
              </a:r>
            </a:p>
          </p:txBody>
        </p:sp>
      </p:grpSp>
      <p:grpSp>
        <p:nvGrpSpPr>
          <p:cNvPr id="45" name="Group 45"/>
          <p:cNvGrpSpPr/>
          <p:nvPr/>
        </p:nvGrpSpPr>
        <p:grpSpPr>
          <a:xfrm>
            <a:off x="6273165" y="1267778"/>
            <a:ext cx="5347335" cy="3494722"/>
            <a:chOff x="6273165" y="1267778"/>
            <a:chExt cx="5347335" cy="3494722"/>
          </a:xfrm>
        </p:grpSpPr>
        <p:sp>
          <p:nvSpPr>
            <p:cNvPr id="27" name="TextBox 27"/>
            <p:cNvSpPr txBox="1"/>
            <p:nvPr/>
          </p:nvSpPr>
          <p:spPr>
            <a:xfrm>
              <a:off x="6273165" y="1267778"/>
              <a:ext cx="2200442"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PACKSHOT → LIFESTYLE SCENE</a:t>
              </a:r>
            </a:p>
          </p:txBody>
        </p:sp>
        <p:sp>
          <p:nvSpPr>
            <p:cNvPr id="28" name="Rectangle 28"/>
            <p:cNvSpPr/>
            <p:nvPr/>
          </p:nvSpPr>
          <p:spPr>
            <a:xfrm>
              <a:off x="6286500" y="1476375"/>
              <a:ext cx="5334000" cy="19050"/>
            </a:xfrm>
            <a:prstGeom prst="rect">
              <a:avLst/>
            </a:prstGeom>
            <a:solidFill>
              <a:srgbClr val="C1856B">
                <a:alpha val="30000"/>
              </a:srgbClr>
            </a:solidFill>
            <a:ln>
              <a:noFill/>
            </a:ln>
          </p:spPr>
          <p:txBody>
            <a:bodyPr/>
            <a:lstStyle/>
            <a:p>
              <a:endParaRPr lang="da-DK"/>
            </a:p>
          </p:txBody>
        </p:sp>
        <p:sp>
          <p:nvSpPr>
            <p:cNvPr id="29" name="Rectangle 29"/>
            <p:cNvSpPr/>
            <p:nvPr/>
          </p:nvSpPr>
          <p:spPr>
            <a:xfrm>
              <a:off x="6286500" y="1619250"/>
              <a:ext cx="5334000" cy="571500"/>
            </a:xfrm>
            <a:prstGeom prst="roundRect">
              <a:avLst>
                <a:gd name="adj" fmla="val 13333"/>
              </a:avLst>
            </a:prstGeom>
            <a:solidFill>
              <a:srgbClr val="C1856B"/>
            </a:solidFill>
            <a:ln>
              <a:noFill/>
            </a:ln>
          </p:spPr>
          <p:txBody>
            <a:bodyPr/>
            <a:lstStyle/>
            <a:p>
              <a:endParaRPr lang="da-DK"/>
            </a:p>
          </p:txBody>
        </p:sp>
        <p:sp>
          <p:nvSpPr>
            <p:cNvPr id="30" name="TextBox 30"/>
            <p:cNvSpPr txBox="1"/>
            <p:nvPr/>
          </p:nvSpPr>
          <p:spPr>
            <a:xfrm>
              <a:off x="6463665" y="1839278"/>
              <a:ext cx="180594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1. Tách object (rembg)</a:t>
              </a:r>
            </a:p>
          </p:txBody>
        </p:sp>
        <p:sp>
          <p:nvSpPr>
            <p:cNvPr id="31" name="Line 31"/>
            <p:cNvSpPr/>
            <p:nvPr/>
          </p:nvSpPr>
          <p:spPr>
            <a:xfrm>
              <a:off x="8953500" y="21907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32" name="Polygon 32"/>
            <p:cNvSpPr/>
            <p:nvPr/>
          </p:nvSpPr>
          <p:spPr>
            <a:xfrm>
              <a:off x="8896350" y="23336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33" name="Rectangle 33"/>
            <p:cNvSpPr/>
            <p:nvPr/>
          </p:nvSpPr>
          <p:spPr>
            <a:xfrm>
              <a:off x="6286500" y="2476500"/>
              <a:ext cx="5334000" cy="666750"/>
            </a:xfrm>
            <a:prstGeom prst="roundRect">
              <a:avLst>
                <a:gd name="adj" fmla="val 11429"/>
              </a:avLst>
            </a:prstGeom>
            <a:solidFill>
              <a:srgbClr val="C1856B">
                <a:alpha val="85000"/>
              </a:srgbClr>
            </a:solidFill>
            <a:ln>
              <a:noFill/>
            </a:ln>
          </p:spPr>
          <p:txBody>
            <a:bodyPr/>
            <a:lstStyle/>
            <a:p>
              <a:endParaRPr lang="da-DK"/>
            </a:p>
          </p:txBody>
        </p:sp>
        <p:sp>
          <p:nvSpPr>
            <p:cNvPr id="34" name="TextBox 34"/>
            <p:cNvSpPr txBox="1"/>
            <p:nvPr/>
          </p:nvSpPr>
          <p:spPr>
            <a:xfrm>
              <a:off x="6463665" y="2648902"/>
              <a:ext cx="198306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2. Outpainting / AnyDoor</a:t>
              </a:r>
            </a:p>
          </p:txBody>
        </p:sp>
        <p:sp>
          <p:nvSpPr>
            <p:cNvPr id="35" name="TextBox 35"/>
            <p:cNvSpPr txBox="1"/>
            <p:nvPr/>
          </p:nvSpPr>
          <p:spPr>
            <a:xfrm>
              <a:off x="6464618" y="2866549"/>
              <a:ext cx="3492175"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FLUX Kontext: "modern living room, natural light"</a:t>
              </a:r>
            </a:p>
          </p:txBody>
        </p:sp>
        <p:sp>
          <p:nvSpPr>
            <p:cNvPr id="36" name="Line 36"/>
            <p:cNvSpPr/>
            <p:nvPr/>
          </p:nvSpPr>
          <p:spPr>
            <a:xfrm>
              <a:off x="8953500" y="314325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37" name="Polygon 37"/>
            <p:cNvSpPr/>
            <p:nvPr/>
          </p:nvSpPr>
          <p:spPr>
            <a:xfrm>
              <a:off x="8896350" y="328612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38" name="Rectangle 38"/>
            <p:cNvSpPr/>
            <p:nvPr/>
          </p:nvSpPr>
          <p:spPr>
            <a:xfrm>
              <a:off x="6286500" y="3429000"/>
              <a:ext cx="5334000" cy="571500"/>
            </a:xfrm>
            <a:prstGeom prst="roundRect">
              <a:avLst>
                <a:gd name="adj" fmla="val 13333"/>
              </a:avLst>
            </a:prstGeom>
            <a:solidFill>
              <a:srgbClr val="C1856B">
                <a:alpha val="70000"/>
              </a:srgbClr>
            </a:solidFill>
            <a:ln>
              <a:noFill/>
            </a:ln>
          </p:spPr>
          <p:txBody>
            <a:bodyPr/>
            <a:lstStyle/>
            <a:p>
              <a:endParaRPr lang="da-DK"/>
            </a:p>
          </p:txBody>
        </p:sp>
        <p:sp>
          <p:nvSpPr>
            <p:cNvPr id="39" name="TextBox 39"/>
            <p:cNvSpPr txBox="1"/>
            <p:nvPr/>
          </p:nvSpPr>
          <p:spPr>
            <a:xfrm>
              <a:off x="6463665" y="3601402"/>
              <a:ext cx="240976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3. Relight (IC-Light) + Upscale</a:t>
              </a:r>
            </a:p>
          </p:txBody>
        </p:sp>
        <p:sp>
          <p:nvSpPr>
            <p:cNvPr id="40" name="TextBox 40"/>
            <p:cNvSpPr txBox="1"/>
            <p:nvPr/>
          </p:nvSpPr>
          <p:spPr>
            <a:xfrm>
              <a:off x="6464618" y="3780949"/>
              <a:ext cx="2125147" cy="198120"/>
            </a:xfrm>
            <a:prstGeom prst="rect">
              <a:avLst/>
            </a:prstGeom>
            <a:noFill/>
            <a:ln>
              <a:noFill/>
            </a:ln>
          </p:spPr>
          <p:txBody>
            <a:bodyPr wrap="none" lIns="0" tIns="0" rIns="0" bIns="0" anchor="t" anchorCtr="0">
              <a:spAutoFit/>
            </a:bodyPr>
            <a:lstStyle/>
            <a:p>
              <a:pPr algn="l"/>
              <a:r>
                <a:rPr lang="zh-CN" sz="975" dirty="0">
                  <a:solidFill>
                    <a:srgbClr val="FFFFFF">
                      <a:alphaMod val="80000"/>
                    </a:srgbClr>
                  </a:solidFill>
                  <a:latin typeface="Segoe UI"/>
                  <a:ea typeface="Microsoft YaHei"/>
                  <a:cs typeface="Segoe UI"/>
                </a:rPr>
                <a:t>Hài hòa ánh sáng + Real-ESRGAN</a:t>
              </a:r>
            </a:p>
          </p:txBody>
        </p:sp>
        <p:sp>
          <p:nvSpPr>
            <p:cNvPr id="41" name="Line 41"/>
            <p:cNvSpPr/>
            <p:nvPr/>
          </p:nvSpPr>
          <p:spPr>
            <a:xfrm>
              <a:off x="8953500" y="4000500"/>
              <a:ext cx="9525" cy="190500"/>
            </a:xfrm>
            <a:custGeom>
              <a:avLst/>
              <a:gdLst/>
              <a:ahLst/>
              <a:cxnLst/>
              <a:rect l="l" t="t" r="r" b="b"/>
              <a:pathLst>
                <a:path w="9525" h="190500">
                  <a:moveTo>
                    <a:pt x="0" y="0"/>
                  </a:moveTo>
                  <a:lnTo>
                    <a:pt x="0" y="190500"/>
                  </a:lnTo>
                </a:path>
              </a:pathLst>
            </a:custGeom>
            <a:noFill/>
            <a:ln w="19050">
              <a:solidFill>
                <a:srgbClr val="88817E"/>
              </a:solidFill>
            </a:ln>
          </p:spPr>
          <p:txBody>
            <a:bodyPr/>
            <a:lstStyle/>
            <a:p>
              <a:endParaRPr lang="da-DK"/>
            </a:p>
          </p:txBody>
        </p:sp>
        <p:sp>
          <p:nvSpPr>
            <p:cNvPr id="42" name="Polygon 42"/>
            <p:cNvSpPr/>
            <p:nvPr/>
          </p:nvSpPr>
          <p:spPr>
            <a:xfrm>
              <a:off x="8896350" y="4143375"/>
              <a:ext cx="114300" cy="123825"/>
            </a:xfrm>
            <a:custGeom>
              <a:avLst/>
              <a:gdLst/>
              <a:ahLst/>
              <a:cxnLst/>
              <a:rect l="l" t="t" r="r" b="b"/>
              <a:pathLst>
                <a:path w="114300" h="123825">
                  <a:moveTo>
                    <a:pt x="0" y="0"/>
                  </a:moveTo>
                  <a:lnTo>
                    <a:pt x="57150" y="123825"/>
                  </a:lnTo>
                  <a:lnTo>
                    <a:pt x="114300" y="0"/>
                  </a:lnTo>
                  <a:close/>
                </a:path>
              </a:pathLst>
            </a:custGeom>
            <a:solidFill>
              <a:srgbClr val="88817E"/>
            </a:solidFill>
            <a:ln>
              <a:noFill/>
            </a:ln>
          </p:spPr>
          <p:txBody>
            <a:bodyPr/>
            <a:lstStyle/>
            <a:p>
              <a:endParaRPr lang="da-DK"/>
            </a:p>
          </p:txBody>
        </p:sp>
        <p:sp>
          <p:nvSpPr>
            <p:cNvPr id="43" name="Rectangle 43"/>
            <p:cNvSpPr/>
            <p:nvPr/>
          </p:nvSpPr>
          <p:spPr>
            <a:xfrm>
              <a:off x="6286500" y="4286250"/>
              <a:ext cx="5334000" cy="476250"/>
            </a:xfrm>
            <a:prstGeom prst="roundRect">
              <a:avLst>
                <a:gd name="adj" fmla="val 16000"/>
              </a:avLst>
            </a:prstGeom>
            <a:solidFill>
              <a:srgbClr val="C1856B">
                <a:alpha val="15000"/>
              </a:srgbClr>
            </a:solidFill>
            <a:ln>
              <a:noFill/>
            </a:ln>
          </p:spPr>
          <p:txBody>
            <a:bodyPr/>
            <a:lstStyle/>
            <a:p>
              <a:endParaRPr lang="da-DK"/>
            </a:p>
          </p:txBody>
        </p:sp>
        <p:sp>
          <p:nvSpPr>
            <p:cNvPr id="44" name="TextBox 44"/>
            <p:cNvSpPr txBox="1"/>
            <p:nvPr/>
          </p:nvSpPr>
          <p:spPr>
            <a:xfrm>
              <a:off x="6463665" y="4458652"/>
              <a:ext cx="2184340"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 Ảnh lifestyle social-ready</a:t>
              </a:r>
            </a:p>
          </p:txBody>
        </p:sp>
      </p:grpSp>
      <p:grpSp>
        <p:nvGrpSpPr>
          <p:cNvPr id="62" name="Group 62"/>
          <p:cNvGrpSpPr/>
          <p:nvPr/>
        </p:nvGrpSpPr>
        <p:grpSpPr>
          <a:xfrm>
            <a:off x="558165" y="5048250"/>
            <a:ext cx="11062335" cy="952500"/>
            <a:chOff x="558165" y="5048250"/>
            <a:chExt cx="11062335" cy="952500"/>
          </a:xfrm>
        </p:grpSpPr>
        <p:sp>
          <p:nvSpPr>
            <p:cNvPr id="46" name="Rectangle 46"/>
            <p:cNvSpPr/>
            <p:nvPr/>
          </p:nvSpPr>
          <p:spPr>
            <a:xfrm>
              <a:off x="571500" y="5048250"/>
              <a:ext cx="11049000" cy="9525"/>
            </a:xfrm>
            <a:prstGeom prst="rect">
              <a:avLst/>
            </a:prstGeom>
            <a:solidFill>
              <a:srgbClr val="88817E">
                <a:alpha val="15000"/>
              </a:srgbClr>
            </a:solidFill>
            <a:ln>
              <a:noFill/>
            </a:ln>
          </p:spPr>
          <p:txBody>
            <a:bodyPr/>
            <a:lstStyle/>
            <a:p>
              <a:endParaRPr lang="da-DK"/>
            </a:p>
          </p:txBody>
        </p:sp>
        <p:sp>
          <p:nvSpPr>
            <p:cNvPr id="47" name="TextBox 47"/>
            <p:cNvSpPr txBox="1"/>
            <p:nvPr/>
          </p:nvSpPr>
          <p:spPr>
            <a:xfrm>
              <a:off x="558165" y="5268278"/>
              <a:ext cx="2111881" cy="213360"/>
            </a:xfrm>
            <a:prstGeom prst="rect">
              <a:avLst/>
            </a:prstGeom>
            <a:noFill/>
            <a:ln>
              <a:noFill/>
            </a:ln>
          </p:spPr>
          <p:txBody>
            <a:bodyPr wrap="none" lIns="0" tIns="0" rIns="0" bIns="0" anchor="t" anchorCtr="0">
              <a:spAutoFit/>
            </a:bodyPr>
            <a:lstStyle/>
            <a:p>
              <a:pPr algn="l"/>
              <a:r>
                <a:rPr lang="zh-CN" sz="1050" b="1" dirty="0">
                  <a:solidFill>
                    <a:srgbClr val="753438"/>
                  </a:solidFill>
                  <a:latin typeface="Segoe UI"/>
                  <a:ea typeface="Microsoft YaHei"/>
                  <a:cs typeface="Segoe UI"/>
                </a:rPr>
                <a:t>CATALOGUE PRINT UPSCALING</a:t>
              </a:r>
            </a:p>
          </p:txBody>
        </p:sp>
        <p:sp>
          <p:nvSpPr>
            <p:cNvPr id="48" name="Rectangle 48"/>
            <p:cNvSpPr/>
            <p:nvPr/>
          </p:nvSpPr>
          <p:spPr>
            <a:xfrm>
              <a:off x="571500" y="5524500"/>
              <a:ext cx="2381250" cy="476250"/>
            </a:xfrm>
            <a:prstGeom prst="roundRect">
              <a:avLst>
                <a:gd name="adj" fmla="val 12000"/>
              </a:avLst>
            </a:prstGeom>
            <a:solidFill>
              <a:srgbClr val="753438">
                <a:alpha val="10000"/>
              </a:srgbClr>
            </a:solidFill>
            <a:ln>
              <a:noFill/>
            </a:ln>
          </p:spPr>
          <p:txBody>
            <a:bodyPr/>
            <a:lstStyle/>
            <a:p>
              <a:endParaRPr lang="da-DK"/>
            </a:p>
          </p:txBody>
        </p:sp>
        <p:sp>
          <p:nvSpPr>
            <p:cNvPr id="49" name="TextBox 49"/>
            <p:cNvSpPr txBox="1"/>
            <p:nvPr/>
          </p:nvSpPr>
          <p:spPr>
            <a:xfrm>
              <a:off x="749618" y="5704999"/>
              <a:ext cx="1042916"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Ảnh web 1920px</a:t>
              </a:r>
            </a:p>
          </p:txBody>
        </p:sp>
        <p:sp>
          <p:nvSpPr>
            <p:cNvPr id="50" name="Line 50"/>
            <p:cNvSpPr/>
            <p:nvPr/>
          </p:nvSpPr>
          <p:spPr>
            <a:xfrm>
              <a:off x="2952750" y="5762625"/>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51" name="Polygon 51"/>
            <p:cNvSpPr/>
            <p:nvPr/>
          </p:nvSpPr>
          <p:spPr>
            <a:xfrm>
              <a:off x="347662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52" name="Rectangle 52"/>
            <p:cNvSpPr/>
            <p:nvPr/>
          </p:nvSpPr>
          <p:spPr>
            <a:xfrm>
              <a:off x="3619500" y="5524500"/>
              <a:ext cx="2857500" cy="476250"/>
            </a:xfrm>
            <a:prstGeom prst="roundRect">
              <a:avLst>
                <a:gd name="adj" fmla="val 12000"/>
              </a:avLst>
            </a:prstGeom>
            <a:solidFill>
              <a:srgbClr val="753438">
                <a:alpha val="10000"/>
              </a:srgbClr>
            </a:solidFill>
            <a:ln>
              <a:noFill/>
            </a:ln>
          </p:spPr>
          <p:txBody>
            <a:bodyPr/>
            <a:lstStyle/>
            <a:p>
              <a:endParaRPr lang="da-DK"/>
            </a:p>
          </p:txBody>
        </p:sp>
        <p:sp>
          <p:nvSpPr>
            <p:cNvPr id="53" name="TextBox 53"/>
            <p:cNvSpPr txBox="1"/>
            <p:nvPr/>
          </p:nvSpPr>
          <p:spPr>
            <a:xfrm>
              <a:off x="3797618" y="5704999"/>
              <a:ext cx="1797629"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Real-ESRGAN x4 / Magnific</a:t>
              </a:r>
            </a:p>
          </p:txBody>
        </p:sp>
        <p:sp>
          <p:nvSpPr>
            <p:cNvPr id="54" name="Line 54"/>
            <p:cNvSpPr/>
            <p:nvPr/>
          </p:nvSpPr>
          <p:spPr>
            <a:xfrm>
              <a:off x="6477000" y="5762625"/>
              <a:ext cx="571500" cy="9525"/>
            </a:xfrm>
            <a:custGeom>
              <a:avLst/>
              <a:gdLst/>
              <a:ahLst/>
              <a:cxnLst/>
              <a:rect l="l" t="t" r="r" b="b"/>
              <a:pathLst>
                <a:path w="571500" h="9525">
                  <a:moveTo>
                    <a:pt x="0" y="0"/>
                  </a:moveTo>
                  <a:lnTo>
                    <a:pt x="571500" y="0"/>
                  </a:lnTo>
                </a:path>
              </a:pathLst>
            </a:custGeom>
            <a:noFill/>
            <a:ln w="19050">
              <a:solidFill>
                <a:srgbClr val="753438"/>
              </a:solidFill>
            </a:ln>
          </p:spPr>
          <p:txBody>
            <a:bodyPr/>
            <a:lstStyle/>
            <a:p>
              <a:endParaRPr lang="da-DK"/>
            </a:p>
          </p:txBody>
        </p:sp>
        <p:sp>
          <p:nvSpPr>
            <p:cNvPr id="55" name="Polygon 55"/>
            <p:cNvSpPr/>
            <p:nvPr/>
          </p:nvSpPr>
          <p:spPr>
            <a:xfrm>
              <a:off x="700087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56" name="Rectangle 56"/>
            <p:cNvSpPr/>
            <p:nvPr/>
          </p:nvSpPr>
          <p:spPr>
            <a:xfrm>
              <a:off x="7143750" y="5524500"/>
              <a:ext cx="2857500" cy="476250"/>
            </a:xfrm>
            <a:prstGeom prst="roundRect">
              <a:avLst>
                <a:gd name="adj" fmla="val 12000"/>
              </a:avLst>
            </a:prstGeom>
            <a:solidFill>
              <a:srgbClr val="753438">
                <a:alpha val="10000"/>
              </a:srgbClr>
            </a:solidFill>
            <a:ln>
              <a:noFill/>
            </a:ln>
          </p:spPr>
          <p:txBody>
            <a:bodyPr/>
            <a:lstStyle/>
            <a:p>
              <a:endParaRPr lang="da-DK"/>
            </a:p>
          </p:txBody>
        </p:sp>
        <p:sp>
          <p:nvSpPr>
            <p:cNvPr id="57" name="TextBox 57"/>
            <p:cNvSpPr txBox="1"/>
            <p:nvPr/>
          </p:nvSpPr>
          <p:spPr>
            <a:xfrm>
              <a:off x="7321868" y="5657374"/>
              <a:ext cx="1555552"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Sharpen + sRGB → CMYK</a:t>
              </a:r>
            </a:p>
          </p:txBody>
        </p:sp>
        <p:sp>
          <p:nvSpPr>
            <p:cNvPr id="58" name="Line 58"/>
            <p:cNvSpPr/>
            <p:nvPr/>
          </p:nvSpPr>
          <p:spPr>
            <a:xfrm>
              <a:off x="10001250" y="5762625"/>
              <a:ext cx="476250" cy="9525"/>
            </a:xfrm>
            <a:custGeom>
              <a:avLst/>
              <a:gdLst/>
              <a:ahLst/>
              <a:cxnLst/>
              <a:rect l="l" t="t" r="r" b="b"/>
              <a:pathLst>
                <a:path w="476250" h="9525">
                  <a:moveTo>
                    <a:pt x="0" y="0"/>
                  </a:moveTo>
                  <a:lnTo>
                    <a:pt x="476250" y="0"/>
                  </a:lnTo>
                </a:path>
              </a:pathLst>
            </a:custGeom>
            <a:noFill/>
            <a:ln w="19050">
              <a:solidFill>
                <a:srgbClr val="753438"/>
              </a:solidFill>
            </a:ln>
          </p:spPr>
          <p:txBody>
            <a:bodyPr/>
            <a:lstStyle/>
            <a:p>
              <a:endParaRPr lang="da-DK"/>
            </a:p>
          </p:txBody>
        </p:sp>
        <p:sp>
          <p:nvSpPr>
            <p:cNvPr id="59" name="Polygon 59"/>
            <p:cNvSpPr/>
            <p:nvPr/>
          </p:nvSpPr>
          <p:spPr>
            <a:xfrm>
              <a:off x="10429875" y="5715000"/>
              <a:ext cx="123825" cy="95250"/>
            </a:xfrm>
            <a:custGeom>
              <a:avLst/>
              <a:gdLst/>
              <a:ahLst/>
              <a:cxnLst/>
              <a:rect l="l" t="t" r="r" b="b"/>
              <a:pathLst>
                <a:path w="123825" h="95250">
                  <a:moveTo>
                    <a:pt x="0" y="0"/>
                  </a:moveTo>
                  <a:lnTo>
                    <a:pt x="123825" y="47625"/>
                  </a:lnTo>
                  <a:lnTo>
                    <a:pt x="0" y="95250"/>
                  </a:lnTo>
                  <a:close/>
                </a:path>
              </a:pathLst>
            </a:custGeom>
            <a:solidFill>
              <a:srgbClr val="753438"/>
            </a:solidFill>
            <a:ln>
              <a:noFill/>
            </a:ln>
          </p:spPr>
          <p:txBody>
            <a:bodyPr/>
            <a:lstStyle/>
            <a:p>
              <a:endParaRPr lang="da-DK"/>
            </a:p>
          </p:txBody>
        </p:sp>
        <p:sp>
          <p:nvSpPr>
            <p:cNvPr id="60" name="Rectangle 60"/>
            <p:cNvSpPr/>
            <p:nvPr/>
          </p:nvSpPr>
          <p:spPr>
            <a:xfrm>
              <a:off x="10572750" y="5572125"/>
              <a:ext cx="1047750" cy="381000"/>
            </a:xfrm>
            <a:prstGeom prst="roundRect">
              <a:avLst>
                <a:gd name="adj" fmla="val 15000"/>
              </a:avLst>
            </a:prstGeom>
            <a:solidFill>
              <a:srgbClr val="753438"/>
            </a:solidFill>
            <a:ln>
              <a:noFill/>
            </a:ln>
          </p:spPr>
          <p:txBody>
            <a:bodyPr/>
            <a:lstStyle/>
            <a:p>
              <a:endParaRPr lang="da-DK"/>
            </a:p>
          </p:txBody>
        </p:sp>
        <p:sp>
          <p:nvSpPr>
            <p:cNvPr id="61" name="TextBox 61"/>
            <p:cNvSpPr txBox="1"/>
            <p:nvPr/>
          </p:nvSpPr>
          <p:spPr>
            <a:xfrm>
              <a:off x="10833799" y="5704999"/>
              <a:ext cx="5256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300 dpi</a:t>
              </a:r>
            </a:p>
          </p:txBody>
        </p:sp>
      </p:grpSp>
      <p:sp>
        <p:nvSpPr>
          <p:cNvPr id="63" name="TextBox 63"/>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strips(downRight)">
                                      <p:cBhvr>
                                        <p:cTn id="11" dur="400"/>
                                        <p:tgtEl>
                                          <p:spTgt spid="45"/>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edge">
                                      <p:cBhvr>
                                        <p:cTn id="15"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5" grpId="0"/>
      <p:bldP spid="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667089" cy="722948"/>
            <a:chOff x="558165" y="458152"/>
            <a:chExt cx="5667089" cy="722948"/>
          </a:xfrm>
        </p:grpSpPr>
        <p:sp>
          <p:nvSpPr>
            <p:cNvPr id="4" name="TextBox 4"/>
            <p:cNvSpPr txBox="1"/>
            <p:nvPr/>
          </p:nvSpPr>
          <p:spPr>
            <a:xfrm>
              <a:off x="558165" y="458152"/>
              <a:ext cx="931450"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10 / Đánh Giá</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528024"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Tiêu Chí Lựa Chọn: Self-host vs API</a:t>
              </a:r>
            </a:p>
          </p:txBody>
        </p:sp>
      </p:grpSp>
      <p:grpSp>
        <p:nvGrpSpPr>
          <p:cNvPr id="12" name="Group 12"/>
          <p:cNvGrpSpPr/>
          <p:nvPr/>
        </p:nvGrpSpPr>
        <p:grpSpPr>
          <a:xfrm>
            <a:off x="571500" y="1238250"/>
            <a:ext cx="11049000" cy="381000"/>
            <a:chOff x="571500" y="1238250"/>
            <a:chExt cx="11049000" cy="381000"/>
          </a:xfrm>
        </p:grpSpPr>
        <p:sp>
          <p:nvSpPr>
            <p:cNvPr id="8" name="Rectangle 8"/>
            <p:cNvSpPr/>
            <p:nvPr/>
          </p:nvSpPr>
          <p:spPr>
            <a:xfrm>
              <a:off x="571500" y="1238250"/>
              <a:ext cx="11049000" cy="381000"/>
            </a:xfrm>
            <a:prstGeom prst="rect">
              <a:avLst/>
            </a:prstGeom>
            <a:solidFill>
              <a:srgbClr val="586A68"/>
            </a:solidFill>
            <a:ln>
              <a:noFill/>
            </a:ln>
          </p:spPr>
          <p:txBody>
            <a:bodyPr/>
            <a:lstStyle/>
            <a:p>
              <a:endParaRPr lang="da-DK"/>
            </a:p>
          </p:txBody>
        </p:sp>
        <p:sp>
          <p:nvSpPr>
            <p:cNvPr id="9" name="TextBox 9"/>
            <p:cNvSpPr txBox="1"/>
            <p:nvPr/>
          </p:nvSpPr>
          <p:spPr>
            <a:xfrm>
              <a:off x="748665" y="1372552"/>
              <a:ext cx="654648"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Tiêu chí</a:t>
              </a:r>
            </a:p>
          </p:txBody>
        </p:sp>
        <p:sp>
          <p:nvSpPr>
            <p:cNvPr id="10" name="TextBox 10"/>
            <p:cNvSpPr txBox="1"/>
            <p:nvPr/>
          </p:nvSpPr>
          <p:spPr>
            <a:xfrm>
              <a:off x="4272915" y="1372552"/>
              <a:ext cx="201526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Self-host (Open-source)</a:t>
              </a:r>
            </a:p>
          </p:txBody>
        </p:sp>
        <p:sp>
          <p:nvSpPr>
            <p:cNvPr id="11" name="TextBox 11"/>
            <p:cNvSpPr txBox="1"/>
            <p:nvPr/>
          </p:nvSpPr>
          <p:spPr>
            <a:xfrm>
              <a:off x="8273415" y="1372552"/>
              <a:ext cx="95253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Segoe UI"/>
                  <a:ea typeface="Microsoft YaHei"/>
                  <a:cs typeface="Segoe UI"/>
                </a:rPr>
                <a:t>Managed API</a:t>
              </a:r>
            </a:p>
          </p:txBody>
        </p:sp>
      </p:grpSp>
      <p:grpSp>
        <p:nvGrpSpPr>
          <p:cNvPr id="60" name="Group 60"/>
          <p:cNvGrpSpPr/>
          <p:nvPr/>
        </p:nvGrpSpPr>
        <p:grpSpPr>
          <a:xfrm>
            <a:off x="571500" y="1619250"/>
            <a:ext cx="11049000" cy="3962400"/>
            <a:chOff x="571500" y="1619250"/>
            <a:chExt cx="11049000" cy="3962400"/>
          </a:xfrm>
        </p:grpSpPr>
        <p:sp>
          <p:nvSpPr>
            <p:cNvPr id="13" name="Rectangle 13"/>
            <p:cNvSpPr/>
            <p:nvPr/>
          </p:nvSpPr>
          <p:spPr>
            <a:xfrm>
              <a:off x="571500" y="1619250"/>
              <a:ext cx="11049000" cy="495300"/>
            </a:xfrm>
            <a:prstGeom prst="rect">
              <a:avLst/>
            </a:prstGeom>
            <a:solidFill>
              <a:srgbClr val="F6F5EE"/>
            </a:solidFill>
            <a:ln>
              <a:noFill/>
            </a:ln>
          </p:spPr>
          <p:txBody>
            <a:bodyPr/>
            <a:lstStyle/>
            <a:p>
              <a:endParaRPr lang="da-DK"/>
            </a:p>
          </p:txBody>
        </p:sp>
        <p:sp>
          <p:nvSpPr>
            <p:cNvPr id="14" name="TextBox 14"/>
            <p:cNvSpPr txBox="1"/>
            <p:nvPr/>
          </p:nvSpPr>
          <p:spPr>
            <a:xfrm>
              <a:off x="748665" y="1791652"/>
              <a:ext cx="1862299"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Chi phí (10k ảnh/tháng)</a:t>
              </a:r>
            </a:p>
          </p:txBody>
        </p:sp>
        <p:sp>
          <p:nvSpPr>
            <p:cNvPr id="15" name="Rectangle 15"/>
            <p:cNvSpPr/>
            <p:nvPr/>
          </p:nvSpPr>
          <p:spPr>
            <a:xfrm>
              <a:off x="4286250" y="1762125"/>
              <a:ext cx="762000" cy="209550"/>
            </a:xfrm>
            <a:prstGeom prst="roundRect">
              <a:avLst>
                <a:gd name="adj" fmla="val 18182"/>
              </a:avLst>
            </a:prstGeom>
            <a:solidFill>
              <a:srgbClr val="586A68">
                <a:alpha val="15000"/>
              </a:srgbClr>
            </a:solidFill>
            <a:ln>
              <a:noFill/>
            </a:ln>
          </p:spPr>
          <p:txBody>
            <a:bodyPr/>
            <a:lstStyle/>
            <a:p>
              <a:endParaRPr lang="da-DK"/>
            </a:p>
          </p:txBody>
        </p:sp>
        <p:sp>
          <p:nvSpPr>
            <p:cNvPr id="16" name="TextBox 16"/>
            <p:cNvSpPr txBox="1"/>
            <p:nvPr/>
          </p:nvSpPr>
          <p:spPr>
            <a:xfrm>
              <a:off x="4498229" y="1809274"/>
              <a:ext cx="338042"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Thấp</a:t>
              </a:r>
            </a:p>
          </p:txBody>
        </p:sp>
        <p:sp>
          <p:nvSpPr>
            <p:cNvPr id="17" name="TextBox 17"/>
            <p:cNvSpPr txBox="1"/>
            <p:nvPr/>
          </p:nvSpPr>
          <p:spPr>
            <a:xfrm>
              <a:off x="5178742" y="1809274"/>
              <a:ext cx="53740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Chỉ GPU</a:t>
              </a:r>
            </a:p>
          </p:txBody>
        </p:sp>
        <p:sp>
          <p:nvSpPr>
            <p:cNvPr id="18" name="Rectangle 18"/>
            <p:cNvSpPr/>
            <p:nvPr/>
          </p:nvSpPr>
          <p:spPr>
            <a:xfrm>
              <a:off x="8286750" y="1762125"/>
              <a:ext cx="1238250" cy="209550"/>
            </a:xfrm>
            <a:prstGeom prst="roundRect">
              <a:avLst>
                <a:gd name="adj" fmla="val 18182"/>
              </a:avLst>
            </a:prstGeom>
            <a:solidFill>
              <a:srgbClr val="C1856B">
                <a:alpha val="15000"/>
              </a:srgbClr>
            </a:solidFill>
            <a:ln>
              <a:noFill/>
            </a:ln>
          </p:spPr>
          <p:txBody>
            <a:bodyPr/>
            <a:lstStyle/>
            <a:p>
              <a:endParaRPr lang="da-DK"/>
            </a:p>
          </p:txBody>
        </p:sp>
        <p:sp>
          <p:nvSpPr>
            <p:cNvPr id="19" name="TextBox 19"/>
            <p:cNvSpPr txBox="1"/>
            <p:nvPr/>
          </p:nvSpPr>
          <p:spPr>
            <a:xfrm>
              <a:off x="8320338" y="1809274"/>
              <a:ext cx="1171075"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Trung bình → cao</a:t>
              </a:r>
            </a:p>
          </p:txBody>
        </p:sp>
        <p:sp>
          <p:nvSpPr>
            <p:cNvPr id="20" name="Rectangle 20"/>
            <p:cNvSpPr/>
            <p:nvPr/>
          </p:nvSpPr>
          <p:spPr>
            <a:xfrm>
              <a:off x="571500" y="2114550"/>
              <a:ext cx="11049000" cy="495300"/>
            </a:xfrm>
            <a:prstGeom prst="rect">
              <a:avLst/>
            </a:prstGeom>
            <a:solidFill>
              <a:srgbClr val="586A68">
                <a:alpha val="3000"/>
              </a:srgbClr>
            </a:solidFill>
            <a:ln>
              <a:noFill/>
            </a:ln>
          </p:spPr>
          <p:txBody>
            <a:bodyPr/>
            <a:lstStyle/>
            <a:p>
              <a:endParaRPr lang="da-DK"/>
            </a:p>
          </p:txBody>
        </p:sp>
        <p:sp>
          <p:nvSpPr>
            <p:cNvPr id="21" name="TextBox 21"/>
            <p:cNvSpPr txBox="1"/>
            <p:nvPr/>
          </p:nvSpPr>
          <p:spPr>
            <a:xfrm>
              <a:off x="748665" y="2286952"/>
              <a:ext cx="86397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Setup time</a:t>
              </a:r>
            </a:p>
          </p:txBody>
        </p:sp>
        <p:sp>
          <p:nvSpPr>
            <p:cNvPr id="22" name="Rectangle 22"/>
            <p:cNvSpPr/>
            <p:nvPr/>
          </p:nvSpPr>
          <p:spPr>
            <a:xfrm>
              <a:off x="4286250" y="2257425"/>
              <a:ext cx="571500" cy="209550"/>
            </a:xfrm>
            <a:prstGeom prst="roundRect">
              <a:avLst>
                <a:gd name="adj" fmla="val 18182"/>
              </a:avLst>
            </a:prstGeom>
            <a:solidFill>
              <a:srgbClr val="C1856B">
                <a:alpha val="15000"/>
              </a:srgbClr>
            </a:solidFill>
            <a:ln>
              <a:noFill/>
            </a:ln>
          </p:spPr>
          <p:txBody>
            <a:bodyPr/>
            <a:lstStyle/>
            <a:p>
              <a:endParaRPr lang="da-DK"/>
            </a:p>
          </p:txBody>
        </p:sp>
        <p:sp>
          <p:nvSpPr>
            <p:cNvPr id="23" name="TextBox 23"/>
            <p:cNvSpPr txBox="1"/>
            <p:nvPr/>
          </p:nvSpPr>
          <p:spPr>
            <a:xfrm>
              <a:off x="4442139" y="2304574"/>
              <a:ext cx="259723"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Cao</a:t>
              </a:r>
            </a:p>
          </p:txBody>
        </p:sp>
        <p:sp>
          <p:nvSpPr>
            <p:cNvPr id="24" name="TextBox 24"/>
            <p:cNvSpPr txBox="1"/>
            <p:nvPr/>
          </p:nvSpPr>
          <p:spPr>
            <a:xfrm>
              <a:off x="4988242" y="2304574"/>
              <a:ext cx="1826109"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GPU, deploy, model weight</a:t>
              </a:r>
            </a:p>
          </p:txBody>
        </p:sp>
        <p:sp>
          <p:nvSpPr>
            <p:cNvPr id="25" name="Rectangle 25"/>
            <p:cNvSpPr/>
            <p:nvPr/>
          </p:nvSpPr>
          <p:spPr>
            <a:xfrm>
              <a:off x="8286750" y="2257425"/>
              <a:ext cx="571500" cy="209550"/>
            </a:xfrm>
            <a:prstGeom prst="roundRect">
              <a:avLst>
                <a:gd name="adj" fmla="val 18182"/>
              </a:avLst>
            </a:prstGeom>
            <a:solidFill>
              <a:srgbClr val="586A68">
                <a:alpha val="15000"/>
              </a:srgbClr>
            </a:solidFill>
            <a:ln>
              <a:noFill/>
            </a:ln>
          </p:spPr>
          <p:txBody>
            <a:bodyPr/>
            <a:lstStyle/>
            <a:p>
              <a:endParaRPr lang="da-DK"/>
            </a:p>
          </p:txBody>
        </p:sp>
        <p:sp>
          <p:nvSpPr>
            <p:cNvPr id="26" name="TextBox 26"/>
            <p:cNvSpPr txBox="1"/>
            <p:nvPr/>
          </p:nvSpPr>
          <p:spPr>
            <a:xfrm>
              <a:off x="8403479" y="2304574"/>
              <a:ext cx="338042"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Thấp</a:t>
              </a:r>
            </a:p>
          </p:txBody>
        </p:sp>
        <p:sp>
          <p:nvSpPr>
            <p:cNvPr id="27" name="TextBox 27"/>
            <p:cNvSpPr txBox="1"/>
            <p:nvPr/>
          </p:nvSpPr>
          <p:spPr>
            <a:xfrm>
              <a:off x="8988742" y="2304574"/>
              <a:ext cx="622840"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REST call</a:t>
              </a:r>
            </a:p>
          </p:txBody>
        </p:sp>
        <p:sp>
          <p:nvSpPr>
            <p:cNvPr id="28" name="Rectangle 28"/>
            <p:cNvSpPr/>
            <p:nvPr/>
          </p:nvSpPr>
          <p:spPr>
            <a:xfrm>
              <a:off x="571500" y="2609850"/>
              <a:ext cx="11049000" cy="495300"/>
            </a:xfrm>
            <a:prstGeom prst="rect">
              <a:avLst/>
            </a:prstGeom>
            <a:solidFill>
              <a:srgbClr val="F6F5EE"/>
            </a:solidFill>
            <a:ln>
              <a:noFill/>
            </a:ln>
          </p:spPr>
          <p:txBody>
            <a:bodyPr/>
            <a:lstStyle/>
            <a:p>
              <a:endParaRPr lang="da-DK"/>
            </a:p>
          </p:txBody>
        </p:sp>
        <p:sp>
          <p:nvSpPr>
            <p:cNvPr id="29" name="TextBox 29"/>
            <p:cNvSpPr txBox="1"/>
            <p:nvPr/>
          </p:nvSpPr>
          <p:spPr>
            <a:xfrm>
              <a:off x="748665" y="2782252"/>
              <a:ext cx="1266525"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Chất lượng SOTA</a:t>
              </a:r>
            </a:p>
          </p:txBody>
        </p:sp>
        <p:sp>
          <p:nvSpPr>
            <p:cNvPr id="30" name="TextBox 30"/>
            <p:cNvSpPr txBox="1"/>
            <p:nvPr/>
          </p:nvSpPr>
          <p:spPr>
            <a:xfrm>
              <a:off x="4273868" y="2790349"/>
              <a:ext cx="1996988"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model open hiện có</a:t>
              </a:r>
            </a:p>
          </p:txBody>
        </p:sp>
        <p:sp>
          <p:nvSpPr>
            <p:cNvPr id="31" name="Rectangle 31"/>
            <p:cNvSpPr/>
            <p:nvPr/>
          </p:nvSpPr>
          <p:spPr>
            <a:xfrm>
              <a:off x="8286750" y="2752725"/>
              <a:ext cx="1143000" cy="209550"/>
            </a:xfrm>
            <a:prstGeom prst="roundRect">
              <a:avLst>
                <a:gd name="adj" fmla="val 18182"/>
              </a:avLst>
            </a:prstGeom>
            <a:solidFill>
              <a:srgbClr val="586A68">
                <a:alpha val="15000"/>
              </a:srgbClr>
            </a:solidFill>
            <a:ln>
              <a:noFill/>
            </a:ln>
          </p:spPr>
          <p:txBody>
            <a:bodyPr/>
            <a:lstStyle/>
            <a:p>
              <a:endParaRPr lang="da-DK"/>
            </a:p>
          </p:txBody>
        </p:sp>
        <p:sp>
          <p:nvSpPr>
            <p:cNvPr id="32" name="TextBox 32"/>
            <p:cNvSpPr txBox="1"/>
            <p:nvPr/>
          </p:nvSpPr>
          <p:spPr>
            <a:xfrm>
              <a:off x="8333232" y="2799874"/>
              <a:ext cx="105003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Thường dẫn đầu</a:t>
              </a:r>
            </a:p>
          </p:txBody>
        </p:sp>
        <p:sp>
          <p:nvSpPr>
            <p:cNvPr id="33" name="Rectangle 33"/>
            <p:cNvSpPr/>
            <p:nvPr/>
          </p:nvSpPr>
          <p:spPr>
            <a:xfrm>
              <a:off x="571500" y="3105150"/>
              <a:ext cx="11049000" cy="495300"/>
            </a:xfrm>
            <a:prstGeom prst="rect">
              <a:avLst/>
            </a:prstGeom>
            <a:solidFill>
              <a:srgbClr val="586A68">
                <a:alpha val="3000"/>
              </a:srgbClr>
            </a:solidFill>
            <a:ln>
              <a:noFill/>
            </a:ln>
          </p:spPr>
          <p:txBody>
            <a:bodyPr/>
            <a:lstStyle/>
            <a:p>
              <a:endParaRPr lang="da-DK"/>
            </a:p>
          </p:txBody>
        </p:sp>
        <p:sp>
          <p:nvSpPr>
            <p:cNvPr id="34" name="TextBox 34"/>
            <p:cNvSpPr txBox="1"/>
            <p:nvPr/>
          </p:nvSpPr>
          <p:spPr>
            <a:xfrm>
              <a:off x="748665" y="3277552"/>
              <a:ext cx="646597"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Latency</a:t>
              </a:r>
            </a:p>
          </p:txBody>
        </p:sp>
        <p:sp>
          <p:nvSpPr>
            <p:cNvPr id="35" name="Rectangle 35"/>
            <p:cNvSpPr/>
            <p:nvPr/>
          </p:nvSpPr>
          <p:spPr>
            <a:xfrm>
              <a:off x="4286250" y="3248025"/>
              <a:ext cx="1047750" cy="209550"/>
            </a:xfrm>
            <a:prstGeom prst="roundRect">
              <a:avLst>
                <a:gd name="adj" fmla="val 18182"/>
              </a:avLst>
            </a:prstGeom>
            <a:solidFill>
              <a:srgbClr val="586A68">
                <a:alpha val="15000"/>
              </a:srgbClr>
            </a:solidFill>
            <a:ln>
              <a:noFill/>
            </a:ln>
          </p:spPr>
          <p:txBody>
            <a:bodyPr/>
            <a:lstStyle/>
            <a:p>
              <a:endParaRPr lang="da-DK"/>
            </a:p>
          </p:txBody>
        </p:sp>
        <p:sp>
          <p:nvSpPr>
            <p:cNvPr id="36" name="TextBox 36"/>
            <p:cNvSpPr txBox="1"/>
            <p:nvPr/>
          </p:nvSpPr>
          <p:spPr>
            <a:xfrm>
              <a:off x="4366986" y="3295174"/>
              <a:ext cx="886277"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Tự kiểm soát</a:t>
              </a:r>
            </a:p>
          </p:txBody>
        </p:sp>
        <p:sp>
          <p:nvSpPr>
            <p:cNvPr id="37" name="TextBox 37"/>
            <p:cNvSpPr txBox="1"/>
            <p:nvPr/>
          </p:nvSpPr>
          <p:spPr>
            <a:xfrm>
              <a:off x="8274368" y="3295174"/>
              <a:ext cx="1206675"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vendor</a:t>
              </a:r>
            </a:p>
          </p:txBody>
        </p:sp>
        <p:sp>
          <p:nvSpPr>
            <p:cNvPr id="38" name="Rectangle 38"/>
            <p:cNvSpPr/>
            <p:nvPr/>
          </p:nvSpPr>
          <p:spPr>
            <a:xfrm>
              <a:off x="571500" y="3600450"/>
              <a:ext cx="11049000" cy="495300"/>
            </a:xfrm>
            <a:prstGeom prst="rect">
              <a:avLst/>
            </a:prstGeom>
            <a:solidFill>
              <a:srgbClr val="F6F5EE"/>
            </a:solidFill>
            <a:ln>
              <a:noFill/>
            </a:ln>
          </p:spPr>
          <p:txBody>
            <a:bodyPr/>
            <a:lstStyle/>
            <a:p>
              <a:endParaRPr lang="da-DK"/>
            </a:p>
          </p:txBody>
        </p:sp>
        <p:sp>
          <p:nvSpPr>
            <p:cNvPr id="39" name="TextBox 39"/>
            <p:cNvSpPr txBox="1"/>
            <p:nvPr/>
          </p:nvSpPr>
          <p:spPr>
            <a:xfrm>
              <a:off x="748665" y="3772852"/>
              <a:ext cx="167712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IP-safe / Brand-safe</a:t>
              </a:r>
            </a:p>
          </p:txBody>
        </p:sp>
        <p:sp>
          <p:nvSpPr>
            <p:cNvPr id="40" name="TextBox 40"/>
            <p:cNvSpPr txBox="1"/>
            <p:nvPr/>
          </p:nvSpPr>
          <p:spPr>
            <a:xfrm>
              <a:off x="4273868" y="3780949"/>
              <a:ext cx="139891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Tự chịu trách nhiệm</a:t>
              </a:r>
            </a:p>
          </p:txBody>
        </p:sp>
        <p:sp>
          <p:nvSpPr>
            <p:cNvPr id="41" name="Rectangle 41"/>
            <p:cNvSpPr/>
            <p:nvPr/>
          </p:nvSpPr>
          <p:spPr>
            <a:xfrm>
              <a:off x="8286750" y="3743325"/>
              <a:ext cx="1333500" cy="209550"/>
            </a:xfrm>
            <a:prstGeom prst="roundRect">
              <a:avLst>
                <a:gd name="adj" fmla="val 18182"/>
              </a:avLst>
            </a:prstGeom>
            <a:solidFill>
              <a:srgbClr val="586A68">
                <a:alpha val="15000"/>
              </a:srgbClr>
            </a:solidFill>
            <a:ln>
              <a:noFill/>
            </a:ln>
          </p:spPr>
          <p:txBody>
            <a:bodyPr/>
            <a:lstStyle/>
            <a:p>
              <a:endParaRPr lang="da-DK"/>
            </a:p>
          </p:txBody>
        </p:sp>
        <p:sp>
          <p:nvSpPr>
            <p:cNvPr id="42" name="TextBox 42"/>
            <p:cNvSpPr txBox="1"/>
            <p:nvPr/>
          </p:nvSpPr>
          <p:spPr>
            <a:xfrm>
              <a:off x="8414242" y="3790474"/>
              <a:ext cx="107851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Vendor cam kết</a:t>
              </a:r>
            </a:p>
          </p:txBody>
        </p:sp>
        <p:sp>
          <p:nvSpPr>
            <p:cNvPr id="43" name="TextBox 43"/>
            <p:cNvSpPr txBox="1"/>
            <p:nvPr/>
          </p:nvSpPr>
          <p:spPr>
            <a:xfrm>
              <a:off x="9704070" y="3798570"/>
              <a:ext cx="975836"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(Bria, Firefly)</a:t>
              </a:r>
            </a:p>
          </p:txBody>
        </p:sp>
        <p:sp>
          <p:nvSpPr>
            <p:cNvPr id="44" name="Rectangle 44"/>
            <p:cNvSpPr/>
            <p:nvPr/>
          </p:nvSpPr>
          <p:spPr>
            <a:xfrm>
              <a:off x="571500" y="4095750"/>
              <a:ext cx="11049000" cy="495300"/>
            </a:xfrm>
            <a:prstGeom prst="rect">
              <a:avLst/>
            </a:prstGeom>
            <a:solidFill>
              <a:srgbClr val="586A68">
                <a:alpha val="3000"/>
              </a:srgbClr>
            </a:solidFill>
            <a:ln>
              <a:noFill/>
            </a:ln>
          </p:spPr>
          <p:txBody>
            <a:bodyPr/>
            <a:lstStyle/>
            <a:p>
              <a:endParaRPr lang="da-DK"/>
            </a:p>
          </p:txBody>
        </p:sp>
        <p:sp>
          <p:nvSpPr>
            <p:cNvPr id="45" name="TextBox 45"/>
            <p:cNvSpPr txBox="1"/>
            <p:nvPr/>
          </p:nvSpPr>
          <p:spPr>
            <a:xfrm>
              <a:off x="748665" y="4268152"/>
              <a:ext cx="2152136"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Custom (LoRA, ControlNet)</a:t>
              </a:r>
            </a:p>
          </p:txBody>
        </p:sp>
        <p:sp>
          <p:nvSpPr>
            <p:cNvPr id="46" name="Rectangle 46"/>
            <p:cNvSpPr/>
            <p:nvPr/>
          </p:nvSpPr>
          <p:spPr>
            <a:xfrm>
              <a:off x="4286250" y="4238625"/>
              <a:ext cx="1047750" cy="209550"/>
            </a:xfrm>
            <a:prstGeom prst="roundRect">
              <a:avLst>
                <a:gd name="adj" fmla="val 18182"/>
              </a:avLst>
            </a:prstGeom>
            <a:solidFill>
              <a:srgbClr val="586A68">
                <a:alpha val="15000"/>
              </a:srgbClr>
            </a:solidFill>
            <a:ln>
              <a:noFill/>
            </a:ln>
          </p:spPr>
          <p:txBody>
            <a:bodyPr/>
            <a:lstStyle/>
            <a:p>
              <a:endParaRPr lang="da-DK"/>
            </a:p>
          </p:txBody>
        </p:sp>
        <p:sp>
          <p:nvSpPr>
            <p:cNvPr id="47" name="TextBox 47"/>
            <p:cNvSpPr txBox="1"/>
            <p:nvPr/>
          </p:nvSpPr>
          <p:spPr>
            <a:xfrm>
              <a:off x="4302907" y="4285774"/>
              <a:ext cx="1014436"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Linh hoạt nhất</a:t>
              </a:r>
            </a:p>
          </p:txBody>
        </p:sp>
        <p:sp>
          <p:nvSpPr>
            <p:cNvPr id="48" name="Rectangle 48"/>
            <p:cNvSpPr/>
            <p:nvPr/>
          </p:nvSpPr>
          <p:spPr>
            <a:xfrm>
              <a:off x="8286750" y="4238625"/>
              <a:ext cx="762000" cy="209550"/>
            </a:xfrm>
            <a:prstGeom prst="roundRect">
              <a:avLst>
                <a:gd name="adj" fmla="val 18182"/>
              </a:avLst>
            </a:prstGeom>
            <a:solidFill>
              <a:srgbClr val="C1856B">
                <a:alpha val="15000"/>
              </a:srgbClr>
            </a:solidFill>
            <a:ln>
              <a:noFill/>
            </a:ln>
          </p:spPr>
          <p:txBody>
            <a:bodyPr/>
            <a:lstStyle/>
            <a:p>
              <a:endParaRPr lang="da-DK"/>
            </a:p>
          </p:txBody>
        </p:sp>
        <p:sp>
          <p:nvSpPr>
            <p:cNvPr id="49" name="TextBox 49"/>
            <p:cNvSpPr txBox="1"/>
            <p:nvPr/>
          </p:nvSpPr>
          <p:spPr>
            <a:xfrm>
              <a:off x="8399050" y="4285774"/>
              <a:ext cx="537400" cy="198120"/>
            </a:xfrm>
            <a:prstGeom prst="rect">
              <a:avLst/>
            </a:prstGeom>
            <a:noFill/>
            <a:ln>
              <a:noFill/>
            </a:ln>
          </p:spPr>
          <p:txBody>
            <a:bodyPr wrap="none" lIns="0" tIns="0" rIns="0" bIns="0" anchor="t" anchorCtr="0">
              <a:spAutoFit/>
            </a:bodyPr>
            <a:lstStyle/>
            <a:p>
              <a:pPr algn="ctr"/>
              <a:r>
                <a:rPr lang="zh-CN" sz="975" dirty="0">
                  <a:solidFill>
                    <a:srgbClr val="C1856B"/>
                  </a:solidFill>
                  <a:latin typeface="Segoe UI"/>
                  <a:ea typeface="Microsoft YaHei"/>
                  <a:cs typeface="Segoe UI"/>
                </a:rPr>
                <a:t>Hạn chế</a:t>
              </a:r>
            </a:p>
          </p:txBody>
        </p:sp>
        <p:sp>
          <p:nvSpPr>
            <p:cNvPr id="50" name="Rectangle 50"/>
            <p:cNvSpPr/>
            <p:nvPr/>
          </p:nvSpPr>
          <p:spPr>
            <a:xfrm>
              <a:off x="571500" y="4591050"/>
              <a:ext cx="11049000" cy="495300"/>
            </a:xfrm>
            <a:prstGeom prst="rect">
              <a:avLst/>
            </a:prstGeom>
            <a:solidFill>
              <a:srgbClr val="F6F5EE"/>
            </a:solidFill>
            <a:ln>
              <a:noFill/>
            </a:ln>
          </p:spPr>
          <p:txBody>
            <a:bodyPr/>
            <a:lstStyle/>
            <a:p>
              <a:endParaRPr lang="da-DK"/>
            </a:p>
          </p:txBody>
        </p:sp>
        <p:sp>
          <p:nvSpPr>
            <p:cNvPr id="51" name="TextBox 51"/>
            <p:cNvSpPr txBox="1"/>
            <p:nvPr/>
          </p:nvSpPr>
          <p:spPr>
            <a:xfrm>
              <a:off x="748665" y="4763452"/>
              <a:ext cx="2039422"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Privacy / Dữ liệu nhạy cảm</a:t>
              </a:r>
            </a:p>
          </p:txBody>
        </p:sp>
        <p:sp>
          <p:nvSpPr>
            <p:cNvPr id="52" name="Rectangle 52"/>
            <p:cNvSpPr/>
            <p:nvPr/>
          </p:nvSpPr>
          <p:spPr>
            <a:xfrm>
              <a:off x="4286250" y="4733925"/>
              <a:ext cx="952500" cy="209550"/>
            </a:xfrm>
            <a:prstGeom prst="roundRect">
              <a:avLst>
                <a:gd name="adj" fmla="val 18182"/>
              </a:avLst>
            </a:prstGeom>
            <a:solidFill>
              <a:srgbClr val="586A68">
                <a:alpha val="15000"/>
              </a:srgbClr>
            </a:solidFill>
            <a:ln>
              <a:noFill/>
            </a:ln>
          </p:spPr>
          <p:txBody>
            <a:bodyPr/>
            <a:lstStyle/>
            <a:p>
              <a:endParaRPr lang="da-DK"/>
            </a:p>
          </p:txBody>
        </p:sp>
        <p:sp>
          <p:nvSpPr>
            <p:cNvPr id="53" name="TextBox 53"/>
            <p:cNvSpPr txBox="1"/>
            <p:nvPr/>
          </p:nvSpPr>
          <p:spPr>
            <a:xfrm>
              <a:off x="4394121" y="4781074"/>
              <a:ext cx="736759"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Không leak</a:t>
              </a:r>
            </a:p>
          </p:txBody>
        </p:sp>
        <p:sp>
          <p:nvSpPr>
            <p:cNvPr id="54" name="TextBox 54"/>
            <p:cNvSpPr txBox="1"/>
            <p:nvPr/>
          </p:nvSpPr>
          <p:spPr>
            <a:xfrm>
              <a:off x="8274368" y="4781074"/>
              <a:ext cx="971717"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DPA</a:t>
              </a:r>
            </a:p>
          </p:txBody>
        </p:sp>
        <p:sp>
          <p:nvSpPr>
            <p:cNvPr id="55" name="Rectangle 55"/>
            <p:cNvSpPr/>
            <p:nvPr/>
          </p:nvSpPr>
          <p:spPr>
            <a:xfrm>
              <a:off x="571500" y="5086350"/>
              <a:ext cx="11049000" cy="495300"/>
            </a:xfrm>
            <a:prstGeom prst="rect">
              <a:avLst/>
            </a:prstGeom>
            <a:solidFill>
              <a:srgbClr val="586A68">
                <a:alpha val="3000"/>
              </a:srgbClr>
            </a:solidFill>
            <a:ln>
              <a:noFill/>
            </a:ln>
          </p:spPr>
          <p:txBody>
            <a:bodyPr/>
            <a:lstStyle/>
            <a:p>
              <a:endParaRPr lang="da-DK"/>
            </a:p>
          </p:txBody>
        </p:sp>
        <p:sp>
          <p:nvSpPr>
            <p:cNvPr id="56" name="TextBox 56"/>
            <p:cNvSpPr txBox="1"/>
            <p:nvPr/>
          </p:nvSpPr>
          <p:spPr>
            <a:xfrm>
              <a:off x="748665" y="5258752"/>
              <a:ext cx="1145760" cy="213360"/>
            </a:xfrm>
            <a:prstGeom prst="rect">
              <a:avLst/>
            </a:prstGeom>
            <a:noFill/>
            <a:ln>
              <a:noFill/>
            </a:ln>
          </p:spPr>
          <p:txBody>
            <a:bodyPr wrap="none" lIns="0" tIns="0" rIns="0" bIns="0" anchor="t" anchorCtr="0">
              <a:spAutoFit/>
            </a:bodyPr>
            <a:lstStyle/>
            <a:p>
              <a:pPr algn="l"/>
              <a:r>
                <a:rPr lang="zh-CN" sz="1050" b="1" dirty="0">
                  <a:solidFill>
                    <a:srgbClr val="3C3C3B"/>
                  </a:solidFill>
                  <a:latin typeface="Segoe UI"/>
                  <a:ea typeface="Microsoft YaHei"/>
                  <a:cs typeface="Segoe UI"/>
                </a:rPr>
                <a:t>Khả năng scale</a:t>
              </a:r>
            </a:p>
          </p:txBody>
        </p:sp>
        <p:sp>
          <p:nvSpPr>
            <p:cNvPr id="57" name="TextBox 57"/>
            <p:cNvSpPr txBox="1"/>
            <p:nvPr/>
          </p:nvSpPr>
          <p:spPr>
            <a:xfrm>
              <a:off x="4273868" y="5266849"/>
              <a:ext cx="1448753"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Phụ thuộc đầu tư GPU</a:t>
              </a:r>
            </a:p>
          </p:txBody>
        </p:sp>
        <p:sp>
          <p:nvSpPr>
            <p:cNvPr id="58" name="Rectangle 58"/>
            <p:cNvSpPr/>
            <p:nvPr/>
          </p:nvSpPr>
          <p:spPr>
            <a:xfrm>
              <a:off x="8286750" y="5229225"/>
              <a:ext cx="857250" cy="209550"/>
            </a:xfrm>
            <a:prstGeom prst="roundRect">
              <a:avLst>
                <a:gd name="adj" fmla="val 18182"/>
              </a:avLst>
            </a:prstGeom>
            <a:solidFill>
              <a:srgbClr val="586A68">
                <a:alpha val="15000"/>
              </a:srgbClr>
            </a:solidFill>
            <a:ln>
              <a:noFill/>
            </a:ln>
          </p:spPr>
          <p:txBody>
            <a:bodyPr/>
            <a:lstStyle/>
            <a:p>
              <a:endParaRPr lang="da-DK"/>
            </a:p>
          </p:txBody>
        </p:sp>
        <p:sp>
          <p:nvSpPr>
            <p:cNvPr id="59" name="TextBox 59"/>
            <p:cNvSpPr txBox="1"/>
            <p:nvPr/>
          </p:nvSpPr>
          <p:spPr>
            <a:xfrm>
              <a:off x="8386155" y="5276374"/>
              <a:ext cx="658439" cy="198120"/>
            </a:xfrm>
            <a:prstGeom prst="rect">
              <a:avLst/>
            </a:prstGeom>
            <a:noFill/>
            <a:ln>
              <a:noFill/>
            </a:ln>
          </p:spPr>
          <p:txBody>
            <a:bodyPr wrap="none" lIns="0" tIns="0" rIns="0" bIns="0" anchor="t" anchorCtr="0">
              <a:spAutoFit/>
            </a:bodyPr>
            <a:lstStyle/>
            <a:p>
              <a:pPr algn="ctr"/>
              <a:r>
                <a:rPr lang="zh-CN" sz="975" dirty="0">
                  <a:solidFill>
                    <a:srgbClr val="586A68"/>
                  </a:solidFill>
                  <a:latin typeface="Segoe UI"/>
                  <a:ea typeface="Microsoft YaHei"/>
                  <a:cs typeface="Segoe UI"/>
                </a:rPr>
                <a:t>Vendor lo</a:t>
              </a:r>
            </a:p>
          </p:txBody>
        </p:sp>
      </p:grpSp>
      <p:grpSp>
        <p:nvGrpSpPr>
          <p:cNvPr id="64" name="Group 64"/>
          <p:cNvGrpSpPr/>
          <p:nvPr/>
        </p:nvGrpSpPr>
        <p:grpSpPr>
          <a:xfrm>
            <a:off x="559118" y="5762625"/>
            <a:ext cx="11072812" cy="990600"/>
            <a:chOff x="559118" y="5762625"/>
            <a:chExt cx="11072812" cy="990600"/>
          </a:xfrm>
        </p:grpSpPr>
        <p:sp>
          <p:nvSpPr>
            <p:cNvPr id="61" name="Rectangle 61"/>
            <p:cNvSpPr/>
            <p:nvPr/>
          </p:nvSpPr>
          <p:spPr>
            <a:xfrm>
              <a:off x="571500" y="5762625"/>
              <a:ext cx="11049000" cy="9525"/>
            </a:xfrm>
            <a:prstGeom prst="rect">
              <a:avLst/>
            </a:prstGeom>
            <a:solidFill>
              <a:srgbClr val="88817E">
                <a:alpha val="15000"/>
              </a:srgbClr>
            </a:solidFill>
            <a:ln>
              <a:noFill/>
            </a:ln>
          </p:spPr>
          <p:txBody>
            <a:bodyPr/>
            <a:lstStyle/>
            <a:p>
              <a:endParaRPr lang="da-DK"/>
            </a:p>
          </p:txBody>
        </p:sp>
        <p:sp>
          <p:nvSpPr>
            <p:cNvPr id="62" name="TextBox 62"/>
            <p:cNvSpPr txBox="1"/>
            <p:nvPr/>
          </p:nvSpPr>
          <p:spPr>
            <a:xfrm>
              <a:off x="559118" y="5990749"/>
              <a:ext cx="7308461" cy="198120"/>
            </a:xfrm>
            <a:prstGeom prst="rect">
              <a:avLst/>
            </a:prstGeom>
            <a:noFill/>
            <a:ln>
              <a:noFill/>
            </a:ln>
          </p:spPr>
          <p:txBody>
            <a:bodyPr wrap="none" lIns="0" tIns="0" rIns="0" bIns="0" anchor="t" anchorCtr="0">
              <a:spAutoFit/>
            </a:bodyPr>
            <a:lstStyle/>
            <a:p>
              <a:pPr algn="l"/>
              <a:r>
                <a:rPr lang="zh-CN" sz="975" dirty="0">
                  <a:solidFill>
                    <a:srgbClr val="88817E"/>
                  </a:solidFill>
                  <a:latin typeface="Segoe UI"/>
                  <a:ea typeface="Microsoft YaHei"/>
                  <a:cs typeface="Segoe UI"/>
                </a:rPr>
                <a:t>Khuyến nghị: Bắt đầu với Managed API cho POC nhanh → chuyển self-host khi volume lớn &amp; workflow ổn định</a:t>
              </a:r>
            </a:p>
          </p:txBody>
        </p:sp>
        <p:sp>
          <p:nvSpPr>
            <p:cNvPr id="63" name="TextBox 63"/>
            <p:cNvSpPr txBox="1"/>
            <p:nvPr/>
          </p:nvSpPr>
          <p:spPr>
            <a:xfrm>
              <a:off x="11530203" y="6570345"/>
              <a:ext cx="101727"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grpSp>
        <p:nvGrpSpPr>
          <p:cNvPr id="7" name="Group 7"/>
          <p:cNvGrpSpPr/>
          <p:nvPr/>
        </p:nvGrpSpPr>
        <p:grpSpPr>
          <a:xfrm>
            <a:off x="558165" y="458152"/>
            <a:ext cx="5650987" cy="722948"/>
            <a:chOff x="558165" y="458152"/>
            <a:chExt cx="5650987" cy="722948"/>
          </a:xfrm>
        </p:grpSpPr>
        <p:sp>
          <p:nvSpPr>
            <p:cNvPr id="4" name="TextBox 4"/>
            <p:cNvSpPr txBox="1"/>
            <p:nvPr/>
          </p:nvSpPr>
          <p:spPr>
            <a:xfrm>
              <a:off x="558165" y="458152"/>
              <a:ext cx="1184481"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11 / Khuyến Nghị</a:t>
              </a:r>
            </a:p>
          </p:txBody>
        </p:sp>
        <p:sp>
          <p:nvSpPr>
            <p:cNvPr id="5" name="Rectangle 5"/>
            <p:cNvSpPr/>
            <p:nvPr/>
          </p:nvSpPr>
          <p:spPr>
            <a:xfrm>
              <a:off x="571500" y="762000"/>
              <a:ext cx="38100" cy="266700"/>
            </a:xfrm>
            <a:prstGeom prst="rect">
              <a:avLst/>
            </a:prstGeom>
            <a:solidFill>
              <a:srgbClr val="C1856B"/>
            </a:solidFill>
            <a:ln>
              <a:noFill/>
            </a:ln>
          </p:spPr>
          <p:txBody>
            <a:bodyPr/>
            <a:lstStyle/>
            <a:p>
              <a:endParaRPr lang="da-DK"/>
            </a:p>
          </p:txBody>
        </p:sp>
        <p:sp>
          <p:nvSpPr>
            <p:cNvPr id="6" name="TextBox 6"/>
            <p:cNvSpPr txBox="1"/>
            <p:nvPr/>
          </p:nvSpPr>
          <p:spPr>
            <a:xfrm>
              <a:off x="697230" y="754380"/>
              <a:ext cx="5511922" cy="426720"/>
            </a:xfrm>
            <a:prstGeom prst="rect">
              <a:avLst/>
            </a:prstGeom>
            <a:noFill/>
            <a:ln>
              <a:noFill/>
            </a:ln>
          </p:spPr>
          <p:txBody>
            <a:bodyPr wrap="none" lIns="0" tIns="0" rIns="0" bIns="0" anchor="t" anchorCtr="0">
              <a:spAutoFit/>
            </a:bodyPr>
            <a:lstStyle/>
            <a:p>
              <a:pPr algn="l"/>
              <a:r>
                <a:rPr lang="zh-CN" sz="2100" b="1" dirty="0">
                  <a:solidFill>
                    <a:srgbClr val="3C3C3B"/>
                  </a:solidFill>
                  <a:latin typeface="Segoe UI"/>
                  <a:ea typeface="Microsoft YaHei"/>
                  <a:cs typeface="Segoe UI"/>
                </a:rPr>
                <a:t>Khuyến Nghị Bước Đầu — R&amp;D Phase 3</a:t>
              </a:r>
            </a:p>
          </p:txBody>
        </p:sp>
      </p:grpSp>
      <p:grpSp>
        <p:nvGrpSpPr>
          <p:cNvPr id="13" name="Group 13"/>
          <p:cNvGrpSpPr/>
          <p:nvPr/>
        </p:nvGrpSpPr>
        <p:grpSpPr>
          <a:xfrm>
            <a:off x="571500" y="1285875"/>
            <a:ext cx="4476750" cy="533400"/>
            <a:chOff x="571500" y="1285875"/>
            <a:chExt cx="4476750" cy="533400"/>
          </a:xfrm>
        </p:grpSpPr>
        <p:sp>
          <p:nvSpPr>
            <p:cNvPr id="8" name="Rectangle 8"/>
            <p:cNvSpPr/>
            <p:nvPr/>
          </p:nvSpPr>
          <p:spPr>
            <a:xfrm>
              <a:off x="571500" y="1285875"/>
              <a:ext cx="476250" cy="476250"/>
            </a:xfrm>
            <a:prstGeom prst="roundRect">
              <a:avLst>
                <a:gd name="adj" fmla="val 50000"/>
              </a:avLst>
            </a:prstGeom>
            <a:solidFill>
              <a:srgbClr val="586A68"/>
            </a:solidFill>
            <a:ln>
              <a:noFill/>
            </a:ln>
          </p:spPr>
          <p:txBody>
            <a:bodyPr/>
            <a:lstStyle/>
            <a:p>
              <a:endParaRPr lang="da-DK"/>
            </a:p>
          </p:txBody>
        </p:sp>
        <p:sp>
          <p:nvSpPr>
            <p:cNvPr id="9" name="TextBox 9"/>
            <p:cNvSpPr txBox="1"/>
            <p:nvPr/>
          </p:nvSpPr>
          <p:spPr>
            <a:xfrm>
              <a:off x="750715" y="1412558"/>
              <a:ext cx="1178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1</a:t>
              </a:r>
            </a:p>
          </p:txBody>
        </p:sp>
        <p:sp>
          <p:nvSpPr>
            <p:cNvPr id="10" name="TextBox 10"/>
            <p:cNvSpPr txBox="1"/>
            <p:nvPr/>
          </p:nvSpPr>
          <p:spPr>
            <a:xfrm>
              <a:off x="1223010" y="1346835"/>
              <a:ext cx="1962722"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Variant đổi màu nhanh</a:t>
              </a:r>
            </a:p>
          </p:txBody>
        </p:sp>
        <p:sp>
          <p:nvSpPr>
            <p:cNvPr id="11" name="TextBox 11"/>
            <p:cNvSpPr txBox="1"/>
            <p:nvPr/>
          </p:nvSpPr>
          <p:spPr>
            <a:xfrm>
              <a:off x="1224915" y="1582102"/>
              <a:ext cx="3691795"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fal.ai (FLUX dev + ControlNet) — POC trong 1 tuần</a:t>
              </a:r>
            </a:p>
          </p:txBody>
        </p:sp>
        <p:sp>
          <p:nvSpPr>
            <p:cNvPr id="12" name="Rectangle 12"/>
            <p:cNvSpPr/>
            <p:nvPr/>
          </p:nvSpPr>
          <p:spPr>
            <a:xfrm>
              <a:off x="1238250" y="1790700"/>
              <a:ext cx="3810000" cy="28575"/>
            </a:xfrm>
            <a:prstGeom prst="roundRect">
              <a:avLst>
                <a:gd name="adj" fmla="val 33333"/>
              </a:avLst>
            </a:prstGeom>
            <a:solidFill>
              <a:srgbClr val="586A68">
                <a:alpha val="15000"/>
              </a:srgbClr>
            </a:solidFill>
            <a:ln>
              <a:noFill/>
            </a:ln>
          </p:spPr>
          <p:txBody>
            <a:bodyPr/>
            <a:lstStyle/>
            <a:p>
              <a:endParaRPr lang="da-DK"/>
            </a:p>
          </p:txBody>
        </p:sp>
      </p:grpSp>
      <p:grpSp>
        <p:nvGrpSpPr>
          <p:cNvPr id="19" name="Group 19"/>
          <p:cNvGrpSpPr/>
          <p:nvPr/>
        </p:nvGrpSpPr>
        <p:grpSpPr>
          <a:xfrm>
            <a:off x="571500" y="2047875"/>
            <a:ext cx="6530483" cy="533400"/>
            <a:chOff x="571500" y="2047875"/>
            <a:chExt cx="6530483" cy="533400"/>
          </a:xfrm>
        </p:grpSpPr>
        <p:sp>
          <p:nvSpPr>
            <p:cNvPr id="14" name="Rectangle 14"/>
            <p:cNvSpPr/>
            <p:nvPr/>
          </p:nvSpPr>
          <p:spPr>
            <a:xfrm>
              <a:off x="571500" y="2047875"/>
              <a:ext cx="476250" cy="476250"/>
            </a:xfrm>
            <a:prstGeom prst="roundRect">
              <a:avLst>
                <a:gd name="adj" fmla="val 50000"/>
              </a:avLst>
            </a:prstGeom>
            <a:solidFill>
              <a:srgbClr val="586A68"/>
            </a:solidFill>
            <a:ln>
              <a:noFill/>
            </a:ln>
          </p:spPr>
          <p:txBody>
            <a:bodyPr/>
            <a:lstStyle/>
            <a:p>
              <a:endParaRPr lang="da-DK"/>
            </a:p>
          </p:txBody>
        </p:sp>
        <p:sp>
          <p:nvSpPr>
            <p:cNvPr id="15" name="TextBox 15"/>
            <p:cNvSpPr txBox="1"/>
            <p:nvPr/>
          </p:nvSpPr>
          <p:spPr>
            <a:xfrm>
              <a:off x="719086" y="2174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2</a:t>
              </a:r>
            </a:p>
          </p:txBody>
        </p:sp>
        <p:sp>
          <p:nvSpPr>
            <p:cNvPr id="16" name="TextBox 16"/>
            <p:cNvSpPr txBox="1"/>
            <p:nvPr/>
          </p:nvSpPr>
          <p:spPr>
            <a:xfrm>
              <a:off x="1223010" y="2108835"/>
              <a:ext cx="281842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Tách nền (Background Removal)</a:t>
              </a:r>
            </a:p>
          </p:txBody>
        </p:sp>
        <p:sp>
          <p:nvSpPr>
            <p:cNvPr id="17" name="TextBox 17"/>
            <p:cNvSpPr txBox="1"/>
            <p:nvPr/>
          </p:nvSpPr>
          <p:spPr>
            <a:xfrm>
              <a:off x="1224915" y="2344102"/>
              <a:ext cx="5877068"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Photoroom API cho chất lượng, hoặc rembg + BRIA RMBG self-host khi volume lớn</a:t>
              </a:r>
            </a:p>
          </p:txBody>
        </p:sp>
        <p:sp>
          <p:nvSpPr>
            <p:cNvPr id="18" name="Rectangle 18"/>
            <p:cNvSpPr/>
            <p:nvPr/>
          </p:nvSpPr>
          <p:spPr>
            <a:xfrm>
              <a:off x="1238250" y="2552700"/>
              <a:ext cx="3810000" cy="28575"/>
            </a:xfrm>
            <a:prstGeom prst="roundRect">
              <a:avLst>
                <a:gd name="adj" fmla="val 33333"/>
              </a:avLst>
            </a:prstGeom>
            <a:solidFill>
              <a:srgbClr val="586A68">
                <a:alpha val="15000"/>
              </a:srgbClr>
            </a:solidFill>
            <a:ln>
              <a:noFill/>
            </a:ln>
          </p:spPr>
          <p:txBody>
            <a:bodyPr/>
            <a:lstStyle/>
            <a:p>
              <a:endParaRPr lang="da-DK"/>
            </a:p>
          </p:txBody>
        </p:sp>
      </p:grpSp>
      <p:grpSp>
        <p:nvGrpSpPr>
          <p:cNvPr id="25" name="Group 25"/>
          <p:cNvGrpSpPr/>
          <p:nvPr/>
        </p:nvGrpSpPr>
        <p:grpSpPr>
          <a:xfrm>
            <a:off x="571500" y="2809875"/>
            <a:ext cx="6430804" cy="533400"/>
            <a:chOff x="571500" y="2809875"/>
            <a:chExt cx="6430804" cy="533400"/>
          </a:xfrm>
        </p:grpSpPr>
        <p:sp>
          <p:nvSpPr>
            <p:cNvPr id="20" name="Rectangle 20"/>
            <p:cNvSpPr/>
            <p:nvPr/>
          </p:nvSpPr>
          <p:spPr>
            <a:xfrm>
              <a:off x="571500" y="2809875"/>
              <a:ext cx="476250" cy="476250"/>
            </a:xfrm>
            <a:prstGeom prst="roundRect">
              <a:avLst>
                <a:gd name="adj" fmla="val 50000"/>
              </a:avLst>
            </a:prstGeom>
            <a:solidFill>
              <a:srgbClr val="C1856B"/>
            </a:solidFill>
            <a:ln>
              <a:noFill/>
            </a:ln>
          </p:spPr>
          <p:txBody>
            <a:bodyPr/>
            <a:lstStyle/>
            <a:p>
              <a:endParaRPr lang="da-DK"/>
            </a:p>
          </p:txBody>
        </p:sp>
        <p:sp>
          <p:nvSpPr>
            <p:cNvPr id="21" name="TextBox 21"/>
            <p:cNvSpPr txBox="1"/>
            <p:nvPr/>
          </p:nvSpPr>
          <p:spPr>
            <a:xfrm>
              <a:off x="719086" y="2936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3</a:t>
              </a:r>
            </a:p>
          </p:txBody>
        </p:sp>
        <p:sp>
          <p:nvSpPr>
            <p:cNvPr id="22" name="TextBox 22"/>
            <p:cNvSpPr txBox="1"/>
            <p:nvPr/>
          </p:nvSpPr>
          <p:spPr>
            <a:xfrm>
              <a:off x="1223010" y="2870835"/>
              <a:ext cx="1760296"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3D Render Packshot</a:t>
              </a:r>
            </a:p>
          </p:txBody>
        </p:sp>
        <p:sp>
          <p:nvSpPr>
            <p:cNvPr id="23" name="TextBox 23"/>
            <p:cNvSpPr txBox="1"/>
            <p:nvPr/>
          </p:nvSpPr>
          <p:spPr>
            <a:xfrm>
              <a:off x="1224915" y="3106102"/>
              <a:ext cx="5777389"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Blender headless trong Docker — không cần AI, kết quả ổn định, deterministic</a:t>
              </a:r>
            </a:p>
          </p:txBody>
        </p:sp>
        <p:sp>
          <p:nvSpPr>
            <p:cNvPr id="24" name="Rectangle 24"/>
            <p:cNvSpPr/>
            <p:nvPr/>
          </p:nvSpPr>
          <p:spPr>
            <a:xfrm>
              <a:off x="1238250" y="3314700"/>
              <a:ext cx="3810000" cy="28575"/>
            </a:xfrm>
            <a:prstGeom prst="roundRect">
              <a:avLst>
                <a:gd name="adj" fmla="val 33333"/>
              </a:avLst>
            </a:prstGeom>
            <a:solidFill>
              <a:srgbClr val="C1856B">
                <a:alpha val="15000"/>
              </a:srgbClr>
            </a:solidFill>
            <a:ln>
              <a:noFill/>
            </a:ln>
          </p:spPr>
          <p:txBody>
            <a:bodyPr/>
            <a:lstStyle/>
            <a:p>
              <a:endParaRPr lang="da-DK"/>
            </a:p>
          </p:txBody>
        </p:sp>
      </p:grpSp>
      <p:grpSp>
        <p:nvGrpSpPr>
          <p:cNvPr id="31" name="Group 31"/>
          <p:cNvGrpSpPr/>
          <p:nvPr/>
        </p:nvGrpSpPr>
        <p:grpSpPr>
          <a:xfrm>
            <a:off x="571500" y="3571875"/>
            <a:ext cx="5104305" cy="533400"/>
            <a:chOff x="571500" y="3571875"/>
            <a:chExt cx="5104305" cy="533400"/>
          </a:xfrm>
        </p:grpSpPr>
        <p:sp>
          <p:nvSpPr>
            <p:cNvPr id="26" name="Rectangle 26"/>
            <p:cNvSpPr/>
            <p:nvPr/>
          </p:nvSpPr>
          <p:spPr>
            <a:xfrm>
              <a:off x="571500" y="3571875"/>
              <a:ext cx="476250" cy="476250"/>
            </a:xfrm>
            <a:prstGeom prst="roundRect">
              <a:avLst>
                <a:gd name="adj" fmla="val 50000"/>
              </a:avLst>
            </a:prstGeom>
            <a:solidFill>
              <a:srgbClr val="C1856B"/>
            </a:solidFill>
            <a:ln>
              <a:noFill/>
            </a:ln>
          </p:spPr>
          <p:txBody>
            <a:bodyPr/>
            <a:lstStyle/>
            <a:p>
              <a:endParaRPr lang="da-DK"/>
            </a:p>
          </p:txBody>
        </p:sp>
        <p:sp>
          <p:nvSpPr>
            <p:cNvPr id="27" name="TextBox 27"/>
            <p:cNvSpPr txBox="1"/>
            <p:nvPr/>
          </p:nvSpPr>
          <p:spPr>
            <a:xfrm>
              <a:off x="719086" y="3698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4</a:t>
              </a:r>
            </a:p>
          </p:txBody>
        </p:sp>
        <p:sp>
          <p:nvSpPr>
            <p:cNvPr id="28" name="TextBox 28"/>
            <p:cNvSpPr txBox="1"/>
            <p:nvPr/>
          </p:nvSpPr>
          <p:spPr>
            <a:xfrm>
              <a:off x="1223010" y="3632835"/>
              <a:ext cx="2146744"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Image-to-3D thử nghiệm</a:t>
              </a:r>
            </a:p>
          </p:txBody>
        </p:sp>
        <p:sp>
          <p:nvSpPr>
            <p:cNvPr id="29" name="TextBox 29"/>
            <p:cNvSpPr txBox="1"/>
            <p:nvPr/>
          </p:nvSpPr>
          <p:spPr>
            <a:xfrm>
              <a:off x="1224915" y="3868102"/>
              <a:ext cx="4450890"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TripoSR self-host hoặc Meshy API — prototype từ ảnh studio</a:t>
              </a:r>
            </a:p>
          </p:txBody>
        </p:sp>
        <p:sp>
          <p:nvSpPr>
            <p:cNvPr id="30" name="Rectangle 30"/>
            <p:cNvSpPr/>
            <p:nvPr/>
          </p:nvSpPr>
          <p:spPr>
            <a:xfrm>
              <a:off x="1238250" y="4076700"/>
              <a:ext cx="3810000" cy="28575"/>
            </a:xfrm>
            <a:prstGeom prst="roundRect">
              <a:avLst>
                <a:gd name="adj" fmla="val 33333"/>
              </a:avLst>
            </a:prstGeom>
            <a:solidFill>
              <a:srgbClr val="C1856B">
                <a:alpha val="15000"/>
              </a:srgbClr>
            </a:solidFill>
            <a:ln>
              <a:noFill/>
            </a:ln>
          </p:spPr>
          <p:txBody>
            <a:bodyPr/>
            <a:lstStyle/>
            <a:p>
              <a:endParaRPr lang="da-DK"/>
            </a:p>
          </p:txBody>
        </p:sp>
      </p:grpSp>
      <p:grpSp>
        <p:nvGrpSpPr>
          <p:cNvPr id="37" name="Group 37"/>
          <p:cNvGrpSpPr/>
          <p:nvPr/>
        </p:nvGrpSpPr>
        <p:grpSpPr>
          <a:xfrm>
            <a:off x="571500" y="4333875"/>
            <a:ext cx="6200775" cy="533400"/>
            <a:chOff x="571500" y="4333875"/>
            <a:chExt cx="6200775" cy="533400"/>
          </a:xfrm>
        </p:grpSpPr>
        <p:sp>
          <p:nvSpPr>
            <p:cNvPr id="32" name="Rectangle 32"/>
            <p:cNvSpPr/>
            <p:nvPr/>
          </p:nvSpPr>
          <p:spPr>
            <a:xfrm>
              <a:off x="571500" y="4333875"/>
              <a:ext cx="476250" cy="476250"/>
            </a:xfrm>
            <a:prstGeom prst="roundRect">
              <a:avLst>
                <a:gd name="adj" fmla="val 50000"/>
              </a:avLst>
            </a:prstGeom>
            <a:solidFill>
              <a:srgbClr val="753438"/>
            </a:solidFill>
            <a:ln>
              <a:noFill/>
            </a:ln>
          </p:spPr>
          <p:txBody>
            <a:bodyPr/>
            <a:lstStyle/>
            <a:p>
              <a:endParaRPr lang="da-DK"/>
            </a:p>
          </p:txBody>
        </p:sp>
        <p:sp>
          <p:nvSpPr>
            <p:cNvPr id="33" name="TextBox 33"/>
            <p:cNvSpPr txBox="1"/>
            <p:nvPr/>
          </p:nvSpPr>
          <p:spPr>
            <a:xfrm>
              <a:off x="719086" y="4460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5</a:t>
              </a:r>
            </a:p>
          </p:txBody>
        </p:sp>
        <p:sp>
          <p:nvSpPr>
            <p:cNvPr id="34" name="TextBox 34"/>
            <p:cNvSpPr txBox="1"/>
            <p:nvPr/>
          </p:nvSpPr>
          <p:spPr>
            <a:xfrm>
              <a:off x="1223010" y="4394835"/>
              <a:ext cx="1613078"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Upscale Catalogue</a:t>
              </a:r>
            </a:p>
          </p:txBody>
        </p:sp>
        <p:sp>
          <p:nvSpPr>
            <p:cNvPr id="35" name="TextBox 35"/>
            <p:cNvSpPr txBox="1"/>
            <p:nvPr/>
          </p:nvSpPr>
          <p:spPr>
            <a:xfrm>
              <a:off x="1224915" y="4630102"/>
              <a:ext cx="5547360"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Real-ESRGAN self-host (free); Magnific nếu cần wow factor (commercial)</a:t>
              </a:r>
            </a:p>
          </p:txBody>
        </p:sp>
        <p:sp>
          <p:nvSpPr>
            <p:cNvPr id="36" name="Rectangle 36"/>
            <p:cNvSpPr/>
            <p:nvPr/>
          </p:nvSpPr>
          <p:spPr>
            <a:xfrm>
              <a:off x="1238250" y="4838700"/>
              <a:ext cx="3810000" cy="28575"/>
            </a:xfrm>
            <a:prstGeom prst="roundRect">
              <a:avLst>
                <a:gd name="adj" fmla="val 33333"/>
              </a:avLst>
            </a:prstGeom>
            <a:solidFill>
              <a:srgbClr val="753438">
                <a:alpha val="15000"/>
              </a:srgbClr>
            </a:solidFill>
            <a:ln>
              <a:noFill/>
            </a:ln>
          </p:spPr>
          <p:txBody>
            <a:bodyPr/>
            <a:lstStyle/>
            <a:p>
              <a:endParaRPr lang="da-DK"/>
            </a:p>
          </p:txBody>
        </p:sp>
      </p:grpSp>
      <p:grpSp>
        <p:nvGrpSpPr>
          <p:cNvPr id="43" name="Group 43"/>
          <p:cNvGrpSpPr/>
          <p:nvPr/>
        </p:nvGrpSpPr>
        <p:grpSpPr>
          <a:xfrm>
            <a:off x="571500" y="5095875"/>
            <a:ext cx="6453807" cy="533400"/>
            <a:chOff x="571500" y="5095875"/>
            <a:chExt cx="6453807" cy="533400"/>
          </a:xfrm>
        </p:grpSpPr>
        <p:sp>
          <p:nvSpPr>
            <p:cNvPr id="38" name="Rectangle 38"/>
            <p:cNvSpPr/>
            <p:nvPr/>
          </p:nvSpPr>
          <p:spPr>
            <a:xfrm>
              <a:off x="571500" y="5095875"/>
              <a:ext cx="476250" cy="476250"/>
            </a:xfrm>
            <a:prstGeom prst="roundRect">
              <a:avLst>
                <a:gd name="adj" fmla="val 50000"/>
              </a:avLst>
            </a:prstGeom>
            <a:solidFill>
              <a:srgbClr val="753438"/>
            </a:solidFill>
            <a:ln>
              <a:noFill/>
            </a:ln>
          </p:spPr>
          <p:txBody>
            <a:bodyPr/>
            <a:lstStyle/>
            <a:p>
              <a:endParaRPr lang="da-DK"/>
            </a:p>
          </p:txBody>
        </p:sp>
        <p:sp>
          <p:nvSpPr>
            <p:cNvPr id="39" name="TextBox 39"/>
            <p:cNvSpPr txBox="1"/>
            <p:nvPr/>
          </p:nvSpPr>
          <p:spPr>
            <a:xfrm>
              <a:off x="719086" y="522255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a:ea typeface="Microsoft YaHei"/>
                  <a:cs typeface="Segoe UI"/>
                </a:rPr>
                <a:t>6</a:t>
              </a:r>
            </a:p>
          </p:txBody>
        </p:sp>
        <p:sp>
          <p:nvSpPr>
            <p:cNvPr id="40" name="TextBox 40"/>
            <p:cNvSpPr txBox="1"/>
            <p:nvPr/>
          </p:nvSpPr>
          <p:spPr>
            <a:xfrm>
              <a:off x="1223010" y="5156835"/>
              <a:ext cx="1723492" cy="243840"/>
            </a:xfrm>
            <a:prstGeom prst="rect">
              <a:avLst/>
            </a:prstGeom>
            <a:noFill/>
            <a:ln>
              <a:noFill/>
            </a:ln>
          </p:spPr>
          <p:txBody>
            <a:bodyPr wrap="none" lIns="0" tIns="0" rIns="0" bIns="0" anchor="t" anchorCtr="0">
              <a:spAutoFit/>
            </a:bodyPr>
            <a:lstStyle/>
            <a:p>
              <a:pPr algn="l"/>
              <a:r>
                <a:rPr lang="zh-CN" sz="1200" b="1" dirty="0">
                  <a:solidFill>
                    <a:srgbClr val="3C3C3B"/>
                  </a:solidFill>
                  <a:latin typeface="Segoe UI"/>
                  <a:ea typeface="Microsoft YaHei"/>
                  <a:cs typeface="Segoe UI"/>
                </a:rPr>
                <a:t>Pipeline Production</a:t>
              </a:r>
            </a:p>
          </p:txBody>
        </p:sp>
        <p:sp>
          <p:nvSpPr>
            <p:cNvPr id="41" name="TextBox 41"/>
            <p:cNvSpPr txBox="1"/>
            <p:nvPr/>
          </p:nvSpPr>
          <p:spPr>
            <a:xfrm>
              <a:off x="1224915" y="5392102"/>
              <a:ext cx="5800392"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ComfyUI + GPU thuê (RunPod) khi workflow đã ổn định — scalable, reproducible</a:t>
              </a:r>
            </a:p>
          </p:txBody>
        </p:sp>
        <p:sp>
          <p:nvSpPr>
            <p:cNvPr id="42" name="Rectangle 42"/>
            <p:cNvSpPr/>
            <p:nvPr/>
          </p:nvSpPr>
          <p:spPr>
            <a:xfrm>
              <a:off x="1238250" y="5600700"/>
              <a:ext cx="3810000" cy="28575"/>
            </a:xfrm>
            <a:prstGeom prst="roundRect">
              <a:avLst>
                <a:gd name="adj" fmla="val 33333"/>
              </a:avLst>
            </a:prstGeom>
            <a:solidFill>
              <a:srgbClr val="753438">
                <a:alpha val="15000"/>
              </a:srgbClr>
            </a:solidFill>
            <a:ln>
              <a:noFill/>
            </a:ln>
          </p:spPr>
          <p:txBody>
            <a:bodyPr/>
            <a:lstStyle/>
            <a:p>
              <a:endParaRPr lang="da-DK"/>
            </a:p>
          </p:txBody>
        </p:sp>
      </p:grpSp>
      <p:grpSp>
        <p:nvGrpSpPr>
          <p:cNvPr id="54" name="Group 54"/>
          <p:cNvGrpSpPr/>
          <p:nvPr/>
        </p:nvGrpSpPr>
        <p:grpSpPr>
          <a:xfrm>
            <a:off x="8096250" y="1333500"/>
            <a:ext cx="3524250" cy="1714500"/>
            <a:chOff x="8096250" y="1333500"/>
            <a:chExt cx="3524250" cy="1714500"/>
          </a:xfrm>
        </p:grpSpPr>
        <p:sp>
          <p:nvSpPr>
            <p:cNvPr id="44" name="Rectangle 44"/>
            <p:cNvSpPr/>
            <p:nvPr/>
          </p:nvSpPr>
          <p:spPr>
            <a:xfrm>
              <a:off x="8096250" y="1333500"/>
              <a:ext cx="3524250" cy="1714500"/>
            </a:xfrm>
            <a:prstGeom prst="roundRect">
              <a:avLst>
                <a:gd name="adj" fmla="val 4444"/>
              </a:avLst>
            </a:prstGeom>
            <a:solidFill>
              <a:srgbClr val="586A68">
                <a:alpha val="4000"/>
              </a:srgbClr>
            </a:solidFill>
            <a:ln>
              <a:noFill/>
            </a:ln>
          </p:spPr>
          <p:txBody>
            <a:bodyPr/>
            <a:lstStyle/>
            <a:p>
              <a:endParaRPr lang="da-DK"/>
            </a:p>
          </p:txBody>
        </p:sp>
        <p:sp>
          <p:nvSpPr>
            <p:cNvPr id="45" name="TextBox 45"/>
            <p:cNvSpPr txBox="1"/>
            <p:nvPr/>
          </p:nvSpPr>
          <p:spPr>
            <a:xfrm>
              <a:off x="8273415" y="1505902"/>
              <a:ext cx="1379239" cy="213360"/>
            </a:xfrm>
            <a:prstGeom prst="rect">
              <a:avLst/>
            </a:prstGeom>
            <a:noFill/>
            <a:ln>
              <a:noFill/>
            </a:ln>
          </p:spPr>
          <p:txBody>
            <a:bodyPr wrap="none" lIns="0" tIns="0" rIns="0" bIns="0" anchor="t" anchorCtr="0">
              <a:spAutoFit/>
            </a:bodyPr>
            <a:lstStyle/>
            <a:p>
              <a:pPr algn="l"/>
              <a:r>
                <a:rPr lang="zh-CN" sz="1050" b="1" dirty="0">
                  <a:solidFill>
                    <a:srgbClr val="586A68"/>
                  </a:solidFill>
                  <a:latin typeface="Segoe UI"/>
                  <a:ea typeface="Microsoft YaHei"/>
                  <a:cs typeface="Segoe UI"/>
                </a:rPr>
                <a:t>ƯU TIÊN TRIỂN KHAI</a:t>
              </a:r>
            </a:p>
          </p:txBody>
        </p:sp>
        <p:sp>
          <p:nvSpPr>
            <p:cNvPr id="46" name="Rectangle 46"/>
            <p:cNvSpPr/>
            <p:nvPr/>
          </p:nvSpPr>
          <p:spPr>
            <a:xfrm>
              <a:off x="8286750" y="1714500"/>
              <a:ext cx="381000" cy="19050"/>
            </a:xfrm>
            <a:prstGeom prst="rect">
              <a:avLst/>
            </a:prstGeom>
            <a:solidFill>
              <a:srgbClr val="586A68"/>
            </a:solidFill>
            <a:ln>
              <a:noFill/>
            </a:ln>
          </p:spPr>
          <p:txBody>
            <a:bodyPr/>
            <a:lstStyle/>
            <a:p>
              <a:endParaRPr lang="da-DK"/>
            </a:p>
          </p:txBody>
        </p:sp>
        <p:sp>
          <p:nvSpPr>
            <p:cNvPr id="47" name="Rectangle 47"/>
            <p:cNvSpPr/>
            <p:nvPr/>
          </p:nvSpPr>
          <p:spPr>
            <a:xfrm>
              <a:off x="8286750" y="1905000"/>
              <a:ext cx="152400" cy="152400"/>
            </a:xfrm>
            <a:prstGeom prst="roundRect">
              <a:avLst>
                <a:gd name="adj" fmla="val 50000"/>
              </a:avLst>
            </a:prstGeom>
            <a:solidFill>
              <a:srgbClr val="586A68"/>
            </a:solidFill>
            <a:ln>
              <a:noFill/>
            </a:ln>
          </p:spPr>
          <p:txBody>
            <a:bodyPr/>
            <a:lstStyle/>
            <a:p>
              <a:endParaRPr lang="da-DK"/>
            </a:p>
          </p:txBody>
        </p:sp>
        <p:sp>
          <p:nvSpPr>
            <p:cNvPr id="48" name="TextBox 48"/>
            <p:cNvSpPr txBox="1"/>
            <p:nvPr/>
          </p:nvSpPr>
          <p:spPr>
            <a:xfrm>
              <a:off x="8522018" y="1923574"/>
              <a:ext cx="2274665"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Tuần 1-2: POC variant + tách nền</a:t>
              </a:r>
            </a:p>
          </p:txBody>
        </p:sp>
        <p:sp>
          <p:nvSpPr>
            <p:cNvPr id="49" name="Rectangle 49"/>
            <p:cNvSpPr/>
            <p:nvPr/>
          </p:nvSpPr>
          <p:spPr>
            <a:xfrm>
              <a:off x="8286750" y="2190750"/>
              <a:ext cx="152400" cy="152400"/>
            </a:xfrm>
            <a:prstGeom prst="roundRect">
              <a:avLst>
                <a:gd name="adj" fmla="val 50000"/>
              </a:avLst>
            </a:prstGeom>
            <a:solidFill>
              <a:srgbClr val="C1856B"/>
            </a:solidFill>
            <a:ln>
              <a:noFill/>
            </a:ln>
          </p:spPr>
          <p:txBody>
            <a:bodyPr/>
            <a:lstStyle/>
            <a:p>
              <a:endParaRPr lang="da-DK"/>
            </a:p>
          </p:txBody>
        </p:sp>
        <p:sp>
          <p:nvSpPr>
            <p:cNvPr id="50" name="TextBox 50"/>
            <p:cNvSpPr txBox="1"/>
            <p:nvPr/>
          </p:nvSpPr>
          <p:spPr>
            <a:xfrm>
              <a:off x="8522018" y="2209324"/>
              <a:ext cx="2424184"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Tuần 3-4: 3D render + image-to-3D</a:t>
              </a:r>
            </a:p>
          </p:txBody>
        </p:sp>
        <p:sp>
          <p:nvSpPr>
            <p:cNvPr id="51" name="Rectangle 51"/>
            <p:cNvSpPr/>
            <p:nvPr/>
          </p:nvSpPr>
          <p:spPr>
            <a:xfrm>
              <a:off x="8286750" y="2476500"/>
              <a:ext cx="152400" cy="152400"/>
            </a:xfrm>
            <a:prstGeom prst="roundRect">
              <a:avLst>
                <a:gd name="adj" fmla="val 50000"/>
              </a:avLst>
            </a:prstGeom>
            <a:solidFill>
              <a:srgbClr val="753438"/>
            </a:solidFill>
            <a:ln>
              <a:noFill/>
            </a:ln>
          </p:spPr>
          <p:txBody>
            <a:bodyPr/>
            <a:lstStyle/>
            <a:p>
              <a:endParaRPr lang="da-DK"/>
            </a:p>
          </p:txBody>
        </p:sp>
        <p:sp>
          <p:nvSpPr>
            <p:cNvPr id="52" name="TextBox 52"/>
            <p:cNvSpPr txBox="1"/>
            <p:nvPr/>
          </p:nvSpPr>
          <p:spPr>
            <a:xfrm>
              <a:off x="8522018" y="2495074"/>
              <a:ext cx="272322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Tháng 2+: Upscale + pipeline production</a:t>
              </a:r>
            </a:p>
          </p:txBody>
        </p:sp>
        <p:sp>
          <p:nvSpPr>
            <p:cNvPr id="53" name="TextBox 53"/>
            <p:cNvSpPr txBox="1"/>
            <p:nvPr/>
          </p:nvSpPr>
          <p:spPr>
            <a:xfrm>
              <a:off x="8275320" y="2807970"/>
              <a:ext cx="2033968" cy="182880"/>
            </a:xfrm>
            <a:prstGeom prst="rect">
              <a:avLst/>
            </a:prstGeom>
            <a:noFill/>
            <a:ln>
              <a:noFill/>
            </a:ln>
          </p:spPr>
          <p:txBody>
            <a:bodyPr wrap="none" lIns="0" tIns="0" rIns="0" bIns="0" anchor="t" anchorCtr="0">
              <a:spAutoFit/>
            </a:bodyPr>
            <a:lstStyle/>
            <a:p>
              <a:pPr algn="l"/>
              <a:r>
                <a:rPr lang="zh-CN" sz="900" dirty="0">
                  <a:solidFill>
                    <a:srgbClr val="88817E"/>
                  </a:solidFill>
                  <a:latin typeface="Segoe UI"/>
                  <a:ea typeface="Microsoft YaHei"/>
                  <a:cs typeface="Segoe UI"/>
                </a:rPr>
                <a:t>Mỗi bước validate trước khi tiến</a:t>
              </a:r>
            </a:p>
          </p:txBody>
        </p:sp>
      </p:grpSp>
      <p:grpSp>
        <p:nvGrpSpPr>
          <p:cNvPr id="61" name="Group 61"/>
          <p:cNvGrpSpPr/>
          <p:nvPr/>
        </p:nvGrpSpPr>
        <p:grpSpPr>
          <a:xfrm>
            <a:off x="8096250" y="3333750"/>
            <a:ext cx="3524250" cy="1238250"/>
            <a:chOff x="8096250" y="3333750"/>
            <a:chExt cx="3524250" cy="1238250"/>
          </a:xfrm>
        </p:grpSpPr>
        <p:sp>
          <p:nvSpPr>
            <p:cNvPr id="55" name="Rectangle 55"/>
            <p:cNvSpPr/>
            <p:nvPr/>
          </p:nvSpPr>
          <p:spPr>
            <a:xfrm>
              <a:off x="8096250" y="3333750"/>
              <a:ext cx="3524250" cy="1238250"/>
            </a:xfrm>
            <a:prstGeom prst="roundRect">
              <a:avLst>
                <a:gd name="adj" fmla="val 6154"/>
              </a:avLst>
            </a:prstGeom>
            <a:solidFill>
              <a:srgbClr val="C1856B">
                <a:alpha val="6000"/>
              </a:srgbClr>
            </a:solidFill>
            <a:ln>
              <a:noFill/>
            </a:ln>
          </p:spPr>
          <p:txBody>
            <a:bodyPr/>
            <a:lstStyle/>
            <a:p>
              <a:endParaRPr lang="da-DK"/>
            </a:p>
          </p:txBody>
        </p:sp>
        <p:sp>
          <p:nvSpPr>
            <p:cNvPr id="56" name="TextBox 56"/>
            <p:cNvSpPr txBox="1"/>
            <p:nvPr/>
          </p:nvSpPr>
          <p:spPr>
            <a:xfrm>
              <a:off x="8273415" y="3506152"/>
              <a:ext cx="1805942" cy="213360"/>
            </a:xfrm>
            <a:prstGeom prst="rect">
              <a:avLst/>
            </a:prstGeom>
            <a:noFill/>
            <a:ln>
              <a:noFill/>
            </a:ln>
          </p:spPr>
          <p:txBody>
            <a:bodyPr wrap="none" lIns="0" tIns="0" rIns="0" bIns="0" anchor="t" anchorCtr="0">
              <a:spAutoFit/>
            </a:bodyPr>
            <a:lstStyle/>
            <a:p>
              <a:pPr algn="l"/>
              <a:r>
                <a:rPr lang="zh-CN" sz="1050" b="1" dirty="0">
                  <a:solidFill>
                    <a:srgbClr val="C1856B"/>
                  </a:solidFill>
                  <a:latin typeface="Segoe UI"/>
                  <a:ea typeface="Microsoft YaHei"/>
                  <a:cs typeface="Segoe UI"/>
                </a:rPr>
                <a:t>CHI PHÍ ƯỚC TÍNH (POC)</a:t>
              </a:r>
            </a:p>
          </p:txBody>
        </p:sp>
        <p:sp>
          <p:nvSpPr>
            <p:cNvPr id="57" name="Rectangle 57"/>
            <p:cNvSpPr/>
            <p:nvPr/>
          </p:nvSpPr>
          <p:spPr>
            <a:xfrm>
              <a:off x="8286750" y="3714750"/>
              <a:ext cx="381000" cy="19050"/>
            </a:xfrm>
            <a:prstGeom prst="rect">
              <a:avLst/>
            </a:prstGeom>
            <a:solidFill>
              <a:srgbClr val="C1856B"/>
            </a:solidFill>
            <a:ln>
              <a:noFill/>
            </a:ln>
          </p:spPr>
          <p:txBody>
            <a:bodyPr/>
            <a:lstStyle/>
            <a:p>
              <a:endParaRPr lang="da-DK"/>
            </a:p>
          </p:txBody>
        </p:sp>
        <p:sp>
          <p:nvSpPr>
            <p:cNvPr id="58" name="TextBox 58"/>
            <p:cNvSpPr txBox="1"/>
            <p:nvPr/>
          </p:nvSpPr>
          <p:spPr>
            <a:xfrm>
              <a:off x="8274368" y="3876199"/>
              <a:ext cx="1683710"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fal.ai: ~$0.01-0.05/ảnh</a:t>
              </a:r>
            </a:p>
          </p:txBody>
        </p:sp>
        <p:sp>
          <p:nvSpPr>
            <p:cNvPr id="59" name="TextBox 59"/>
            <p:cNvSpPr txBox="1"/>
            <p:nvPr/>
          </p:nvSpPr>
          <p:spPr>
            <a:xfrm>
              <a:off x="8274368" y="4085749"/>
              <a:ext cx="1626751"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Photoroom: ~$0.10/ảnh</a:t>
              </a:r>
            </a:p>
          </p:txBody>
        </p:sp>
        <p:sp>
          <p:nvSpPr>
            <p:cNvPr id="60" name="TextBox 60"/>
            <p:cNvSpPr txBox="1"/>
            <p:nvPr/>
          </p:nvSpPr>
          <p:spPr>
            <a:xfrm>
              <a:off x="8274368" y="4295299"/>
              <a:ext cx="2075307" cy="198120"/>
            </a:xfrm>
            <a:prstGeom prst="rect">
              <a:avLst/>
            </a:prstGeom>
            <a:noFill/>
            <a:ln>
              <a:noFill/>
            </a:ln>
          </p:spPr>
          <p:txBody>
            <a:bodyPr wrap="none" lIns="0" tIns="0" rIns="0" bIns="0" anchor="t" anchorCtr="0">
              <a:spAutoFit/>
            </a:bodyPr>
            <a:lstStyle/>
            <a:p>
              <a:pPr algn="l"/>
              <a:r>
                <a:rPr lang="zh-CN" sz="975" dirty="0">
                  <a:solidFill>
                    <a:srgbClr val="3C3C3B"/>
                  </a:solidFill>
                  <a:latin typeface="Segoe UI"/>
                  <a:ea typeface="Microsoft YaHei"/>
                  <a:cs typeface="Segoe UI"/>
                </a:rPr>
                <a:t>RunPod GPU: ~$0.40/hr (A100)</a:t>
              </a:r>
            </a:p>
          </p:txBody>
        </p:sp>
      </p:grpSp>
      <p:sp>
        <p:nvSpPr>
          <p:cNvPr id="62" name="TextBox 62"/>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4)">
                                      <p:cBhvr>
                                        <p:cTn id="11" dur="400"/>
                                        <p:tgtEl>
                                          <p:spTgt spid="1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00"/>
                                        <p:tgtEl>
                                          <p:spTgt spid="25"/>
                                        </p:tgtEl>
                                      </p:cBhvr>
                                    </p:animEffect>
                                  </p:childTnLst>
                                </p:cTn>
                              </p:par>
                            </p:childTnLst>
                          </p:cTn>
                        </p:par>
                        <p:par>
                          <p:cTn id="16" fill="hold">
                            <p:stCondLst>
                              <p:cond delay="2700"/>
                            </p:stCondLst>
                            <p:childTnLst>
                              <p:par>
                                <p:cTn id="17" presetID="50"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tretch(across)">
                                      <p:cBhvr>
                                        <p:cTn id="19" dur="400"/>
                                        <p:tgtEl>
                                          <p:spTgt spid="3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childTnLst>
                          </p:cTn>
                        </p:par>
                        <p:par>
                          <p:cTn id="24" fill="hold">
                            <p:stCondLst>
                              <p:cond delay="4500"/>
                            </p:stCondLst>
                            <p:childTnLst>
                              <p:par>
                                <p:cTn id="25" presetID="19" presetClass="entr" presetSubtype="0"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heel(1)">
                                      <p:cBhvr>
                                        <p:cTn id="27" dur="400"/>
                                        <p:tgtEl>
                                          <p:spTgt spid="43"/>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image">
                                      <p:cBhvr>
                                        <p:cTn id="31" dur="400"/>
                                        <p:tgtEl>
                                          <p:spTgt spid="54"/>
                                        </p:tgtEl>
                                      </p:cBhvr>
                                    </p:animEffect>
                                  </p:childTnLst>
                                </p:cTn>
                              </p:par>
                            </p:childTnLst>
                          </p:cTn>
                        </p:par>
                        <p:par>
                          <p:cTn id="32" fill="hold">
                            <p:stCondLst>
                              <p:cond delay="6300"/>
                            </p:stCondLst>
                            <p:childTnLst>
                              <p:par>
                                <p:cTn id="33" presetID="3" presetClass="entr" presetSubtype="10" fill="hold" nodeType="after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blinds(horizontal)">
                                      <p:cBhvr>
                                        <p:cTn id="35"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5" grpId="0"/>
      <p:bldP spid="31" grpId="0"/>
      <p:bldP spid="37" grpId="0"/>
      <p:bldP spid="43" grpId="0"/>
      <p:bldP spid="54"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5EE"/>
          </a:solidFill>
          <a:ln>
            <a:noFill/>
          </a:ln>
        </p:spPr>
        <p:txBody>
          <a:bodyPr/>
          <a:lstStyle/>
          <a:p>
            <a:endParaRPr lang="da-DK"/>
          </a:p>
        </p:txBody>
      </p:sp>
      <p:sp>
        <p:nvSpPr>
          <p:cNvPr id="3" name="Rectangle 3"/>
          <p:cNvSpPr/>
          <p:nvPr/>
        </p:nvSpPr>
        <p:spPr>
          <a:xfrm>
            <a:off x="0" y="0"/>
            <a:ext cx="12192000" cy="76200"/>
          </a:xfrm>
          <a:prstGeom prst="rect">
            <a:avLst/>
          </a:prstGeom>
          <a:solidFill>
            <a:srgbClr val="586A68"/>
          </a:solidFill>
          <a:ln>
            <a:noFill/>
          </a:ln>
        </p:spPr>
        <p:txBody>
          <a:bodyPr/>
          <a:lstStyle/>
          <a:p>
            <a:endParaRPr lang="da-DK"/>
          </a:p>
        </p:txBody>
      </p:sp>
      <p:sp>
        <p:nvSpPr>
          <p:cNvPr id="4" name="Rectangle 4"/>
          <p:cNvSpPr/>
          <p:nvPr/>
        </p:nvSpPr>
        <p:spPr>
          <a:xfrm>
            <a:off x="571500" y="1905000"/>
            <a:ext cx="57150" cy="2857500"/>
          </a:xfrm>
          <a:prstGeom prst="roundRect">
            <a:avLst>
              <a:gd name="adj" fmla="val 50000"/>
            </a:avLst>
          </a:prstGeom>
          <a:solidFill>
            <a:srgbClr val="C1856B"/>
          </a:solidFill>
          <a:ln>
            <a:noFill/>
          </a:ln>
        </p:spPr>
        <p:txBody>
          <a:bodyPr/>
          <a:lstStyle/>
          <a:p>
            <a:endParaRPr lang="da-DK"/>
          </a:p>
        </p:txBody>
      </p:sp>
      <p:sp>
        <p:nvSpPr>
          <p:cNvPr id="5" name="TextBox 5"/>
          <p:cNvSpPr txBox="1"/>
          <p:nvPr/>
        </p:nvSpPr>
        <p:spPr>
          <a:xfrm>
            <a:off x="918210" y="2375535"/>
            <a:ext cx="5140714" cy="548640"/>
          </a:xfrm>
          <a:prstGeom prst="rect">
            <a:avLst/>
          </a:prstGeom>
          <a:noFill/>
          <a:ln>
            <a:noFill/>
          </a:ln>
        </p:spPr>
        <p:txBody>
          <a:bodyPr wrap="none" lIns="0" tIns="0" rIns="0" bIns="0" anchor="t" anchorCtr="0">
            <a:spAutoFit/>
          </a:bodyPr>
          <a:lstStyle/>
          <a:p>
            <a:pPr algn="l"/>
            <a:r>
              <a:rPr lang="zh-CN" sz="2700" b="1" dirty="0">
                <a:solidFill>
                  <a:srgbClr val="3C3C3B"/>
                </a:solidFill>
                <a:latin typeface="Segoe UI"/>
                <a:ea typeface="Microsoft YaHei"/>
                <a:cs typeface="Segoe UI"/>
              </a:rPr>
              <a:t>Tổng Kết &amp; Bước Tiếp Theo</a:t>
            </a:r>
          </a:p>
        </p:txBody>
      </p:sp>
      <p:grpSp>
        <p:nvGrpSpPr>
          <p:cNvPr id="14" name="Group 14"/>
          <p:cNvGrpSpPr/>
          <p:nvPr/>
        </p:nvGrpSpPr>
        <p:grpSpPr>
          <a:xfrm>
            <a:off x="935355" y="3092768"/>
            <a:ext cx="7637145" cy="1912620"/>
            <a:chOff x="935355" y="3092768"/>
            <a:chExt cx="7637145" cy="1912620"/>
          </a:xfrm>
        </p:grpSpPr>
        <p:sp>
          <p:nvSpPr>
            <p:cNvPr id="6" name="TextBox 6"/>
            <p:cNvSpPr txBox="1"/>
            <p:nvPr/>
          </p:nvSpPr>
          <p:spPr>
            <a:xfrm>
              <a:off x="935355" y="3092768"/>
              <a:ext cx="1246870"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Lưu ý pháp lý</a:t>
              </a:r>
            </a:p>
          </p:txBody>
        </p:sp>
        <p:sp>
          <p:nvSpPr>
            <p:cNvPr id="7" name="TextBox 7"/>
            <p:cNvSpPr txBox="1"/>
            <p:nvPr/>
          </p:nvSpPr>
          <p:spPr>
            <a:xfrm>
              <a:off x="939165" y="3363278"/>
              <a:ext cx="5884735"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Output license (kiểm tra TOS) · Training data IP · GDPR/DPA · Provenance C2PA</a:t>
              </a:r>
            </a:p>
          </p:txBody>
        </p:sp>
        <p:sp>
          <p:nvSpPr>
            <p:cNvPr id="8" name="Rectangle 8"/>
            <p:cNvSpPr/>
            <p:nvPr/>
          </p:nvSpPr>
          <p:spPr>
            <a:xfrm>
              <a:off x="952500" y="3667125"/>
              <a:ext cx="7620000" cy="9525"/>
            </a:xfrm>
            <a:prstGeom prst="rect">
              <a:avLst/>
            </a:prstGeom>
            <a:solidFill>
              <a:srgbClr val="88817E">
                <a:alpha val="15000"/>
              </a:srgbClr>
            </a:solidFill>
            <a:ln>
              <a:noFill/>
            </a:ln>
          </p:spPr>
          <p:txBody>
            <a:bodyPr/>
            <a:lstStyle/>
            <a:p>
              <a:endParaRPr lang="da-DK"/>
            </a:p>
          </p:txBody>
        </p:sp>
        <p:sp>
          <p:nvSpPr>
            <p:cNvPr id="9" name="TextBox 9"/>
            <p:cNvSpPr txBox="1"/>
            <p:nvPr/>
          </p:nvSpPr>
          <p:spPr>
            <a:xfrm>
              <a:off x="935355" y="3807142"/>
              <a:ext cx="2005965"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Tài nguyên cộng đồng</a:t>
              </a:r>
            </a:p>
          </p:txBody>
        </p:sp>
        <p:sp>
          <p:nvSpPr>
            <p:cNvPr id="10" name="TextBox 10"/>
            <p:cNvSpPr txBox="1"/>
            <p:nvPr/>
          </p:nvSpPr>
          <p:spPr>
            <a:xfrm>
              <a:off x="939165" y="4077652"/>
              <a:ext cx="6797183"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HF Spaces · Civitai · ComfyWorkflows · PromptHero · r/StableDiffusion · Papers With Code</a:t>
              </a:r>
            </a:p>
          </p:txBody>
        </p:sp>
        <p:sp>
          <p:nvSpPr>
            <p:cNvPr id="11" name="Rectangle 11"/>
            <p:cNvSpPr/>
            <p:nvPr/>
          </p:nvSpPr>
          <p:spPr>
            <a:xfrm>
              <a:off x="952500" y="4381500"/>
              <a:ext cx="7620000" cy="9525"/>
            </a:xfrm>
            <a:prstGeom prst="rect">
              <a:avLst/>
            </a:prstGeom>
            <a:solidFill>
              <a:srgbClr val="88817E">
                <a:alpha val="15000"/>
              </a:srgbClr>
            </a:solidFill>
            <a:ln>
              <a:noFill/>
            </a:ln>
          </p:spPr>
          <p:txBody>
            <a:bodyPr/>
            <a:lstStyle/>
            <a:p>
              <a:endParaRPr lang="da-DK"/>
            </a:p>
          </p:txBody>
        </p:sp>
        <p:sp>
          <p:nvSpPr>
            <p:cNvPr id="12" name="TextBox 12"/>
            <p:cNvSpPr txBox="1"/>
            <p:nvPr/>
          </p:nvSpPr>
          <p:spPr>
            <a:xfrm>
              <a:off x="935355" y="4521518"/>
              <a:ext cx="1069419" cy="274320"/>
            </a:xfrm>
            <a:prstGeom prst="rect">
              <a:avLst/>
            </a:prstGeom>
            <a:noFill/>
            <a:ln>
              <a:noFill/>
            </a:ln>
          </p:spPr>
          <p:txBody>
            <a:bodyPr wrap="none" lIns="0" tIns="0" rIns="0" bIns="0" anchor="t" anchorCtr="0">
              <a:spAutoFit/>
            </a:bodyPr>
            <a:lstStyle/>
            <a:p>
              <a:pPr algn="l"/>
              <a:r>
                <a:rPr lang="zh-CN" sz="1350" dirty="0">
                  <a:solidFill>
                    <a:srgbClr val="3C3C3B"/>
                  </a:solidFill>
                  <a:latin typeface="Segoe UI"/>
                  <a:ea typeface="Microsoft YaHei"/>
                  <a:cs typeface="Segoe UI"/>
                </a:rPr>
                <a:t>Next steps</a:t>
              </a:r>
            </a:p>
          </p:txBody>
        </p:sp>
        <p:sp>
          <p:nvSpPr>
            <p:cNvPr id="13" name="TextBox 13"/>
            <p:cNvSpPr txBox="1"/>
            <p:nvPr/>
          </p:nvSpPr>
          <p:spPr>
            <a:xfrm>
              <a:off x="939165" y="4792028"/>
              <a:ext cx="6797183" cy="213360"/>
            </a:xfrm>
            <a:prstGeom prst="rect">
              <a:avLst/>
            </a:prstGeom>
            <a:noFill/>
            <a:ln>
              <a:noFill/>
            </a:ln>
          </p:spPr>
          <p:txBody>
            <a:bodyPr wrap="none" lIns="0" tIns="0" rIns="0" bIns="0" anchor="t" anchorCtr="0">
              <a:spAutoFit/>
            </a:bodyPr>
            <a:lstStyle/>
            <a:p>
              <a:pPr algn="l"/>
              <a:r>
                <a:rPr lang="zh-CN" sz="1050" dirty="0">
                  <a:solidFill>
                    <a:srgbClr val="88817E"/>
                  </a:solidFill>
                  <a:latin typeface="Segoe UI"/>
                  <a:ea typeface="Microsoft YaHei"/>
                  <a:cs typeface="Segoe UI"/>
                </a:rPr>
                <a:t>POC variant đổi màu (fal.ai) → Validate chất lượng → Pipeline production (ComfyUI + RunPod)</a:t>
              </a:r>
            </a:p>
          </p:txBody>
        </p:sp>
      </p:grpSp>
      <p:grpSp>
        <p:nvGrpSpPr>
          <p:cNvPr id="19" name="Group 19"/>
          <p:cNvGrpSpPr/>
          <p:nvPr/>
        </p:nvGrpSpPr>
        <p:grpSpPr>
          <a:xfrm>
            <a:off x="9048750" y="2286000"/>
            <a:ext cx="1905000" cy="2286000"/>
            <a:chOff x="9048750" y="2286000"/>
            <a:chExt cx="1905000" cy="2286000"/>
          </a:xfrm>
        </p:grpSpPr>
        <p:sp>
          <p:nvSpPr>
            <p:cNvPr id="15" name="Ellipse 15"/>
            <p:cNvSpPr/>
            <p:nvPr/>
          </p:nvSpPr>
          <p:spPr>
            <a:xfrm>
              <a:off x="9048750" y="2381250"/>
              <a:ext cx="1905000" cy="1905000"/>
            </a:xfrm>
            <a:prstGeom prst="ellipse">
              <a:avLst/>
            </a:prstGeom>
            <a:solidFill>
              <a:srgbClr val="586A68">
                <a:alpha val="8000"/>
              </a:srgbClr>
            </a:solidFill>
            <a:ln>
              <a:noFill/>
            </a:ln>
          </p:spPr>
          <p:txBody>
            <a:bodyPr/>
            <a:lstStyle/>
            <a:p>
              <a:endParaRPr lang="da-DK"/>
            </a:p>
          </p:txBody>
        </p:sp>
        <p:sp>
          <p:nvSpPr>
            <p:cNvPr id="16" name="Ellipse 16"/>
            <p:cNvSpPr/>
            <p:nvPr/>
          </p:nvSpPr>
          <p:spPr>
            <a:xfrm>
              <a:off x="9429750" y="2762250"/>
              <a:ext cx="1143000" cy="1143000"/>
            </a:xfrm>
            <a:prstGeom prst="ellipse">
              <a:avLst/>
            </a:prstGeom>
            <a:solidFill>
              <a:srgbClr val="586A68">
                <a:alpha val="12000"/>
              </a:srgbClr>
            </a:solidFill>
            <a:ln>
              <a:noFill/>
            </a:ln>
          </p:spPr>
          <p:txBody>
            <a:bodyPr/>
            <a:lstStyle/>
            <a:p>
              <a:endParaRPr lang="da-DK"/>
            </a:p>
          </p:txBody>
        </p:sp>
        <p:sp>
          <p:nvSpPr>
            <p:cNvPr id="17" name="Ellipse 17"/>
            <p:cNvSpPr/>
            <p:nvPr/>
          </p:nvSpPr>
          <p:spPr>
            <a:xfrm>
              <a:off x="10382250" y="4000500"/>
              <a:ext cx="571500" cy="571500"/>
            </a:xfrm>
            <a:prstGeom prst="ellipse">
              <a:avLst/>
            </a:prstGeom>
            <a:solidFill>
              <a:srgbClr val="C1856B">
                <a:alpha val="15000"/>
              </a:srgbClr>
            </a:solidFill>
            <a:ln>
              <a:noFill/>
            </a:ln>
          </p:spPr>
          <p:txBody>
            <a:bodyPr/>
            <a:lstStyle/>
            <a:p>
              <a:endParaRPr lang="da-DK"/>
            </a:p>
          </p:txBody>
        </p:sp>
        <p:sp>
          <p:nvSpPr>
            <p:cNvPr id="18" name="Ellipse 18"/>
            <p:cNvSpPr/>
            <p:nvPr/>
          </p:nvSpPr>
          <p:spPr>
            <a:xfrm>
              <a:off x="9144000" y="2286000"/>
              <a:ext cx="381000" cy="381000"/>
            </a:xfrm>
            <a:prstGeom prst="ellipse">
              <a:avLst/>
            </a:prstGeom>
            <a:solidFill>
              <a:srgbClr val="C1856B">
                <a:alpha val="10000"/>
              </a:srgbClr>
            </a:solidFill>
            <a:ln>
              <a:noFill/>
            </a:ln>
          </p:spPr>
          <p:txBody>
            <a:bodyPr/>
            <a:lstStyle/>
            <a:p>
              <a:endParaRPr lang="da-DK"/>
            </a:p>
          </p:txBody>
        </p:sp>
      </p:grpSp>
      <p:grpSp>
        <p:nvGrpSpPr>
          <p:cNvPr id="24" name="Group 24"/>
          <p:cNvGrpSpPr/>
          <p:nvPr/>
        </p:nvGrpSpPr>
        <p:grpSpPr>
          <a:xfrm>
            <a:off x="558165" y="5715000"/>
            <a:ext cx="2687336" cy="711994"/>
            <a:chOff x="558165" y="5715000"/>
            <a:chExt cx="2687336" cy="711994"/>
          </a:xfrm>
        </p:grpSpPr>
        <p:sp>
          <p:nvSpPr>
            <p:cNvPr id="20" name="Rectangle 20"/>
            <p:cNvSpPr/>
            <p:nvPr/>
          </p:nvSpPr>
          <p:spPr>
            <a:xfrm>
              <a:off x="571500" y="5715000"/>
              <a:ext cx="1905000" cy="19050"/>
            </a:xfrm>
            <a:prstGeom prst="rect">
              <a:avLst/>
            </a:prstGeom>
            <a:solidFill>
              <a:srgbClr val="586A68">
                <a:alpha val="30000"/>
              </a:srgbClr>
            </a:solidFill>
            <a:ln>
              <a:noFill/>
            </a:ln>
          </p:spPr>
          <p:txBody>
            <a:bodyPr/>
            <a:lstStyle/>
            <a:p>
              <a:endParaRPr lang="da-DK"/>
            </a:p>
          </p:txBody>
        </p:sp>
        <p:sp>
          <p:nvSpPr>
            <p:cNvPr id="21" name="Rectangle 21"/>
            <p:cNvSpPr/>
            <p:nvPr/>
          </p:nvSpPr>
          <p:spPr>
            <a:xfrm>
              <a:off x="2667000" y="5715000"/>
              <a:ext cx="571500" cy="19050"/>
            </a:xfrm>
            <a:prstGeom prst="rect">
              <a:avLst/>
            </a:prstGeom>
            <a:solidFill>
              <a:srgbClr val="C1856B">
                <a:alpha val="40000"/>
              </a:srgbClr>
            </a:solidFill>
            <a:ln>
              <a:noFill/>
            </a:ln>
          </p:spPr>
          <p:txBody>
            <a:bodyPr/>
            <a:lstStyle/>
            <a:p>
              <a:endParaRPr lang="da-DK"/>
            </a:p>
          </p:txBody>
        </p:sp>
        <p:sp>
          <p:nvSpPr>
            <p:cNvPr id="22" name="TextBox 22"/>
            <p:cNvSpPr txBox="1"/>
            <p:nvPr/>
          </p:nvSpPr>
          <p:spPr>
            <a:xfrm>
              <a:off x="558165" y="5982652"/>
              <a:ext cx="2687336" cy="213360"/>
            </a:xfrm>
            <a:prstGeom prst="rect">
              <a:avLst/>
            </a:prstGeom>
            <a:noFill/>
            <a:ln>
              <a:noFill/>
            </a:ln>
          </p:spPr>
          <p:txBody>
            <a:bodyPr wrap="none" lIns="0" tIns="0" rIns="0" bIns="0" anchor="t" anchorCtr="0">
              <a:spAutoFit/>
            </a:bodyPr>
            <a:lstStyle/>
            <a:p>
              <a:pPr algn="l"/>
              <a:r>
                <a:rPr lang="zh-CN" sz="1050" dirty="0">
                  <a:solidFill>
                    <a:srgbClr val="B6ADA4"/>
                  </a:solidFill>
                  <a:latin typeface="Segoe UI"/>
                  <a:ea typeface="Microsoft YaHei"/>
                  <a:cs typeface="Segoe UI"/>
                </a:rPr>
                <a:t>AI Image Rendering R&amp;D — PIM System</a:t>
              </a:r>
            </a:p>
          </p:txBody>
        </p:sp>
        <p:sp>
          <p:nvSpPr>
            <p:cNvPr id="23" name="TextBox 23"/>
            <p:cNvSpPr txBox="1"/>
            <p:nvPr/>
          </p:nvSpPr>
          <p:spPr>
            <a:xfrm>
              <a:off x="559118" y="6228874"/>
              <a:ext cx="1356193" cy="198120"/>
            </a:xfrm>
            <a:prstGeom prst="rect">
              <a:avLst/>
            </a:prstGeom>
            <a:noFill/>
            <a:ln>
              <a:noFill/>
            </a:ln>
          </p:spPr>
          <p:txBody>
            <a:bodyPr wrap="none" lIns="0" tIns="0" rIns="0" bIns="0" anchor="t" anchorCtr="0">
              <a:spAutoFit/>
            </a:bodyPr>
            <a:lstStyle/>
            <a:p>
              <a:pPr algn="l"/>
              <a:r>
                <a:rPr lang="zh-CN" sz="975" dirty="0">
                  <a:solidFill>
                    <a:srgbClr val="B6ADA4"/>
                  </a:solidFill>
                  <a:latin typeface="Segoe UI"/>
                  <a:ea typeface="Microsoft YaHei"/>
                  <a:cs typeface="Segoe UI"/>
                </a:rPr>
                <a:t>Cập nhật: May 2026</a:t>
              </a:r>
            </a:p>
          </p:txBody>
        </p:sp>
      </p:grpSp>
      <p:sp>
        <p:nvSpPr>
          <p:cNvPr id="25" name="TextBox 25"/>
          <p:cNvSpPr txBox="1"/>
          <p:nvPr/>
        </p:nvSpPr>
        <p:spPr>
          <a:xfrm>
            <a:off x="11497342" y="6570345"/>
            <a:ext cx="134588" cy="182880"/>
          </a:xfrm>
          <a:prstGeom prst="rect">
            <a:avLst/>
          </a:prstGeom>
          <a:noFill/>
          <a:ln>
            <a:noFill/>
          </a:ln>
        </p:spPr>
        <p:txBody>
          <a:bodyPr wrap="none" lIns="0" tIns="0" rIns="0" bIns="0" anchor="t" anchorCtr="0">
            <a:spAutoFit/>
          </a:bodyPr>
          <a:lstStyle/>
          <a:p>
            <a:pPr algn="r"/>
            <a:r>
              <a:rPr lang="zh-CN" sz="900" dirty="0">
                <a:solidFill>
                  <a:srgbClr val="B6ADA4"/>
                </a:solidFill>
                <a:latin typeface="Segoe UI"/>
                <a:ea typeface="Microsoft YaHei"/>
                <a:cs typeface="Segoe UI"/>
              </a:rPr>
              <a:t>13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TotalTime>
  <Words>11229</Words>
  <Application>Microsoft Office PowerPoint</Application>
  <PresentationFormat>Widescreen</PresentationFormat>
  <Paragraphs>457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Hiep, Chau Phuc - IT</cp:lastModifiedBy>
  <cp:revision>2</cp:revision>
  <dcterms:created xsi:type="dcterms:W3CDTF">2013-01-27T09:14:16Z</dcterms:created>
  <dcterms:modified xsi:type="dcterms:W3CDTF">2026-05-21T07:25:43Z</dcterms:modified>
  <cp:category/>
</cp:coreProperties>
</file>