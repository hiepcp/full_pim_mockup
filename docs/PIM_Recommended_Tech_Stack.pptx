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PIM Recommended Tech Stack — trình bày lựa chọn công nghệ cho hệ thống Product Information Management qua 3 giai đoạn. Ưu tiên stability, quality và production-readiness.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5 nguyên tắc cốt lõi: Managed API khi cần ổn định, self-host khi volume lớn, dùng proven .NET ecosystem, chuẩn mở cho integration, và chọn vendor tốt nhất không compromise chất lượng.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Phase 1 gồm 9 capabilities nền tảng. Chỉ cần 6 containers. Mỗi capability đã chọn tool tốt nhất: Azure Blob cho storage lớn, NetVips cho image processing nhanh, RabbitMQ + MassTransit cho event-driven architecture.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Chi tiết từng capability với lý do chọn. Điểm nhấn: tus.io cho resumable upload file 3D lớn, EAV pattern cho dynamic attributes, Polly retry cho D365 throttling, Claude Sonnet cho AI text generation.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Phase 2 mở rộng 11 capabilities: security (Azure Entra ID), search (Typesense + pgvector), AI intelligence (Florence-2, LLM judge), và real-time sync (delta token). Nguyên tắc: không thêm service nếu PostgreSQL đủ.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Chi tiết stack Phase 2. Điểm nhấn: Azure Entra ID SSO sẵn với M365/D365, pgvector dùng chung DB không thêm service, Florence-2 gộp vào ai-service container, rule engine cho completeness score.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Phase 3 AI Image Rendering gộp gọn: OpenAI gpt-image-2 cho tất cả image tasks (gen, edit, variant, upscale, lifestyle, background removal). Blender headless cho 3D packshot. Sora 2 optional cho video. Không thêm Photoroom, Magnific, Runway hay các vendor khác.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Infrastructure tối giản xuyên suốt: 1 PostgreSQL cho data + vector + time-series, Redis cho cache, RabbitMQ cho messaging, Azure Blob cho storage, Docker Compose dev → Kubernetes prod, GitHub Actions CI/CD, Seq + Grafana + Prometheus monitoring.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Kiến trúc container: Phase 1 chỉ 6 containers (pim-api, pim-client, ai-service, postgres, redis, rabbitmq). Thêm dần khi cần: typesense ở Phase 2 nếu search chậm, blender ở Phase 3 cho 3D render.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Tóm tắt 3 phases: từ 6 containers nền tảng lên 8 containers full. Key decisions: 1 DB cho tất cả, event-driven architecture, AI multi-model strategy. Nguyên tắc xuyên suốt: stability, quality, production-ready.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57150"/>
            <a:chOff x="0" y="0"/>
            <a:chExt cx="12192000" cy="571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71500" y="1905000"/>
            <a:ext cx="76200" cy="1714500"/>
            <a:chOff x="571500" y="1905000"/>
            <a:chExt cx="76200" cy="1714500"/>
          </a:xfrm>
        </p:grpSpPr>
        <p:sp>
          <p:nvSpPr>
            <p:cNvPr id="5" name="Rectangle 5"/>
            <p:cNvSpPr/>
            <p:nvPr/>
          </p:nvSpPr>
          <p:spPr>
            <a:xfrm>
              <a:off x="571500" y="1905000"/>
              <a:ext cx="76200" cy="17145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02970" y="2341245"/>
            <a:ext cx="8920663" cy="792480"/>
            <a:chOff x="902970" y="2341245"/>
            <a:chExt cx="8920663" cy="792480"/>
          </a:xfrm>
        </p:grpSpPr>
        <p:sp>
          <p:nvSpPr>
            <p:cNvPr id="7" name="TextBox 7"/>
            <p:cNvSpPr txBox="1"/>
            <p:nvPr/>
          </p:nvSpPr>
          <p:spPr>
            <a:xfrm>
              <a:off x="902970" y="2341245"/>
              <a:ext cx="8920663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PIM — Recommended Tech Stack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9640" y="3044190"/>
            <a:ext cx="6328791" cy="365760"/>
            <a:chOff x="929640" y="3044190"/>
            <a:chExt cx="6328791" cy="365760"/>
          </a:xfrm>
        </p:grpSpPr>
        <p:sp>
          <p:nvSpPr>
            <p:cNvPr id="9" name="TextBox 9"/>
            <p:cNvSpPr txBox="1"/>
            <p:nvPr/>
          </p:nvSpPr>
          <p:spPr>
            <a:xfrm>
              <a:off x="929640" y="3044190"/>
              <a:ext cx="632879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3 Phases · Stability · Quality · Production-Ready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2500" y="3429000"/>
            <a:ext cx="1905000" cy="28575"/>
            <a:chOff x="952500" y="3429000"/>
            <a:chExt cx="1905000" cy="28575"/>
          </a:xfrm>
        </p:grpSpPr>
        <p:sp>
          <p:nvSpPr>
            <p:cNvPr id="11" name="Rectangle 11"/>
            <p:cNvSpPr/>
            <p:nvPr/>
          </p:nvSpPr>
          <p:spPr>
            <a:xfrm>
              <a:off x="952500" y="3429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52500" y="4000500"/>
            <a:ext cx="5334000" cy="514350"/>
            <a:chOff x="952500" y="4000500"/>
            <a:chExt cx="5334000" cy="514350"/>
          </a:xfrm>
        </p:grpSpPr>
        <p:sp>
          <p:nvSpPr>
            <p:cNvPr id="13" name="Rectangle 13"/>
            <p:cNvSpPr/>
            <p:nvPr/>
          </p:nvSpPr>
          <p:spPr>
            <a:xfrm>
              <a:off x="952500" y="4000500"/>
              <a:ext cx="1524000" cy="514350"/>
            </a:xfrm>
            <a:prstGeom prst="roundRect">
              <a:avLst>
                <a:gd name="adj" fmla="val 14815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31456" y="4115752"/>
              <a:ext cx="566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Phase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54003" y="4311491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Nền Tảng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67000" y="4000500"/>
              <a:ext cx="1714500" cy="514350"/>
            </a:xfrm>
            <a:prstGeom prst="roundRect">
              <a:avLst>
                <a:gd name="adj" fmla="val 14815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21079" y="4115752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Phase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56500" y="4311491"/>
              <a:ext cx="11354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Scale &amp; Intelligence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0" y="4000500"/>
              <a:ext cx="1714500" cy="514350"/>
            </a:xfrm>
            <a:prstGeom prst="roundRect">
              <a:avLst>
                <a:gd name="adj" fmla="val 14815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26079" y="4115752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Phase 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5599" y="4311491"/>
              <a:ext cx="10873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AI Image Rendering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9165" y="5982652"/>
            <a:ext cx="1598533" cy="213360"/>
            <a:chOff x="939165" y="5982652"/>
            <a:chExt cx="1598533" cy="213360"/>
          </a:xfrm>
        </p:grpSpPr>
        <p:sp>
          <p:nvSpPr>
            <p:cNvPr id="23" name="TextBox 23"/>
            <p:cNvSpPr txBox="1"/>
            <p:nvPr/>
          </p:nvSpPr>
          <p:spPr>
            <a:xfrm>
              <a:off x="939165" y="598265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Cập nhật: 2026-05-19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15500" y="2095500"/>
            <a:ext cx="1714500" cy="2190750"/>
            <a:chOff x="9715500" y="2095500"/>
            <a:chExt cx="1714500" cy="2190750"/>
          </a:xfrm>
        </p:grpSpPr>
        <p:sp>
          <p:nvSpPr>
            <p:cNvPr id="25" name="Ellipse 25"/>
            <p:cNvSpPr/>
            <p:nvPr/>
          </p:nvSpPr>
          <p:spPr>
            <a:xfrm>
              <a:off x="9715500" y="2095500"/>
              <a:ext cx="1524000" cy="1524000"/>
            </a:xfrm>
            <a:prstGeom prst="ellipse">
              <a:avLst/>
            </a:prstGeom>
            <a:solidFill>
              <a:srgbClr val="1565C0">
                <a:alpha val="5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0477500" y="3143250"/>
              <a:ext cx="952500" cy="952500"/>
            </a:xfrm>
            <a:prstGeom prst="ellipse">
              <a:avLst/>
            </a:prstGeom>
            <a:solidFill>
              <a:srgbClr val="00897B">
                <a:alpha val="5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810750" y="3714750"/>
              <a:ext cx="571500" cy="571500"/>
            </a:xfrm>
            <a:prstGeom prst="ellipse">
              <a:avLst/>
            </a:prstGeom>
            <a:solidFill>
              <a:srgbClr val="7C4DFF">
                <a:alpha val="5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22" grpId="0"/>
      <p:bldP spid="24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4035857" cy="487680"/>
            <a:chOff x="541020" y="502920"/>
            <a:chExt cx="4035857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03585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Nguyên Tắc Chọn Stack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71500" y="1238250"/>
            <a:ext cx="5334000" cy="1143000"/>
            <a:chOff x="571500" y="1238250"/>
            <a:chExt cx="5334000" cy="114300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62000" y="1428750"/>
              <a:ext cx="381000" cy="381000"/>
            </a:xfrm>
            <a:prstGeom prst="ellipse">
              <a:avLst/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4301" y="153066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8730" y="1473518"/>
              <a:ext cx="24357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Managed API &gt; Self-host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2540" y="1753552"/>
              <a:ext cx="3944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Khi cần ổn định production — ưu tiên dịch vụ managed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2540" y="194405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có SLA và support chuyên nghiệp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6500" y="1238250"/>
            <a:ext cx="5334000" cy="1143000"/>
            <a:chOff x="6286500" y="1238250"/>
            <a:chExt cx="5334000" cy="1143000"/>
          </a:xfrm>
        </p:grpSpPr>
        <p:sp>
          <p:nvSpPr>
            <p:cNvPr id="15" name="Rectangle 15"/>
            <p:cNvSpPr/>
            <p:nvPr/>
          </p:nvSpPr>
          <p:spPr>
            <a:xfrm>
              <a:off x="6286500" y="12382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477000" y="1428750"/>
              <a:ext cx="381000" cy="381000"/>
            </a:xfrm>
            <a:prstGeom prst="ellipse">
              <a:avLst/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93423" y="15306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83730" y="1473518"/>
              <a:ext cx="17629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Self-host khi cần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87540" y="1753552"/>
              <a:ext cx="37838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Volume lớn hoặc cần custom — Florence-2, BGE-M3,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87540" y="1944052"/>
              <a:ext cx="1291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Blender, ComfyUI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2609850"/>
            <a:ext cx="5334000" cy="1143000"/>
            <a:chOff x="571500" y="2609850"/>
            <a:chExt cx="53340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571500" y="26098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62000" y="2800350"/>
              <a:ext cx="381000" cy="381000"/>
            </a:xfrm>
            <a:prstGeom prst="ellipse">
              <a:avLst/>
            </a:prstGeom>
            <a:solidFill>
              <a:srgbClr val="7C4DFF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8423" y="29022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68730" y="2845118"/>
              <a:ext cx="23633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Proven .NET Ecosystem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2540" y="3125152"/>
              <a:ext cx="3937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Core dùng MassTransit, Polly, Hangfire, Stateless 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72540" y="331565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battle-tested, community mạnh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2609850"/>
            <a:ext cx="5334000" cy="1143000"/>
            <a:chOff x="6286500" y="2609850"/>
            <a:chExt cx="5334000" cy="1143000"/>
          </a:xfrm>
        </p:grpSpPr>
        <p:sp>
          <p:nvSpPr>
            <p:cNvPr id="29" name="Rectangle 29"/>
            <p:cNvSpPr/>
            <p:nvPr/>
          </p:nvSpPr>
          <p:spPr>
            <a:xfrm>
              <a:off x="6286500" y="26098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477000" y="2800350"/>
              <a:ext cx="381000" cy="381000"/>
            </a:xfrm>
            <a:prstGeom prst="ellipse">
              <a:avLst/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93423" y="29022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83730" y="2845118"/>
              <a:ext cx="25496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Chuẩn Mở cho Integration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87540" y="3125152"/>
              <a:ext cx="37531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CloudEvents, OIDC, OData — không vendor lock-in,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87540" y="3315652"/>
              <a:ext cx="1943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dễ tích hợp hệ thống khác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3981450"/>
            <a:ext cx="11049000" cy="1143000"/>
            <a:chOff x="571500" y="3981450"/>
            <a:chExt cx="11049000" cy="1143000"/>
          </a:xfrm>
        </p:grpSpPr>
        <p:sp>
          <p:nvSpPr>
            <p:cNvPr id="36" name="Rectangle 36"/>
            <p:cNvSpPr/>
            <p:nvPr/>
          </p:nvSpPr>
          <p:spPr>
            <a:xfrm>
              <a:off x="571500" y="398145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62000" y="4171950"/>
              <a:ext cx="381000" cy="381000"/>
            </a:xfrm>
            <a:prstGeom prst="ellipse">
              <a:avLst/>
            </a:prstGeom>
            <a:solidFill>
              <a:srgbClr val="00897B">
                <a:alpha val="1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8423" y="42738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68730" y="4216718"/>
              <a:ext cx="44749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Giá không phải vấn đề — Chọn vendor tốt nhất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72540" y="4496752"/>
              <a:ext cx="6452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Ưu tiên stability, quality, production-readiness. Không compromise chất lượng vì giá.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72540" y="4687252"/>
              <a:ext cx="3254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Mỗi task chọn vendor tốt nhất cho task đó.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5524500"/>
            <a:ext cx="11049000" cy="571500"/>
            <a:chOff x="571500" y="5524500"/>
            <a:chExt cx="11049000" cy="571500"/>
          </a:xfrm>
        </p:grpSpPr>
        <p:sp>
          <p:nvSpPr>
            <p:cNvPr id="43" name="Rectangle 43"/>
            <p:cNvSpPr/>
            <p:nvPr/>
          </p:nvSpPr>
          <p:spPr>
            <a:xfrm>
              <a:off x="571500" y="552450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1565C0">
                <a:alpha val="5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924766" y="5737860"/>
              <a:ext cx="63424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Tổng hợp: Ổn định · Chất lượng · Production-Ready · Không compromise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21" grpId="0"/>
      <p:bldP spid="28" grpId="0"/>
      <p:bldP spid="35" grpId="0"/>
      <p:bldP spid="42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3244558" cy="487680"/>
            <a:chOff x="541020" y="502920"/>
            <a:chExt cx="3244558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32445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Phase 1 — Nền Tảng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6260" y="1108710"/>
            <a:ext cx="3211449" cy="243840"/>
            <a:chOff x="556260" y="1108710"/>
            <a:chExt cx="3211449" cy="243840"/>
          </a:xfrm>
        </p:grpSpPr>
        <p:sp>
          <p:nvSpPr>
            <p:cNvPr id="8" name="TextBox 8"/>
            <p:cNvSpPr txBox="1"/>
            <p:nvPr/>
          </p:nvSpPr>
          <p:spPr>
            <a:xfrm>
              <a:off x="556260" y="1108710"/>
              <a:ext cx="32114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9 capabilities cốt lõi cho hệ thống PIM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1524000"/>
            <a:ext cx="5143500" cy="2857500"/>
            <a:chOff x="571500" y="1524000"/>
            <a:chExt cx="5143500" cy="2857500"/>
          </a:xfrm>
        </p:grpSpPr>
        <p:grpSp>
          <p:nvGrpSpPr>
            <p:cNvPr id="14" name="Group 14"/>
            <p:cNvGrpSpPr/>
            <p:nvPr/>
          </p:nvGrpSpPr>
          <p:grpSpPr>
            <a:xfrm>
              <a:off x="571500" y="1524000"/>
              <a:ext cx="5143500" cy="495300"/>
              <a:chOff x="571500" y="1524000"/>
              <a:chExt cx="5143500" cy="4953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524000"/>
                <a:ext cx="51435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666750" y="156210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89660" y="1613535"/>
                <a:ext cx="7389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Storage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92518" y="1799749"/>
                <a:ext cx="25523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Azure Blob + tus.io resumable upload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571500" y="2114550"/>
              <a:ext cx="5143500" cy="495300"/>
              <a:chOff x="571500" y="2114550"/>
              <a:chExt cx="5143500" cy="4953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71500" y="2114550"/>
                <a:ext cx="51435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66750" y="215265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89660" y="2204085"/>
                <a:ext cx="15486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Image Processing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2518" y="2390299"/>
                <a:ext cx="28229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NetVips (libvips) — nhanh, RAM thấp, MIT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2705100"/>
              <a:ext cx="5143500" cy="495300"/>
              <a:chOff x="571500" y="2705100"/>
              <a:chExt cx="5143500" cy="4953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71500" y="2705100"/>
                <a:ext cx="51435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666750" y="274320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89660" y="2794635"/>
                <a:ext cx="14106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Text Versioning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92518" y="2980849"/>
                <a:ext cx="28015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Immutable revisions + row-per-language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71500" y="3295650"/>
              <a:ext cx="5143500" cy="495300"/>
              <a:chOff x="571500" y="3295650"/>
              <a:chExt cx="5143500" cy="4953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71500" y="3295650"/>
                <a:ext cx="51435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666750" y="333375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89660" y="3385185"/>
                <a:ext cx="17510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Dynamic Attributes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92518" y="3571399"/>
                <a:ext cx="18118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EAV (definitions + values)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71500" y="3886200"/>
              <a:ext cx="5143500" cy="495300"/>
              <a:chOff x="571500" y="3886200"/>
              <a:chExt cx="5143500" cy="4953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71500" y="3886200"/>
                <a:ext cx="51435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666750" y="392430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89660" y="3975735"/>
                <a:ext cx="8953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D365 Sync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92518" y="4161949"/>
                <a:ext cx="199698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OData nextLink + Polly retry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6286500" y="1524000"/>
            <a:ext cx="5334000" cy="2266950"/>
            <a:chOff x="6286500" y="1524000"/>
            <a:chExt cx="5334000" cy="2266950"/>
          </a:xfrm>
        </p:grpSpPr>
        <p:grpSp>
          <p:nvGrpSpPr>
            <p:cNvPr id="40" name="Group 40"/>
            <p:cNvGrpSpPr/>
            <p:nvPr/>
          </p:nvGrpSpPr>
          <p:grpSpPr>
            <a:xfrm>
              <a:off x="6286500" y="1524000"/>
              <a:ext cx="5334000" cy="495300"/>
              <a:chOff x="6286500" y="1524000"/>
              <a:chExt cx="5334000" cy="4953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286500" y="1524000"/>
                <a:ext cx="53340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6381750" y="156210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804660" y="1613535"/>
                <a:ext cx="8953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Event Bus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807518" y="1799749"/>
                <a:ext cx="26805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RabbitMQ + MassTransit + CloudEvents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286500" y="2114550"/>
              <a:ext cx="5334000" cy="495300"/>
              <a:chOff x="6286500" y="2114550"/>
              <a:chExt cx="5334000" cy="4953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286500" y="2114550"/>
                <a:ext cx="53340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6381750" y="2152650"/>
                <a:ext cx="190500" cy="190500"/>
              </a:xfrm>
              <a:prstGeom prst="ellipse">
                <a:avLst/>
              </a:prstGeom>
              <a:solidFill>
                <a:srgbClr val="7C4D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804660" y="2204085"/>
                <a:ext cx="10058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AI Text Gen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807518" y="2390299"/>
                <a:ext cx="25737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Claude Sonnet + few-shot 3 examples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6286500" y="2705100"/>
              <a:ext cx="5334000" cy="495300"/>
              <a:chOff x="6286500" y="2705100"/>
              <a:chExt cx="5334000" cy="4953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6286500" y="2705100"/>
                <a:ext cx="53340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6381750" y="274320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804660" y="2794635"/>
                <a:ext cx="164068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Document Extract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807518" y="2980849"/>
                <a:ext cx="17762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PdfPig + OpenXml + MuPDF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6286500" y="3295650"/>
              <a:ext cx="5334000" cy="495300"/>
              <a:chOff x="6286500" y="3295650"/>
              <a:chExt cx="5334000" cy="4953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6286500" y="3295650"/>
                <a:ext cx="53340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6381750" y="333375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804660" y="3385185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Background Jobs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807518" y="3571399"/>
                <a:ext cx="25594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Hangfire — dashboard, retry built-in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571500" y="4762500"/>
            <a:ext cx="11049000" cy="762000"/>
            <a:chOff x="571500" y="4762500"/>
            <a:chExt cx="11049000" cy="762000"/>
          </a:xfrm>
        </p:grpSpPr>
        <p:sp>
          <p:nvSpPr>
            <p:cNvPr id="57" name="Rectangle 57"/>
            <p:cNvSpPr/>
            <p:nvPr/>
          </p:nvSpPr>
          <p:spPr>
            <a:xfrm>
              <a:off x="571500" y="47625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903013" y="4966335"/>
              <a:ext cx="23859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Containers Phase 1 (chỉ 6)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744039" y="5239702"/>
              <a:ext cx="47039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pim-api · pim-client · ai-service · postgres · redis · rabbitmq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35" grpId="0"/>
      <p:bldP spid="56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4183075" cy="487680"/>
            <a:chOff x="541020" y="502920"/>
            <a:chExt cx="4183075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18307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Phase 1 — Chi Tiết Stack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143000"/>
            <a:ext cx="11049000" cy="381000"/>
            <a:chOff x="571500" y="1143000"/>
            <a:chExt cx="11049000" cy="381000"/>
          </a:xfrm>
        </p:grpSpPr>
        <p:sp>
          <p:nvSpPr>
            <p:cNvPr id="8" name="Rectangle 8"/>
            <p:cNvSpPr/>
            <p:nvPr/>
          </p:nvSpPr>
          <p:spPr>
            <a:xfrm>
              <a:off x="571500" y="1143000"/>
              <a:ext cx="11049000" cy="381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8665" y="1277302"/>
              <a:ext cx="791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Capability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53665" y="1277302"/>
              <a:ext cx="8881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Recommend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11165" y="1277302"/>
              <a:ext cx="429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Lý do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524000"/>
            <a:ext cx="11049000" cy="533400"/>
            <a:chOff x="571500" y="1524000"/>
            <a:chExt cx="11049000" cy="533400"/>
          </a:xfrm>
        </p:grpSpPr>
        <p:sp>
          <p:nvSpPr>
            <p:cNvPr id="13" name="Rectangle 13"/>
            <p:cNvSpPr/>
            <p:nvPr/>
          </p:nvSpPr>
          <p:spPr>
            <a:xfrm>
              <a:off x="571500" y="1524000"/>
              <a:ext cx="11049000" cy="5334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8665" y="1648778"/>
              <a:ext cx="646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Storage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53665" y="1648778"/>
              <a:ext cx="1508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Azure Blob + tus.io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12118" y="1609249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Chịu file lớn (3D CAD &gt;500MB),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12118" y="178069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resume khi mạng yếu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2057400"/>
            <a:ext cx="11049000" cy="533400"/>
            <a:chOff x="571500" y="2057400"/>
            <a:chExt cx="11049000" cy="533400"/>
          </a:xfrm>
        </p:grpSpPr>
        <p:sp>
          <p:nvSpPr>
            <p:cNvPr id="19" name="Rectangle 19"/>
            <p:cNvSpPr/>
            <p:nvPr/>
          </p:nvSpPr>
          <p:spPr>
            <a:xfrm>
              <a:off x="571500" y="2057400"/>
              <a:ext cx="11049000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8665" y="2182178"/>
              <a:ext cx="13550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Image Processing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53665" y="2182178"/>
              <a:ext cx="13309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NetVips (libvips)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12118" y="2142649"/>
              <a:ext cx="2459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Nhanh nhất, RAM thấp, MIT license,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12118" y="23140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xử lý ảnh lớn tốt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2590800"/>
            <a:ext cx="11049000" cy="533400"/>
            <a:chOff x="571500" y="2590800"/>
            <a:chExt cx="11049000" cy="533400"/>
          </a:xfrm>
        </p:grpSpPr>
        <p:sp>
          <p:nvSpPr>
            <p:cNvPr id="25" name="Rectangle 25"/>
            <p:cNvSpPr/>
            <p:nvPr/>
          </p:nvSpPr>
          <p:spPr>
            <a:xfrm>
              <a:off x="571500" y="2590800"/>
              <a:ext cx="11049000" cy="5334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8665" y="2715578"/>
              <a:ext cx="1234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Text Versioning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53665" y="2715578"/>
              <a:ext cx="20233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Immutable revisions table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12118" y="2676049"/>
              <a:ext cx="21892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Query nhanh, rollback rõ ràng,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12118" y="2847499"/>
              <a:ext cx="6584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index tốt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3124200"/>
            <a:ext cx="11049000" cy="533400"/>
            <a:chOff x="571500" y="3124200"/>
            <a:chExt cx="110490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71500" y="3124200"/>
              <a:ext cx="11049000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8665" y="3248978"/>
              <a:ext cx="15322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Dynamic Attributes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53665" y="3248978"/>
              <a:ext cx="2047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EAV (definitions + values)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12118" y="3209449"/>
              <a:ext cx="2381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Schema rõ, admin UI tạo attribute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12118" y="3380899"/>
              <a:ext cx="5658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runtime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3657600"/>
            <a:ext cx="11049000" cy="533400"/>
            <a:chOff x="571500" y="3657600"/>
            <a:chExt cx="110490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71500" y="3657600"/>
              <a:ext cx="11049000" cy="5334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8665" y="3782378"/>
              <a:ext cx="783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D365 Sync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53665" y="3782378"/>
              <a:ext cx="17656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OData nextLink + Polly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12118" y="374284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Ổn định với throttling D365,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12118" y="3914299"/>
              <a:ext cx="12778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không miss record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4191000"/>
            <a:ext cx="11049000" cy="533400"/>
            <a:chOff x="571500" y="4191000"/>
            <a:chExt cx="110490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71500" y="4191000"/>
              <a:ext cx="11049000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8665" y="4315778"/>
              <a:ext cx="783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Event Bus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53665" y="4315778"/>
              <a:ext cx="1910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RabbitMQ + MassTransit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12118" y="4276249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Chuẩn CNCF, .NET native,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12118" y="44476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ecosystem mạnh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4724400"/>
            <a:ext cx="11049000" cy="533400"/>
            <a:chOff x="571500" y="4724400"/>
            <a:chExt cx="110490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71500" y="4724400"/>
              <a:ext cx="11049000" cy="5334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8665" y="4849178"/>
              <a:ext cx="880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AI Text Gen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653665" y="4849178"/>
              <a:ext cx="20233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Claude Sonnet + few-shot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512118" y="480964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Cân bằng chất lượng/latency,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512118" y="4981099"/>
              <a:ext cx="1705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output JSON structured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5257800"/>
            <a:ext cx="11049000" cy="533400"/>
            <a:chOff x="571500" y="5257800"/>
            <a:chExt cx="110490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71500" y="5257800"/>
              <a:ext cx="11049000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8665" y="5382578"/>
              <a:ext cx="14355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Document Extract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653665" y="5382578"/>
              <a:ext cx="2007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PdfPig + OpenXml + MuPDF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512118" y="5343049"/>
              <a:ext cx="1883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License sạch, đủ tính năng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5791200"/>
            <a:ext cx="11049000" cy="533400"/>
            <a:chOff x="571500" y="5791200"/>
            <a:chExt cx="11049000" cy="533400"/>
          </a:xfrm>
        </p:grpSpPr>
        <p:sp>
          <p:nvSpPr>
            <p:cNvPr id="60" name="Rectangle 60"/>
            <p:cNvSpPr/>
            <p:nvPr/>
          </p:nvSpPr>
          <p:spPr>
            <a:xfrm>
              <a:off x="571500" y="5791200"/>
              <a:ext cx="11049000" cy="5334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8665" y="5915978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Background Jobs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653665" y="5915978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Hangfire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512118" y="5876449"/>
              <a:ext cx="1883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Dashboard, retry built-in,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512118" y="6047899"/>
              <a:ext cx="5801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đơn giản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850"/>
                            </p:stCondLst>
                            <p:childTnLst>
                              <p:par>
                                <p:cTn id="4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24" grpId="0"/>
      <p:bldP spid="30" grpId="0"/>
      <p:bldP spid="36" grpId="0"/>
      <p:bldP spid="42" grpId="0"/>
      <p:bldP spid="48" grpId="0"/>
      <p:bldP spid="54" grpId="0"/>
      <p:bldP spid="59" grpId="0"/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5213604" cy="487680"/>
            <a:chOff x="541020" y="502920"/>
            <a:chExt cx="5213604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521360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Phase 2 — Scale &amp; Intelligence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6260" y="1108710"/>
            <a:ext cx="4902708" cy="243840"/>
            <a:chOff x="556260" y="1108710"/>
            <a:chExt cx="4902708" cy="243840"/>
          </a:xfrm>
        </p:grpSpPr>
        <p:sp>
          <p:nvSpPr>
            <p:cNvPr id="8" name="TextBox 8"/>
            <p:cNvSpPr txBox="1"/>
            <p:nvPr/>
          </p:nvSpPr>
          <p:spPr>
            <a:xfrm>
              <a:off x="556260" y="1108710"/>
              <a:ext cx="49027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11 capabilities mở rộng — Auth, Search, AI, Real-time Sync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8165" y="1505902"/>
            <a:ext cx="3442335" cy="1751648"/>
            <a:chOff x="558165" y="1505902"/>
            <a:chExt cx="3442335" cy="1751648"/>
          </a:xfrm>
        </p:grpSpPr>
        <p:grpSp>
          <p:nvGrpSpPr>
            <p:cNvPr id="23" name="Group 23"/>
            <p:cNvGrpSpPr/>
            <p:nvPr/>
          </p:nvGrpSpPr>
          <p:grpSpPr>
            <a:xfrm>
              <a:off x="558165" y="1505902"/>
              <a:ext cx="3442335" cy="1751648"/>
              <a:chOff x="558165" y="1505902"/>
              <a:chExt cx="3442335" cy="175164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58165" y="1505902"/>
                <a:ext cx="6949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SECURITY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71500" y="17335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628650" y="175260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96315" y="1829752"/>
                <a:ext cx="3809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Auth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98220" y="1998345"/>
                <a:ext cx="18433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Azure Entra ID (OIDC + PKCE)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571500" y="22669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28650" y="228600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96315" y="2363152"/>
                <a:ext cx="10974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Authorization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98220" y="2531745"/>
                <a:ext cx="22048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Role + Permission (5 role + JSONB)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71500" y="28003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628650" y="281940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96315" y="2896552"/>
                <a:ext cx="14758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Approval Workflow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98220" y="3065145"/>
                <a:ext cx="159362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Stateless library (.NET)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4368165" y="1505902"/>
            <a:ext cx="3442335" cy="1751648"/>
            <a:chOff x="4368165" y="1505902"/>
            <a:chExt cx="3442335" cy="1751648"/>
          </a:xfrm>
        </p:grpSpPr>
        <p:grpSp>
          <p:nvGrpSpPr>
            <p:cNvPr id="38" name="Group 38"/>
            <p:cNvGrpSpPr/>
            <p:nvPr/>
          </p:nvGrpSpPr>
          <p:grpSpPr>
            <a:xfrm>
              <a:off x="4368165" y="1505902"/>
              <a:ext cx="3442335" cy="1751648"/>
              <a:chOff x="4368165" y="1505902"/>
              <a:chExt cx="3442335" cy="1751648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368165" y="1505902"/>
                <a:ext cx="8800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SEARCH &amp; AI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4381500" y="17335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4438650" y="175260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806315" y="1829752"/>
                <a:ext cx="13228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Full-Text Search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808220" y="1998345"/>
                <a:ext cx="22442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Typesense (khi tsvector không đủ)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381500" y="22669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4438650" y="2286000"/>
                <a:ext cx="190500" cy="190500"/>
              </a:xfrm>
              <a:prstGeom prst="ellipse">
                <a:avLst/>
              </a:prstGeom>
              <a:solidFill>
                <a:srgbClr val="7C4D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806315" y="2363152"/>
                <a:ext cx="11377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Vector Search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808220" y="2531745"/>
                <a:ext cx="19353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pgvector + BGE-M3 + OpenCLIP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381500" y="28003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438650" y="2819400"/>
                <a:ext cx="190500" cy="190500"/>
              </a:xfrm>
              <a:prstGeom prst="ellipse">
                <a:avLst/>
              </a:prstGeom>
              <a:solidFill>
                <a:srgbClr val="1565C0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806315" y="2896552"/>
                <a:ext cx="10974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Hybrid Search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808220" y="3065145"/>
                <a:ext cx="22837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RRF (tsvector + pgvector → top-10)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8178165" y="1505902"/>
            <a:ext cx="3442335" cy="1751648"/>
            <a:chOff x="8178165" y="1505902"/>
            <a:chExt cx="3442335" cy="1751648"/>
          </a:xfrm>
        </p:grpSpPr>
        <p:grpSp>
          <p:nvGrpSpPr>
            <p:cNvPr id="53" name="Group 53"/>
            <p:cNvGrpSpPr/>
            <p:nvPr/>
          </p:nvGrpSpPr>
          <p:grpSpPr>
            <a:xfrm>
              <a:off x="8178165" y="1505902"/>
              <a:ext cx="3442335" cy="1751648"/>
              <a:chOff x="8178165" y="1505902"/>
              <a:chExt cx="3442335" cy="1751648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8178165" y="1505902"/>
                <a:ext cx="10088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7C4DFF"/>
                    </a:solidFill>
                    <a:latin typeface="Arial"/>
                    <a:ea typeface="Microsoft YaHei"/>
                    <a:cs typeface="Arial"/>
                  </a:rPr>
                  <a:t>INTELLIGENCE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191500" y="17335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8248650" y="1752600"/>
                <a:ext cx="190500" cy="190500"/>
              </a:xfrm>
              <a:prstGeom prst="ellipse">
                <a:avLst/>
              </a:prstGeom>
              <a:solidFill>
                <a:srgbClr val="7C4D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616315" y="1829752"/>
                <a:ext cx="10894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Image Tagging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618220" y="1998345"/>
                <a:ext cx="195510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Florence-2 (trong ai-service)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8191500" y="22669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8248650" y="2286000"/>
                <a:ext cx="190500" cy="190500"/>
              </a:xfrm>
              <a:prstGeom prst="ellipse">
                <a:avLst/>
              </a:prstGeom>
              <a:solidFill>
                <a:srgbClr val="7C4D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616315" y="2363152"/>
                <a:ext cx="10894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Quality Check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618220" y="2531745"/>
                <a:ext cx="202082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pgvector similarity + LLM judge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8191500" y="280035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8248650" y="2819400"/>
                <a:ext cx="190500" cy="190500"/>
              </a:xfrm>
              <a:prstGeom prst="ellipse">
                <a:avLst/>
              </a:prstGeom>
              <a:solidFill>
                <a:srgbClr val="7C4D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616315" y="2896552"/>
                <a:ext cx="15724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Completeness Score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618220" y="3065145"/>
                <a:ext cx="13438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Rule engine config DB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58165" y="3506152"/>
            <a:ext cx="7252335" cy="684848"/>
            <a:chOff x="558165" y="3506152"/>
            <a:chExt cx="7252335" cy="684848"/>
          </a:xfrm>
        </p:grpSpPr>
        <p:grpSp>
          <p:nvGrpSpPr>
            <p:cNvPr id="64" name="Group 64"/>
            <p:cNvGrpSpPr/>
            <p:nvPr/>
          </p:nvGrpSpPr>
          <p:grpSpPr>
            <a:xfrm>
              <a:off x="558165" y="3506152"/>
              <a:ext cx="7252335" cy="684848"/>
              <a:chOff x="558165" y="3506152"/>
              <a:chExt cx="7252335" cy="684848"/>
            </a:xfrm>
          </p:grpSpPr>
          <p:sp>
            <p:nvSpPr>
              <p:cNvPr id="55" name="TextBox 55"/>
              <p:cNvSpPr txBox="1"/>
              <p:nvPr/>
            </p:nvSpPr>
            <p:spPr>
              <a:xfrm>
                <a:off x="558165" y="3506152"/>
                <a:ext cx="12343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SYNC &amp; DELIVERY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571500" y="373380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628650" y="375285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996315" y="3830002"/>
                <a:ext cx="12343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D365 Delta Sync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98220" y="3998595"/>
                <a:ext cx="19222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Change Tracking + delta token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4381500" y="3733800"/>
                <a:ext cx="34290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4438650" y="3752850"/>
                <a:ext cx="190500" cy="190500"/>
              </a:xfrm>
              <a:prstGeom prst="ellipse">
                <a:avLst/>
              </a:prstGeom>
              <a:solidFill>
                <a:srgbClr val="00897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4806315" y="3830002"/>
                <a:ext cx="11457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12121"/>
                    </a:solidFill>
                    <a:latin typeface="Arial"/>
                    <a:ea typeface="Microsoft YaHei"/>
                    <a:cs typeface="Arial"/>
                  </a:rPr>
                  <a:t>Event Delivery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4808220" y="3998595"/>
                <a:ext cx="19945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MassTransit Outbox + Webhook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571500" y="4572000"/>
            <a:ext cx="11049000" cy="666750"/>
            <a:chOff x="571500" y="4572000"/>
            <a:chExt cx="11049000" cy="666750"/>
          </a:xfrm>
        </p:grpSpPr>
        <p:sp>
          <p:nvSpPr>
            <p:cNvPr id="66" name="Rectangle 66"/>
            <p:cNvSpPr/>
            <p:nvPr/>
          </p:nvSpPr>
          <p:spPr>
            <a:xfrm>
              <a:off x="571500" y="457200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00897B">
                <a:alpha val="4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265208" y="4728210"/>
              <a:ext cx="56615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Nguyên tắc Phase 2: Không thêm service mới nếu PostgreSQL đủ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685907" y="4982528"/>
              <a:ext cx="6820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pgvector cho vector search · tsvector cho full-text · Chỉ thêm Typesense khi volume &gt;50k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4" grpId="0"/>
      <p:bldP spid="39" grpId="0"/>
      <p:bldP spid="54" grpId="0"/>
      <p:bldP spid="65" grpId="0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4275087" cy="487680"/>
            <a:chOff x="541020" y="502920"/>
            <a:chExt cx="4275087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27508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Phase 2 — Chi Tiết Stack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095375"/>
            <a:ext cx="11049000" cy="342900"/>
            <a:chOff x="571500" y="1095375"/>
            <a:chExt cx="11049000" cy="342900"/>
          </a:xfrm>
        </p:grpSpPr>
        <p:sp>
          <p:nvSpPr>
            <p:cNvPr id="8" name="Rectangle 8"/>
            <p:cNvSpPr/>
            <p:nvPr/>
          </p:nvSpPr>
          <p:spPr>
            <a:xfrm>
              <a:off x="571500" y="1095375"/>
              <a:ext cx="11049000" cy="34290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9618" y="1209199"/>
              <a:ext cx="7349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Capability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64118" y="1209199"/>
              <a:ext cx="8246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Recommend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21618" y="1209199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Lý do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438275"/>
            <a:ext cx="11049000" cy="457200"/>
            <a:chOff x="571500" y="1438275"/>
            <a:chExt cx="11049000" cy="457200"/>
          </a:xfrm>
        </p:grpSpPr>
        <p:sp>
          <p:nvSpPr>
            <p:cNvPr id="13" name="Rectangle 13"/>
            <p:cNvSpPr/>
            <p:nvPr/>
          </p:nvSpPr>
          <p:spPr>
            <a:xfrm>
              <a:off x="571500" y="1438275"/>
              <a:ext cx="110490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9618" y="160924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Auth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64118" y="1609249"/>
              <a:ext cx="20955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Azure Entra ID (OIDC + PKCE)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22570" y="1617345"/>
              <a:ext cx="2697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SSO sẵn với M365/D365, enterprise-grade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895475"/>
            <a:ext cx="11049000" cy="457200"/>
            <a:chOff x="571500" y="1895475"/>
            <a:chExt cx="11049000" cy="457200"/>
          </a:xfrm>
        </p:grpSpPr>
        <p:sp>
          <p:nvSpPr>
            <p:cNvPr id="18" name="Rectangle 18"/>
            <p:cNvSpPr/>
            <p:nvPr/>
          </p:nvSpPr>
          <p:spPr>
            <a:xfrm>
              <a:off x="571500" y="1895475"/>
              <a:ext cx="11049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9618" y="2066449"/>
              <a:ext cx="1019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Authorization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64118" y="2066449"/>
              <a:ext cx="19161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Role + Permission (JSONB)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22570" y="2074545"/>
              <a:ext cx="17185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Granular, mở rộng runtime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352675"/>
            <a:ext cx="11049000" cy="457200"/>
            <a:chOff x="571500" y="2352675"/>
            <a:chExt cx="11049000" cy="457200"/>
          </a:xfrm>
        </p:grpSpPr>
        <p:sp>
          <p:nvSpPr>
            <p:cNvPr id="23" name="Rectangle 23"/>
            <p:cNvSpPr/>
            <p:nvPr/>
          </p:nvSpPr>
          <p:spPr>
            <a:xfrm>
              <a:off x="571500" y="2352675"/>
              <a:ext cx="110490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618" y="25236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Approval Workflow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64118" y="2523649"/>
              <a:ext cx="1811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Stateless library (.NET)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22570" y="2531745"/>
              <a:ext cx="29212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Đơn giản, dễ review, đủ cho 4 workflow chuẩn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2809875"/>
            <a:ext cx="11049000" cy="457200"/>
            <a:chOff x="571500" y="2809875"/>
            <a:chExt cx="11049000" cy="457200"/>
          </a:xfrm>
        </p:grpSpPr>
        <p:sp>
          <p:nvSpPr>
            <p:cNvPr id="28" name="Rectangle 28"/>
            <p:cNvSpPr/>
            <p:nvPr/>
          </p:nvSpPr>
          <p:spPr>
            <a:xfrm>
              <a:off x="571500" y="2809875"/>
              <a:ext cx="11049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9618" y="2980849"/>
              <a:ext cx="1228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Full-Text Search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64118" y="2980849"/>
              <a:ext cx="7648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Typesense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22570" y="2988945"/>
              <a:ext cx="2540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Typo-tolerant, tiếng Việt tốt, faceted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3267075"/>
            <a:ext cx="11049000" cy="457200"/>
            <a:chOff x="571500" y="3267075"/>
            <a:chExt cx="11049000" cy="457200"/>
          </a:xfrm>
        </p:grpSpPr>
        <p:sp>
          <p:nvSpPr>
            <p:cNvPr id="33" name="Rectangle 33"/>
            <p:cNvSpPr/>
            <p:nvPr/>
          </p:nvSpPr>
          <p:spPr>
            <a:xfrm>
              <a:off x="571500" y="3267075"/>
              <a:ext cx="110490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9618" y="3438049"/>
              <a:ext cx="10564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Vector Search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64118" y="3438049"/>
              <a:ext cx="22002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pgvector + BGE-M3 + OpenCLIP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22570" y="3446145"/>
              <a:ext cx="22377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Không thêm service, dùng chung DB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3724275"/>
            <a:ext cx="11049000" cy="457200"/>
            <a:chOff x="571500" y="3724275"/>
            <a:chExt cx="11049000" cy="457200"/>
          </a:xfrm>
        </p:grpSpPr>
        <p:sp>
          <p:nvSpPr>
            <p:cNvPr id="38" name="Rectangle 38"/>
            <p:cNvSpPr/>
            <p:nvPr/>
          </p:nvSpPr>
          <p:spPr>
            <a:xfrm>
              <a:off x="571500" y="3724275"/>
              <a:ext cx="11049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9618" y="3895249"/>
              <a:ext cx="1019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Hybrid Search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64118" y="389524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RRF (tsvector + pgvector)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22570" y="3903345"/>
              <a:ext cx="25597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Kết hợp keyword + semantic, ít service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4181475"/>
            <a:ext cx="11049000" cy="457200"/>
            <a:chOff x="571500" y="4181475"/>
            <a:chExt cx="11049000" cy="457200"/>
          </a:xfrm>
        </p:grpSpPr>
        <p:sp>
          <p:nvSpPr>
            <p:cNvPr id="43" name="Rectangle 43"/>
            <p:cNvSpPr/>
            <p:nvPr/>
          </p:nvSpPr>
          <p:spPr>
            <a:xfrm>
              <a:off x="571500" y="4181475"/>
              <a:ext cx="110490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9618" y="4352449"/>
              <a:ext cx="11461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D365 Delta Sync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64118" y="4352449"/>
              <a:ext cx="2185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Change Tracking + delta token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22570" y="4360545"/>
              <a:ext cx="2336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Near real-time, tiết kiệm bandwidth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4638675"/>
            <a:ext cx="11049000" cy="457200"/>
            <a:chOff x="571500" y="4638675"/>
            <a:chExt cx="11049000" cy="457200"/>
          </a:xfrm>
        </p:grpSpPr>
        <p:sp>
          <p:nvSpPr>
            <p:cNvPr id="48" name="Rectangle 48"/>
            <p:cNvSpPr/>
            <p:nvPr/>
          </p:nvSpPr>
          <p:spPr>
            <a:xfrm>
              <a:off x="571500" y="4638675"/>
              <a:ext cx="11049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9618" y="4809649"/>
              <a:ext cx="10639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Event Delivery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464118" y="480964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MassTransit Outbox + Webhook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22570" y="4817745"/>
              <a:ext cx="27766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At-least-once guarantee, không mất event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5095875"/>
            <a:ext cx="11049000" cy="457200"/>
            <a:chOff x="571500" y="5095875"/>
            <a:chExt cx="11049000" cy="457200"/>
          </a:xfrm>
        </p:grpSpPr>
        <p:sp>
          <p:nvSpPr>
            <p:cNvPr id="53" name="Rectangle 53"/>
            <p:cNvSpPr/>
            <p:nvPr/>
          </p:nvSpPr>
          <p:spPr>
            <a:xfrm>
              <a:off x="571500" y="5095875"/>
              <a:ext cx="110490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9618" y="5266849"/>
              <a:ext cx="10115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Image Tagging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464118" y="5266849"/>
              <a:ext cx="17666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Florence-2 (ai-service)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322570" y="5274945"/>
              <a:ext cx="3046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Không thêm container riêng, gộp vào ai-service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553075"/>
            <a:ext cx="11049000" cy="457200"/>
            <a:chOff x="571500" y="5553075"/>
            <a:chExt cx="11049000" cy="457200"/>
          </a:xfrm>
        </p:grpSpPr>
        <p:sp>
          <p:nvSpPr>
            <p:cNvPr id="58" name="Rectangle 58"/>
            <p:cNvSpPr/>
            <p:nvPr/>
          </p:nvSpPr>
          <p:spPr>
            <a:xfrm>
              <a:off x="571500" y="5553075"/>
              <a:ext cx="110490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9618" y="5724049"/>
              <a:ext cx="10115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Quality Check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464118" y="5724049"/>
              <a:ext cx="15498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pgvector + LLM judge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322570" y="5732145"/>
              <a:ext cx="27569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Tận dụng DB có sẵn, tự động flag draft kém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500" y="6010275"/>
            <a:ext cx="11049000" cy="457200"/>
            <a:chOff x="571500" y="6010275"/>
            <a:chExt cx="11049000" cy="457200"/>
          </a:xfrm>
        </p:grpSpPr>
        <p:sp>
          <p:nvSpPr>
            <p:cNvPr id="63" name="Rectangle 63"/>
            <p:cNvSpPr/>
            <p:nvPr/>
          </p:nvSpPr>
          <p:spPr>
            <a:xfrm>
              <a:off x="571500" y="6010275"/>
              <a:ext cx="110490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9618" y="6181249"/>
              <a:ext cx="14601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Completeness Score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464118" y="6181249"/>
              <a:ext cx="15274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Rule engine config DB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322570" y="6189345"/>
              <a:ext cx="20273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Admin sửa rule không cần deploy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850"/>
                            </p:stCondLst>
                            <p:childTnLst>
                              <p:par>
                                <p:cTn id="4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150"/>
                            </p:stCondLst>
                            <p:childTnLst>
                              <p:par>
                                <p:cTn id="4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22" grpId="0"/>
      <p:bldP spid="27" grpId="0"/>
      <p:bldP spid="32" grpId="0"/>
      <p:bldP spid="37" grpId="0"/>
      <p:bldP spid="42" grpId="0"/>
      <p:bldP spid="47" grpId="0"/>
      <p:bldP spid="52" grpId="0"/>
      <p:bldP spid="57" grpId="0"/>
      <p:bldP spid="62" grpId="0"/>
      <p:bldP spid="6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7C4D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5066386" cy="487680"/>
            <a:chOff x="541020" y="502920"/>
            <a:chExt cx="5066386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506638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Phase 3 — AI Image Rendering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6260" y="1108710"/>
            <a:ext cx="6366129" cy="243840"/>
            <a:chOff x="556260" y="1108710"/>
            <a:chExt cx="6366129" cy="243840"/>
          </a:xfrm>
        </p:grpSpPr>
        <p:sp>
          <p:nvSpPr>
            <p:cNvPr id="8" name="TextBox 8"/>
            <p:cNvSpPr txBox="1"/>
            <p:nvPr/>
          </p:nvSpPr>
          <p:spPr>
            <a:xfrm>
              <a:off x="556260" y="1108710"/>
              <a:ext cx="63661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Gộp về 2 vendor chính + 1 self-host cho 3D. Chỉ thêm 1 container (blender)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1524000"/>
            <a:ext cx="7048500" cy="2095500"/>
            <a:chOff x="571500" y="1524000"/>
            <a:chExt cx="7048500" cy="2095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524000"/>
              <a:ext cx="7048500" cy="2095500"/>
            </a:xfrm>
            <a:prstGeom prst="roundRect">
              <a:avLst>
                <a:gd name="adj" fmla="val 5455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1524000"/>
              <a:ext cx="7048500" cy="38100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8200" y="1743075"/>
              <a:ext cx="22348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OpenAI gpt-image-2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915" y="2039302"/>
              <a:ext cx="30247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1 API cho tất cả — không cần vendor riêng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7250" y="2333625"/>
            <a:ext cx="6096000" cy="266700"/>
            <a:chOff x="857250" y="2333625"/>
            <a:chExt cx="6096000" cy="266700"/>
          </a:xfrm>
        </p:grpSpPr>
        <p:sp>
          <p:nvSpPr>
            <p:cNvPr id="15" name="Rectangle 15"/>
            <p:cNvSpPr/>
            <p:nvPr/>
          </p:nvSpPr>
          <p:spPr>
            <a:xfrm>
              <a:off x="857250" y="2333625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7C4DFF">
                <a:alpha val="1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6430" y="2417445"/>
              <a:ext cx="66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Image Gen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095500" y="2333625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7C4DFF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276023" y="2417445"/>
              <a:ext cx="781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Edit / Mask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333750" y="2333625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7C4DFF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45389" y="2417445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Variant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72000" y="2333625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7C4DFF">
                <a:alpha val="1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87027" y="24174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Upscale 4K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810250" y="2333625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7C4DFF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63232" y="2417445"/>
              <a:ext cx="637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Lifestyle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43915" y="2791778"/>
            <a:ext cx="3622786" cy="632460"/>
            <a:chOff x="843915" y="2791778"/>
            <a:chExt cx="3622786" cy="632460"/>
          </a:xfrm>
        </p:grpSpPr>
        <p:sp>
          <p:nvSpPr>
            <p:cNvPr id="26" name="TextBox 26"/>
            <p:cNvSpPr txBox="1"/>
            <p:nvPr/>
          </p:nvSpPr>
          <p:spPr>
            <a:xfrm>
              <a:off x="843915" y="2791778"/>
              <a:ext cx="3622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Background Removal — edit + mask transparent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915" y="3001328"/>
              <a:ext cx="3185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Variant đổi màu, lifestyle scene, inpaint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915" y="3210878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Lên 4K resolution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01000" y="1524000"/>
            <a:ext cx="3619500" cy="2095500"/>
            <a:chOff x="8001000" y="1524000"/>
            <a:chExt cx="3619500" cy="2095500"/>
          </a:xfrm>
        </p:grpSpPr>
        <p:sp>
          <p:nvSpPr>
            <p:cNvPr id="30" name="Rectangle 30"/>
            <p:cNvSpPr/>
            <p:nvPr/>
          </p:nvSpPr>
          <p:spPr>
            <a:xfrm>
              <a:off x="8001000" y="1524000"/>
              <a:ext cx="3619500" cy="2095500"/>
            </a:xfrm>
            <a:prstGeom prst="roundRect">
              <a:avLst>
                <a:gd name="adj" fmla="val 5455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01000" y="1524000"/>
              <a:ext cx="3619500" cy="381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67700" y="1743075"/>
              <a:ext cx="18898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Blender Headless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73415" y="203930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3D → Packshot render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73415" y="2410778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Python script, Docker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73415" y="2620328"/>
              <a:ext cx="17212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Deterministic output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73415" y="2829878"/>
              <a:ext cx="10541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Không cần AI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73415" y="3039428"/>
              <a:ext cx="1307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Kết quả ổn định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3905250"/>
            <a:ext cx="5766102" cy="952500"/>
            <a:chOff x="571500" y="3905250"/>
            <a:chExt cx="5766102" cy="952500"/>
          </a:xfrm>
        </p:grpSpPr>
        <p:sp>
          <p:nvSpPr>
            <p:cNvPr id="39" name="Rectangle 39"/>
            <p:cNvSpPr/>
            <p:nvPr/>
          </p:nvSpPr>
          <p:spPr>
            <a:xfrm>
              <a:off x="571500" y="3905250"/>
              <a:ext cx="5143500" cy="952500"/>
            </a:xfrm>
            <a:prstGeom prst="roundRect">
              <a:avLst>
                <a:gd name="adj" fmla="val 12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1500" y="3905250"/>
              <a:ext cx="5143500" cy="38100"/>
            </a:xfrm>
            <a:prstGeom prst="roundRect">
              <a:avLst>
                <a:gd name="adj" fmla="val 50000"/>
              </a:avLst>
            </a:prstGeom>
            <a:solidFill>
              <a:srgbClr val="9E9E9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0105" y="4121468"/>
              <a:ext cx="12453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Video từ ảnh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67915" y="4153852"/>
              <a:ext cx="8624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(tạm hoãn)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915" y="4420552"/>
              <a:ext cx="54936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Sora đã ngừng. Chờ alternative ổn định (Kling, Veo, etc.) — không ưu tiên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5238750"/>
            <a:ext cx="11049000" cy="762000"/>
            <a:chOff x="571500" y="5238750"/>
            <a:chExt cx="11049000" cy="762000"/>
          </a:xfrm>
        </p:grpSpPr>
        <p:sp>
          <p:nvSpPr>
            <p:cNvPr id="45" name="Rectangle 45"/>
            <p:cNvSpPr/>
            <p:nvPr/>
          </p:nvSpPr>
          <p:spPr>
            <a:xfrm>
              <a:off x="571500" y="523875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7C4DFF">
                <a:alpha val="4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076585" y="5414010"/>
              <a:ext cx="60388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Không thêm Photoroom, Magnific, Runway, fal.ai, ComfyUI, RunPod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05380" y="5696902"/>
              <a:ext cx="4581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Tổng Phase 3: chỉ thêm 1 container (blender) + gọi API OpenAI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  <p:bldP spid="25" grpId="0"/>
      <p:bldP spid="29" grpId="0"/>
      <p:bldP spid="38" grpId="0"/>
      <p:bldP spid="44" grpId="0"/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41020" y="502920"/>
            <a:ext cx="4845558" cy="802005"/>
            <a:chOff x="541020" y="502920"/>
            <a:chExt cx="4845558" cy="8020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8455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Infrastructure Xuyên Suốt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061085"/>
              <a:ext cx="36495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Tối giản — 1 DB cho tất cả, thêm dần khi cần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3524250" cy="1238250"/>
            <a:chOff x="571500" y="1428750"/>
            <a:chExt cx="3524250" cy="1238250"/>
          </a:xfrm>
        </p:grpSpPr>
        <p:sp>
          <p:nvSpPr>
            <p:cNvPr id="9" name="Rectangle 9"/>
            <p:cNvSpPr/>
            <p:nvPr/>
          </p:nvSpPr>
          <p:spPr>
            <a:xfrm>
              <a:off x="571500" y="1428750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04850" y="1524000"/>
              <a:ext cx="190500" cy="190500"/>
            </a:xfrm>
            <a:prstGeom prst="ellipse">
              <a:avLst/>
            </a:prstGeom>
            <a:solidFill>
              <a:srgbClr val="1565C0">
                <a:alpha val="3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46810" y="1680210"/>
              <a:ext cx="8401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Database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6765" y="1963102"/>
              <a:ext cx="18381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PostgreSQL + pgvector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6765" y="2153602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+ TimescaleDB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8670" y="2398395"/>
              <a:ext cx="23231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1 DB cho data + vector + time-series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33875" y="1428750"/>
            <a:ext cx="3524250" cy="1238250"/>
            <a:chOff x="4333875" y="1428750"/>
            <a:chExt cx="3524250" cy="1238250"/>
          </a:xfrm>
        </p:grpSpPr>
        <p:sp>
          <p:nvSpPr>
            <p:cNvPr id="16" name="Rectangle 16"/>
            <p:cNvSpPr/>
            <p:nvPr/>
          </p:nvSpPr>
          <p:spPr>
            <a:xfrm>
              <a:off x="4333875" y="1428750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467225" y="1524000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09185" y="168021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Cache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49140" y="1963102"/>
              <a:ext cx="429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51045" y="2207895"/>
              <a:ext cx="1560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Cache + distributed lock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96250" y="1428750"/>
            <a:ext cx="3524250" cy="1238250"/>
            <a:chOff x="8096250" y="1428750"/>
            <a:chExt cx="3524250" cy="1238250"/>
          </a:xfrm>
        </p:grpSpPr>
        <p:sp>
          <p:nvSpPr>
            <p:cNvPr id="22" name="Rectangle 22"/>
            <p:cNvSpPr/>
            <p:nvPr/>
          </p:nvSpPr>
          <p:spPr>
            <a:xfrm>
              <a:off x="8096250" y="1428750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229600" y="1524000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71560" y="1680210"/>
              <a:ext cx="14382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Message Broker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11515" y="1963102"/>
              <a:ext cx="7593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RabbitMQ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13420" y="2207895"/>
              <a:ext cx="13767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Event bus + job queue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2905125"/>
            <a:ext cx="3524250" cy="1238250"/>
            <a:chOff x="571500" y="2905125"/>
            <a:chExt cx="3524250" cy="1238250"/>
          </a:xfrm>
        </p:grpSpPr>
        <p:sp>
          <p:nvSpPr>
            <p:cNvPr id="28" name="Rectangle 28"/>
            <p:cNvSpPr/>
            <p:nvPr/>
          </p:nvSpPr>
          <p:spPr>
            <a:xfrm>
              <a:off x="571500" y="2905125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04850" y="3000375"/>
              <a:ext cx="190500" cy="190500"/>
            </a:xfrm>
            <a:prstGeom prst="ellipse">
              <a:avLst/>
            </a:prstGeom>
            <a:solidFill>
              <a:srgbClr val="1565C0">
                <a:alpha val="3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46810" y="3156585"/>
              <a:ext cx="637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Search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3439478"/>
              <a:ext cx="26835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PostgreSQL tsvector → Typesense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8670" y="3684270"/>
              <a:ext cx="2336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Chỉ thêm Typesense nếu volume &gt;50k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8670" y="3874770"/>
              <a:ext cx="15541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hoặc cần facet phức tạp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33875" y="2905125"/>
            <a:ext cx="3524250" cy="1238250"/>
            <a:chOff x="4333875" y="2905125"/>
            <a:chExt cx="3524250" cy="1238250"/>
          </a:xfrm>
        </p:grpSpPr>
        <p:sp>
          <p:nvSpPr>
            <p:cNvPr id="35" name="Rectangle 35"/>
            <p:cNvSpPr/>
            <p:nvPr/>
          </p:nvSpPr>
          <p:spPr>
            <a:xfrm>
              <a:off x="4333875" y="2905125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4467225" y="3000375"/>
              <a:ext cx="190500" cy="190500"/>
            </a:xfrm>
            <a:prstGeom prst="ellipse">
              <a:avLst/>
            </a:prstGeom>
            <a:solidFill>
              <a:srgbClr val="1565C0">
                <a:alpha val="3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909185" y="3156585"/>
              <a:ext cx="13922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Object Storage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49140" y="3439478"/>
              <a:ext cx="15000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Azure Blob Storage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51045" y="3684270"/>
              <a:ext cx="16527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Ảnh, video, 3D, document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96250" y="2905125"/>
            <a:ext cx="3524250" cy="1238250"/>
            <a:chOff x="8096250" y="2905125"/>
            <a:chExt cx="3524250" cy="1238250"/>
          </a:xfrm>
        </p:grpSpPr>
        <p:sp>
          <p:nvSpPr>
            <p:cNvPr id="41" name="Rectangle 41"/>
            <p:cNvSpPr/>
            <p:nvPr/>
          </p:nvSpPr>
          <p:spPr>
            <a:xfrm>
              <a:off x="8096250" y="2905125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229600" y="3000375"/>
              <a:ext cx="190500" cy="190500"/>
            </a:xfrm>
            <a:prstGeom prst="ellipse">
              <a:avLst/>
            </a:prstGeom>
            <a:solidFill>
              <a:srgbClr val="7C4DFF">
                <a:alpha val="30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671560" y="3156585"/>
              <a:ext cx="13370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Orchestration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11515" y="3439478"/>
              <a:ext cx="2329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Docker Compose → Kubernetes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13420" y="3684270"/>
              <a:ext cx="16593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Dev → Prod migration path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4381500"/>
            <a:ext cx="3524250" cy="1047750"/>
            <a:chOff x="571500" y="4381500"/>
            <a:chExt cx="3524250" cy="1047750"/>
          </a:xfrm>
        </p:grpSpPr>
        <p:sp>
          <p:nvSpPr>
            <p:cNvPr id="47" name="Rectangle 47"/>
            <p:cNvSpPr/>
            <p:nvPr/>
          </p:nvSpPr>
          <p:spPr>
            <a:xfrm>
              <a:off x="571500" y="4381500"/>
              <a:ext cx="3524250" cy="1047750"/>
            </a:xfrm>
            <a:prstGeom prst="roundRect">
              <a:avLst>
                <a:gd name="adj" fmla="val 10909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704850" y="4476750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46810" y="4632960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CI/CD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6765" y="4915852"/>
              <a:ext cx="114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GitHub Actions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333875" y="4381500"/>
            <a:ext cx="3524250" cy="1047750"/>
            <a:chOff x="4333875" y="4381500"/>
            <a:chExt cx="3524250" cy="1047750"/>
          </a:xfrm>
        </p:grpSpPr>
        <p:sp>
          <p:nvSpPr>
            <p:cNvPr id="52" name="Rectangle 52"/>
            <p:cNvSpPr/>
            <p:nvPr/>
          </p:nvSpPr>
          <p:spPr>
            <a:xfrm>
              <a:off x="4333875" y="4381500"/>
              <a:ext cx="3524250" cy="1047750"/>
            </a:xfrm>
            <a:prstGeom prst="roundRect">
              <a:avLst>
                <a:gd name="adj" fmla="val 10909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4467225" y="4476750"/>
              <a:ext cx="190500" cy="190500"/>
            </a:xfrm>
            <a:prstGeom prst="ellipse">
              <a:avLst/>
            </a:prstGeom>
            <a:solidFill>
              <a:srgbClr val="1565C0">
                <a:alpha val="3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909185" y="4632960"/>
              <a:ext cx="9874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Monitoring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49140" y="4915852"/>
              <a:ext cx="22004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Seq + Grafana + Prometheus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51045" y="5160645"/>
              <a:ext cx="22837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Structured log + metrics + alerting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21" grpId="0"/>
      <p:bldP spid="27" grpId="0"/>
      <p:bldP spid="34" grpId="0"/>
      <p:bldP spid="40" grpId="0"/>
      <p:bldP spid="46" grpId="0"/>
      <p:bldP spid="51" grpId="0"/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4238282" cy="487680"/>
            <a:chOff x="541020" y="502920"/>
            <a:chExt cx="4238282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2382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Container Architecture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4355" y="1235392"/>
            <a:ext cx="2228764" cy="274320"/>
            <a:chOff x="554355" y="1235392"/>
            <a:chExt cx="2228764" cy="274320"/>
          </a:xfrm>
        </p:grpSpPr>
        <p:sp>
          <p:nvSpPr>
            <p:cNvPr id="8" name="TextBox 8"/>
            <p:cNvSpPr txBox="1"/>
            <p:nvPr/>
          </p:nvSpPr>
          <p:spPr>
            <a:xfrm>
              <a:off x="554355" y="1235392"/>
              <a:ext cx="22287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Phase 1 — 6 Containers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1571625"/>
            <a:ext cx="11239500" cy="857250"/>
            <a:chOff x="571500" y="1571625"/>
            <a:chExt cx="11239500" cy="857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571625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1565C0">
                <a:alpha val="8000"/>
              </a:srgbClr>
            </a:solidFill>
            <a:ln w="14288">
              <a:solidFill>
                <a:srgbClr val="1565C0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143000" y="1619250"/>
              <a:ext cx="190500" cy="190500"/>
            </a:xfrm>
            <a:prstGeom prst="ellipse">
              <a:avLst/>
            </a:prstGeom>
            <a:solidFill>
              <a:srgbClr val="1565C0">
                <a:alpha val="3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9604" y="2001202"/>
              <a:ext cx="5982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pim-api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2106" y="2196941"/>
              <a:ext cx="5932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.NET 8 API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76500" y="1571625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1565C0">
                <a:alpha val="8000"/>
              </a:srgbClr>
            </a:solidFill>
            <a:ln w="14288">
              <a:solidFill>
                <a:srgbClr val="1565C0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048000" y="1619250"/>
              <a:ext cx="190500" cy="190500"/>
            </a:xfrm>
            <a:prstGeom prst="ellipse">
              <a:avLst/>
            </a:prstGeom>
            <a:solidFill>
              <a:srgbClr val="1565C0">
                <a:alpha val="3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21890" y="2001202"/>
              <a:ext cx="82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pim-client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0118" y="2196941"/>
              <a:ext cx="5872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React SPA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81500" y="1571625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7C4DFF">
                <a:alpha val="8000"/>
              </a:srgbClr>
            </a:solidFill>
            <a:ln w="14288">
              <a:solidFill>
                <a:srgbClr val="7C4DFF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953000" y="1619250"/>
              <a:ext cx="190500" cy="190500"/>
            </a:xfrm>
            <a:prstGeom prst="ellipse">
              <a:avLst/>
            </a:prstGeom>
            <a:solidFill>
              <a:srgbClr val="7C4DFF">
                <a:alpha val="3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22865" y="20012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ai-service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94504" y="2196941"/>
              <a:ext cx="8884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Python FastAPI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1571625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00897B">
                <a:alpha val="8000"/>
              </a:srgbClr>
            </a:solidFill>
            <a:ln w="14288">
              <a:solidFill>
                <a:srgbClr val="00897B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858000" y="1619250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6171" y="2001202"/>
              <a:ext cx="735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postgres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32639" y="2196941"/>
              <a:ext cx="8222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DB + pgvector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91500" y="1571625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00897B">
                <a:alpha val="8000"/>
              </a:srgbClr>
            </a:solidFill>
            <a:ln w="14288">
              <a:solidFill>
                <a:srgbClr val="00897B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763000" y="1619250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34140" y="2001202"/>
              <a:ext cx="429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70774" y="2196941"/>
              <a:ext cx="7559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Cache + Lock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096500" y="1571625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00897B">
                <a:alpha val="8000"/>
              </a:srgbClr>
            </a:solidFill>
            <a:ln w="14288">
              <a:solidFill>
                <a:srgbClr val="00897B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0668000" y="1619250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590196" y="2001202"/>
              <a:ext cx="7271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rabbitmq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60118" y="2196941"/>
              <a:ext cx="5872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Event Bus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2857500"/>
            <a:ext cx="11049000" cy="9525"/>
            <a:chOff x="571500" y="2857500"/>
            <a:chExt cx="11049000" cy="9525"/>
          </a:xfrm>
        </p:grpSpPr>
        <p:sp>
          <p:nvSpPr>
            <p:cNvPr id="35" name="Rectangle 35"/>
            <p:cNvSpPr/>
            <p:nvPr/>
          </p:nvSpPr>
          <p:spPr>
            <a:xfrm>
              <a:off x="571500" y="285750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54355" y="3092768"/>
            <a:ext cx="1690497" cy="274320"/>
            <a:chOff x="554355" y="3092768"/>
            <a:chExt cx="1690497" cy="274320"/>
          </a:xfrm>
        </p:grpSpPr>
        <p:sp>
          <p:nvSpPr>
            <p:cNvPr id="37" name="TextBox 37"/>
            <p:cNvSpPr txBox="1"/>
            <p:nvPr/>
          </p:nvSpPr>
          <p:spPr>
            <a:xfrm>
              <a:off x="554355" y="30927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Thêm dần khi cần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3429000"/>
            <a:ext cx="2095500" cy="857250"/>
            <a:chOff x="571500" y="3429000"/>
            <a:chExt cx="2095500" cy="857250"/>
          </a:xfrm>
        </p:grpSpPr>
        <p:sp>
          <p:nvSpPr>
            <p:cNvPr id="39" name="Rectangle 39"/>
            <p:cNvSpPr/>
            <p:nvPr/>
          </p:nvSpPr>
          <p:spPr>
            <a:xfrm>
              <a:off x="571500" y="3429000"/>
              <a:ext cx="20955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00897B"/>
              </a:solidFill>
              <a:prstDash val="dash"/>
            </a:ln>
          </p:spPr>
        </p:sp>
        <p:sp>
          <p:nvSpPr>
            <p:cNvPr id="40" name="Ellipse 40"/>
            <p:cNvSpPr/>
            <p:nvPr/>
          </p:nvSpPr>
          <p:spPr>
            <a:xfrm>
              <a:off x="1314450" y="3476625"/>
              <a:ext cx="190500" cy="190500"/>
            </a:xfrm>
            <a:prstGeom prst="ellipse">
              <a:avLst/>
            </a:prstGeom>
            <a:solidFill>
              <a:srgbClr val="00897B">
                <a:alpha val="3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07390" y="3858578"/>
              <a:ext cx="82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typesense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3653" y="4054316"/>
              <a:ext cx="15511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Phase 2 — nếu search chậm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952750" y="3429000"/>
            <a:ext cx="2095500" cy="857250"/>
            <a:chOff x="2952750" y="3429000"/>
            <a:chExt cx="2095500" cy="857250"/>
          </a:xfrm>
        </p:grpSpPr>
        <p:sp>
          <p:nvSpPr>
            <p:cNvPr id="44" name="Rectangle 44"/>
            <p:cNvSpPr/>
            <p:nvPr/>
          </p:nvSpPr>
          <p:spPr>
            <a:xfrm>
              <a:off x="2952750" y="3429000"/>
              <a:ext cx="20955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7C4DFF"/>
              </a:solidFill>
              <a:prstDash val="dash"/>
            </a:ln>
          </p:spPr>
        </p:sp>
        <p:sp>
          <p:nvSpPr>
            <p:cNvPr id="45" name="Ellipse 45"/>
            <p:cNvSpPr/>
            <p:nvPr/>
          </p:nvSpPr>
          <p:spPr>
            <a:xfrm>
              <a:off x="3695700" y="3476625"/>
              <a:ext cx="190500" cy="190500"/>
            </a:xfrm>
            <a:prstGeom prst="ellipse">
              <a:avLst/>
            </a:prstGeom>
            <a:solidFill>
              <a:srgbClr val="7C4DFF">
                <a:alpha val="3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97329" y="3858578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blender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20701" y="4054316"/>
              <a:ext cx="11595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Phase 3 — 3D render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4762500"/>
            <a:ext cx="11049000" cy="952500"/>
            <a:chOff x="571500" y="4762500"/>
            <a:chExt cx="11049000" cy="952500"/>
          </a:xfrm>
        </p:grpSpPr>
        <p:sp>
          <p:nvSpPr>
            <p:cNvPr id="49" name="Rectangle 49"/>
            <p:cNvSpPr/>
            <p:nvPr/>
          </p:nvSpPr>
          <p:spPr>
            <a:xfrm>
              <a:off x="571500" y="476250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3915" y="493490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Legend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7250" y="5191125"/>
              <a:ext cx="190500" cy="133350"/>
            </a:xfrm>
            <a:prstGeom prst="roundRect">
              <a:avLst>
                <a:gd name="adj" fmla="val 21429"/>
              </a:avLst>
            </a:prstGeom>
            <a:solidFill>
              <a:srgbClr val="1565C0">
                <a:alpha val="8000"/>
              </a:srgbClr>
            </a:solidFill>
            <a:ln w="14288">
              <a:solidFill>
                <a:srgbClr val="1565C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31570" y="5208270"/>
              <a:ext cx="1304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Application services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857500" y="5191125"/>
              <a:ext cx="190500" cy="133350"/>
            </a:xfrm>
            <a:prstGeom prst="roundRect">
              <a:avLst>
                <a:gd name="adj" fmla="val 21429"/>
              </a:avLst>
            </a:prstGeom>
            <a:solidFill>
              <a:srgbClr val="00897B">
                <a:alpha val="8000"/>
              </a:srgbClr>
            </a:solidFill>
            <a:ln w="14288">
              <a:solidFill>
                <a:srgbClr val="00897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131820" y="5208270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Infrastructure services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43500" y="5191125"/>
              <a:ext cx="190500" cy="133350"/>
            </a:xfrm>
            <a:prstGeom prst="roundRect">
              <a:avLst>
                <a:gd name="adj" fmla="val 21429"/>
              </a:avLst>
            </a:prstGeom>
            <a:solidFill>
              <a:srgbClr val="7C4DFF">
                <a:alpha val="8000"/>
              </a:srgbClr>
            </a:solidFill>
            <a:ln w="14288">
              <a:solidFill>
                <a:srgbClr val="7C4DF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417820" y="5208270"/>
              <a:ext cx="15673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AI / Specialized services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429500" y="5191125"/>
              <a:ext cx="190500" cy="13335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14288">
              <a:solidFill>
                <a:srgbClr val="616161"/>
              </a:solidFill>
              <a:custDash>
                <a:ds d="266666" sp="133333"/>
              </a:custDash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703820" y="5208270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Thêm sau khi cần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34" grpId="0"/>
      <p:bldP spid="36" grpId="0"/>
      <p:bldP spid="38" grpId="0"/>
      <p:bldP spid="43" grpId="0"/>
      <p:bldP spid="48" grpId="0"/>
      <p:bldP spid="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366233" y="502920"/>
            <a:ext cx="1459535" cy="487680"/>
            <a:chOff x="5366233" y="502920"/>
            <a:chExt cx="1459535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366233" y="502920"/>
              <a:ext cx="145953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Tóm Tắt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0" y="904875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238250"/>
            <a:ext cx="3524250" cy="1905000"/>
            <a:chOff x="571500" y="1238250"/>
            <a:chExt cx="3524250" cy="190500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F4F7FA"/>
            </a:solidFill>
            <a:ln w="14288">
              <a:solidFill>
                <a:srgbClr val="1565C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238250"/>
              <a:ext cx="3524250" cy="381000"/>
            </a:xfrm>
            <a:prstGeom prst="roundRect">
              <a:avLst>
                <a:gd name="adj" fmla="val 3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504950"/>
              <a:ext cx="3524250" cy="1143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2486" y="1365885"/>
              <a:ext cx="16222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Phase 1 — Nền Tảng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718" y="1799749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9 capabilities cốt lõi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7718" y="2009299"/>
              <a:ext cx="1014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6 containers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7718" y="2218849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Azure Blob, NetVips, RabbitMQ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7718" y="242839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MassTransit, Polly, Hangfire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7718" y="263794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Claude Sonnet cho AI text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33875" y="1238250"/>
            <a:ext cx="3524250" cy="1905000"/>
            <a:chOff x="4333875" y="1238250"/>
            <a:chExt cx="3524250" cy="1905000"/>
          </a:xfrm>
        </p:grpSpPr>
        <p:sp>
          <p:nvSpPr>
            <p:cNvPr id="18" name="Rectangle 18"/>
            <p:cNvSpPr/>
            <p:nvPr/>
          </p:nvSpPr>
          <p:spPr>
            <a:xfrm>
              <a:off x="4333875" y="1238250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F4F7FA"/>
            </a:solidFill>
            <a:ln w="14288">
              <a:solidFill>
                <a:srgbClr val="00897B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33875" y="1238250"/>
              <a:ext cx="3524250" cy="381000"/>
            </a:xfrm>
            <a:prstGeom prst="roundRect">
              <a:avLst>
                <a:gd name="adj" fmla="val 3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33875" y="1504950"/>
              <a:ext cx="3524250" cy="11430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13677" y="1365885"/>
              <a:ext cx="13646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Phase 2 — Scale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50092" y="1799749"/>
              <a:ext cx="1655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11 capabilities mở rộng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50092" y="2009299"/>
              <a:ext cx="1883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+1 container (typesense)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50092" y="2218849"/>
              <a:ext cx="1883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Azure Entra ID, pgvector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50092" y="2428399"/>
              <a:ext cx="15128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Florence-2, BGE-M3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50092" y="2637949"/>
              <a:ext cx="19115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Delta Sync, Webhook push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96250" y="1238250"/>
            <a:ext cx="3524250" cy="1905000"/>
            <a:chOff x="8096250" y="1238250"/>
            <a:chExt cx="3524250" cy="1905000"/>
          </a:xfrm>
        </p:grpSpPr>
        <p:sp>
          <p:nvSpPr>
            <p:cNvPr id="28" name="Rectangle 28"/>
            <p:cNvSpPr/>
            <p:nvPr/>
          </p:nvSpPr>
          <p:spPr>
            <a:xfrm>
              <a:off x="8096250" y="1238250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F4F7FA"/>
            </a:solidFill>
            <a:ln w="14288">
              <a:solidFill>
                <a:srgbClr val="7C4DF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96250" y="1238250"/>
              <a:ext cx="3524250" cy="381000"/>
            </a:xfrm>
            <a:prstGeom prst="roundRect">
              <a:avLst>
                <a:gd name="adj" fmla="val 30000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96250" y="1504950"/>
              <a:ext cx="3524250" cy="114300"/>
            </a:xfrm>
            <a:prstGeom prst="rect">
              <a:avLst/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51836" y="1365885"/>
              <a:ext cx="16130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Phase 3 — AI Image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2468" y="1799749"/>
              <a:ext cx="1619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4 capabilities gộp gọn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2468" y="2009299"/>
              <a:ext cx="1690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+1 container (blender)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12468" y="2218849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OpenAI gpt-image-2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12468" y="2428399"/>
              <a:ext cx="1292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Blender headless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12468" y="2637949"/>
              <a:ext cx="13348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Sora 2 (optional)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3524250"/>
            <a:ext cx="11049000" cy="1524000"/>
            <a:chOff x="571500" y="3524250"/>
            <a:chExt cx="11049000" cy="1524000"/>
          </a:xfrm>
        </p:grpSpPr>
        <p:sp>
          <p:nvSpPr>
            <p:cNvPr id="38" name="Rectangle 38"/>
            <p:cNvSpPr/>
            <p:nvPr/>
          </p:nvSpPr>
          <p:spPr>
            <a:xfrm>
              <a:off x="571500" y="3524250"/>
              <a:ext cx="11049000" cy="1524000"/>
            </a:xfrm>
            <a:prstGeom prst="roundRect">
              <a:avLst>
                <a:gd name="adj" fmla="val 7500"/>
              </a:avLst>
            </a:prstGeom>
            <a:solidFill>
              <a:srgbClr val="1565C0">
                <a:alpha val="3000"/>
              </a:srgbClr>
            </a:solidFill>
            <a:ln w="9525">
              <a:solidFill>
                <a:srgbClr val="1565C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16372" y="3711892"/>
              <a:ext cx="13592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Key Decisions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10665" y="4077652"/>
              <a:ext cx="46502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1 Database cho tất cả: PostgreSQL + pgvector + TimescaleDB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10665" y="4306252"/>
              <a:ext cx="41211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Event-driven: RabbitMQ + MassTransit + CloudEvents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10665" y="4534852"/>
              <a:ext cx="60074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AI: Claude Sonnet (text) + OpenAI gpt-image-2 (image) + Florence-2 (tagging)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0665" y="4763452"/>
              <a:ext cx="43435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Tổng containers: 6 (Phase 1) → 7 (Phase 2) → 8 (Phase 3)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429250"/>
            <a:ext cx="11049000" cy="571500"/>
            <a:chOff x="571500" y="5429250"/>
            <a:chExt cx="11049000" cy="571500"/>
          </a:xfrm>
        </p:grpSpPr>
        <p:sp>
          <p:nvSpPr>
            <p:cNvPr id="45" name="Rectangle 45"/>
            <p:cNvSpPr/>
            <p:nvPr/>
          </p:nvSpPr>
          <p:spPr>
            <a:xfrm>
              <a:off x="571500" y="542925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463033" y="5642610"/>
              <a:ext cx="52659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Stability · Quality · Production-Ready · Không Compromise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507605" y="6578441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27" grpId="0"/>
      <p:bldP spid="37" grpId="0"/>
      <p:bldP spid="44" grpId="0"/>
      <p:bldP spid="4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