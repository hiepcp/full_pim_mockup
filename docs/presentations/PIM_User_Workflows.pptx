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57150"/>
            <a:chOff x="0" y="0"/>
            <a:chExt cx="12192000" cy="571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1500" y="1905000"/>
            <a:ext cx="76200" cy="1714500"/>
            <a:chOff x="571500" y="1905000"/>
            <a:chExt cx="76200" cy="1714500"/>
          </a:xfrm>
        </p:grpSpPr>
        <p:sp>
          <p:nvSpPr>
            <p:cNvPr id="5" name="Rectangle 5"/>
            <p:cNvSpPr/>
            <p:nvPr/>
          </p:nvSpPr>
          <p:spPr>
            <a:xfrm>
              <a:off x="571500" y="1905000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6780" y="2373630"/>
            <a:ext cx="5805354" cy="731520"/>
            <a:chOff x="906780" y="2373630"/>
            <a:chExt cx="5805354" cy="731520"/>
          </a:xfrm>
        </p:grpSpPr>
        <p:sp>
          <p:nvSpPr>
            <p:cNvPr id="7" name="TextBox 7"/>
            <p:cNvSpPr txBox="1"/>
            <p:nvPr/>
          </p:nvSpPr>
          <p:spPr>
            <a:xfrm>
              <a:off x="906780" y="2373630"/>
              <a:ext cx="58053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PIM — User Workflows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1545" y="3108008"/>
            <a:ext cx="5114592" cy="335280"/>
            <a:chOff x="931545" y="3108008"/>
            <a:chExt cx="5114592" cy="335280"/>
          </a:xfrm>
        </p:grpSpPr>
        <p:sp>
          <p:nvSpPr>
            <p:cNvPr id="9" name="TextBox 9"/>
            <p:cNvSpPr txBox="1"/>
            <p:nvPr/>
          </p:nvSpPr>
          <p:spPr>
            <a:xfrm>
              <a:off x="931545" y="3108008"/>
              <a:ext cx="51145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Quy trình làm việc thực tế của từng vai trò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500" y="3476625"/>
            <a:ext cx="1905000" cy="28575"/>
            <a:chOff x="952500" y="3476625"/>
            <a:chExt cx="1905000" cy="28575"/>
          </a:xfrm>
        </p:grpSpPr>
        <p:sp>
          <p:nvSpPr>
            <p:cNvPr id="11" name="Rectangle 11"/>
            <p:cNvSpPr/>
            <p:nvPr/>
          </p:nvSpPr>
          <p:spPr>
            <a:xfrm>
              <a:off x="952500" y="3476625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52500" y="4000500"/>
            <a:ext cx="7429500" cy="476250"/>
            <a:chOff x="952500" y="4000500"/>
            <a:chExt cx="7429500" cy="476250"/>
          </a:xfrm>
        </p:grpSpPr>
        <p:sp>
          <p:nvSpPr>
            <p:cNvPr id="13" name="Rectangle 13"/>
            <p:cNvSpPr/>
            <p:nvPr/>
          </p:nvSpPr>
          <p:spPr>
            <a:xfrm>
              <a:off x="952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3768" y="41128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Product Mgr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8620" y="4281488"/>
              <a:ext cx="5612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Quản lý SP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93678" y="4112895"/>
              <a:ext cx="699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Marketing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20127" y="4281488"/>
              <a:ext cx="446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Nội dung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45344" y="411289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Editor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6988" y="4281488"/>
              <a:ext cx="3805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Assets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24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07298" y="41128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84558" y="4281488"/>
              <a:ext cx="41338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Tra cứu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48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17497" y="4112895"/>
              <a:ext cx="395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78435" y="4281488"/>
              <a:ext cx="47363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Cấu hình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9165" y="5982652"/>
            <a:ext cx="1598533" cy="213360"/>
            <a:chOff x="939165" y="5982652"/>
            <a:chExt cx="1598533" cy="213360"/>
          </a:xfrm>
        </p:grpSpPr>
        <p:sp>
          <p:nvSpPr>
            <p:cNvPr id="29" name="TextBox 29"/>
            <p:cNvSpPr txBox="1"/>
            <p:nvPr/>
          </p:nvSpPr>
          <p:spPr>
            <a:xfrm>
              <a:off x="939165" y="59826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Cập nhật: 2026-05-19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15500" y="2095500"/>
            <a:ext cx="1714500" cy="2190750"/>
            <a:chOff x="9715500" y="2095500"/>
            <a:chExt cx="1714500" cy="2190750"/>
          </a:xfrm>
        </p:grpSpPr>
        <p:sp>
          <p:nvSpPr>
            <p:cNvPr id="31" name="Ellipse 31"/>
            <p:cNvSpPr/>
            <p:nvPr/>
          </p:nvSpPr>
          <p:spPr>
            <a:xfrm>
              <a:off x="9715500" y="2095500"/>
              <a:ext cx="1524000" cy="1524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477500" y="3143250"/>
              <a:ext cx="952500" cy="952500"/>
            </a:xfrm>
            <a:prstGeom prst="ellipse">
              <a:avLst/>
            </a:prstGeom>
            <a:solidFill>
              <a:srgbClr val="00897B">
                <a:alpha val="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810750" y="3714750"/>
              <a:ext cx="571500" cy="571500"/>
            </a:xfrm>
            <a:prstGeom prst="ellipse">
              <a:avLst/>
            </a:prstGeom>
            <a:solidFill>
              <a:srgbClr val="7C4DFF">
                <a:alpha val="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28" grpId="0"/>
      <p:bldP spid="30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3207753" cy="487680"/>
            <a:chOff x="541020" y="502920"/>
            <a:chExt cx="3207753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20775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Tổng Quan Vai Trò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238250"/>
            <a:ext cx="11049000" cy="381000"/>
            <a:chOff x="571500" y="1238250"/>
            <a:chExt cx="11049000" cy="381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381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665" y="1372552"/>
              <a:ext cx="5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Vai trò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44165" y="13725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Việc chính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6665" y="137255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Tần suất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2165" y="137255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Tools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619250"/>
            <a:ext cx="11049000" cy="666750"/>
            <a:chOff x="571500" y="1619250"/>
            <a:chExt cx="11049000" cy="666750"/>
          </a:xfrm>
        </p:grpSpPr>
        <p:sp>
          <p:nvSpPr>
            <p:cNvPr id="14" name="Rectangle 14"/>
            <p:cNvSpPr/>
            <p:nvPr/>
          </p:nvSpPr>
          <p:spPr>
            <a:xfrm>
              <a:off x="571500" y="1619250"/>
              <a:ext cx="11049000" cy="66675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23900" y="1819275"/>
              <a:ext cx="266700" cy="266700"/>
            </a:xfrm>
            <a:prstGeom prst="ellipse">
              <a:avLst/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9252" y="188690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8712" y="1783556"/>
              <a:ext cx="1443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Product Manager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1570" y="20173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Quản lý cấu trúc sản phẩm, lifecycle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5118" y="1847374"/>
              <a:ext cx="2701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Gán metadata, assign task, duyệt cuối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7618" y="1847374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Hàng ngày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04070" y="18554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Dashboard, D365 sync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2286000"/>
            <a:ext cx="11049000" cy="666750"/>
            <a:chOff x="571500" y="2286000"/>
            <a:chExt cx="11049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571500" y="2286000"/>
              <a:ext cx="1104900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23900" y="2486025"/>
              <a:ext cx="266700" cy="266700"/>
            </a:xfrm>
            <a:prstGeom prst="ellipse">
              <a:avLst/>
            </a:prstGeom>
            <a:solidFill>
              <a:srgbClr val="00897B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9252" y="25536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8712" y="2450306"/>
              <a:ext cx="873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Marketing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1570" y="268414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Viết nội dung, tạo caption, duyệt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5118" y="2514124"/>
              <a:ext cx="2972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generate text, review, submit approval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07618" y="2514124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Hàng ngày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4070" y="25222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Claude Sonnet, QC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2952750"/>
            <a:ext cx="11049000" cy="666750"/>
            <a:chOff x="571500" y="2952750"/>
            <a:chExt cx="11049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571500" y="2952750"/>
              <a:ext cx="11049000" cy="66675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23900" y="3152775"/>
              <a:ext cx="266700" cy="266700"/>
            </a:xfrm>
            <a:prstGeom prst="ellipse">
              <a:avLst/>
            </a:prstGeom>
            <a:solidFill>
              <a:srgbClr val="7C4DFF">
                <a:alpha val="15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354" y="32204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12" y="3117056"/>
              <a:ext cx="12707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Content Editor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1570" y="3350895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Upload/quản lý ảnh, video, tài liệu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5118" y="3180874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Upload assets, review auto-tags, gán type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7618" y="3180874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Hàng ngày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04070" y="3188970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tus.io, Florence-2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619500"/>
            <a:ext cx="11049000" cy="666750"/>
            <a:chOff x="571500" y="3619500"/>
            <a:chExt cx="11049000" cy="666750"/>
          </a:xfrm>
        </p:grpSpPr>
        <p:sp>
          <p:nvSpPr>
            <p:cNvPr id="41" name="Rectangle 41"/>
            <p:cNvSpPr/>
            <p:nvPr/>
          </p:nvSpPr>
          <p:spPr>
            <a:xfrm>
              <a:off x="571500" y="3619500"/>
              <a:ext cx="1104900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23900" y="3819525"/>
              <a:ext cx="266700" cy="266700"/>
            </a:xfrm>
            <a:prstGeom prst="ellipse">
              <a:avLst/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354" y="38871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8712" y="3783806"/>
              <a:ext cx="4598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Sales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1570" y="401764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Tra cứu, tải tài liệu, chia sẻ link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45118" y="3847624"/>
              <a:ext cx="31432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Search, download, shareable link, export zip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7618" y="3847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Khi cần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04070" y="3855720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Typesense, JWT link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4286250"/>
            <a:ext cx="11049000" cy="666750"/>
            <a:chOff x="571500" y="4286250"/>
            <a:chExt cx="11049000" cy="666750"/>
          </a:xfrm>
        </p:grpSpPr>
        <p:sp>
          <p:nvSpPr>
            <p:cNvPr id="50" name="Rectangle 50"/>
            <p:cNvSpPr/>
            <p:nvPr/>
          </p:nvSpPr>
          <p:spPr>
            <a:xfrm>
              <a:off x="571500" y="4286250"/>
              <a:ext cx="11049000" cy="66675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23900" y="4486275"/>
              <a:ext cx="266700" cy="266700"/>
            </a:xfrm>
            <a:prstGeom prst="ellipse">
              <a:avLst/>
            </a:prstGeom>
            <a:solidFill>
              <a:srgbClr val="00897B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5354" y="4553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8712" y="4450556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1570" y="46843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Cấu hình hệ thống, user, sync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45118" y="45143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User/role, D365 sync config, webhook, rules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07618" y="451437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Hàng tuần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04070" y="4522470"/>
              <a:ext cx="864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Entra ID, Seq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5334000"/>
            <a:ext cx="11049000" cy="571500"/>
            <a:chOff x="571500" y="5334000"/>
            <a:chExt cx="1104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571500" y="533400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24880" y="5555456"/>
              <a:ext cx="53422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5 vai trò · Mỗi người có workflow rõ ràng · AI hỗ trợ xuyên suốt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31" grpId="0"/>
      <p:bldP spid="40" grpId="0"/>
      <p:bldP spid="49" grpId="0"/>
      <p:bldP spid="58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5176799" cy="487680"/>
            <a:chOff x="541020" y="502920"/>
            <a:chExt cx="5176799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5176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Product Manager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238250"/>
            <a:ext cx="11049000" cy="762000"/>
            <a:chOff x="571500" y="1238250"/>
            <a:chExt cx="11049000" cy="762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3825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15" y="1391602"/>
              <a:ext cx="1596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1. D365 Sync tự động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1609249"/>
              <a:ext cx="5977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Delta sync hourly pull master data → Products xuất hiện trong PIM (completeness 20%)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820" y="178879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Tự động, không cần thao tác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24634" y="1997392"/>
            <a:ext cx="142732" cy="274320"/>
            <a:chOff x="6024634" y="1997392"/>
            <a:chExt cx="142732" cy="274320"/>
          </a:xfrm>
        </p:grpSpPr>
        <p:sp>
          <p:nvSpPr>
            <p:cNvPr id="14" name="TextBox 14"/>
            <p:cNvSpPr txBox="1"/>
            <p:nvPr/>
          </p:nvSpPr>
          <p:spPr>
            <a:xfrm>
              <a:off x="6024634" y="1997392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2286000"/>
            <a:ext cx="11049000" cy="762000"/>
            <a:chOff x="571500" y="2286000"/>
            <a:chExt cx="11049000" cy="762000"/>
          </a:xfrm>
        </p:grpSpPr>
        <p:sp>
          <p:nvSpPr>
            <p:cNvPr id="16" name="Rectangle 16"/>
            <p:cNvSpPr/>
            <p:nvPr/>
          </p:nvSpPr>
          <p:spPr>
            <a:xfrm>
              <a:off x="571500" y="2286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286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3915" y="2439352"/>
              <a:ext cx="15402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2. Check Dashboard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4868" y="2656999"/>
              <a:ext cx="42611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PM mở Dashboard → thấy sản phẩm mới → Click vào xem thiếu gì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820" y="28365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Completeness score hiển thị trực quan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24634" y="3045142"/>
            <a:ext cx="142732" cy="274320"/>
            <a:chOff x="6024634" y="3045142"/>
            <a:chExt cx="142732" cy="274320"/>
          </a:xfrm>
        </p:grpSpPr>
        <p:sp>
          <p:nvSpPr>
            <p:cNvPr id="22" name="TextBox 22"/>
            <p:cNvSpPr txBox="1"/>
            <p:nvPr/>
          </p:nvSpPr>
          <p:spPr>
            <a:xfrm>
              <a:off x="6024634" y="3045142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3333750"/>
            <a:ext cx="11049000" cy="952500"/>
            <a:chOff x="571500" y="3333750"/>
            <a:chExt cx="11049000" cy="952500"/>
          </a:xfrm>
        </p:grpSpPr>
        <p:sp>
          <p:nvSpPr>
            <p:cNvPr id="24" name="Rectangle 24"/>
            <p:cNvSpPr/>
            <p:nvPr/>
          </p:nvSpPr>
          <p:spPr>
            <a:xfrm>
              <a:off x="571500" y="3333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3333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3915" y="348710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3. Gán Metadata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4868" y="3704749"/>
              <a:ext cx="5172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Range / Category · Thêm dynamic attributes (Material, Designer...)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868" y="3895249"/>
              <a:ext cx="29866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Set lifecycle status: Development → Active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5820" y="409384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EAV system cho phép thêm attribute runtime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24634" y="4283392"/>
            <a:ext cx="142732" cy="274320"/>
            <a:chOff x="6024634" y="4283392"/>
            <a:chExt cx="142732" cy="274320"/>
          </a:xfrm>
        </p:grpSpPr>
        <p:sp>
          <p:nvSpPr>
            <p:cNvPr id="31" name="TextBox 31"/>
            <p:cNvSpPr txBox="1"/>
            <p:nvPr/>
          </p:nvSpPr>
          <p:spPr>
            <a:xfrm>
              <a:off x="6024634" y="4283392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572000"/>
            <a:ext cx="11049000" cy="762000"/>
            <a:chOff x="571500" y="4572000"/>
            <a:chExt cx="11049000" cy="762000"/>
          </a:xfrm>
        </p:grpSpPr>
        <p:sp>
          <p:nvSpPr>
            <p:cNvPr id="33" name="Rectangle 33"/>
            <p:cNvSpPr/>
            <p:nvPr/>
          </p:nvSpPr>
          <p:spPr>
            <a:xfrm>
              <a:off x="571500" y="4572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4572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915" y="472535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4. Assign Task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4868" y="4942999"/>
              <a:ext cx="46456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Assign cho Marketing (viết text) + Content Editor (upload assets)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820" y="5122545"/>
              <a:ext cx="2940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Notification tự động gửi đi → Workflow bắt đầu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5619750"/>
            <a:ext cx="11049000" cy="571500"/>
            <a:chOff x="571500" y="5619750"/>
            <a:chExt cx="11049000" cy="571500"/>
          </a:xfrm>
        </p:grpSpPr>
        <p:sp>
          <p:nvSpPr>
            <p:cNvPr id="39" name="Rectangle 39"/>
            <p:cNvSpPr/>
            <p:nvPr/>
          </p:nvSpPr>
          <p:spPr>
            <a:xfrm>
              <a:off x="571500" y="561975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868" y="5781199"/>
              <a:ext cx="1467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Hàng ngày kiểm tra: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0368" y="5781199"/>
              <a:ext cx="329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Completeness score · Sync log · Approval queue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5" grpId="0"/>
      <p:bldP spid="21" grpId="0"/>
      <p:bldP spid="23" grpId="0"/>
      <p:bldP spid="30" grpId="0"/>
      <p:bldP spid="32" grpId="0"/>
      <p:bldP spid="38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3962248" cy="487680"/>
            <a:chOff x="541020" y="502920"/>
            <a:chExt cx="3962248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9622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Marketing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190625"/>
            <a:ext cx="5334000" cy="1047750"/>
            <a:chOff x="571500" y="1190625"/>
            <a:chExt cx="5334000" cy="104775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15" y="1315402"/>
              <a:ext cx="1556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1. Nhận notification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15330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"Product X cần nội dung"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68" y="1723549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Mở product → tab Text Content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197929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Từ PM assign task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190625"/>
            <a:ext cx="5334000" cy="1047750"/>
            <a:chOff x="6286500" y="1190625"/>
            <a:chExt cx="5334000" cy="1047750"/>
          </a:xfrm>
        </p:grpSpPr>
        <p:sp>
          <p:nvSpPr>
            <p:cNvPr id="15" name="Rectangle 15"/>
            <p:cNvSpPr/>
            <p:nvPr/>
          </p:nvSpPr>
          <p:spPr>
            <a:xfrm>
              <a:off x="6286500" y="1190625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119062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58915" y="131540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2. AI Generate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9868" y="153304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Click "AI Generate" cho từng loại: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9868" y="17235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B2B · B2C · USP · Care Instructions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0820" y="1979295"/>
              <a:ext cx="2881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Claude Sonnet + few-shot → JSON structured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75063" y="2299335"/>
            <a:ext cx="5841874" cy="243840"/>
            <a:chOff x="3175063" y="2299335"/>
            <a:chExt cx="5841874" cy="243840"/>
          </a:xfrm>
        </p:grpSpPr>
        <p:sp>
          <p:nvSpPr>
            <p:cNvPr id="22" name="TextBox 22"/>
            <p:cNvSpPr txBox="1"/>
            <p:nvPr/>
          </p:nvSpPr>
          <p:spPr>
            <a:xfrm>
              <a:off x="3175063" y="2299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90064" y="2299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2571750"/>
            <a:ext cx="5334000" cy="1047750"/>
            <a:chOff x="571500" y="2571750"/>
            <a:chExt cx="53340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571500" y="2571750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25717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3915" y="2696528"/>
              <a:ext cx="1274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3. Review + Edit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868" y="2914174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Chỉnh sửa draft AI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4868" y="3104674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ngôn ngữ (VI, EN, DA...)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5820" y="3360420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Save → status = "Draft"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2571750"/>
            <a:ext cx="5334000" cy="1047750"/>
            <a:chOff x="6286500" y="2571750"/>
            <a:chExt cx="5334000" cy="1047750"/>
          </a:xfrm>
        </p:grpSpPr>
        <p:sp>
          <p:nvSpPr>
            <p:cNvPr id="32" name="Rectangle 32"/>
            <p:cNvSpPr/>
            <p:nvPr/>
          </p:nvSpPr>
          <p:spPr>
            <a:xfrm>
              <a:off x="6286500" y="2571750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25717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8915" y="2696528"/>
              <a:ext cx="18945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4. Quality Check (auto)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9868" y="2914174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Độ dài OK? · Brand voice ≥0.7?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9868" y="3104674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Trùng SP khác? · Badge inline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0820" y="3360420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Async — pgvector + LLM judge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32564" y="3680460"/>
            <a:ext cx="126873" cy="243840"/>
            <a:chOff x="6032564" y="3680460"/>
            <a:chExt cx="126873" cy="243840"/>
          </a:xfrm>
        </p:grpSpPr>
        <p:sp>
          <p:nvSpPr>
            <p:cNvPr id="39" name="TextBox 39"/>
            <p:cNvSpPr txBox="1"/>
            <p:nvPr/>
          </p:nvSpPr>
          <p:spPr>
            <a:xfrm>
              <a:off x="6032564" y="36804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952875"/>
            <a:ext cx="11049000" cy="857250"/>
            <a:chOff x="571500" y="3952875"/>
            <a:chExt cx="11049000" cy="857250"/>
          </a:xfrm>
        </p:grpSpPr>
        <p:sp>
          <p:nvSpPr>
            <p:cNvPr id="41" name="Rectangle 41"/>
            <p:cNvSpPr/>
            <p:nvPr/>
          </p:nvSpPr>
          <p:spPr>
            <a:xfrm>
              <a:off x="571500" y="3952875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500" y="3952875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3915" y="4106228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5. Submit → Approval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868" y="4352449"/>
              <a:ext cx="46669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Marketing submit → status "InReview" → Approver nhận notification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8" y="4561999"/>
              <a:ext cx="46242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Approver duyệt/reject + comment → Approved → status "Published"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5095875"/>
            <a:ext cx="11049000" cy="762000"/>
            <a:chOff x="571500" y="5095875"/>
            <a:chExt cx="11049000" cy="762000"/>
          </a:xfrm>
        </p:grpSpPr>
        <p:sp>
          <p:nvSpPr>
            <p:cNvPr id="47" name="Rectangle 47"/>
            <p:cNvSpPr/>
            <p:nvPr/>
          </p:nvSpPr>
          <p:spPr>
            <a:xfrm>
              <a:off x="571500" y="5095875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00897B">
                <a:alpha val="4000"/>
              </a:srgbClr>
            </a:solidFill>
            <a:ln w="9525">
              <a:solidFill>
                <a:srgbClr val="00897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3915" y="5249228"/>
              <a:ext cx="2482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Bonus: Tạo Caption Social Media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495449"/>
              <a:ext cx="7536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product + platform (FB/LinkedIn/TikTok) → "Generate Caption" → AI sinh caption + hashtags → Copy/push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1" grpId="0"/>
      <p:bldP spid="24" grpId="0"/>
      <p:bldP spid="31" grpId="0"/>
      <p:bldP spid="38" grpId="0"/>
      <p:bldP spid="40" grpId="0"/>
      <p:bldP spid="46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808753" cy="487680"/>
            <a:chOff x="541020" y="502920"/>
            <a:chExt cx="4808753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80875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Content Editor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190625"/>
            <a:ext cx="5334000" cy="1238250"/>
            <a:chOff x="571500" y="1190625"/>
            <a:chExt cx="5334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15" y="1343978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1. Upload Assets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1580674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Mở product → tab Visual Assets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68" y="1771174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Drag &amp; drop hoặc bulk upload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2026920"/>
              <a:ext cx="24217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Ảnh ≤50MB: direct upload (SAS token)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5820" y="2198370"/>
              <a:ext cx="2776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Video/3D &gt;50MB: resumable upload (tus.io)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1190625"/>
            <a:ext cx="5334000" cy="1238250"/>
            <a:chOff x="6286500" y="1190625"/>
            <a:chExt cx="5334000" cy="12382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190625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19062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58915" y="1343978"/>
              <a:ext cx="23936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2. Auto Processing (Hangfire)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9868" y="15806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Virus scan (async)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9868" y="1771174"/>
              <a:ext cx="33782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Sinh thumbnail (400px) + web size (1024, 2048)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9868" y="1961674"/>
              <a:ext cx="22390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· Auto-tag bằng Florence-2 (AI)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9868" y="215217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Strip EXIF GPS, giữ ICC profile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2564" y="2489835"/>
            <a:ext cx="126873" cy="243840"/>
            <a:chOff x="6032564" y="2489835"/>
            <a:chExt cx="126873" cy="243840"/>
          </a:xfrm>
        </p:grpSpPr>
        <p:sp>
          <p:nvSpPr>
            <p:cNvPr id="24" name="TextBox 24"/>
            <p:cNvSpPr txBox="1"/>
            <p:nvPr/>
          </p:nvSpPr>
          <p:spPr>
            <a:xfrm>
              <a:off x="6032564" y="24898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2762250"/>
            <a:ext cx="7239000" cy="952500"/>
            <a:chOff x="571500" y="2762250"/>
            <a:chExt cx="7239000" cy="952500"/>
          </a:xfrm>
        </p:grpSpPr>
        <p:sp>
          <p:nvSpPr>
            <p:cNvPr id="26" name="Rectangle 26"/>
            <p:cNvSpPr/>
            <p:nvPr/>
          </p:nvSpPr>
          <p:spPr>
            <a:xfrm>
              <a:off x="571500" y="2762250"/>
              <a:ext cx="723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27622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915" y="2915602"/>
              <a:ext cx="1661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3. Review &amp; Organize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4868" y="3152299"/>
              <a:ext cx="2886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Review auto-tags → sửa/thêm tag nếu cần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4868" y="3342799"/>
              <a:ext cx="4780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Gán asset type (packshot, lifestyle, line drawing) → Link với variant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820" y="3522345"/>
              <a:ext cx="28883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Submit → status "InReview" → Approver duyệt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91500" y="2762250"/>
            <a:ext cx="3429000" cy="952500"/>
            <a:chOff x="8191500" y="2762250"/>
            <a:chExt cx="3429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8191500" y="2762250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91500" y="27622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63915" y="29156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Upload Tài Liệu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4868" y="3152299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PDF/Word → extract metadata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64868" y="3342799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Sinh thumbnail trang đầu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5820" y="3522345"/>
              <a:ext cx="1639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PdfPig + OpenXml + MuPDF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4000500"/>
            <a:ext cx="11049000" cy="1714500"/>
            <a:chOff x="571500" y="4000500"/>
            <a:chExt cx="11049000" cy="1714500"/>
          </a:xfrm>
        </p:grpSpPr>
        <p:sp>
          <p:nvSpPr>
            <p:cNvPr id="40" name="Rectangle 40"/>
            <p:cNvSpPr/>
            <p:nvPr/>
          </p:nvSpPr>
          <p:spPr>
            <a:xfrm>
              <a:off x="571500" y="4000500"/>
              <a:ext cx="11049000" cy="1714500"/>
            </a:xfrm>
            <a:prstGeom prst="roundRect">
              <a:avLst>
                <a:gd name="adj" fmla="val 6667"/>
              </a:avLst>
            </a:prstGeom>
            <a:solidFill>
              <a:srgbClr val="7C4DFF">
                <a:alpha val="3000"/>
              </a:srgbClr>
            </a:solidFill>
            <a:ln w="9525">
              <a:solidFill>
                <a:srgbClr val="7C4DF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12519" y="4172902"/>
              <a:ext cx="1966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Pipeline xử lý ảnh tự động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57250" y="4476750"/>
            <a:ext cx="10239375" cy="476250"/>
            <a:chOff x="857250" y="4476750"/>
            <a:chExt cx="10239375" cy="476250"/>
          </a:xfrm>
        </p:grpSpPr>
        <p:sp>
          <p:nvSpPr>
            <p:cNvPr id="43" name="Rectangle 43"/>
            <p:cNvSpPr/>
            <p:nvPr/>
          </p:nvSpPr>
          <p:spPr>
            <a:xfrm>
              <a:off x="857250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59741" y="4665345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Upload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3635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19375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9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Virus Scan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75760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81500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53963" y="4665345"/>
              <a:ext cx="8838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Resize/Thumb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37885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143625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7C4DFF">
                <a:alpha val="10000"/>
              </a:srgbClr>
            </a:solidFill>
            <a:ln w="9525">
              <a:solidFill>
                <a:srgbClr val="7C4D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3346" y="466534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AI Tag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0010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05750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96513" y="4665345"/>
              <a:ext cx="647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Strip EXIF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2135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667875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00897B">
                <a:alpha val="10000"/>
              </a:srgbClr>
            </a:solidFill>
            <a:ln w="9525">
              <a:solidFill>
                <a:srgbClr val="00897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181046" y="466534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126039" y="5284470"/>
            <a:ext cx="3939921" cy="182880"/>
            <a:chOff x="4126039" y="5284470"/>
            <a:chExt cx="3939921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4126039" y="5284470"/>
              <a:ext cx="39399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Toàn bộ pipeline chạy async qua Hangfire — user không cần chờ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23" grpId="0"/>
      <p:bldP spid="25" grpId="0"/>
      <p:bldP spid="32" grpId="0"/>
      <p:bldP spid="39" grpId="0"/>
      <p:bldP spid="42" grpId="0"/>
      <p:bldP spid="60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495914" cy="487680"/>
            <a:chOff x="541020" y="502920"/>
            <a:chExt cx="4495914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4959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Sales &amp; Admin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4355" y="1187768"/>
            <a:ext cx="2466844" cy="274320"/>
            <a:chOff x="554355" y="1187768"/>
            <a:chExt cx="2466844" cy="274320"/>
          </a:xfrm>
        </p:grpSpPr>
        <p:sp>
          <p:nvSpPr>
            <p:cNvPr id="8" name="TextBox 8"/>
            <p:cNvSpPr txBox="1"/>
            <p:nvPr/>
          </p:nvSpPr>
          <p:spPr>
            <a:xfrm>
              <a:off x="554355" y="1187768"/>
              <a:ext cx="24668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 — Tra Cứu &amp; Chia Sẻ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24000"/>
            <a:ext cx="3524250" cy="1240631"/>
            <a:chOff x="571500" y="1524000"/>
            <a:chExt cx="3524250" cy="1240631"/>
          </a:xfrm>
        </p:grpSpPr>
        <p:sp>
          <p:nvSpPr>
            <p:cNvPr id="10" name="Rectangle 10"/>
            <p:cNvSpPr/>
            <p:nvPr/>
          </p:nvSpPr>
          <p:spPr>
            <a:xfrm>
              <a:off x="571500" y="152400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524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4868" y="165687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Search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1874520"/>
              <a:ext cx="850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Gõ tên/mã SP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5820" y="2045970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(typo-tolerant)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820" y="2265045"/>
              <a:ext cx="936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Filter: Range,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5820" y="2436495"/>
              <a:ext cx="1219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Material, Designer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772" y="2596991"/>
              <a:ext cx="11897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Typesense full-text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524000"/>
            <a:ext cx="3524250" cy="1240631"/>
            <a:chOff x="4333875" y="1524000"/>
            <a:chExt cx="3524250" cy="1240631"/>
          </a:xfrm>
        </p:grpSpPr>
        <p:sp>
          <p:nvSpPr>
            <p:cNvPr id="19" name="Rectangle 19"/>
            <p:cNvSpPr/>
            <p:nvPr/>
          </p:nvSpPr>
          <p:spPr>
            <a:xfrm>
              <a:off x="4333875" y="152400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524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7242" y="1656874"/>
              <a:ext cx="764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Xem Detail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8195" y="1874520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D365 info (dimensions, pricing)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8195" y="2045970"/>
              <a:ext cx="22968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Ảnh gallery (packshot + lifestyle)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8195" y="2217420"/>
              <a:ext cx="1771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Text content (desc, USP)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8195" y="2388870"/>
              <a:ext cx="16856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Documents (tech sheet)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9148" y="2596991"/>
              <a:ext cx="17921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+ SP tương tự (vector search)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524000"/>
            <a:ext cx="3524250" cy="1240631"/>
            <a:chOff x="8096250" y="1524000"/>
            <a:chExt cx="3524250" cy="1240631"/>
          </a:xfrm>
        </p:grpSpPr>
        <p:sp>
          <p:nvSpPr>
            <p:cNvPr id="28" name="Rectangle 28"/>
            <p:cNvSpPr/>
            <p:nvPr/>
          </p:nvSpPr>
          <p:spPr>
            <a:xfrm>
              <a:off x="8096250" y="152400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524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69618" y="165687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Actions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0570" y="1874520"/>
              <a:ext cx="1790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Download ảnh (web/print)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0570" y="2045970"/>
              <a:ext cx="16922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Download tech sheet PDF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0570" y="2217420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Shareable link (JWT, 7 ngày)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0570" y="2388870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Export package (zip)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1522" y="2596991"/>
              <a:ext cx="14246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Signed URL, auto-expire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3048000"/>
            <a:ext cx="11049000" cy="9525"/>
            <a:chOff x="571500" y="3048000"/>
            <a:chExt cx="11049000" cy="9525"/>
          </a:xfrm>
        </p:grpSpPr>
        <p:sp>
          <p:nvSpPr>
            <p:cNvPr id="37" name="Rectangle 37"/>
            <p:cNvSpPr/>
            <p:nvPr/>
          </p:nvSpPr>
          <p:spPr>
            <a:xfrm>
              <a:off x="571500" y="30480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54355" y="3283268"/>
            <a:ext cx="2777383" cy="274320"/>
            <a:chOff x="554355" y="3283268"/>
            <a:chExt cx="2777383" cy="274320"/>
          </a:xfrm>
        </p:grpSpPr>
        <p:sp>
          <p:nvSpPr>
            <p:cNvPr id="39" name="TextBox 39"/>
            <p:cNvSpPr txBox="1"/>
            <p:nvPr/>
          </p:nvSpPr>
          <p:spPr>
            <a:xfrm>
              <a:off x="554355" y="3283268"/>
              <a:ext cx="27773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Admin — Cấu Hình &amp; Giám Sát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3619500"/>
            <a:ext cx="11049000" cy="1143000"/>
            <a:chOff x="571500" y="3619500"/>
            <a:chExt cx="11049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619500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500" y="36195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9618" y="3799999"/>
              <a:ext cx="8172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User &amp; Role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0570" y="40176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Sync từ Entra 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0570" y="41890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5 roles + JSONB permission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436054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Granular per-entity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81375" y="3619500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81375" y="36195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59492" y="3799999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D365 Sync Config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60445" y="401764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entity sync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60445" y="41890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Schedule: 15min/hourly/daily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60445" y="4360545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Dashboard + force resync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91250" y="3619500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91250" y="36195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69368" y="3799999"/>
              <a:ext cx="14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Completeness Rules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70320" y="40176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Rule per product type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70320" y="4189095"/>
              <a:ext cx="10415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Weight per field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70320" y="4360545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Threshold block publish (80%)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01125" y="3619500"/>
              <a:ext cx="2619375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001125" y="3619500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79242" y="3799999"/>
              <a:ext cx="630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Webhook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80195" y="401764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Thêm endpoint (webshop...)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80195" y="418909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Secret + rate limit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80195" y="4360545"/>
              <a:ext cx="1271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Delivery log + retry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5048250"/>
            <a:ext cx="11049000" cy="476250"/>
            <a:chOff x="571500" y="5048250"/>
            <a:chExt cx="11049000" cy="476250"/>
          </a:xfrm>
        </p:grpSpPr>
        <p:sp>
          <p:nvSpPr>
            <p:cNvPr id="66" name="Rectangle 66"/>
            <p:cNvSpPr/>
            <p:nvPr/>
          </p:nvSpPr>
          <p:spPr>
            <a:xfrm>
              <a:off x="571500" y="5048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571704" y="5228749"/>
              <a:ext cx="50485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Sales: self-service tra cứu · Admin: config-driven, không cần deploy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8" grpId="0"/>
      <p:bldP spid="27" grpId="0"/>
      <p:bldP spid="36" grpId="0"/>
      <p:bldP spid="38" grpId="0"/>
      <p:bldP spid="40" grpId="0"/>
      <p:bldP spid="65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41020" y="502920"/>
            <a:ext cx="3907041" cy="802005"/>
            <a:chOff x="541020" y="502920"/>
            <a:chExt cx="3907041" cy="8020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90704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Quy Trình Xuyên Suốt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061085"/>
              <a:ext cx="32377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Từ D365 đến Publish — End-to-End Flow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5196" y="1505902"/>
            <a:ext cx="9759756" cy="213360"/>
            <a:chOff x="1065196" y="1505902"/>
            <a:chExt cx="9759756" cy="213360"/>
          </a:xfrm>
        </p:grpSpPr>
        <p:sp>
          <p:nvSpPr>
            <p:cNvPr id="9" name="TextBox 9"/>
            <p:cNvSpPr txBox="1"/>
            <p:nvPr/>
          </p:nvSpPr>
          <p:spPr>
            <a:xfrm>
              <a:off x="1065196" y="150590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D365 F&amp;O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53849" y="1505902"/>
              <a:ext cx="284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PIM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30048" y="150590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Channels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33750" y="1524000"/>
            <a:ext cx="5248275" cy="4572000"/>
            <a:chOff x="3333750" y="1524000"/>
            <a:chExt cx="5248275" cy="4572000"/>
          </a:xfrm>
        </p:grpSpPr>
        <p:sp>
          <p:nvSpPr>
            <p:cNvPr id="13" name="Rectangle 13"/>
            <p:cNvSpPr/>
            <p:nvPr/>
          </p:nvSpPr>
          <p:spPr>
            <a:xfrm>
              <a:off x="3333750" y="1524000"/>
              <a:ext cx="9525" cy="45720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572500" y="1524000"/>
              <a:ext cx="9525" cy="45720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66750" y="1905000"/>
            <a:ext cx="2476500" cy="571500"/>
            <a:chOff x="666750" y="1905000"/>
            <a:chExt cx="2476500" cy="571500"/>
          </a:xfrm>
        </p:grpSpPr>
        <p:sp>
          <p:nvSpPr>
            <p:cNvPr id="16" name="Rectangle 16"/>
            <p:cNvSpPr/>
            <p:nvPr/>
          </p:nvSpPr>
          <p:spPr>
            <a:xfrm>
              <a:off x="666750" y="1905000"/>
              <a:ext cx="2476500" cy="5715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94543" y="2037874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Product Created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3152" y="2244566"/>
              <a:ext cx="1183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Master data in D365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20415" y="2125028"/>
            <a:ext cx="785765" cy="213360"/>
            <a:chOff x="3320415" y="2125028"/>
            <a:chExt cx="785765" cy="213360"/>
          </a:xfrm>
        </p:grpSpPr>
        <p:sp>
          <p:nvSpPr>
            <p:cNvPr id="20" name="TextBox 20"/>
            <p:cNvSpPr txBox="1"/>
            <p:nvPr/>
          </p:nvSpPr>
          <p:spPr>
            <a:xfrm>
              <a:off x="3320415" y="2125028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──sync──▶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0" y="1905000"/>
            <a:ext cx="4286250" cy="476250"/>
            <a:chOff x="3810000" y="1905000"/>
            <a:chExt cx="4286250" cy="476250"/>
          </a:xfrm>
        </p:grpSpPr>
        <p:sp>
          <p:nvSpPr>
            <p:cNvPr id="22" name="Rectangle 22"/>
            <p:cNvSpPr/>
            <p:nvPr/>
          </p:nvSpPr>
          <p:spPr>
            <a:xfrm>
              <a:off x="3810000" y="1905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66274" y="2009299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Product appears (completeness 20%)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39597" y="2196941"/>
              <a:ext cx="10270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Delta sync hourly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810000" y="2439352"/>
            <a:ext cx="4286250" cy="2989898"/>
            <a:chOff x="3810000" y="2439352"/>
            <a:chExt cx="4286250" cy="2989898"/>
          </a:xfrm>
        </p:grpSpPr>
        <p:sp>
          <p:nvSpPr>
            <p:cNvPr id="26" name="TextBox 26"/>
            <p:cNvSpPr txBox="1"/>
            <p:nvPr/>
          </p:nvSpPr>
          <p:spPr>
            <a:xfrm>
              <a:off x="5897618" y="2439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0" y="2667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53959" y="2771299"/>
              <a:ext cx="3798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PM gán metadata + Editor upload + Marketing viết text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97425" y="295894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Parallel workflows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97618" y="3201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0" y="3429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7C4DFF">
                <a:alpha val="6000"/>
              </a:srgbClr>
            </a:solidFill>
            <a:ln w="9525">
              <a:solidFill>
                <a:srgbClr val="7C4DF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46443" y="3533299"/>
              <a:ext cx="20133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AI auto-tag + Quality Check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78717" y="3720941"/>
              <a:ext cx="19488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Florence-2, pgvector, LLM judge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7618" y="3963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0" y="4191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19994" y="4295299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Approval: Draft → InReview → Approved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50418" y="4482941"/>
              <a:ext cx="16054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Stateless workflow (.NET)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97618" y="4725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0" y="4953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45518" y="5057299"/>
              <a:ext cx="22152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Completeness ≥80% → Published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26319" y="5244941"/>
              <a:ext cx="16536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Event fired via MassTransit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75320" y="5046345"/>
            <a:ext cx="916686" cy="182880"/>
            <a:chOff x="8275320" y="5046345"/>
            <a:chExt cx="916686" cy="182880"/>
          </a:xfrm>
        </p:grpSpPr>
        <p:sp>
          <p:nvSpPr>
            <p:cNvPr id="43" name="TextBox 43"/>
            <p:cNvSpPr txBox="1"/>
            <p:nvPr/>
          </p:nvSpPr>
          <p:spPr>
            <a:xfrm>
              <a:off x="8275320" y="5046345"/>
              <a:ext cx="9166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──webhook──▶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53500" y="4667250"/>
            <a:ext cx="2476500" cy="1333500"/>
            <a:chOff x="8953500" y="4667250"/>
            <a:chExt cx="2476500" cy="1333500"/>
          </a:xfrm>
        </p:grpSpPr>
        <p:sp>
          <p:nvSpPr>
            <p:cNvPr id="45" name="Rectangle 45"/>
            <p:cNvSpPr/>
            <p:nvPr/>
          </p:nvSpPr>
          <p:spPr>
            <a:xfrm>
              <a:off x="8953500" y="4667250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876592" y="4800124"/>
              <a:ext cx="630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Webshop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53500" y="5143500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77555" y="5276374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iPaper Catalogue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53500" y="5619750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69154" y="5752624"/>
              <a:ext cx="14451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Social / Sales Share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19" grpId="0"/>
      <p:bldP spid="21" grpId="0"/>
      <p:bldP spid="25" grpId="0"/>
      <p:bldP spid="42" grpId="0"/>
      <p:bldP spid="44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581209" y="502920"/>
            <a:ext cx="5029581" cy="487680"/>
            <a:chOff x="3581209" y="502920"/>
            <a:chExt cx="5029581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3581209" y="502920"/>
              <a:ext cx="502958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Một Ngày Làm Việc Điển Hình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238250"/>
            <a:ext cx="11049000" cy="390525"/>
            <a:chOff x="571500" y="1238250"/>
            <a:chExt cx="11049000" cy="390525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897" y="135207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8:00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2118" y="13044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Hệ thống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6118" y="1304449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D365 delta sync chạy, pull sản phẩm mới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6192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714500"/>
            <a:ext cx="11049000" cy="390525"/>
            <a:chOff x="571500" y="1714500"/>
            <a:chExt cx="11049000" cy="390525"/>
          </a:xfrm>
        </p:grpSpPr>
        <p:sp>
          <p:nvSpPr>
            <p:cNvPr id="14" name="Rectangle 14"/>
            <p:cNvSpPr/>
            <p:nvPr/>
          </p:nvSpPr>
          <p:spPr>
            <a:xfrm>
              <a:off x="571500" y="17145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8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897" y="18283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8:30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2118" y="1780699"/>
              <a:ext cx="219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6118" y="1780699"/>
              <a:ext cx="38766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Check dashboard, gán metadata cho SP mới, assign task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0955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190750"/>
            <a:ext cx="11049000" cy="390525"/>
            <a:chOff x="571500" y="2190750"/>
            <a:chExt cx="11049000" cy="390525"/>
          </a:xfrm>
        </p:grpSpPr>
        <p:sp>
          <p:nvSpPr>
            <p:cNvPr id="20" name="Rectangle 20"/>
            <p:cNvSpPr/>
            <p:nvPr/>
          </p:nvSpPr>
          <p:spPr>
            <a:xfrm>
              <a:off x="571500" y="21907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897" y="230457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9:00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2118" y="22569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Editor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6118" y="2256949"/>
              <a:ext cx="2958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Upload packshot + video cho SP được assign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25717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2667000"/>
            <a:ext cx="11049000" cy="390525"/>
            <a:chOff x="571500" y="2667000"/>
            <a:chExt cx="11049000" cy="390525"/>
          </a:xfrm>
        </p:grpSpPr>
        <p:sp>
          <p:nvSpPr>
            <p:cNvPr id="26" name="Rectangle 26"/>
            <p:cNvSpPr/>
            <p:nvPr/>
          </p:nvSpPr>
          <p:spPr>
            <a:xfrm>
              <a:off x="571500" y="26670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7C4DFF">
                <a:alpha val="6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0897" y="27808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9:30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2118" y="273319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Hệ thống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26118" y="2733199"/>
              <a:ext cx="36559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Auto-tag (Florence-2), sinh thumbnail, quality scan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30480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3143250"/>
            <a:ext cx="11049000" cy="390525"/>
            <a:chOff x="571500" y="3143250"/>
            <a:chExt cx="11049000" cy="390525"/>
          </a:xfrm>
        </p:grpSpPr>
        <p:sp>
          <p:nvSpPr>
            <p:cNvPr id="32" name="Rectangle 32"/>
            <p:cNvSpPr/>
            <p:nvPr/>
          </p:nvSpPr>
          <p:spPr>
            <a:xfrm>
              <a:off x="571500" y="3143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469" y="325707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10:00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2118" y="3209449"/>
              <a:ext cx="757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Marketing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6118" y="3209449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generate text → review → submit duyệt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35242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71500" y="3619500"/>
            <a:ext cx="11049000" cy="390525"/>
            <a:chOff x="571500" y="3619500"/>
            <a:chExt cx="11049000" cy="390525"/>
          </a:xfrm>
        </p:grpSpPr>
        <p:sp>
          <p:nvSpPr>
            <p:cNvPr id="38" name="Rectangle 38"/>
            <p:cNvSpPr/>
            <p:nvPr/>
          </p:nvSpPr>
          <p:spPr>
            <a:xfrm>
              <a:off x="571500" y="36195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69" y="37333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10:30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2118" y="3685699"/>
              <a:ext cx="6826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Approver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26118" y="3685699"/>
              <a:ext cx="21963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Duyệt text + assets → Approved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" y="40005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71500" y="4095750"/>
            <a:ext cx="11049000" cy="390525"/>
            <a:chOff x="571500" y="4095750"/>
            <a:chExt cx="11049000" cy="390525"/>
          </a:xfrm>
        </p:grpSpPr>
        <p:sp>
          <p:nvSpPr>
            <p:cNvPr id="44" name="Rectangle 44"/>
            <p:cNvSpPr/>
            <p:nvPr/>
          </p:nvSpPr>
          <p:spPr>
            <a:xfrm>
              <a:off x="571500" y="40957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00897B">
                <a:alpha val="8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7159" y="4209574"/>
              <a:ext cx="361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11:00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02118" y="41619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Hệ thống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26118" y="4161949"/>
              <a:ext cx="34067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Completeness ≥80% → auto-publish → webhook fire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" y="44767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71500" y="4572000"/>
            <a:ext cx="11049000" cy="390525"/>
            <a:chOff x="571500" y="4572000"/>
            <a:chExt cx="11049000" cy="390525"/>
          </a:xfrm>
        </p:grpSpPr>
        <p:sp>
          <p:nvSpPr>
            <p:cNvPr id="50" name="Rectangle 50"/>
            <p:cNvSpPr/>
            <p:nvPr/>
          </p:nvSpPr>
          <p:spPr>
            <a:xfrm>
              <a:off x="571500" y="45720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7C4DFF">
                <a:alpha val="7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7159" y="4685824"/>
              <a:ext cx="361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11:05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02118" y="4638199"/>
              <a:ext cx="630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Webshop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226118" y="4638199"/>
              <a:ext cx="26235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Nhận event → hiển thị SP mới trên web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71500" y="49530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71500" y="5048250"/>
            <a:ext cx="11049000" cy="390525"/>
            <a:chOff x="571500" y="5048250"/>
            <a:chExt cx="11049000" cy="390525"/>
          </a:xfrm>
        </p:grpSpPr>
        <p:sp>
          <p:nvSpPr>
            <p:cNvPr id="56" name="Rectangle 56"/>
            <p:cNvSpPr/>
            <p:nvPr/>
          </p:nvSpPr>
          <p:spPr>
            <a:xfrm>
              <a:off x="571500" y="5048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5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8469" y="516207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14:00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02118" y="5114449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226118" y="5114449"/>
              <a:ext cx="2808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Tra cứu SP → tạo shareable link gửi khách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1500" y="54292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571500" y="5524500"/>
            <a:ext cx="5470399" cy="342900"/>
            <a:chOff x="571500" y="5524500"/>
            <a:chExt cx="5470399" cy="342900"/>
          </a:xfrm>
        </p:grpSpPr>
        <p:sp>
          <p:nvSpPr>
            <p:cNvPr id="62" name="Rectangle 62"/>
            <p:cNvSpPr/>
            <p:nvPr/>
          </p:nvSpPr>
          <p:spPr>
            <a:xfrm>
              <a:off x="571500" y="55245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00897B">
                <a:alpha val="6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8469" y="56383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16:00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02118" y="5590699"/>
              <a:ext cx="4092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226118" y="5590699"/>
              <a:ext cx="2815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Check sync log, review webhook delivery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6096000"/>
            <a:ext cx="11049000" cy="381000"/>
            <a:chOff x="571500" y="6096000"/>
            <a:chExt cx="11049000" cy="381000"/>
          </a:xfrm>
        </p:grpSpPr>
        <p:sp>
          <p:nvSpPr>
            <p:cNvPr id="67" name="Rectangle 67"/>
            <p:cNvSpPr/>
            <p:nvPr/>
          </p:nvSpPr>
          <p:spPr>
            <a:xfrm>
              <a:off x="571500" y="6096000"/>
              <a:ext cx="11049000" cy="3810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792154" y="6220778"/>
              <a:ext cx="46076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Từ D365 sync → Publish lên webshop: chỉ ~3 giờ với AI hỗ trợ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15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7" grpId="0"/>
      <p:bldP spid="43" grpId="0"/>
      <p:bldP spid="49" grpId="0"/>
      <p:bldP spid="55" grpId="0"/>
      <p:bldP spid="61" grpId="0"/>
      <p:bldP spid="66" grpId="0"/>
      <p:bldP spid="6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